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png" ContentType="image/pn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jpg" ContentType="image/jp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475" y="1378873"/>
            <a:ext cx="4485640" cy="409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1A1A1A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95959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1A1A1A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95959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1A1A1A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1A1A1A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488315"/>
          </a:xfrm>
          <a:custGeom>
            <a:avLst/>
            <a:gdLst/>
            <a:ahLst/>
            <a:cxnLst/>
            <a:rect l="l" t="t" r="r" b="b"/>
            <a:pathLst>
              <a:path w="9144000" h="488315">
                <a:moveTo>
                  <a:pt x="9143999" y="487799"/>
                </a:moveTo>
                <a:lnTo>
                  <a:pt x="0" y="48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487799"/>
                </a:lnTo>
                <a:close/>
              </a:path>
            </a:pathLst>
          </a:custGeom>
          <a:solidFill>
            <a:srgbClr val="E9ED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203295" y="1191255"/>
            <a:ext cx="373380" cy="46355"/>
          </a:xfrm>
          <a:custGeom>
            <a:avLst/>
            <a:gdLst/>
            <a:ahLst/>
            <a:cxnLst/>
            <a:rect l="l" t="t" r="r" b="b"/>
            <a:pathLst>
              <a:path w="373380" h="46355">
                <a:moveTo>
                  <a:pt x="372859" y="45826"/>
                </a:moveTo>
                <a:lnTo>
                  <a:pt x="0" y="45826"/>
                </a:lnTo>
                <a:lnTo>
                  <a:pt x="0" y="0"/>
                </a:lnTo>
                <a:lnTo>
                  <a:pt x="372859" y="0"/>
                </a:lnTo>
                <a:lnTo>
                  <a:pt x="372859" y="45826"/>
                </a:lnTo>
                <a:close/>
              </a:path>
            </a:pathLst>
          </a:custGeom>
          <a:solidFill>
            <a:srgbClr val="EB55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830391" y="1191255"/>
            <a:ext cx="376555" cy="46355"/>
          </a:xfrm>
          <a:custGeom>
            <a:avLst/>
            <a:gdLst/>
            <a:ahLst/>
            <a:cxnLst/>
            <a:rect l="l" t="t" r="r" b="b"/>
            <a:pathLst>
              <a:path w="376555" h="46355">
                <a:moveTo>
                  <a:pt x="376012" y="45826"/>
                </a:moveTo>
                <a:lnTo>
                  <a:pt x="0" y="45826"/>
                </a:lnTo>
                <a:lnTo>
                  <a:pt x="0" y="0"/>
                </a:lnTo>
                <a:lnTo>
                  <a:pt x="376012" y="0"/>
                </a:lnTo>
                <a:lnTo>
                  <a:pt x="376012" y="45826"/>
                </a:lnTo>
                <a:close/>
              </a:path>
            </a:pathLst>
          </a:custGeom>
          <a:solidFill>
            <a:srgbClr val="1A99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00675" y="549162"/>
            <a:ext cx="6639559" cy="5207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1A1A1A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4275" y="1315468"/>
            <a:ext cx="8258469" cy="35177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95959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jp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jp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jp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jp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jp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jpg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jpg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g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object 3" descr=""/>
            <p:cNvSpPr/>
            <p:nvPr/>
          </p:nvSpPr>
          <p:spPr>
            <a:xfrm>
              <a:off x="0" y="487800"/>
              <a:ext cx="9144000" cy="4655820"/>
            </a:xfrm>
            <a:custGeom>
              <a:avLst/>
              <a:gdLst/>
              <a:ahLst/>
              <a:cxnLst/>
              <a:rect l="l" t="t" r="r" b="b"/>
              <a:pathLst>
                <a:path w="9144000" h="4655820">
                  <a:moveTo>
                    <a:pt x="0" y="4655699"/>
                  </a:moveTo>
                  <a:lnTo>
                    <a:pt x="9143999" y="4655699"/>
                  </a:lnTo>
                  <a:lnTo>
                    <a:pt x="9143999" y="0"/>
                  </a:lnTo>
                  <a:lnTo>
                    <a:pt x="0" y="0"/>
                  </a:lnTo>
                  <a:lnTo>
                    <a:pt x="0" y="4655699"/>
                  </a:lnTo>
                  <a:close/>
                </a:path>
              </a:pathLst>
            </a:custGeom>
            <a:solidFill>
              <a:srgbClr val="E9ED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0" y="0"/>
              <a:ext cx="9144000" cy="488315"/>
            </a:xfrm>
            <a:custGeom>
              <a:avLst/>
              <a:gdLst/>
              <a:ahLst/>
              <a:cxnLst/>
              <a:rect l="l" t="t" r="r" b="b"/>
              <a:pathLst>
                <a:path w="9144000" h="488315">
                  <a:moveTo>
                    <a:pt x="9143999" y="487799"/>
                  </a:moveTo>
                  <a:lnTo>
                    <a:pt x="0" y="48779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4877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203295" y="1191255"/>
              <a:ext cx="373380" cy="46355"/>
            </a:xfrm>
            <a:custGeom>
              <a:avLst/>
              <a:gdLst/>
              <a:ahLst/>
              <a:cxnLst/>
              <a:rect l="l" t="t" r="r" b="b"/>
              <a:pathLst>
                <a:path w="373380" h="46355">
                  <a:moveTo>
                    <a:pt x="372859" y="45826"/>
                  </a:moveTo>
                  <a:lnTo>
                    <a:pt x="0" y="45826"/>
                  </a:lnTo>
                  <a:lnTo>
                    <a:pt x="0" y="0"/>
                  </a:lnTo>
                  <a:lnTo>
                    <a:pt x="372859" y="0"/>
                  </a:lnTo>
                  <a:lnTo>
                    <a:pt x="372859" y="45826"/>
                  </a:lnTo>
                  <a:close/>
                </a:path>
              </a:pathLst>
            </a:custGeom>
            <a:solidFill>
              <a:srgbClr val="EB55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30391" y="1191255"/>
              <a:ext cx="376555" cy="46355"/>
            </a:xfrm>
            <a:custGeom>
              <a:avLst/>
              <a:gdLst/>
              <a:ahLst/>
              <a:cxnLst/>
              <a:rect l="l" t="t" r="r" b="b"/>
              <a:pathLst>
                <a:path w="376555" h="46355">
                  <a:moveTo>
                    <a:pt x="376012" y="45826"/>
                  </a:moveTo>
                  <a:lnTo>
                    <a:pt x="0" y="45826"/>
                  </a:lnTo>
                  <a:lnTo>
                    <a:pt x="0" y="0"/>
                  </a:lnTo>
                  <a:lnTo>
                    <a:pt x="376012" y="0"/>
                  </a:lnTo>
                  <a:lnTo>
                    <a:pt x="376012" y="45826"/>
                  </a:lnTo>
                  <a:close/>
                </a:path>
              </a:pathLst>
            </a:custGeom>
            <a:solidFill>
              <a:srgbClr val="1A998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02475" y="1374138"/>
            <a:ext cx="5246370" cy="13055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4200" spc="145"/>
              <a:t>Sistemas</a:t>
            </a:r>
            <a:r>
              <a:rPr dirty="0" sz="4200" spc="-235"/>
              <a:t> </a:t>
            </a:r>
            <a:r>
              <a:rPr dirty="0" sz="4200" spc="50"/>
              <a:t>Operativos </a:t>
            </a:r>
            <a:r>
              <a:rPr dirty="0" sz="4200" spc="-10"/>
              <a:t>File</a:t>
            </a:r>
            <a:r>
              <a:rPr dirty="0" sz="4200" spc="-275"/>
              <a:t> </a:t>
            </a:r>
            <a:r>
              <a:rPr dirty="0" sz="4200" spc="145"/>
              <a:t>System</a:t>
            </a:r>
            <a:r>
              <a:rPr dirty="0" sz="4200" spc="-275"/>
              <a:t> </a:t>
            </a:r>
            <a:r>
              <a:rPr dirty="0" sz="4200" spc="-50"/>
              <a:t>I</a:t>
            </a:r>
            <a:endParaRPr sz="4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1A99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830389" y="1191259"/>
            <a:ext cx="746125" cy="46355"/>
          </a:xfrm>
          <a:custGeom>
            <a:avLst/>
            <a:gdLst/>
            <a:ahLst/>
            <a:cxnLst/>
            <a:rect l="l" t="t" r="r" b="b"/>
            <a:pathLst>
              <a:path w="746125" h="46355">
                <a:moveTo>
                  <a:pt x="745756" y="0"/>
                </a:moveTo>
                <a:lnTo>
                  <a:pt x="376008" y="0"/>
                </a:lnTo>
                <a:lnTo>
                  <a:pt x="372897" y="0"/>
                </a:lnTo>
                <a:lnTo>
                  <a:pt x="0" y="0"/>
                </a:lnTo>
                <a:lnTo>
                  <a:pt x="0" y="45834"/>
                </a:lnTo>
                <a:lnTo>
                  <a:pt x="372897" y="45834"/>
                </a:lnTo>
                <a:lnTo>
                  <a:pt x="376008" y="45834"/>
                </a:lnTo>
                <a:lnTo>
                  <a:pt x="745756" y="45834"/>
                </a:lnTo>
                <a:lnTo>
                  <a:pt x="74575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02475" y="1377186"/>
            <a:ext cx="28194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40">
                <a:solidFill>
                  <a:srgbClr val="FFFFFF"/>
                </a:solidFill>
              </a:rPr>
              <a:t>Introducción</a:t>
            </a:r>
            <a:endParaRPr sz="3600"/>
          </a:p>
        </p:txBody>
      </p:sp>
      <p:sp>
        <p:nvSpPr>
          <p:cNvPr id="5" name="object 5" descr=""/>
          <p:cNvSpPr txBox="1"/>
          <p:nvPr/>
        </p:nvSpPr>
        <p:spPr>
          <a:xfrm>
            <a:off x="913550" y="3201581"/>
            <a:ext cx="3470275" cy="1671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60" b="1">
                <a:solidFill>
                  <a:srgbClr val="FFFFFF"/>
                </a:solidFill>
                <a:latin typeface="Trebuchet MS"/>
                <a:cs typeface="Trebuchet MS"/>
              </a:rPr>
              <a:t>Conceptos</a:t>
            </a:r>
            <a:r>
              <a:rPr dirty="0" sz="1800" spc="-11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Trebuchet MS"/>
                <a:cs typeface="Trebuchet MS"/>
              </a:rPr>
              <a:t>clave: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800" spc="60">
                <a:solidFill>
                  <a:srgbClr val="FFFFFF"/>
                </a:solidFill>
                <a:latin typeface="Trebuchet MS"/>
                <a:cs typeface="Trebuchet MS"/>
              </a:rPr>
              <a:t>Propiedades</a:t>
            </a:r>
            <a:r>
              <a:rPr dirty="0" sz="180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fundamentales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800" spc="65">
                <a:solidFill>
                  <a:srgbClr val="FFFFFF"/>
                </a:solidFill>
                <a:latin typeface="Trebuchet MS"/>
                <a:cs typeface="Trebuchet MS"/>
              </a:rPr>
              <a:t>Inodos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Dentries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Directorios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800" spc="90">
                <a:solidFill>
                  <a:srgbClr val="FFFFFF"/>
                </a:solidFill>
                <a:latin typeface="Trebuchet MS"/>
                <a:cs typeface="Trebuchet MS"/>
              </a:rPr>
              <a:t>Open</a:t>
            </a:r>
            <a:r>
              <a:rPr dirty="0" sz="18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Files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2475" y="1379787"/>
            <a:ext cx="3434079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90"/>
              <a:t>¿Qué</a:t>
            </a:r>
            <a:r>
              <a:rPr dirty="0" spc="-125"/>
              <a:t> </a:t>
            </a:r>
            <a:r>
              <a:rPr dirty="0" spc="114"/>
              <a:t>es</a:t>
            </a:r>
            <a:r>
              <a:rPr dirty="0" spc="-120"/>
              <a:t> </a:t>
            </a:r>
            <a:r>
              <a:rPr dirty="0" spc="50"/>
              <a:t>un</a:t>
            </a:r>
            <a:r>
              <a:rPr dirty="0" spc="-120"/>
              <a:t> </a:t>
            </a:r>
            <a:r>
              <a:rPr dirty="0"/>
              <a:t>File</a:t>
            </a:r>
            <a:r>
              <a:rPr dirty="0" spc="-120"/>
              <a:t> </a:t>
            </a:r>
            <a:r>
              <a:rPr dirty="0" spc="95"/>
              <a:t>System?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44970" y="4181827"/>
            <a:ext cx="284633" cy="26789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802475" y="2131783"/>
            <a:ext cx="7526020" cy="2581275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algn="just" marL="12700" marR="5080">
              <a:lnSpc>
                <a:spcPts val="2050"/>
              </a:lnSpc>
              <a:spcBef>
                <a:spcPts val="260"/>
              </a:spcBef>
            </a:pPr>
            <a:r>
              <a:rPr dirty="0" sz="1800" spc="65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70" b="1">
                <a:solidFill>
                  <a:srgbClr val="595959"/>
                </a:solidFill>
                <a:latin typeface="Tahoma"/>
                <a:cs typeface="Tahoma"/>
              </a:rPr>
              <a:t>file</a:t>
            </a:r>
            <a:r>
              <a:rPr dirty="0" sz="1800" spc="2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30" b="1">
                <a:solidFill>
                  <a:srgbClr val="595959"/>
                </a:solidFill>
                <a:latin typeface="Tahoma"/>
                <a:cs typeface="Tahoma"/>
              </a:rPr>
              <a:t>system</a:t>
            </a:r>
            <a:r>
              <a:rPr dirty="0" sz="1800" spc="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o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25" b="1">
                <a:solidFill>
                  <a:srgbClr val="595959"/>
                </a:solidFill>
                <a:latin typeface="Tahoma"/>
                <a:cs typeface="Tahoma"/>
              </a:rPr>
              <a:t>sistema</a:t>
            </a:r>
            <a:r>
              <a:rPr dirty="0" sz="1800" spc="2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10" b="1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5" b="1">
                <a:solidFill>
                  <a:srgbClr val="595959"/>
                </a:solidFill>
                <a:latin typeface="Tahoma"/>
                <a:cs typeface="Tahoma"/>
              </a:rPr>
              <a:t>archivos</a:t>
            </a:r>
            <a:r>
              <a:rPr dirty="0" sz="1800" spc="4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permite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800" spc="-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usuarios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organizar</a:t>
            </a:r>
            <a:r>
              <a:rPr dirty="0" sz="1800" spc="-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sus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datos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persistan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4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través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largo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período</a:t>
            </a:r>
            <a:r>
              <a:rPr dirty="0" sz="18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tiempo.</a:t>
            </a:r>
            <a:endParaRPr sz="1800">
              <a:latin typeface="Tahoma"/>
              <a:cs typeface="Tahoma"/>
            </a:endParaRPr>
          </a:p>
          <a:p>
            <a:pPr algn="just" marL="12700">
              <a:lnSpc>
                <a:spcPct val="100000"/>
              </a:lnSpc>
              <a:spcBef>
                <a:spcPts val="1045"/>
              </a:spcBef>
            </a:pP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Formalmente</a:t>
            </a:r>
            <a:r>
              <a:rPr dirty="0" sz="18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8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file</a:t>
            </a:r>
            <a:r>
              <a:rPr dirty="0" sz="18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system</a:t>
            </a:r>
            <a:r>
              <a:rPr dirty="0" sz="18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es:</a:t>
            </a:r>
            <a:endParaRPr sz="1800">
              <a:latin typeface="Tahoma"/>
              <a:cs typeface="Tahoma"/>
            </a:endParaRPr>
          </a:p>
          <a:p>
            <a:pPr algn="just" marL="12700" marR="5715">
              <a:lnSpc>
                <a:spcPts val="2050"/>
              </a:lnSpc>
              <a:spcBef>
                <a:spcPts val="1250"/>
              </a:spcBef>
            </a:pPr>
            <a:r>
              <a:rPr dirty="0" sz="1800" spc="-280">
                <a:solidFill>
                  <a:srgbClr val="595959"/>
                </a:solidFill>
                <a:latin typeface="Tahoma"/>
                <a:cs typeface="Tahoma"/>
              </a:rPr>
              <a:t>&gt;</a:t>
            </a:r>
            <a:r>
              <a:rPr dirty="0" sz="18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3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8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5">
                <a:solidFill>
                  <a:srgbClr val="595959"/>
                </a:solidFill>
                <a:latin typeface="Tahoma"/>
                <a:cs typeface="Tahoma"/>
              </a:rPr>
              <a:t>abstracción</a:t>
            </a:r>
            <a:r>
              <a:rPr dirty="0" sz="18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15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8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sistema</a:t>
            </a:r>
            <a:r>
              <a:rPr dirty="0" sz="18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10">
                <a:solidFill>
                  <a:srgbClr val="595959"/>
                </a:solidFill>
                <a:latin typeface="Tahoma"/>
                <a:cs typeface="Tahoma"/>
              </a:rPr>
              <a:t>operativo</a:t>
            </a:r>
            <a:r>
              <a:rPr dirty="0" sz="18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8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provee</a:t>
            </a:r>
            <a:r>
              <a:rPr dirty="0" sz="18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5">
                <a:solidFill>
                  <a:srgbClr val="595959"/>
                </a:solidFill>
                <a:latin typeface="Tahoma"/>
                <a:cs typeface="Tahoma"/>
              </a:rPr>
              <a:t>datos</a:t>
            </a:r>
            <a:r>
              <a:rPr dirty="0" sz="18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5">
                <a:solidFill>
                  <a:srgbClr val="595959"/>
                </a:solidFill>
                <a:latin typeface="Tahoma"/>
                <a:cs typeface="Tahoma"/>
              </a:rPr>
              <a:t>persistentes</a:t>
            </a:r>
            <a:r>
              <a:rPr dirty="0" sz="18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5">
                <a:solidFill>
                  <a:srgbClr val="595959"/>
                </a:solidFill>
                <a:latin typeface="Tahoma"/>
                <a:cs typeface="Tahoma"/>
              </a:rPr>
              <a:t>con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8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595959"/>
                </a:solidFill>
                <a:latin typeface="Tahoma"/>
                <a:cs typeface="Tahoma"/>
              </a:rPr>
              <a:t>nombre.</a:t>
            </a:r>
            <a:endParaRPr sz="1800">
              <a:latin typeface="Tahoma"/>
              <a:cs typeface="Tahoma"/>
            </a:endParaRPr>
          </a:p>
          <a:p>
            <a:pPr algn="just" marL="12700" marR="6985">
              <a:lnSpc>
                <a:spcPts val="2050"/>
              </a:lnSpc>
              <a:spcBef>
                <a:spcPts val="1205"/>
              </a:spcBef>
            </a:pPr>
            <a:r>
              <a:rPr dirty="0" sz="1800" spc="-95" b="1">
                <a:solidFill>
                  <a:srgbClr val="595959"/>
                </a:solidFill>
                <a:latin typeface="Tahoma"/>
                <a:cs typeface="Tahoma"/>
              </a:rPr>
              <a:t>Datos</a:t>
            </a:r>
            <a:r>
              <a:rPr dirty="0" sz="1800" spc="75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5" b="1">
                <a:solidFill>
                  <a:srgbClr val="595959"/>
                </a:solidFill>
                <a:latin typeface="Tahoma"/>
                <a:cs typeface="Tahoma"/>
              </a:rPr>
              <a:t>persistentes</a:t>
            </a:r>
            <a:r>
              <a:rPr dirty="0" sz="1800" spc="75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son</a:t>
            </a:r>
            <a:r>
              <a:rPr dirty="0" sz="1800" spc="7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5">
                <a:solidFill>
                  <a:srgbClr val="595959"/>
                </a:solidFill>
                <a:latin typeface="Tahoma"/>
                <a:cs typeface="Tahoma"/>
              </a:rPr>
              <a:t>aquellos</a:t>
            </a:r>
            <a:r>
              <a:rPr dirty="0" sz="1800" spc="7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800" spc="7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800" spc="7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595959"/>
                </a:solidFill>
                <a:latin typeface="Tahoma"/>
                <a:cs typeface="Tahoma"/>
              </a:rPr>
              <a:t>almacenan</a:t>
            </a:r>
            <a:r>
              <a:rPr dirty="0" sz="1800" spc="7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hasta</a:t>
            </a:r>
            <a:r>
              <a:rPr dirty="0" sz="1800" spc="7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800" spc="7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son </a:t>
            </a:r>
            <a:r>
              <a:rPr dirty="0" sz="1800" spc="10">
                <a:solidFill>
                  <a:srgbClr val="595959"/>
                </a:solidFill>
                <a:latin typeface="Tahoma"/>
                <a:cs typeface="Tahoma"/>
              </a:rPr>
              <a:t>explícitamente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55">
                <a:solidFill>
                  <a:srgbClr val="595959"/>
                </a:solidFill>
                <a:latin typeface="Tahoma"/>
                <a:cs typeface="Tahoma"/>
              </a:rPr>
              <a:t>(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15">
                <a:solidFill>
                  <a:srgbClr val="595959"/>
                </a:solidFill>
                <a:latin typeface="Tahoma"/>
                <a:cs typeface="Tahoma"/>
              </a:rPr>
              <a:t>o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5">
                <a:solidFill>
                  <a:srgbClr val="595959"/>
                </a:solidFill>
                <a:latin typeface="Tahoma"/>
                <a:cs typeface="Tahoma"/>
              </a:rPr>
              <a:t>accidentalmente</a:t>
            </a:r>
            <a:r>
              <a:rPr dirty="0" sz="1800" spc="24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55">
                <a:solidFill>
                  <a:srgbClr val="595959"/>
                </a:solidFill>
                <a:latin typeface="Tahoma"/>
                <a:cs typeface="Tahoma"/>
              </a:rPr>
              <a:t>)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borrados,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15">
                <a:solidFill>
                  <a:srgbClr val="595959"/>
                </a:solidFill>
                <a:latin typeface="Tahoma"/>
                <a:cs typeface="Tahoma"/>
              </a:rPr>
              <a:t>incluso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1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computadora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15">
                <a:solidFill>
                  <a:srgbClr val="595959"/>
                </a:solidFill>
                <a:latin typeface="Tahoma"/>
                <a:cs typeface="Tahoma"/>
              </a:rPr>
              <a:t>tiene</a:t>
            </a:r>
            <a:r>
              <a:rPr dirty="0" sz="18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8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5">
                <a:solidFill>
                  <a:srgbClr val="595959"/>
                </a:solidFill>
                <a:latin typeface="Tahoma"/>
                <a:cs typeface="Tahoma"/>
              </a:rPr>
              <a:t>desperfecto</a:t>
            </a:r>
            <a:r>
              <a:rPr dirty="0" sz="18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5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8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8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5">
                <a:solidFill>
                  <a:srgbClr val="595959"/>
                </a:solidFill>
                <a:latin typeface="Tahoma"/>
                <a:cs typeface="Tahoma"/>
              </a:rPr>
              <a:t>alimentación</a:t>
            </a:r>
            <a:r>
              <a:rPr dirty="0" sz="1800" spc="-2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eléctrica.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2475" y="1379787"/>
            <a:ext cx="3434079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90"/>
              <a:t>¿Qué</a:t>
            </a:r>
            <a:r>
              <a:rPr dirty="0" spc="-125"/>
              <a:t> </a:t>
            </a:r>
            <a:r>
              <a:rPr dirty="0" spc="114"/>
              <a:t>es</a:t>
            </a:r>
            <a:r>
              <a:rPr dirty="0" spc="-120"/>
              <a:t> </a:t>
            </a:r>
            <a:r>
              <a:rPr dirty="0" spc="50"/>
              <a:t>un</a:t>
            </a:r>
            <a:r>
              <a:rPr dirty="0" spc="-120"/>
              <a:t> </a:t>
            </a:r>
            <a:r>
              <a:rPr dirty="0"/>
              <a:t>File</a:t>
            </a:r>
            <a:r>
              <a:rPr dirty="0" spc="-120"/>
              <a:t> </a:t>
            </a:r>
            <a:r>
              <a:rPr dirty="0" spc="95"/>
              <a:t>System?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2475" y="2131783"/>
            <a:ext cx="7541895" cy="2168525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algn="just" marL="12700" marR="5080">
              <a:lnSpc>
                <a:spcPts val="2050"/>
              </a:lnSpc>
              <a:spcBef>
                <a:spcPts val="260"/>
              </a:spcBef>
            </a:pP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8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hecho</a:t>
            </a:r>
            <a:r>
              <a:rPr dirty="0" sz="18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8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800" spc="-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datos</a:t>
            </a:r>
            <a:r>
              <a:rPr dirty="0" sz="18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tengan</a:t>
            </a:r>
            <a:r>
              <a:rPr dirty="0" sz="1800" spc="-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8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nombre</a:t>
            </a:r>
            <a:r>
              <a:rPr dirty="0" sz="1800" spc="-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8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800" spc="-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8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intención</a:t>
            </a:r>
            <a:r>
              <a:rPr dirty="0" sz="1800" spc="-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800" spc="-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un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ser</a:t>
            </a:r>
            <a:r>
              <a:rPr dirty="0" sz="1800" spc="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humano</a:t>
            </a:r>
            <a:r>
              <a:rPr dirty="0" sz="1800" spc="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pueda</a:t>
            </a:r>
            <a:r>
              <a:rPr dirty="0" sz="1800" spc="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acceder</a:t>
            </a:r>
            <a:r>
              <a:rPr dirty="0" sz="1800" spc="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800" spc="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ellos</a:t>
            </a:r>
            <a:r>
              <a:rPr dirty="0" sz="1800" spc="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800" spc="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800" spc="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identificador</a:t>
            </a:r>
            <a:r>
              <a:rPr dirty="0" sz="1800" spc="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800" spc="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800" spc="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sistema</a:t>
            </a:r>
            <a:r>
              <a:rPr dirty="0" sz="1800" spc="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de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archivos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le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asocia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archivo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8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cuestión.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800">
              <a:latin typeface="Tahoma"/>
              <a:cs typeface="Tahoma"/>
            </a:endParaRPr>
          </a:p>
          <a:p>
            <a:pPr algn="just" marL="12700" marR="6985">
              <a:lnSpc>
                <a:spcPts val="2050"/>
              </a:lnSpc>
            </a:pP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Además,</a:t>
            </a:r>
            <a:r>
              <a:rPr dirty="0" sz="1800" spc="2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esta</a:t>
            </a:r>
            <a:r>
              <a:rPr dirty="0" sz="1800" spc="2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posibilidad</a:t>
            </a:r>
            <a:r>
              <a:rPr dirty="0" sz="1800" spc="2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2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identificación</a:t>
            </a:r>
            <a:r>
              <a:rPr dirty="0" sz="1800" spc="2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permite</a:t>
            </a:r>
            <a:r>
              <a:rPr dirty="0" sz="1800" spc="2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800" spc="2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800" spc="2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vez</a:t>
            </a:r>
            <a:r>
              <a:rPr dirty="0" sz="1800" spc="2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800" spc="2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un </a:t>
            </a:r>
            <a:r>
              <a:rPr dirty="0" sz="1800" spc="-20">
                <a:solidFill>
                  <a:srgbClr val="595959"/>
                </a:solidFill>
                <a:latin typeface="Tahoma"/>
                <a:cs typeface="Tahoma"/>
              </a:rPr>
              <a:t>programa</a:t>
            </a:r>
            <a:r>
              <a:rPr dirty="0" sz="18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termina</a:t>
            </a:r>
            <a:r>
              <a:rPr dirty="0" sz="18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45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595959"/>
                </a:solidFill>
                <a:latin typeface="Tahoma"/>
                <a:cs typeface="Tahoma"/>
              </a:rPr>
              <a:t>generar</a:t>
            </a:r>
            <a:r>
              <a:rPr dirty="0" sz="18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8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archivo</a:t>
            </a:r>
            <a:r>
              <a:rPr dirty="0" sz="18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otro</a:t>
            </a:r>
            <a:r>
              <a:rPr dirty="0" sz="18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lo</a:t>
            </a:r>
            <a:r>
              <a:rPr dirty="0" sz="18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595959"/>
                </a:solidFill>
                <a:latin typeface="Tahoma"/>
                <a:cs typeface="Tahoma"/>
              </a:rPr>
              <a:t>pueda</a:t>
            </a:r>
            <a:r>
              <a:rPr dirty="0" sz="18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utilizar,</a:t>
            </a:r>
            <a:r>
              <a:rPr dirty="0" sz="18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permitiendo así</a:t>
            </a:r>
            <a:r>
              <a:rPr dirty="0" sz="18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compartir</a:t>
            </a:r>
            <a:r>
              <a:rPr dirty="0" sz="18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8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información</a:t>
            </a:r>
            <a:r>
              <a:rPr dirty="0" sz="18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entre</a:t>
            </a:r>
            <a:r>
              <a:rPr dirty="0" sz="18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8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mismos.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2475" y="1379787"/>
            <a:ext cx="3030855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75"/>
              <a:t>Decisiones</a:t>
            </a:r>
            <a:r>
              <a:rPr dirty="0" spc="-110"/>
              <a:t> </a:t>
            </a:r>
            <a:r>
              <a:rPr dirty="0" spc="114"/>
              <a:t>de</a:t>
            </a:r>
            <a:r>
              <a:rPr dirty="0" spc="-110"/>
              <a:t> </a:t>
            </a:r>
            <a:r>
              <a:rPr dirty="0" spc="70"/>
              <a:t>diseño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2475" y="2101608"/>
            <a:ext cx="6962140" cy="2701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sistema</a:t>
            </a:r>
            <a:r>
              <a:rPr dirty="0" sz="18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archivos</a:t>
            </a:r>
            <a:r>
              <a:rPr dirty="0" sz="18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Unix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tomo</a:t>
            </a:r>
            <a:r>
              <a:rPr dirty="0" sz="18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35">
                <a:solidFill>
                  <a:srgbClr val="595959"/>
                </a:solidFill>
                <a:latin typeface="Tahoma"/>
                <a:cs typeface="Tahoma"/>
              </a:rPr>
              <a:t>algunas</a:t>
            </a:r>
            <a:r>
              <a:rPr dirty="0" sz="18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decisiones</a:t>
            </a:r>
            <a:r>
              <a:rPr dirty="0" sz="18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diseño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fundamentales</a:t>
            </a:r>
            <a:r>
              <a:rPr dirty="0" sz="18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8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influenciaron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8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sistemas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archivos</a:t>
            </a:r>
            <a:r>
              <a:rPr dirty="0" sz="18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posteriores:</a:t>
            </a:r>
            <a:endParaRPr sz="1800">
              <a:latin typeface="Tahoma"/>
              <a:cs typeface="Tahoma"/>
            </a:endParaRPr>
          </a:p>
          <a:p>
            <a:pPr marL="469265" indent="-366395">
              <a:lnSpc>
                <a:spcPct val="100000"/>
              </a:lnSpc>
              <a:spcBef>
                <a:spcPts val="1525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8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estructura</a:t>
            </a:r>
            <a:r>
              <a:rPr dirty="0" sz="18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jerárquica</a:t>
            </a:r>
            <a:endParaRPr sz="1800">
              <a:latin typeface="Tahoma"/>
              <a:cs typeface="Tahoma"/>
            </a:endParaRPr>
          </a:p>
          <a:p>
            <a:pPr marL="469265" indent="-366395">
              <a:lnSpc>
                <a:spcPct val="100000"/>
              </a:lnSpc>
              <a:spcBef>
                <a:spcPts val="320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Tratamiento</a:t>
            </a:r>
            <a:r>
              <a:rPr dirty="0" sz="18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consistente</a:t>
            </a:r>
            <a:r>
              <a:rPr dirty="0" sz="18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8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datos</a:t>
            </a:r>
            <a:r>
              <a:rPr dirty="0" sz="18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8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archivos</a:t>
            </a:r>
            <a:endParaRPr sz="1800">
              <a:latin typeface="Tahoma"/>
              <a:cs typeface="Tahoma"/>
            </a:endParaRPr>
          </a:p>
          <a:p>
            <a:pPr marL="469265" indent="-366395">
              <a:lnSpc>
                <a:spcPct val="100000"/>
              </a:lnSpc>
              <a:spcBef>
                <a:spcPts val="325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8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habilidad</a:t>
            </a:r>
            <a:r>
              <a:rPr dirty="0" sz="18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crear</a:t>
            </a:r>
            <a:r>
              <a:rPr dirty="0" sz="18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8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borrar</a:t>
            </a:r>
            <a:r>
              <a:rPr dirty="0" sz="18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archivos</a:t>
            </a:r>
            <a:endParaRPr sz="1800">
              <a:latin typeface="Tahoma"/>
              <a:cs typeface="Tahoma"/>
            </a:endParaRPr>
          </a:p>
          <a:p>
            <a:pPr marL="469265" indent="-366395">
              <a:lnSpc>
                <a:spcPct val="100000"/>
              </a:lnSpc>
              <a:spcBef>
                <a:spcPts val="325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Crecimiento</a:t>
            </a:r>
            <a:r>
              <a:rPr dirty="0" sz="18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dinámico</a:t>
            </a:r>
            <a:r>
              <a:rPr dirty="0" sz="18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archivos</a:t>
            </a:r>
            <a:endParaRPr sz="1800">
              <a:latin typeface="Tahoma"/>
              <a:cs typeface="Tahoma"/>
            </a:endParaRPr>
          </a:p>
          <a:p>
            <a:pPr marL="469265" indent="-366395">
              <a:lnSpc>
                <a:spcPct val="100000"/>
              </a:lnSpc>
              <a:spcBef>
                <a:spcPts val="325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Protección</a:t>
            </a:r>
            <a:r>
              <a:rPr dirty="0" sz="18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8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datos</a:t>
            </a:r>
            <a:r>
              <a:rPr dirty="0" sz="18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8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archivo</a:t>
            </a:r>
            <a:endParaRPr sz="1800">
              <a:latin typeface="Tahoma"/>
              <a:cs typeface="Tahoma"/>
            </a:endParaRPr>
          </a:p>
          <a:p>
            <a:pPr marL="469265" indent="-366395">
              <a:lnSpc>
                <a:spcPct val="100000"/>
              </a:lnSpc>
              <a:spcBef>
                <a:spcPts val="320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8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tratamiento</a:t>
            </a:r>
            <a:r>
              <a:rPr dirty="0" sz="18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8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periféricos</a:t>
            </a:r>
            <a:r>
              <a:rPr dirty="0" sz="18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como</a:t>
            </a:r>
            <a:r>
              <a:rPr dirty="0" sz="18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archivos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1164" y="697425"/>
            <a:ext cx="6917824" cy="41396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025" y="59816"/>
            <a:ext cx="3356610" cy="4216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/>
              <a:t>Estructura</a:t>
            </a:r>
            <a:r>
              <a:rPr dirty="0" sz="2600" spc="135"/>
              <a:t> </a:t>
            </a:r>
            <a:r>
              <a:rPr dirty="0" sz="2600" spc="-10"/>
              <a:t>jerárquica</a:t>
            </a:r>
            <a:endParaRPr sz="2600"/>
          </a:p>
        </p:txBody>
      </p:sp>
      <p:sp>
        <p:nvSpPr>
          <p:cNvPr id="4" name="object 4" descr=""/>
          <p:cNvSpPr txBox="1"/>
          <p:nvPr/>
        </p:nvSpPr>
        <p:spPr>
          <a:xfrm>
            <a:off x="6707375" y="906705"/>
            <a:ext cx="126111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70" b="1">
                <a:solidFill>
                  <a:srgbClr val="37761C"/>
                </a:solidFill>
                <a:latin typeface="Tahoma"/>
                <a:cs typeface="Tahoma"/>
              </a:rPr>
              <a:t>Directorio</a:t>
            </a:r>
            <a:r>
              <a:rPr dirty="0" sz="1500" spc="-100" b="1">
                <a:solidFill>
                  <a:srgbClr val="37761C"/>
                </a:solidFill>
                <a:latin typeface="Tahoma"/>
                <a:cs typeface="Tahoma"/>
              </a:rPr>
              <a:t> </a:t>
            </a:r>
            <a:r>
              <a:rPr dirty="0" sz="1500" spc="-40" b="1">
                <a:solidFill>
                  <a:srgbClr val="37761C"/>
                </a:solidFill>
                <a:latin typeface="Tahoma"/>
                <a:cs typeface="Tahoma"/>
              </a:rPr>
              <a:t>raiz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1300299" y="1039525"/>
            <a:ext cx="5344160" cy="2364740"/>
            <a:chOff x="1300299" y="1039525"/>
            <a:chExt cx="5344160" cy="2364740"/>
          </a:xfrm>
        </p:grpSpPr>
        <p:sp>
          <p:nvSpPr>
            <p:cNvPr id="6" name="object 6" descr=""/>
            <p:cNvSpPr/>
            <p:nvPr/>
          </p:nvSpPr>
          <p:spPr>
            <a:xfrm>
              <a:off x="4974628" y="1049050"/>
              <a:ext cx="1659889" cy="25400"/>
            </a:xfrm>
            <a:custGeom>
              <a:avLst/>
              <a:gdLst/>
              <a:ahLst/>
              <a:cxnLst/>
              <a:rect l="l" t="t" r="r" b="b"/>
              <a:pathLst>
                <a:path w="1659890" h="25400">
                  <a:moveTo>
                    <a:pt x="1659721" y="0"/>
                  </a:moveTo>
                  <a:lnTo>
                    <a:pt x="0" y="25400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937195" y="1052702"/>
              <a:ext cx="59690" cy="43180"/>
            </a:xfrm>
            <a:custGeom>
              <a:avLst/>
              <a:gdLst/>
              <a:ahLst/>
              <a:cxnLst/>
              <a:rect l="l" t="t" r="r" b="b"/>
              <a:pathLst>
                <a:path w="59689" h="43180">
                  <a:moveTo>
                    <a:pt x="59180" y="42841"/>
                  </a:moveTo>
                  <a:lnTo>
                    <a:pt x="0" y="22321"/>
                  </a:lnTo>
                  <a:lnTo>
                    <a:pt x="58525" y="0"/>
                  </a:lnTo>
                  <a:lnTo>
                    <a:pt x="37432" y="21748"/>
                  </a:lnTo>
                  <a:lnTo>
                    <a:pt x="59180" y="4284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937195" y="1052702"/>
              <a:ext cx="59690" cy="43180"/>
            </a:xfrm>
            <a:custGeom>
              <a:avLst/>
              <a:gdLst/>
              <a:ahLst/>
              <a:cxnLst/>
              <a:rect l="l" t="t" r="r" b="b"/>
              <a:pathLst>
                <a:path w="59689" h="43180">
                  <a:moveTo>
                    <a:pt x="37432" y="21748"/>
                  </a:moveTo>
                  <a:lnTo>
                    <a:pt x="58525" y="0"/>
                  </a:lnTo>
                  <a:lnTo>
                    <a:pt x="0" y="22321"/>
                  </a:lnTo>
                  <a:lnTo>
                    <a:pt x="59180" y="42841"/>
                  </a:lnTo>
                  <a:lnTo>
                    <a:pt x="37432" y="21748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309824" y="1831907"/>
              <a:ext cx="631190" cy="74295"/>
            </a:xfrm>
            <a:custGeom>
              <a:avLst/>
              <a:gdLst/>
              <a:ahLst/>
              <a:cxnLst/>
              <a:rect l="l" t="t" r="r" b="b"/>
              <a:pathLst>
                <a:path w="631189" h="74294">
                  <a:moveTo>
                    <a:pt x="0" y="74266"/>
                  </a:moveTo>
                  <a:lnTo>
                    <a:pt x="630861" y="0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916905" y="1813136"/>
              <a:ext cx="60960" cy="43180"/>
            </a:xfrm>
            <a:custGeom>
              <a:avLst/>
              <a:gdLst/>
              <a:ahLst/>
              <a:cxnLst/>
              <a:rect l="l" t="t" r="r" b="b"/>
              <a:pathLst>
                <a:path w="60960" h="43180">
                  <a:moveTo>
                    <a:pt x="5009" y="42552"/>
                  </a:moveTo>
                  <a:lnTo>
                    <a:pt x="23780" y="18771"/>
                  </a:lnTo>
                  <a:lnTo>
                    <a:pt x="0" y="0"/>
                  </a:lnTo>
                  <a:lnTo>
                    <a:pt x="60960" y="14394"/>
                  </a:lnTo>
                  <a:lnTo>
                    <a:pt x="5009" y="4255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916905" y="1813136"/>
              <a:ext cx="60960" cy="43180"/>
            </a:xfrm>
            <a:custGeom>
              <a:avLst/>
              <a:gdLst/>
              <a:ahLst/>
              <a:cxnLst/>
              <a:rect l="l" t="t" r="r" b="b"/>
              <a:pathLst>
                <a:path w="60960" h="43180">
                  <a:moveTo>
                    <a:pt x="23780" y="18771"/>
                  </a:moveTo>
                  <a:lnTo>
                    <a:pt x="5009" y="42552"/>
                  </a:lnTo>
                  <a:lnTo>
                    <a:pt x="60960" y="14394"/>
                  </a:lnTo>
                  <a:lnTo>
                    <a:pt x="0" y="0"/>
                  </a:lnTo>
                  <a:lnTo>
                    <a:pt x="23780" y="18771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366374" y="2809121"/>
              <a:ext cx="1905000" cy="585470"/>
            </a:xfrm>
            <a:custGeom>
              <a:avLst/>
              <a:gdLst/>
              <a:ahLst/>
              <a:cxnLst/>
              <a:rect l="l" t="t" r="r" b="b"/>
              <a:pathLst>
                <a:path w="1905000" h="585470">
                  <a:moveTo>
                    <a:pt x="0" y="585028"/>
                  </a:moveTo>
                  <a:lnTo>
                    <a:pt x="1904392" y="0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243997" y="2794933"/>
              <a:ext cx="62865" cy="41275"/>
            </a:xfrm>
            <a:custGeom>
              <a:avLst/>
              <a:gdLst/>
              <a:ahLst/>
              <a:cxnLst/>
              <a:rect l="l" t="t" r="r" b="b"/>
              <a:pathLst>
                <a:path w="62864" h="41275">
                  <a:moveTo>
                    <a:pt x="12582" y="40957"/>
                  </a:moveTo>
                  <a:lnTo>
                    <a:pt x="26769" y="14187"/>
                  </a:lnTo>
                  <a:lnTo>
                    <a:pt x="0" y="0"/>
                  </a:lnTo>
                  <a:lnTo>
                    <a:pt x="62555" y="3194"/>
                  </a:lnTo>
                  <a:lnTo>
                    <a:pt x="12582" y="40957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243997" y="2794933"/>
              <a:ext cx="62865" cy="41275"/>
            </a:xfrm>
            <a:custGeom>
              <a:avLst/>
              <a:gdLst/>
              <a:ahLst/>
              <a:cxnLst/>
              <a:rect l="l" t="t" r="r" b="b"/>
              <a:pathLst>
                <a:path w="62864" h="41275">
                  <a:moveTo>
                    <a:pt x="26769" y="14187"/>
                  </a:moveTo>
                  <a:lnTo>
                    <a:pt x="12582" y="40957"/>
                  </a:lnTo>
                  <a:lnTo>
                    <a:pt x="62555" y="3194"/>
                  </a:lnTo>
                  <a:lnTo>
                    <a:pt x="0" y="0"/>
                  </a:lnTo>
                  <a:lnTo>
                    <a:pt x="26769" y="14187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246700" y="1740655"/>
            <a:ext cx="99314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60" b="1">
                <a:solidFill>
                  <a:srgbClr val="37761C"/>
                </a:solidFill>
                <a:latin typeface="Tahoma"/>
                <a:cs typeface="Tahoma"/>
              </a:rPr>
              <a:t>Directorios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09098" y="3161205"/>
            <a:ext cx="77914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6680" marR="5080" indent="-94615">
              <a:lnSpc>
                <a:spcPct val="100000"/>
              </a:lnSpc>
              <a:spcBef>
                <a:spcPts val="100"/>
              </a:spcBef>
            </a:pPr>
            <a:r>
              <a:rPr dirty="0" sz="1500" spc="-75" b="1">
                <a:solidFill>
                  <a:srgbClr val="37761C"/>
                </a:solidFill>
                <a:latin typeface="Tahoma"/>
                <a:cs typeface="Tahoma"/>
              </a:rPr>
              <a:t>Archivos </a:t>
            </a:r>
            <a:r>
              <a:rPr dirty="0" sz="1500" spc="-50" b="1">
                <a:solidFill>
                  <a:srgbClr val="37761C"/>
                </a:solidFill>
                <a:latin typeface="Tahoma"/>
                <a:cs typeface="Tahoma"/>
              </a:rPr>
              <a:t>(hojas)</a:t>
            </a:r>
            <a:endParaRPr sz="1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2475" y="1379787"/>
            <a:ext cx="5194300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Tratamiento</a:t>
            </a:r>
            <a:r>
              <a:rPr dirty="0" spc="-25"/>
              <a:t> </a:t>
            </a:r>
            <a:r>
              <a:rPr dirty="0" spc="50"/>
              <a:t>consistente</a:t>
            </a:r>
            <a:r>
              <a:rPr dirty="0" spc="-20"/>
              <a:t> </a:t>
            </a:r>
            <a:r>
              <a:rPr dirty="0" spc="114"/>
              <a:t>de</a:t>
            </a:r>
            <a:r>
              <a:rPr dirty="0" spc="-20"/>
              <a:t> </a:t>
            </a:r>
            <a:r>
              <a:rPr dirty="0" spc="40"/>
              <a:t>archivos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2475" y="2142248"/>
            <a:ext cx="7288530" cy="1619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2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9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0">
                <a:solidFill>
                  <a:srgbClr val="595959"/>
                </a:solidFill>
                <a:latin typeface="Tahoma"/>
                <a:cs typeface="Tahoma"/>
              </a:rPr>
              <a:t>programas</a:t>
            </a:r>
            <a:r>
              <a:rPr dirty="0" sz="19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ven</a:t>
            </a:r>
            <a:r>
              <a:rPr dirty="0" sz="19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9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9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archivos</a:t>
            </a:r>
            <a:r>
              <a:rPr dirty="0" sz="19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como</a:t>
            </a:r>
            <a:r>
              <a:rPr dirty="0" sz="19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streams</a:t>
            </a:r>
            <a:r>
              <a:rPr dirty="0" sz="19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45">
                <a:solidFill>
                  <a:srgbClr val="595959"/>
                </a:solidFill>
                <a:latin typeface="Tahoma"/>
                <a:cs typeface="Tahoma"/>
              </a:rPr>
              <a:t>(flujos)</a:t>
            </a:r>
            <a:r>
              <a:rPr dirty="0" sz="19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9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bytes.</a:t>
            </a:r>
            <a:endParaRPr sz="1900">
              <a:latin typeface="Tahoma"/>
              <a:cs typeface="Tahoma"/>
            </a:endParaRPr>
          </a:p>
          <a:p>
            <a:pPr marL="12700" marR="5080">
              <a:lnSpc>
                <a:spcPct val="114999"/>
              </a:lnSpc>
              <a:spcBef>
                <a:spcPts val="1200"/>
              </a:spcBef>
            </a:pPr>
            <a:r>
              <a:rPr dirty="0" sz="1900" spc="90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dirty="0" sz="1900" spc="-2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nivel</a:t>
            </a:r>
            <a:r>
              <a:rPr dirty="0" sz="19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9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9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system</a:t>
            </a:r>
            <a:r>
              <a:rPr dirty="0" sz="19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calls</a:t>
            </a:r>
            <a:r>
              <a:rPr dirty="0" sz="1900" spc="-2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20">
                <a:solidFill>
                  <a:srgbClr val="595959"/>
                </a:solidFill>
                <a:latin typeface="Tahoma"/>
                <a:cs typeface="Tahoma"/>
              </a:rPr>
              <a:t>(eg.</a:t>
            </a:r>
            <a:r>
              <a:rPr dirty="0" sz="19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read</a:t>
            </a:r>
            <a:r>
              <a:rPr dirty="0" sz="19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9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write)</a:t>
            </a:r>
            <a:r>
              <a:rPr dirty="0" sz="19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900" spc="-2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9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40">
                <a:solidFill>
                  <a:srgbClr val="595959"/>
                </a:solidFill>
                <a:latin typeface="Tahoma"/>
                <a:cs typeface="Tahoma"/>
              </a:rPr>
              <a:t>asume</a:t>
            </a:r>
            <a:r>
              <a:rPr dirty="0" sz="19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9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35">
                <a:solidFill>
                  <a:srgbClr val="595959"/>
                </a:solidFill>
                <a:latin typeface="Tahoma"/>
                <a:cs typeface="Tahoma"/>
              </a:rPr>
              <a:t>haya</a:t>
            </a:r>
            <a:r>
              <a:rPr dirty="0" sz="19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5">
                <a:solidFill>
                  <a:srgbClr val="595959"/>
                </a:solidFill>
                <a:latin typeface="Tahoma"/>
                <a:cs typeface="Tahoma"/>
              </a:rPr>
              <a:t>una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codificación</a:t>
            </a:r>
            <a:r>
              <a:rPr dirty="0" sz="19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o</a:t>
            </a:r>
            <a:r>
              <a:rPr dirty="0" sz="19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formato</a:t>
            </a:r>
            <a:r>
              <a:rPr dirty="0" sz="19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20">
                <a:solidFill>
                  <a:srgbClr val="595959"/>
                </a:solidFill>
                <a:latin typeface="Tahoma"/>
                <a:cs typeface="Tahoma"/>
              </a:rPr>
              <a:t>(eg.</a:t>
            </a:r>
            <a:r>
              <a:rPr dirty="0" sz="19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45">
                <a:solidFill>
                  <a:srgbClr val="595959"/>
                </a:solidFill>
                <a:latin typeface="Tahoma"/>
                <a:cs typeface="Tahoma"/>
              </a:rPr>
              <a:t>ASCII,</a:t>
            </a:r>
            <a:r>
              <a:rPr dirty="0" sz="19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Unicode,</a:t>
            </a:r>
            <a:r>
              <a:rPr dirty="0" sz="19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etc.)</a:t>
            </a:r>
            <a:endParaRPr sz="1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dirty="0" sz="1900" spc="-45">
                <a:solidFill>
                  <a:srgbClr val="595959"/>
                </a:solidFill>
                <a:latin typeface="Tahoma"/>
                <a:cs typeface="Tahoma"/>
              </a:rPr>
              <a:t>Todos</a:t>
            </a:r>
            <a:r>
              <a:rPr dirty="0" sz="19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9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archivos</a:t>
            </a:r>
            <a:r>
              <a:rPr dirty="0" sz="19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son</a:t>
            </a:r>
            <a:r>
              <a:rPr dirty="0" sz="19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3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9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secuencia</a:t>
            </a:r>
            <a:r>
              <a:rPr dirty="0" sz="19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9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30">
                <a:solidFill>
                  <a:srgbClr val="595959"/>
                </a:solidFill>
                <a:latin typeface="Tahoma"/>
                <a:cs typeface="Tahoma"/>
              </a:rPr>
              <a:t>bytes,</a:t>
            </a:r>
            <a:r>
              <a:rPr dirty="0" sz="19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9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30">
                <a:solidFill>
                  <a:srgbClr val="595959"/>
                </a:solidFill>
                <a:latin typeface="Tahoma"/>
                <a:cs typeface="Tahoma"/>
              </a:rPr>
              <a:t>nada</a:t>
            </a:r>
            <a:r>
              <a:rPr dirty="0" sz="19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5">
                <a:solidFill>
                  <a:srgbClr val="595959"/>
                </a:solidFill>
                <a:latin typeface="Tahoma"/>
                <a:cs typeface="Tahoma"/>
              </a:rPr>
              <a:t>mas</a:t>
            </a:r>
            <a:endParaRPr sz="1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2475" y="1379787"/>
            <a:ext cx="1326515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55"/>
              <a:t>Permisos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2475" y="2142248"/>
            <a:ext cx="5814060" cy="1619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2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9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archivos</a:t>
            </a:r>
            <a:r>
              <a:rPr dirty="0" sz="19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tienen</a:t>
            </a:r>
            <a:r>
              <a:rPr dirty="0" sz="19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asociados</a:t>
            </a:r>
            <a:r>
              <a:rPr dirty="0" sz="19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permisos.</a:t>
            </a:r>
            <a:endParaRPr sz="1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9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30">
                <a:solidFill>
                  <a:srgbClr val="595959"/>
                </a:solidFill>
                <a:latin typeface="Tahoma"/>
                <a:cs typeface="Tahoma"/>
              </a:rPr>
              <a:t>esquema</a:t>
            </a:r>
            <a:r>
              <a:rPr dirty="0" sz="19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9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permisos</a:t>
            </a:r>
            <a:r>
              <a:rPr dirty="0" sz="19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clásico</a:t>
            </a:r>
            <a:r>
              <a:rPr dirty="0" sz="19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9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UNIX:</a:t>
            </a:r>
            <a:endParaRPr sz="1900">
              <a:latin typeface="Tahoma"/>
              <a:cs typeface="Tahoma"/>
            </a:endParaRPr>
          </a:p>
          <a:p>
            <a:pPr marL="469265" indent="-374015">
              <a:lnSpc>
                <a:spcPct val="100000"/>
              </a:lnSpc>
              <a:spcBef>
                <a:spcPts val="1545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900" spc="60">
                <a:solidFill>
                  <a:srgbClr val="595959"/>
                </a:solidFill>
                <a:latin typeface="Tahoma"/>
                <a:cs typeface="Tahoma"/>
              </a:rPr>
              <a:t>3</a:t>
            </a:r>
            <a:r>
              <a:rPr dirty="0" sz="19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5">
                <a:solidFill>
                  <a:srgbClr val="595959"/>
                </a:solidFill>
                <a:latin typeface="Tahoma"/>
                <a:cs typeface="Tahoma"/>
              </a:rPr>
              <a:t>permisos:</a:t>
            </a:r>
            <a:r>
              <a:rPr dirty="0" sz="19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35">
                <a:solidFill>
                  <a:srgbClr val="595959"/>
                </a:solidFill>
                <a:latin typeface="Tahoma"/>
                <a:cs typeface="Tahoma"/>
              </a:rPr>
              <a:t>read,</a:t>
            </a:r>
            <a:r>
              <a:rPr dirty="0" sz="19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write</a:t>
            </a:r>
            <a:r>
              <a:rPr dirty="0" sz="19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9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execute</a:t>
            </a:r>
            <a:endParaRPr sz="1900">
              <a:latin typeface="Tahoma"/>
              <a:cs typeface="Tahoma"/>
            </a:endParaRPr>
          </a:p>
          <a:p>
            <a:pPr marL="469265" indent="-374015">
              <a:lnSpc>
                <a:spcPct val="100000"/>
              </a:lnSpc>
              <a:spcBef>
                <a:spcPts val="340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900" spc="60">
                <a:solidFill>
                  <a:srgbClr val="595959"/>
                </a:solidFill>
                <a:latin typeface="Tahoma"/>
                <a:cs typeface="Tahoma"/>
              </a:rPr>
              <a:t>3</a:t>
            </a:r>
            <a:r>
              <a:rPr dirty="0" sz="19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clases</a:t>
            </a:r>
            <a:r>
              <a:rPr dirty="0" sz="19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9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5">
                <a:solidFill>
                  <a:srgbClr val="595959"/>
                </a:solidFill>
                <a:latin typeface="Tahoma"/>
                <a:cs typeface="Tahoma"/>
              </a:rPr>
              <a:t>usuarios:</a:t>
            </a:r>
            <a:r>
              <a:rPr dirty="0" sz="19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35">
                <a:solidFill>
                  <a:srgbClr val="595959"/>
                </a:solidFill>
                <a:latin typeface="Tahoma"/>
                <a:cs typeface="Tahoma"/>
              </a:rPr>
              <a:t>owner,</a:t>
            </a:r>
            <a:r>
              <a:rPr dirty="0" sz="19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35">
                <a:solidFill>
                  <a:srgbClr val="595959"/>
                </a:solidFill>
                <a:latin typeface="Tahoma"/>
                <a:cs typeface="Tahoma"/>
              </a:rPr>
              <a:t>grupo,</a:t>
            </a:r>
            <a:r>
              <a:rPr dirty="0" sz="19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todos</a:t>
            </a:r>
            <a:r>
              <a:rPr dirty="0" sz="19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9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demas</a:t>
            </a:r>
            <a:endParaRPr sz="1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025" y="61137"/>
            <a:ext cx="3864610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60"/>
              <a:t>Dispositivos</a:t>
            </a:r>
            <a:r>
              <a:rPr dirty="0" spc="-100"/>
              <a:t> </a:t>
            </a:r>
            <a:r>
              <a:rPr dirty="0" spc="130"/>
              <a:t>como</a:t>
            </a:r>
            <a:r>
              <a:rPr dirty="0" spc="-100"/>
              <a:t> </a:t>
            </a:r>
            <a:r>
              <a:rPr dirty="0" spc="40"/>
              <a:t>archivos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 marR="520065">
              <a:lnSpc>
                <a:spcPts val="2150"/>
              </a:lnSpc>
              <a:spcBef>
                <a:spcPts val="85"/>
              </a:spcBef>
            </a:pPr>
            <a:r>
              <a:rPr dirty="0" sz="1700" spc="-35"/>
              <a:t>Todo</a:t>
            </a:r>
            <a:r>
              <a:rPr dirty="0" sz="1700" spc="-170"/>
              <a:t> </a:t>
            </a:r>
            <a:r>
              <a:rPr dirty="0" sz="1700" spc="-25"/>
              <a:t>es</a:t>
            </a:r>
            <a:r>
              <a:rPr dirty="0" sz="1700" spc="-165"/>
              <a:t> </a:t>
            </a:r>
            <a:r>
              <a:rPr dirty="0" sz="1700" spc="-10"/>
              <a:t>un</a:t>
            </a:r>
            <a:r>
              <a:rPr dirty="0" sz="1700" spc="-165"/>
              <a:t> </a:t>
            </a:r>
            <a:r>
              <a:rPr dirty="0" sz="1700"/>
              <a:t>archivo</a:t>
            </a:r>
            <a:r>
              <a:rPr dirty="0" sz="1700" spc="-165"/>
              <a:t> </a:t>
            </a:r>
            <a:r>
              <a:rPr dirty="0" sz="1700" spc="-10"/>
              <a:t>en</a:t>
            </a:r>
            <a:r>
              <a:rPr dirty="0" sz="1700" spc="-165"/>
              <a:t> </a:t>
            </a:r>
            <a:r>
              <a:rPr dirty="0" sz="1700" spc="65"/>
              <a:t>UNIX</a:t>
            </a:r>
            <a:r>
              <a:rPr dirty="0" sz="1700" spc="-170"/>
              <a:t> </a:t>
            </a:r>
            <a:r>
              <a:rPr dirty="0" sz="1700" spc="-110"/>
              <a:t>(eg.</a:t>
            </a:r>
            <a:r>
              <a:rPr dirty="0" sz="1700" spc="-165"/>
              <a:t> </a:t>
            </a:r>
            <a:r>
              <a:rPr dirty="0" sz="1700"/>
              <a:t>discos</a:t>
            </a:r>
            <a:r>
              <a:rPr dirty="0" sz="1700" spc="-165"/>
              <a:t> </a:t>
            </a:r>
            <a:r>
              <a:rPr dirty="0" sz="1700" spc="-10"/>
              <a:t>rigidos,</a:t>
            </a:r>
            <a:r>
              <a:rPr dirty="0" sz="1700" spc="-165"/>
              <a:t> </a:t>
            </a:r>
            <a:r>
              <a:rPr dirty="0" sz="1700"/>
              <a:t>CD-Rom,</a:t>
            </a:r>
            <a:r>
              <a:rPr dirty="0" sz="1700" spc="-165"/>
              <a:t> </a:t>
            </a:r>
            <a:r>
              <a:rPr dirty="0" sz="1700"/>
              <a:t>terminales,</a:t>
            </a:r>
            <a:r>
              <a:rPr dirty="0" sz="1700" spc="-165"/>
              <a:t> </a:t>
            </a:r>
            <a:r>
              <a:rPr dirty="0" sz="1700"/>
              <a:t>el</a:t>
            </a:r>
            <a:r>
              <a:rPr dirty="0" sz="1700" spc="-170"/>
              <a:t> </a:t>
            </a:r>
            <a:r>
              <a:rPr dirty="0" sz="1700" spc="-20"/>
              <a:t>proc </a:t>
            </a:r>
            <a:r>
              <a:rPr dirty="0" sz="1700" spc="-10"/>
              <a:t>filesystem).</a:t>
            </a:r>
            <a:endParaRPr sz="1700"/>
          </a:p>
          <a:p>
            <a:pPr marL="12700" marR="5080">
              <a:lnSpc>
                <a:spcPct val="105500"/>
              </a:lnSpc>
              <a:spcBef>
                <a:spcPts val="1115"/>
              </a:spcBef>
            </a:pPr>
            <a:r>
              <a:rPr dirty="0" sz="1700"/>
              <a:t>Esto</a:t>
            </a:r>
            <a:r>
              <a:rPr dirty="0" sz="1700" spc="-150"/>
              <a:t> </a:t>
            </a:r>
            <a:r>
              <a:rPr dirty="0" sz="1700"/>
              <a:t>permite</a:t>
            </a:r>
            <a:r>
              <a:rPr dirty="0" sz="1700" spc="-145"/>
              <a:t> </a:t>
            </a:r>
            <a:r>
              <a:rPr dirty="0" sz="1700" spc="-10"/>
              <a:t>un</a:t>
            </a:r>
            <a:r>
              <a:rPr dirty="0" sz="1700" spc="-145"/>
              <a:t> </a:t>
            </a:r>
            <a:r>
              <a:rPr dirty="0" sz="1700" spc="-10"/>
              <a:t>acceso</a:t>
            </a:r>
            <a:r>
              <a:rPr dirty="0" sz="1700" spc="-150"/>
              <a:t> </a:t>
            </a:r>
            <a:r>
              <a:rPr dirty="0" sz="1700"/>
              <a:t>uniforme</a:t>
            </a:r>
            <a:r>
              <a:rPr dirty="0" sz="1700" spc="-145"/>
              <a:t> </a:t>
            </a:r>
            <a:r>
              <a:rPr dirty="0" sz="1700" spc="-35"/>
              <a:t>a</a:t>
            </a:r>
            <a:r>
              <a:rPr dirty="0" sz="1700" spc="-145"/>
              <a:t> </a:t>
            </a:r>
            <a:r>
              <a:rPr dirty="0" sz="1700"/>
              <a:t>los</a:t>
            </a:r>
            <a:r>
              <a:rPr dirty="0" sz="1700" spc="-150"/>
              <a:t> </a:t>
            </a:r>
            <a:r>
              <a:rPr dirty="0" sz="1700"/>
              <a:t>datos</a:t>
            </a:r>
            <a:r>
              <a:rPr dirty="0" sz="1700" spc="-145"/>
              <a:t> </a:t>
            </a:r>
            <a:r>
              <a:rPr dirty="0" sz="1700"/>
              <a:t>de</a:t>
            </a:r>
            <a:r>
              <a:rPr dirty="0" sz="1700" spc="-145"/>
              <a:t> </a:t>
            </a:r>
            <a:r>
              <a:rPr dirty="0" sz="1700"/>
              <a:t>los</a:t>
            </a:r>
            <a:r>
              <a:rPr dirty="0" sz="1700" spc="-150"/>
              <a:t> </a:t>
            </a:r>
            <a:r>
              <a:rPr dirty="0" sz="1700"/>
              <a:t>dispositivos,</a:t>
            </a:r>
            <a:r>
              <a:rPr dirty="0" sz="1700" spc="-145"/>
              <a:t> </a:t>
            </a:r>
            <a:r>
              <a:rPr dirty="0" sz="1700"/>
              <a:t>porque</a:t>
            </a:r>
            <a:r>
              <a:rPr dirty="0" sz="1700" spc="-145"/>
              <a:t> </a:t>
            </a:r>
            <a:r>
              <a:rPr dirty="0" sz="1700"/>
              <a:t>todos</a:t>
            </a:r>
            <a:r>
              <a:rPr dirty="0" sz="1700" spc="-150"/>
              <a:t> </a:t>
            </a:r>
            <a:r>
              <a:rPr dirty="0" sz="1700" spc="-25"/>
              <a:t>los </a:t>
            </a:r>
            <a:r>
              <a:rPr dirty="0" sz="1700"/>
              <a:t>dispositivos</a:t>
            </a:r>
            <a:r>
              <a:rPr dirty="0" sz="1700" spc="-160"/>
              <a:t> </a:t>
            </a:r>
            <a:r>
              <a:rPr dirty="0" sz="1700"/>
              <a:t>son</a:t>
            </a:r>
            <a:r>
              <a:rPr dirty="0" sz="1700" spc="-160"/>
              <a:t> </a:t>
            </a:r>
            <a:r>
              <a:rPr dirty="0" sz="1700" spc="-10"/>
              <a:t>archivos,</a:t>
            </a:r>
            <a:r>
              <a:rPr dirty="0" sz="1700" spc="-160"/>
              <a:t> </a:t>
            </a:r>
            <a:r>
              <a:rPr dirty="0" sz="1700"/>
              <a:t>y</a:t>
            </a:r>
            <a:r>
              <a:rPr dirty="0" sz="1700" spc="-160"/>
              <a:t> </a:t>
            </a:r>
            <a:r>
              <a:rPr dirty="0" sz="1700"/>
              <a:t>los</a:t>
            </a:r>
            <a:r>
              <a:rPr dirty="0" sz="1700" spc="-155"/>
              <a:t> </a:t>
            </a:r>
            <a:r>
              <a:rPr dirty="0" sz="1700"/>
              <a:t>archivos</a:t>
            </a:r>
            <a:r>
              <a:rPr dirty="0" sz="1700" spc="-160"/>
              <a:t> </a:t>
            </a:r>
            <a:r>
              <a:rPr dirty="0" sz="1700"/>
              <a:t>son</a:t>
            </a:r>
            <a:r>
              <a:rPr dirty="0" sz="1700" spc="-160"/>
              <a:t> </a:t>
            </a:r>
            <a:r>
              <a:rPr dirty="0" sz="1700" spc="-10"/>
              <a:t>secuencias</a:t>
            </a:r>
            <a:r>
              <a:rPr dirty="0" sz="1700" spc="-160"/>
              <a:t> </a:t>
            </a:r>
            <a:r>
              <a:rPr dirty="0" sz="1700"/>
              <a:t>de</a:t>
            </a:r>
            <a:r>
              <a:rPr dirty="0" sz="1700" spc="-160"/>
              <a:t> </a:t>
            </a:r>
            <a:r>
              <a:rPr dirty="0" sz="1700" spc="-10"/>
              <a:t>bytes!</a:t>
            </a:r>
            <a:endParaRPr sz="1700"/>
          </a:p>
          <a:p>
            <a:pPr marL="12700" marR="6350">
              <a:lnSpc>
                <a:spcPct val="105500"/>
              </a:lnSpc>
              <a:spcBef>
                <a:spcPts val="1200"/>
              </a:spcBef>
            </a:pPr>
            <a:r>
              <a:rPr dirty="0" sz="1700"/>
              <a:t>Esto</a:t>
            </a:r>
            <a:r>
              <a:rPr dirty="0" sz="1700" spc="-135"/>
              <a:t> </a:t>
            </a:r>
            <a:r>
              <a:rPr dirty="0" sz="1700"/>
              <a:t>permite</a:t>
            </a:r>
            <a:r>
              <a:rPr dirty="0" sz="1700" spc="-130"/>
              <a:t> </a:t>
            </a:r>
            <a:r>
              <a:rPr dirty="0" sz="1700" spc="-10"/>
              <a:t>un</a:t>
            </a:r>
            <a:r>
              <a:rPr dirty="0" sz="1700" spc="-130"/>
              <a:t> </a:t>
            </a:r>
            <a:r>
              <a:rPr dirty="0" sz="1700" spc="-25"/>
              <a:t>manejo</a:t>
            </a:r>
            <a:r>
              <a:rPr dirty="0" sz="1700" spc="-130"/>
              <a:t> </a:t>
            </a:r>
            <a:r>
              <a:rPr dirty="0" sz="1700"/>
              <a:t>de</a:t>
            </a:r>
            <a:r>
              <a:rPr dirty="0" sz="1700" spc="-135"/>
              <a:t> </a:t>
            </a:r>
            <a:r>
              <a:rPr dirty="0" sz="1700"/>
              <a:t>permisos</a:t>
            </a:r>
            <a:r>
              <a:rPr dirty="0" sz="1700" spc="-130"/>
              <a:t> </a:t>
            </a:r>
            <a:r>
              <a:rPr dirty="0" sz="1700" spc="-10"/>
              <a:t>unificado,</a:t>
            </a:r>
            <a:r>
              <a:rPr dirty="0" sz="1700" spc="-130"/>
              <a:t> </a:t>
            </a:r>
            <a:r>
              <a:rPr dirty="0" sz="1700"/>
              <a:t>porque</a:t>
            </a:r>
            <a:r>
              <a:rPr dirty="0" sz="1700" spc="-130"/>
              <a:t> </a:t>
            </a:r>
            <a:r>
              <a:rPr dirty="0" sz="1700"/>
              <a:t>todos</a:t>
            </a:r>
            <a:r>
              <a:rPr dirty="0" sz="1700" spc="-130"/>
              <a:t> </a:t>
            </a:r>
            <a:r>
              <a:rPr dirty="0" sz="1700"/>
              <a:t>los</a:t>
            </a:r>
            <a:r>
              <a:rPr dirty="0" sz="1700" spc="-135"/>
              <a:t> </a:t>
            </a:r>
            <a:r>
              <a:rPr dirty="0" sz="1700"/>
              <a:t>dispositivos</a:t>
            </a:r>
            <a:r>
              <a:rPr dirty="0" sz="1700" spc="-130"/>
              <a:t> </a:t>
            </a:r>
            <a:r>
              <a:rPr dirty="0" sz="1700" spc="-25"/>
              <a:t>son </a:t>
            </a:r>
            <a:r>
              <a:rPr dirty="0" sz="1700"/>
              <a:t>archivos</a:t>
            </a:r>
            <a:r>
              <a:rPr dirty="0" sz="1700" spc="-135"/>
              <a:t> </a:t>
            </a:r>
            <a:r>
              <a:rPr dirty="0" sz="1700"/>
              <a:t>y</a:t>
            </a:r>
            <a:r>
              <a:rPr dirty="0" sz="1700" spc="-130"/>
              <a:t> </a:t>
            </a:r>
            <a:r>
              <a:rPr dirty="0" sz="1700"/>
              <a:t>los</a:t>
            </a:r>
            <a:r>
              <a:rPr dirty="0" sz="1700" spc="-130"/>
              <a:t> </a:t>
            </a:r>
            <a:r>
              <a:rPr dirty="0" sz="1700"/>
              <a:t>archivos</a:t>
            </a:r>
            <a:r>
              <a:rPr dirty="0" sz="1700" spc="-130"/>
              <a:t> </a:t>
            </a:r>
            <a:r>
              <a:rPr dirty="0" sz="1700"/>
              <a:t>tienen</a:t>
            </a:r>
            <a:r>
              <a:rPr dirty="0" sz="1700" spc="-130"/>
              <a:t> </a:t>
            </a:r>
            <a:r>
              <a:rPr dirty="0" sz="1700" spc="-10"/>
              <a:t>permisos!</a:t>
            </a:r>
            <a:endParaRPr sz="1700"/>
          </a:p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dirty="0" sz="1750" spc="-10">
                <a:solidFill>
                  <a:srgbClr val="111111"/>
                </a:solidFill>
                <a:latin typeface="Roboto"/>
                <a:cs typeface="Roboto"/>
              </a:rPr>
              <a:t>Ejemplo:</a:t>
            </a:r>
            <a:endParaRPr sz="1750">
              <a:latin typeface="Roboto"/>
              <a:cs typeface="Roboto"/>
            </a:endParaRPr>
          </a:p>
          <a:p>
            <a:pPr marL="469900">
              <a:lnSpc>
                <a:spcPct val="100000"/>
              </a:lnSpc>
              <a:spcBef>
                <a:spcPts val="1315"/>
              </a:spcBef>
            </a:pPr>
            <a:r>
              <a:rPr dirty="0" sz="1750" spc="-10">
                <a:solidFill>
                  <a:srgbClr val="111111"/>
                </a:solidFill>
                <a:latin typeface="Roboto"/>
                <a:cs typeface="Roboto"/>
              </a:rPr>
              <a:t>Para</a:t>
            </a:r>
            <a:r>
              <a:rPr dirty="0" sz="1750" spc="-45">
                <a:solidFill>
                  <a:srgbClr val="111111"/>
                </a:solidFill>
                <a:latin typeface="Roboto"/>
                <a:cs typeface="Roboto"/>
              </a:rPr>
              <a:t> </a:t>
            </a:r>
            <a:r>
              <a:rPr dirty="0" sz="1750" spc="-10">
                <a:solidFill>
                  <a:srgbClr val="111111"/>
                </a:solidFill>
                <a:latin typeface="Roboto"/>
                <a:cs typeface="Roboto"/>
              </a:rPr>
              <a:t>clonar</a:t>
            </a:r>
            <a:r>
              <a:rPr dirty="0" sz="1750" spc="-40">
                <a:solidFill>
                  <a:srgbClr val="111111"/>
                </a:solidFill>
                <a:latin typeface="Roboto"/>
                <a:cs typeface="Roboto"/>
              </a:rPr>
              <a:t> </a:t>
            </a:r>
            <a:r>
              <a:rPr dirty="0" sz="1750">
                <a:solidFill>
                  <a:srgbClr val="111111"/>
                </a:solidFill>
                <a:latin typeface="Roboto"/>
                <a:cs typeface="Roboto"/>
              </a:rPr>
              <a:t>/dev/sdc</a:t>
            </a:r>
            <a:r>
              <a:rPr dirty="0" sz="1750" spc="-35">
                <a:solidFill>
                  <a:srgbClr val="111111"/>
                </a:solidFill>
                <a:latin typeface="Roboto"/>
                <a:cs typeface="Roboto"/>
              </a:rPr>
              <a:t> </a:t>
            </a:r>
            <a:r>
              <a:rPr dirty="0" sz="1750">
                <a:solidFill>
                  <a:srgbClr val="111111"/>
                </a:solidFill>
                <a:latin typeface="Roboto"/>
                <a:cs typeface="Roboto"/>
              </a:rPr>
              <a:t>(250G)</a:t>
            </a:r>
            <a:r>
              <a:rPr dirty="0" sz="1750" spc="-35">
                <a:solidFill>
                  <a:srgbClr val="111111"/>
                </a:solidFill>
                <a:latin typeface="Roboto"/>
                <a:cs typeface="Roboto"/>
              </a:rPr>
              <a:t> </a:t>
            </a:r>
            <a:r>
              <a:rPr dirty="0" sz="1750">
                <a:solidFill>
                  <a:srgbClr val="111111"/>
                </a:solidFill>
                <a:latin typeface="Roboto"/>
                <a:cs typeface="Roboto"/>
              </a:rPr>
              <a:t>a</a:t>
            </a:r>
            <a:r>
              <a:rPr dirty="0" sz="1750" spc="-40">
                <a:solidFill>
                  <a:srgbClr val="111111"/>
                </a:solidFill>
                <a:latin typeface="Roboto"/>
                <a:cs typeface="Roboto"/>
              </a:rPr>
              <a:t> </a:t>
            </a:r>
            <a:r>
              <a:rPr dirty="0" sz="1750">
                <a:solidFill>
                  <a:srgbClr val="111111"/>
                </a:solidFill>
                <a:latin typeface="Roboto"/>
                <a:cs typeface="Roboto"/>
              </a:rPr>
              <a:t>/dev/sdd</a:t>
            </a:r>
            <a:r>
              <a:rPr dirty="0" sz="1750" spc="-45">
                <a:solidFill>
                  <a:srgbClr val="111111"/>
                </a:solidFill>
                <a:latin typeface="Roboto"/>
                <a:cs typeface="Roboto"/>
              </a:rPr>
              <a:t> </a:t>
            </a:r>
            <a:r>
              <a:rPr dirty="0" sz="1750">
                <a:solidFill>
                  <a:srgbClr val="111111"/>
                </a:solidFill>
                <a:latin typeface="Roboto"/>
                <a:cs typeface="Roboto"/>
              </a:rPr>
              <a:t>(250G)</a:t>
            </a:r>
            <a:r>
              <a:rPr dirty="0" sz="1750" spc="-35">
                <a:solidFill>
                  <a:srgbClr val="111111"/>
                </a:solidFill>
                <a:latin typeface="Roboto"/>
                <a:cs typeface="Roboto"/>
              </a:rPr>
              <a:t> </a:t>
            </a:r>
            <a:r>
              <a:rPr dirty="0" sz="1750">
                <a:solidFill>
                  <a:srgbClr val="111111"/>
                </a:solidFill>
                <a:latin typeface="Roboto"/>
                <a:cs typeface="Roboto"/>
              </a:rPr>
              <a:t>en</a:t>
            </a:r>
            <a:r>
              <a:rPr dirty="0" sz="1750" spc="-35">
                <a:solidFill>
                  <a:srgbClr val="111111"/>
                </a:solidFill>
                <a:latin typeface="Roboto"/>
                <a:cs typeface="Roboto"/>
              </a:rPr>
              <a:t> </a:t>
            </a:r>
            <a:r>
              <a:rPr dirty="0" sz="1750" spc="-10">
                <a:solidFill>
                  <a:srgbClr val="111111"/>
                </a:solidFill>
                <a:latin typeface="Roboto"/>
                <a:cs typeface="Roboto"/>
              </a:rPr>
              <a:t>Linux:</a:t>
            </a:r>
            <a:endParaRPr sz="1750">
              <a:latin typeface="Roboto"/>
              <a:cs typeface="Roboto"/>
            </a:endParaRPr>
          </a:p>
          <a:p>
            <a:pPr marL="660400">
              <a:lnSpc>
                <a:spcPct val="100000"/>
              </a:lnSpc>
              <a:spcBef>
                <a:spcPts val="1320"/>
              </a:spcBef>
            </a:pPr>
            <a:r>
              <a:rPr dirty="0" sz="1600">
                <a:solidFill>
                  <a:srgbClr val="FF0000"/>
                </a:solidFill>
                <a:latin typeface="Courier New"/>
                <a:cs typeface="Courier New"/>
              </a:rPr>
              <a:t>#</a:t>
            </a:r>
            <a:r>
              <a:rPr dirty="0" sz="1600" spc="-3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1600">
                <a:solidFill>
                  <a:srgbClr val="111111"/>
                </a:solidFill>
                <a:latin typeface="Courier New"/>
                <a:cs typeface="Courier New"/>
              </a:rPr>
              <a:t>dd</a:t>
            </a:r>
            <a:r>
              <a:rPr dirty="0" sz="1600" spc="-25">
                <a:solidFill>
                  <a:srgbClr val="111111"/>
                </a:solidFill>
                <a:latin typeface="Courier New"/>
                <a:cs typeface="Courier New"/>
              </a:rPr>
              <a:t> </a:t>
            </a:r>
            <a:r>
              <a:rPr dirty="0" sz="1600">
                <a:solidFill>
                  <a:srgbClr val="111111"/>
                </a:solidFill>
                <a:latin typeface="Courier New"/>
                <a:cs typeface="Courier New"/>
              </a:rPr>
              <a:t>if=/dev/sdc</a:t>
            </a:r>
            <a:r>
              <a:rPr dirty="0" sz="1600" spc="-25">
                <a:solidFill>
                  <a:srgbClr val="111111"/>
                </a:solidFill>
                <a:latin typeface="Courier New"/>
                <a:cs typeface="Courier New"/>
              </a:rPr>
              <a:t> </a:t>
            </a:r>
            <a:r>
              <a:rPr dirty="0" sz="1600">
                <a:solidFill>
                  <a:srgbClr val="111111"/>
                </a:solidFill>
                <a:latin typeface="Courier New"/>
                <a:cs typeface="Courier New"/>
              </a:rPr>
              <a:t>of=/dev/sdd</a:t>
            </a:r>
            <a:r>
              <a:rPr dirty="0" sz="1600" spc="-25">
                <a:solidFill>
                  <a:srgbClr val="111111"/>
                </a:solidFill>
                <a:latin typeface="Courier New"/>
                <a:cs typeface="Courier New"/>
              </a:rPr>
              <a:t> </a:t>
            </a:r>
            <a:r>
              <a:rPr dirty="0" sz="1600">
                <a:solidFill>
                  <a:srgbClr val="111111"/>
                </a:solidFill>
                <a:latin typeface="Courier New"/>
                <a:cs typeface="Courier New"/>
              </a:rPr>
              <a:t>bs=64K</a:t>
            </a:r>
            <a:r>
              <a:rPr dirty="0" sz="1600" spc="-25">
                <a:solidFill>
                  <a:srgbClr val="111111"/>
                </a:solidFill>
                <a:latin typeface="Courier New"/>
                <a:cs typeface="Courier New"/>
              </a:rPr>
              <a:t> </a:t>
            </a:r>
            <a:r>
              <a:rPr dirty="0" sz="1600" spc="-10">
                <a:solidFill>
                  <a:srgbClr val="111111"/>
                </a:solidFill>
                <a:latin typeface="Courier New"/>
                <a:cs typeface="Courier New"/>
              </a:rPr>
              <a:t>conv=noerror,sync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45074" y="1315468"/>
            <a:ext cx="7452995" cy="27724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12700" marR="1740535">
              <a:lnSpc>
                <a:spcPct val="159900"/>
              </a:lnSpc>
              <a:spcBef>
                <a:spcPts val="90"/>
              </a:spcBef>
            </a:pPr>
            <a:r>
              <a:rPr dirty="0" sz="1600" spc="4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archivo</a:t>
            </a:r>
            <a:r>
              <a:rPr dirty="0" sz="16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5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6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6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colección</a:t>
            </a:r>
            <a:r>
              <a:rPr dirty="0" sz="16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datos</a:t>
            </a:r>
            <a:r>
              <a:rPr dirty="0" sz="16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6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nombre</a:t>
            </a:r>
            <a:r>
              <a:rPr dirty="0" sz="16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específico. </a:t>
            </a:r>
            <a:r>
              <a:rPr dirty="0" sz="1600" spc="65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ejemplo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/home/mariano/MisDatos.txt.</a:t>
            </a:r>
            <a:endParaRPr sz="1600">
              <a:latin typeface="Tahoma"/>
              <a:cs typeface="Tahoma"/>
            </a:endParaRPr>
          </a:p>
          <a:p>
            <a:pPr algn="just" marL="12700" marR="302895">
              <a:lnSpc>
                <a:spcPts val="1870"/>
              </a:lnSpc>
              <a:spcBef>
                <a:spcPts val="1255"/>
              </a:spcBef>
            </a:pPr>
            <a:r>
              <a:rPr dirty="0" sz="1600" spc="1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6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25">
                <a:solidFill>
                  <a:srgbClr val="595959"/>
                </a:solidFill>
                <a:latin typeface="Tahoma"/>
                <a:cs typeface="Tahoma"/>
              </a:rPr>
              <a:t>archivos</a:t>
            </a:r>
            <a:r>
              <a:rPr dirty="0" sz="16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20">
                <a:solidFill>
                  <a:srgbClr val="595959"/>
                </a:solidFill>
                <a:latin typeface="Tahoma"/>
                <a:cs typeface="Tahoma"/>
              </a:rPr>
              <a:t>proveen</a:t>
            </a:r>
            <a:r>
              <a:rPr dirty="0" sz="16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6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25">
                <a:solidFill>
                  <a:srgbClr val="595959"/>
                </a:solidFill>
                <a:latin typeface="Tahoma"/>
                <a:cs typeface="Tahoma"/>
              </a:rPr>
              <a:t>abstracción</a:t>
            </a:r>
            <a:r>
              <a:rPr dirty="0" sz="16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5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más</a:t>
            </a:r>
            <a:r>
              <a:rPr dirty="0" sz="16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35">
                <a:solidFill>
                  <a:srgbClr val="595959"/>
                </a:solidFill>
                <a:latin typeface="Tahoma"/>
                <a:cs typeface="Tahoma"/>
              </a:rPr>
              <a:t>alto</a:t>
            </a:r>
            <a:r>
              <a:rPr dirty="0" sz="16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25">
                <a:solidFill>
                  <a:srgbClr val="595959"/>
                </a:solidFill>
                <a:latin typeface="Tahoma"/>
                <a:cs typeface="Tahoma"/>
              </a:rPr>
              <a:t>nivel</a:t>
            </a:r>
            <a:r>
              <a:rPr dirty="0" sz="16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5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2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5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0">
                <a:solidFill>
                  <a:srgbClr val="595959"/>
                </a:solidFill>
                <a:latin typeface="Tahoma"/>
                <a:cs typeface="Tahoma"/>
              </a:rPr>
              <a:t>subyace</a:t>
            </a:r>
            <a:r>
              <a:rPr dirty="0" sz="16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5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35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30">
                <a:solidFill>
                  <a:srgbClr val="595959"/>
                </a:solidFill>
                <a:latin typeface="Tahoma"/>
                <a:cs typeface="Tahoma"/>
              </a:rPr>
              <a:t> dispositivo</a:t>
            </a:r>
            <a:r>
              <a:rPr dirty="0" sz="16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5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">
                <a:solidFill>
                  <a:srgbClr val="595959"/>
                </a:solidFill>
                <a:latin typeface="Tahoma"/>
                <a:cs typeface="Tahoma"/>
              </a:rPr>
              <a:t>almacenamiento;</a:t>
            </a:r>
            <a:r>
              <a:rPr dirty="0" sz="16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5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30">
                <a:solidFill>
                  <a:srgbClr val="595959"/>
                </a:solidFill>
                <a:latin typeface="Tahoma"/>
                <a:cs typeface="Tahoma"/>
              </a:rPr>
              <a:t>archivo</a:t>
            </a:r>
            <a:r>
              <a:rPr dirty="0" sz="16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35">
                <a:solidFill>
                  <a:srgbClr val="595959"/>
                </a:solidFill>
                <a:latin typeface="Tahoma"/>
                <a:cs typeface="Tahoma"/>
              </a:rPr>
              <a:t>proporciona</a:t>
            </a:r>
            <a:r>
              <a:rPr dirty="0" sz="16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5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25">
                <a:solidFill>
                  <a:srgbClr val="595959"/>
                </a:solidFill>
                <a:latin typeface="Tahoma"/>
                <a:cs typeface="Tahoma"/>
              </a:rPr>
              <a:t>nombre</a:t>
            </a:r>
            <a:r>
              <a:rPr dirty="0" sz="16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30">
                <a:solidFill>
                  <a:srgbClr val="595959"/>
                </a:solidFill>
                <a:latin typeface="Tahoma"/>
                <a:cs typeface="Tahoma"/>
              </a:rPr>
              <a:t>único</a:t>
            </a:r>
            <a:r>
              <a:rPr dirty="0" sz="16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3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6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25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600" spc="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20">
                <a:solidFill>
                  <a:srgbClr val="595959"/>
                </a:solidFill>
                <a:latin typeface="Tahoma"/>
                <a:cs typeface="Tahoma"/>
              </a:rPr>
              <a:t>significado</a:t>
            </a:r>
            <a:r>
              <a:rPr dirty="0" sz="16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6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45">
                <a:solidFill>
                  <a:srgbClr val="595959"/>
                </a:solidFill>
                <a:latin typeface="Tahoma"/>
                <a:cs typeface="Tahoma"/>
              </a:rPr>
              <a:t>referirse</a:t>
            </a:r>
            <a:r>
              <a:rPr dirty="0" sz="16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6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6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20">
                <a:solidFill>
                  <a:srgbClr val="595959"/>
                </a:solidFill>
                <a:latin typeface="Tahoma"/>
                <a:cs typeface="Tahoma"/>
              </a:rPr>
              <a:t>cantidad</a:t>
            </a:r>
            <a:r>
              <a:rPr dirty="0" sz="16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40">
                <a:solidFill>
                  <a:srgbClr val="595959"/>
                </a:solidFill>
                <a:latin typeface="Tahoma"/>
                <a:cs typeface="Tahoma"/>
              </a:rPr>
              <a:t>arbitraria</a:t>
            </a:r>
            <a:r>
              <a:rPr dirty="0" sz="16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5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datos.</a:t>
            </a:r>
            <a:endParaRPr sz="1600">
              <a:latin typeface="Tahoma"/>
              <a:cs typeface="Tahoma"/>
            </a:endParaRPr>
          </a:p>
          <a:p>
            <a:pPr marL="12700" marR="5080">
              <a:lnSpc>
                <a:spcPts val="1870"/>
              </a:lnSpc>
              <a:spcBef>
                <a:spcPts val="1195"/>
              </a:spcBef>
            </a:pPr>
            <a:r>
              <a:rPr dirty="0" sz="1600" spc="65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ejemplo,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/home/mariano/MisDatos.txt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podría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estar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guardada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disco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los </a:t>
            </a:r>
            <a:r>
              <a:rPr dirty="0" sz="1600" spc="-90" b="1">
                <a:solidFill>
                  <a:srgbClr val="595959"/>
                </a:solidFill>
                <a:latin typeface="Tahoma"/>
                <a:cs typeface="Tahoma"/>
              </a:rPr>
              <a:t>bloques</a:t>
            </a:r>
            <a:r>
              <a:rPr dirty="0" sz="1600" spc="-4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0x0A23D42F,</a:t>
            </a:r>
            <a:r>
              <a:rPr dirty="0" sz="16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75">
                <a:solidFill>
                  <a:srgbClr val="595959"/>
                </a:solidFill>
                <a:latin typeface="Tahoma"/>
                <a:cs typeface="Tahoma"/>
              </a:rPr>
              <a:t>0xE3A2540F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0">
                <a:solidFill>
                  <a:srgbClr val="595959"/>
                </a:solidFill>
                <a:latin typeface="Tahoma"/>
                <a:cs typeface="Tahoma"/>
              </a:rPr>
              <a:t>0x5567Ae34;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6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evidente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5">
                <a:solidFill>
                  <a:srgbClr val="595959"/>
                </a:solidFill>
                <a:latin typeface="Tahoma"/>
                <a:cs typeface="Tahoma"/>
              </a:rPr>
              <a:t>es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muchísimo</a:t>
            </a:r>
            <a:r>
              <a:rPr dirty="0" sz="1600" spc="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más</a:t>
            </a:r>
            <a:r>
              <a:rPr dirty="0" sz="1600" spc="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fácil</a:t>
            </a:r>
            <a:r>
              <a:rPr dirty="0" sz="1600" spc="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recordar</a:t>
            </a:r>
            <a:r>
              <a:rPr dirty="0" sz="1600" spc="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/home/mariano/MisDatos.txt</a:t>
            </a:r>
            <a:r>
              <a:rPr dirty="0" sz="1600" spc="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esa</a:t>
            </a:r>
            <a:r>
              <a:rPr dirty="0" sz="1600" spc="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lista</a:t>
            </a:r>
            <a:r>
              <a:rPr dirty="0" sz="1600" spc="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de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bloques</a:t>
            </a:r>
            <a:r>
              <a:rPr dirty="0" sz="16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6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almacena</a:t>
            </a:r>
            <a:r>
              <a:rPr dirty="0" sz="16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archivo</a:t>
            </a:r>
            <a:r>
              <a:rPr dirty="0" sz="16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6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datos.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6904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40"/>
              </a:spcBef>
            </a:pPr>
            <a:r>
              <a:rPr dirty="0" spc="40"/>
              <a:t>Archivos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68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40"/>
              <a:t>Archivos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0675" y="1474446"/>
            <a:ext cx="7394575" cy="256476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 marR="421005">
              <a:lnSpc>
                <a:spcPts val="1870"/>
              </a:lnSpc>
              <a:spcBef>
                <a:spcPts val="240"/>
              </a:spcBef>
            </a:pPr>
            <a:r>
              <a:rPr dirty="0" sz="1600" spc="-80" b="1">
                <a:solidFill>
                  <a:srgbClr val="595959"/>
                </a:solidFill>
                <a:latin typeface="Tahoma"/>
                <a:cs typeface="Tahoma"/>
              </a:rPr>
              <a:t>Metadata</a:t>
            </a:r>
            <a:r>
              <a:rPr dirty="0" sz="1600" spc="-80">
                <a:solidFill>
                  <a:srgbClr val="595959"/>
                </a:solidFill>
                <a:latin typeface="Tahoma"/>
                <a:cs typeface="Tahoma"/>
              </a:rPr>
              <a:t>:</a:t>
            </a:r>
            <a:r>
              <a:rPr dirty="0" sz="1600" spc="-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información</a:t>
            </a:r>
            <a:r>
              <a:rPr dirty="0" sz="1600" spc="-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acerca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600" spc="-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archivo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comprendida</a:t>
            </a:r>
            <a:r>
              <a:rPr dirty="0" sz="1600" spc="-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Sistema </a:t>
            </a:r>
            <a:r>
              <a:rPr dirty="0" sz="1600" spc="10">
                <a:solidFill>
                  <a:srgbClr val="595959"/>
                </a:solidFill>
                <a:latin typeface="Tahoma"/>
                <a:cs typeface="Tahoma"/>
              </a:rPr>
              <a:t>Operativo,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0">
                <a:solidFill>
                  <a:srgbClr val="595959"/>
                </a:solidFill>
                <a:latin typeface="Tahoma"/>
                <a:cs typeface="Tahoma"/>
              </a:rPr>
              <a:t>esta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0">
                <a:solidFill>
                  <a:srgbClr val="595959"/>
                </a:solidFill>
                <a:latin typeface="Tahoma"/>
                <a:cs typeface="Tahoma"/>
              </a:rPr>
              <a:t>información</a:t>
            </a:r>
            <a:r>
              <a:rPr dirty="0" sz="16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50">
                <a:solidFill>
                  <a:srgbClr val="595959"/>
                </a:solidFill>
                <a:latin typeface="Tahoma"/>
                <a:cs typeface="Tahoma"/>
              </a:rPr>
              <a:t>:</a:t>
            </a:r>
            <a:endParaRPr sz="1600">
              <a:latin typeface="Tahoma"/>
              <a:cs typeface="Tahoma"/>
            </a:endParaRPr>
          </a:p>
          <a:p>
            <a:pPr marL="469900">
              <a:lnSpc>
                <a:spcPts val="1895"/>
              </a:lnSpc>
              <a:spcBef>
                <a:spcPts val="1100"/>
              </a:spcBef>
            </a:pP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tamaño</a:t>
            </a:r>
            <a:endParaRPr sz="1600">
              <a:latin typeface="Tahoma"/>
              <a:cs typeface="Tahoma"/>
            </a:endParaRPr>
          </a:p>
          <a:p>
            <a:pPr marL="469900" marR="4952365">
              <a:lnSpc>
                <a:spcPts val="1870"/>
              </a:lnSpc>
              <a:spcBef>
                <a:spcPts val="75"/>
              </a:spcBef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fecha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modificación propietario</a:t>
            </a:r>
            <a:endParaRPr sz="1600">
              <a:latin typeface="Tahoma"/>
              <a:cs typeface="Tahoma"/>
            </a:endParaRPr>
          </a:p>
          <a:p>
            <a:pPr marL="469900">
              <a:lnSpc>
                <a:spcPts val="1814"/>
              </a:lnSpc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información</a:t>
            </a:r>
            <a:r>
              <a:rPr dirty="0" sz="16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seguridad</a:t>
            </a:r>
            <a:r>
              <a:rPr dirty="0" sz="16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5">
                <a:solidFill>
                  <a:srgbClr val="595959"/>
                </a:solidFill>
                <a:latin typeface="Tahoma"/>
                <a:cs typeface="Tahoma"/>
              </a:rPr>
              <a:t>(que</a:t>
            </a:r>
            <a:r>
              <a:rPr dirty="0" sz="16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puede</a:t>
            </a:r>
            <a:r>
              <a:rPr dirty="0" sz="16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hacer</a:t>
            </a:r>
            <a:r>
              <a:rPr dirty="0" sz="16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6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archivo.</a:t>
            </a:r>
            <a:endParaRPr sz="1600">
              <a:latin typeface="Tahoma"/>
              <a:cs typeface="Tahoma"/>
            </a:endParaRPr>
          </a:p>
          <a:p>
            <a:pPr marL="12700" marR="5080">
              <a:lnSpc>
                <a:spcPts val="1870"/>
              </a:lnSpc>
              <a:spcBef>
                <a:spcPts val="1925"/>
              </a:spcBef>
            </a:pPr>
            <a:r>
              <a:rPr dirty="0" sz="1600" spc="-90" b="1">
                <a:solidFill>
                  <a:srgbClr val="595959"/>
                </a:solidFill>
                <a:latin typeface="Tahoma"/>
                <a:cs typeface="Tahoma"/>
              </a:rPr>
              <a:t>Datos</a:t>
            </a:r>
            <a:r>
              <a:rPr dirty="0" sz="1600" spc="-90">
                <a:solidFill>
                  <a:srgbClr val="595959"/>
                </a:solidFill>
                <a:latin typeface="Tahoma"/>
                <a:cs typeface="Tahoma"/>
              </a:rPr>
              <a:t>:</a:t>
            </a:r>
            <a:r>
              <a:rPr dirty="0" sz="16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son</a:t>
            </a:r>
            <a:r>
              <a:rPr dirty="0" sz="16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6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datos</a:t>
            </a:r>
            <a:r>
              <a:rPr dirty="0" sz="16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propiamente</a:t>
            </a:r>
            <a:r>
              <a:rPr dirty="0" sz="16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dichos</a:t>
            </a:r>
            <a:r>
              <a:rPr dirty="0" sz="16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quieren</a:t>
            </a:r>
            <a:r>
              <a:rPr dirty="0" sz="16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ser</a:t>
            </a:r>
            <a:r>
              <a:rPr dirty="0" sz="16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almacenados.</a:t>
            </a:r>
            <a:r>
              <a:rPr dirty="0" sz="16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Desde</a:t>
            </a:r>
            <a:r>
              <a:rPr dirty="0" sz="16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el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punto</a:t>
            </a:r>
            <a:r>
              <a:rPr dirty="0" sz="16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vista</a:t>
            </a:r>
            <a:r>
              <a:rPr dirty="0" sz="16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6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Sistema</a:t>
            </a:r>
            <a:r>
              <a:rPr dirty="0" sz="16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Operativo,</a:t>
            </a:r>
            <a:r>
              <a:rPr dirty="0" sz="16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archivo</a:t>
            </a:r>
            <a:r>
              <a:rPr dirty="0" sz="16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o</a:t>
            </a:r>
            <a:r>
              <a:rPr dirty="0" sz="16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file</a:t>
            </a:r>
            <a:r>
              <a:rPr dirty="0" sz="16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6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6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más</a:t>
            </a:r>
            <a:r>
              <a:rPr dirty="0" sz="16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arreglo</a:t>
            </a:r>
            <a:r>
              <a:rPr dirty="0" sz="16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de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bytes</a:t>
            </a:r>
            <a:r>
              <a:rPr dirty="0" sz="16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sin</a:t>
            </a:r>
            <a:r>
              <a:rPr dirty="0" sz="16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tipo.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0675" y="673587"/>
            <a:ext cx="1247140" cy="3822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2300" spc="40" b="1">
                <a:solidFill>
                  <a:srgbClr val="1A1A1A"/>
                </a:solidFill>
                <a:latin typeface="Trebuchet MS"/>
                <a:cs typeface="Trebuchet MS"/>
              </a:rPr>
              <a:t>Archivos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00675" y="1580371"/>
            <a:ext cx="5903595" cy="27559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6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poder</a:t>
            </a:r>
            <a:r>
              <a:rPr dirty="0" sz="16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ver</a:t>
            </a:r>
            <a:r>
              <a:rPr dirty="0" sz="16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metadata</a:t>
            </a:r>
            <a:r>
              <a:rPr dirty="0" sz="16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archivo</a:t>
            </a:r>
            <a:r>
              <a:rPr dirty="0" sz="16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existen</a:t>
            </a:r>
            <a:r>
              <a:rPr dirty="0" sz="16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varias</a:t>
            </a:r>
            <a:r>
              <a:rPr dirty="0" sz="16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opciones:</a:t>
            </a:r>
            <a:endParaRPr sz="16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0150" y="2647900"/>
            <a:ext cx="7882049" cy="110919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40"/>
              <a:t>Archivos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2475" y="2133571"/>
            <a:ext cx="3367404" cy="27559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o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forma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más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human-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readable:</a:t>
            </a:r>
            <a:endParaRPr sz="16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0128" y="2426775"/>
            <a:ext cx="7130371" cy="257799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6904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40"/>
              </a:spcBef>
            </a:pPr>
            <a:r>
              <a:rPr dirty="0" spc="40"/>
              <a:t>Archivos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2475" y="1357000"/>
            <a:ext cx="7105015" cy="892175"/>
          </a:xfrm>
          <a:prstGeom prst="rect">
            <a:avLst/>
          </a:prstGeom>
        </p:spPr>
        <p:txBody>
          <a:bodyPr wrap="square" lIns="0" tIns="154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dirty="0" sz="1900" spc="-60" b="1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900" spc="-15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95" b="1">
                <a:solidFill>
                  <a:srgbClr val="595959"/>
                </a:solidFill>
                <a:latin typeface="Tahoma"/>
                <a:cs typeface="Tahoma"/>
              </a:rPr>
              <a:t>archivo</a:t>
            </a:r>
            <a:r>
              <a:rPr dirty="0" sz="1900" spc="-15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25" b="1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900" spc="-15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14" b="1">
                <a:solidFill>
                  <a:srgbClr val="595959"/>
                </a:solidFill>
                <a:latin typeface="Tahoma"/>
                <a:cs typeface="Tahoma"/>
              </a:rPr>
              <a:t>implementa</a:t>
            </a:r>
            <a:r>
              <a:rPr dirty="0" sz="1900" spc="-15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14" b="1">
                <a:solidFill>
                  <a:srgbClr val="595959"/>
                </a:solidFill>
                <a:latin typeface="Tahoma"/>
                <a:cs typeface="Tahoma"/>
              </a:rPr>
              <a:t>como</a:t>
            </a:r>
            <a:r>
              <a:rPr dirty="0" sz="1900" spc="-15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30" b="1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900" spc="-1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u="heavy" sz="1900" spc="-85" b="1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Tahoma"/>
                <a:cs typeface="Tahoma"/>
              </a:rPr>
              <a:t>dentry</a:t>
            </a:r>
            <a:r>
              <a:rPr dirty="0" sz="1900" spc="-14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14" b="1">
                <a:solidFill>
                  <a:srgbClr val="595959"/>
                </a:solidFill>
                <a:latin typeface="Tahoma"/>
                <a:cs typeface="Tahoma"/>
              </a:rPr>
              <a:t>apuntando</a:t>
            </a:r>
            <a:r>
              <a:rPr dirty="0" sz="1900" spc="-15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35" b="1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900" spc="-15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30" b="1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900" spc="-14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u="heavy" sz="1900" spc="-45" b="1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Tahoma"/>
                <a:cs typeface="Tahoma"/>
              </a:rPr>
              <a:t>inodo</a:t>
            </a:r>
            <a:r>
              <a:rPr dirty="0" sz="1900" spc="-45" b="1">
                <a:solidFill>
                  <a:srgbClr val="595959"/>
                </a:solidFill>
                <a:latin typeface="Tahoma"/>
                <a:cs typeface="Tahoma"/>
              </a:rPr>
              <a:t>.</a:t>
            </a:r>
            <a:endParaRPr sz="1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dirty="0" sz="1900" spc="65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900" spc="-2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cosa?...</a:t>
            </a:r>
            <a:endParaRPr sz="1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5579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140"/>
              </a:spcBef>
            </a:pPr>
            <a:r>
              <a:rPr dirty="0" spc="85"/>
              <a:t>Inodo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6370" rIns="0" bIns="0" rtlCol="0" vert="horz">
            <a:spAutoFit/>
          </a:bodyPr>
          <a:lstStyle/>
          <a:p>
            <a:pPr marL="363855">
              <a:lnSpc>
                <a:spcPct val="100000"/>
              </a:lnSpc>
              <a:spcBef>
                <a:spcPts val="100"/>
              </a:spcBef>
            </a:pPr>
            <a:r>
              <a:rPr dirty="0" sz="1700" spc="50"/>
              <a:t>Un</a:t>
            </a:r>
            <a:r>
              <a:rPr dirty="0" sz="1700" spc="-160"/>
              <a:t> </a:t>
            </a:r>
            <a:r>
              <a:rPr dirty="0" sz="1700"/>
              <a:t>inodo</a:t>
            </a:r>
            <a:r>
              <a:rPr dirty="0" sz="1700" spc="-160"/>
              <a:t> </a:t>
            </a:r>
            <a:r>
              <a:rPr dirty="0" sz="1700" spc="-30"/>
              <a:t>(index</a:t>
            </a:r>
            <a:r>
              <a:rPr dirty="0" sz="1700" spc="-160"/>
              <a:t> </a:t>
            </a:r>
            <a:r>
              <a:rPr dirty="0" sz="1700" spc="-40"/>
              <a:t>node)</a:t>
            </a:r>
            <a:r>
              <a:rPr dirty="0" sz="1700" spc="-155"/>
              <a:t> </a:t>
            </a:r>
            <a:r>
              <a:rPr dirty="0" sz="1700" spc="-10"/>
              <a:t>almacena</a:t>
            </a:r>
            <a:r>
              <a:rPr dirty="0" sz="1700" spc="-160"/>
              <a:t> </a:t>
            </a:r>
            <a:r>
              <a:rPr dirty="0" sz="1700"/>
              <a:t>información</a:t>
            </a:r>
            <a:r>
              <a:rPr dirty="0" sz="1700" spc="-160"/>
              <a:t> </a:t>
            </a:r>
            <a:r>
              <a:rPr dirty="0" sz="1700"/>
              <a:t>sobre</a:t>
            </a:r>
            <a:r>
              <a:rPr dirty="0" sz="1700" spc="-155"/>
              <a:t> </a:t>
            </a:r>
            <a:r>
              <a:rPr dirty="0" sz="1700" spc="-10"/>
              <a:t>un</a:t>
            </a:r>
            <a:r>
              <a:rPr dirty="0" sz="1700" spc="-160"/>
              <a:t> </a:t>
            </a:r>
            <a:r>
              <a:rPr dirty="0" sz="1700" spc="-10"/>
              <a:t>archivo.</a:t>
            </a:r>
            <a:endParaRPr sz="1700"/>
          </a:p>
          <a:p>
            <a:pPr marL="363855" marR="384175">
              <a:lnSpc>
                <a:spcPct val="173800"/>
              </a:lnSpc>
            </a:pPr>
            <a:r>
              <a:rPr dirty="0" sz="1700" spc="50"/>
              <a:t>Un</a:t>
            </a:r>
            <a:r>
              <a:rPr dirty="0" sz="1700" spc="-175"/>
              <a:t> </a:t>
            </a:r>
            <a:r>
              <a:rPr dirty="0" sz="1700"/>
              <a:t>inodo</a:t>
            </a:r>
            <a:r>
              <a:rPr dirty="0" sz="1700" spc="-170"/>
              <a:t> </a:t>
            </a:r>
            <a:r>
              <a:rPr dirty="0" sz="1700"/>
              <a:t>contiene</a:t>
            </a:r>
            <a:r>
              <a:rPr dirty="0" sz="1700" spc="-175"/>
              <a:t> </a:t>
            </a:r>
            <a:r>
              <a:rPr dirty="0" sz="1700"/>
              <a:t>metadatos</a:t>
            </a:r>
            <a:r>
              <a:rPr dirty="0" sz="1700" spc="-170"/>
              <a:t> </a:t>
            </a:r>
            <a:r>
              <a:rPr dirty="0" sz="1700"/>
              <a:t>del</a:t>
            </a:r>
            <a:r>
              <a:rPr dirty="0" sz="1700" spc="-175"/>
              <a:t> </a:t>
            </a:r>
            <a:r>
              <a:rPr dirty="0" sz="1700" spc="-10"/>
              <a:t>archivo,</a:t>
            </a:r>
            <a:r>
              <a:rPr dirty="0" sz="1700" spc="-170"/>
              <a:t> </a:t>
            </a:r>
            <a:r>
              <a:rPr dirty="0" sz="1700"/>
              <a:t>pero</a:t>
            </a:r>
            <a:r>
              <a:rPr dirty="0" sz="1700" spc="-190"/>
              <a:t> </a:t>
            </a:r>
            <a:r>
              <a:rPr dirty="0" sz="1700" spc="-114" b="1">
                <a:latin typeface="Tahoma"/>
                <a:cs typeface="Tahoma"/>
              </a:rPr>
              <a:t>no</a:t>
            </a:r>
            <a:r>
              <a:rPr dirty="0" sz="1700" spc="-140" b="1">
                <a:latin typeface="Tahoma"/>
                <a:cs typeface="Tahoma"/>
              </a:rPr>
              <a:t> </a:t>
            </a:r>
            <a:r>
              <a:rPr dirty="0" sz="1700" spc="-90" b="1">
                <a:latin typeface="Tahoma"/>
                <a:cs typeface="Tahoma"/>
              </a:rPr>
              <a:t>el</a:t>
            </a:r>
            <a:r>
              <a:rPr dirty="0" sz="1700" spc="-140" b="1">
                <a:latin typeface="Tahoma"/>
                <a:cs typeface="Tahoma"/>
              </a:rPr>
              <a:t> </a:t>
            </a:r>
            <a:r>
              <a:rPr dirty="0" sz="1700" spc="-105" b="1">
                <a:latin typeface="Tahoma"/>
                <a:cs typeface="Tahoma"/>
              </a:rPr>
              <a:t>contenido</a:t>
            </a:r>
            <a:r>
              <a:rPr dirty="0" sz="1700" spc="-140" b="1">
                <a:latin typeface="Tahoma"/>
                <a:cs typeface="Tahoma"/>
              </a:rPr>
              <a:t> </a:t>
            </a:r>
            <a:r>
              <a:rPr dirty="0" sz="1700" spc="-105" b="1">
                <a:latin typeface="Tahoma"/>
                <a:cs typeface="Tahoma"/>
              </a:rPr>
              <a:t>del</a:t>
            </a:r>
            <a:r>
              <a:rPr dirty="0" sz="1700" spc="-140" b="1">
                <a:latin typeface="Tahoma"/>
                <a:cs typeface="Tahoma"/>
              </a:rPr>
              <a:t> </a:t>
            </a:r>
            <a:r>
              <a:rPr dirty="0" sz="1700" spc="-100" b="1">
                <a:latin typeface="Tahoma"/>
                <a:cs typeface="Tahoma"/>
              </a:rPr>
              <a:t>archivo</a:t>
            </a:r>
            <a:r>
              <a:rPr dirty="0" sz="1700" spc="-145" b="1">
                <a:latin typeface="Tahoma"/>
                <a:cs typeface="Tahoma"/>
              </a:rPr>
              <a:t> </a:t>
            </a:r>
            <a:r>
              <a:rPr dirty="0" sz="1700" spc="-125" b="1">
                <a:latin typeface="Tahoma"/>
                <a:cs typeface="Tahoma"/>
              </a:rPr>
              <a:t>en</a:t>
            </a:r>
            <a:r>
              <a:rPr dirty="0" sz="1700" spc="-140" b="1">
                <a:latin typeface="Tahoma"/>
                <a:cs typeface="Tahoma"/>
              </a:rPr>
              <a:t> </a:t>
            </a:r>
            <a:r>
              <a:rPr dirty="0" sz="1700" spc="-25" b="1">
                <a:latin typeface="Tahoma"/>
                <a:cs typeface="Tahoma"/>
              </a:rPr>
              <a:t>sí</a:t>
            </a:r>
            <a:r>
              <a:rPr dirty="0" sz="1700" spc="-25"/>
              <a:t>. Incluye</a:t>
            </a:r>
            <a:r>
              <a:rPr dirty="0" sz="1700" spc="-160"/>
              <a:t> </a:t>
            </a:r>
            <a:r>
              <a:rPr dirty="0" sz="1700"/>
              <a:t>detalles</a:t>
            </a:r>
            <a:r>
              <a:rPr dirty="0" sz="1700" spc="-155"/>
              <a:t> </a:t>
            </a:r>
            <a:r>
              <a:rPr dirty="0" sz="1700" spc="-10"/>
              <a:t>como:</a:t>
            </a:r>
            <a:endParaRPr sz="1700">
              <a:latin typeface="Tahoma"/>
              <a:cs typeface="Tahoma"/>
            </a:endParaRPr>
          </a:p>
          <a:p>
            <a:pPr marL="820419" indent="-358775">
              <a:lnSpc>
                <a:spcPct val="100000"/>
              </a:lnSpc>
              <a:spcBef>
                <a:spcPts val="1505"/>
              </a:spcBef>
              <a:buFont typeface="Arial MT"/>
              <a:buChar char="●"/>
              <a:tabLst>
                <a:tab pos="820419" algn="l"/>
              </a:tabLst>
            </a:pPr>
            <a:r>
              <a:rPr dirty="0" sz="1700" spc="-55"/>
              <a:t>Tamaño</a:t>
            </a:r>
            <a:r>
              <a:rPr dirty="0" sz="1700" spc="-155"/>
              <a:t> </a:t>
            </a:r>
            <a:r>
              <a:rPr dirty="0" sz="1700"/>
              <a:t>del</a:t>
            </a:r>
            <a:r>
              <a:rPr dirty="0" sz="1700" spc="-155"/>
              <a:t> </a:t>
            </a:r>
            <a:r>
              <a:rPr dirty="0" sz="1700" spc="-10"/>
              <a:t>archivo</a:t>
            </a:r>
            <a:endParaRPr sz="1700"/>
          </a:p>
          <a:p>
            <a:pPr marL="820419" indent="-358775">
              <a:lnSpc>
                <a:spcPct val="100000"/>
              </a:lnSpc>
              <a:spcBef>
                <a:spcPts val="305"/>
              </a:spcBef>
              <a:buFont typeface="Arial MT"/>
              <a:buChar char="●"/>
              <a:tabLst>
                <a:tab pos="820419" algn="l"/>
              </a:tabLst>
            </a:pPr>
            <a:r>
              <a:rPr dirty="0" sz="1700"/>
              <a:t>ID</a:t>
            </a:r>
            <a:r>
              <a:rPr dirty="0" sz="1700" spc="-140"/>
              <a:t> </a:t>
            </a:r>
            <a:r>
              <a:rPr dirty="0" sz="1700"/>
              <a:t>del</a:t>
            </a:r>
            <a:r>
              <a:rPr dirty="0" sz="1700" spc="-135"/>
              <a:t> </a:t>
            </a:r>
            <a:r>
              <a:rPr dirty="0" sz="1700"/>
              <a:t>propietario</a:t>
            </a:r>
            <a:r>
              <a:rPr dirty="0" sz="1700" spc="-135"/>
              <a:t> </a:t>
            </a:r>
            <a:r>
              <a:rPr dirty="0" sz="1700"/>
              <a:t>y</a:t>
            </a:r>
            <a:r>
              <a:rPr dirty="0" sz="1700" spc="-135"/>
              <a:t> </a:t>
            </a:r>
            <a:r>
              <a:rPr dirty="0" sz="1700"/>
              <a:t>del</a:t>
            </a:r>
            <a:r>
              <a:rPr dirty="0" sz="1700" spc="-135"/>
              <a:t> </a:t>
            </a:r>
            <a:r>
              <a:rPr dirty="0" sz="1700" spc="-10"/>
              <a:t>grupo</a:t>
            </a:r>
            <a:endParaRPr sz="1700"/>
          </a:p>
          <a:p>
            <a:pPr marL="820419" indent="-358775">
              <a:lnSpc>
                <a:spcPct val="100000"/>
              </a:lnSpc>
              <a:spcBef>
                <a:spcPts val="305"/>
              </a:spcBef>
              <a:buFont typeface="Arial MT"/>
              <a:buChar char="●"/>
              <a:tabLst>
                <a:tab pos="820419" algn="l"/>
              </a:tabLst>
            </a:pPr>
            <a:r>
              <a:rPr dirty="0" sz="1700"/>
              <a:t>Permisos</a:t>
            </a:r>
            <a:r>
              <a:rPr dirty="0" sz="1700" spc="-155"/>
              <a:t> </a:t>
            </a:r>
            <a:r>
              <a:rPr dirty="0" sz="1700"/>
              <a:t>del</a:t>
            </a:r>
            <a:r>
              <a:rPr dirty="0" sz="1700" spc="-155"/>
              <a:t> </a:t>
            </a:r>
            <a:r>
              <a:rPr dirty="0" sz="1700"/>
              <a:t>archivo</a:t>
            </a:r>
            <a:r>
              <a:rPr dirty="0" sz="1700" spc="-155"/>
              <a:t> </a:t>
            </a:r>
            <a:r>
              <a:rPr dirty="0" sz="1700" spc="-30"/>
              <a:t>(lectura,</a:t>
            </a:r>
            <a:r>
              <a:rPr dirty="0" sz="1700" spc="-155"/>
              <a:t> </a:t>
            </a:r>
            <a:r>
              <a:rPr dirty="0" sz="1700"/>
              <a:t>escritura,</a:t>
            </a:r>
            <a:r>
              <a:rPr dirty="0" sz="1700" spc="-150"/>
              <a:t> </a:t>
            </a:r>
            <a:r>
              <a:rPr dirty="0" sz="1700" spc="-10"/>
              <a:t>ejecución)</a:t>
            </a:r>
            <a:endParaRPr sz="1700"/>
          </a:p>
          <a:p>
            <a:pPr marL="820419" indent="-358775">
              <a:lnSpc>
                <a:spcPct val="100000"/>
              </a:lnSpc>
              <a:spcBef>
                <a:spcPts val="309"/>
              </a:spcBef>
              <a:buFont typeface="Arial MT"/>
              <a:buChar char="●"/>
              <a:tabLst>
                <a:tab pos="820419" algn="l"/>
              </a:tabLst>
            </a:pPr>
            <a:r>
              <a:rPr dirty="0" sz="1700"/>
              <a:t>Tiempos</a:t>
            </a:r>
            <a:r>
              <a:rPr dirty="0" sz="1700" spc="-175"/>
              <a:t> </a:t>
            </a:r>
            <a:r>
              <a:rPr dirty="0" sz="1700"/>
              <a:t>de</a:t>
            </a:r>
            <a:r>
              <a:rPr dirty="0" sz="1700" spc="-175"/>
              <a:t> </a:t>
            </a:r>
            <a:r>
              <a:rPr dirty="0" sz="1700" spc="-40"/>
              <a:t>acceso,</a:t>
            </a:r>
            <a:r>
              <a:rPr dirty="0" sz="1700" spc="-175"/>
              <a:t> </a:t>
            </a:r>
            <a:r>
              <a:rPr dirty="0" sz="1700"/>
              <a:t>modificación</a:t>
            </a:r>
            <a:r>
              <a:rPr dirty="0" sz="1700" spc="-175"/>
              <a:t> </a:t>
            </a:r>
            <a:r>
              <a:rPr dirty="0" sz="1700"/>
              <a:t>y</a:t>
            </a:r>
            <a:r>
              <a:rPr dirty="0" sz="1700" spc="-175"/>
              <a:t> </a:t>
            </a:r>
            <a:r>
              <a:rPr dirty="0" sz="1700"/>
              <a:t>cambio</a:t>
            </a:r>
            <a:r>
              <a:rPr dirty="0" sz="1700" spc="-175"/>
              <a:t> </a:t>
            </a:r>
            <a:r>
              <a:rPr dirty="0" sz="1700"/>
              <a:t>del</a:t>
            </a:r>
            <a:r>
              <a:rPr dirty="0" sz="1700" spc="-175"/>
              <a:t> </a:t>
            </a:r>
            <a:r>
              <a:rPr dirty="0" sz="1700" spc="-10"/>
              <a:t>inodo</a:t>
            </a:r>
            <a:endParaRPr sz="1700"/>
          </a:p>
          <a:p>
            <a:pPr marL="820419" indent="-358775">
              <a:lnSpc>
                <a:spcPct val="100000"/>
              </a:lnSpc>
              <a:spcBef>
                <a:spcPts val="305"/>
              </a:spcBef>
              <a:buFont typeface="Arial MT"/>
              <a:buChar char="●"/>
              <a:tabLst>
                <a:tab pos="820419" algn="l"/>
              </a:tabLst>
            </a:pPr>
            <a:r>
              <a:rPr dirty="0" sz="1700"/>
              <a:t>Número</a:t>
            </a:r>
            <a:r>
              <a:rPr dirty="0" sz="1700" spc="-165"/>
              <a:t> </a:t>
            </a:r>
            <a:r>
              <a:rPr dirty="0" sz="1700"/>
              <a:t>de</a:t>
            </a:r>
            <a:r>
              <a:rPr dirty="0" sz="1700" spc="-155"/>
              <a:t> </a:t>
            </a:r>
            <a:r>
              <a:rPr dirty="0" sz="1700" spc="-10"/>
              <a:t>enlaces</a:t>
            </a:r>
            <a:r>
              <a:rPr dirty="0" sz="1700" spc="-150"/>
              <a:t> </a:t>
            </a:r>
            <a:r>
              <a:rPr dirty="0" sz="1700" spc="-35"/>
              <a:t>(enlaces</a:t>
            </a:r>
            <a:r>
              <a:rPr dirty="0" sz="1700" spc="-155"/>
              <a:t> </a:t>
            </a:r>
            <a:r>
              <a:rPr dirty="0" sz="1700" spc="-25"/>
              <a:t>duros)</a:t>
            </a:r>
            <a:r>
              <a:rPr dirty="0" sz="1700" spc="-155"/>
              <a:t> </a:t>
            </a:r>
            <a:r>
              <a:rPr dirty="0" sz="1700"/>
              <a:t>al</a:t>
            </a:r>
            <a:r>
              <a:rPr dirty="0" sz="1700" spc="-150"/>
              <a:t> </a:t>
            </a:r>
            <a:r>
              <a:rPr dirty="0" sz="1700" spc="-10"/>
              <a:t>archivo</a:t>
            </a:r>
            <a:endParaRPr sz="1700"/>
          </a:p>
          <a:p>
            <a:pPr marL="820419" indent="-358775">
              <a:lnSpc>
                <a:spcPct val="100000"/>
              </a:lnSpc>
              <a:spcBef>
                <a:spcPts val="305"/>
              </a:spcBef>
              <a:buFont typeface="Arial MT"/>
              <a:buChar char="●"/>
              <a:tabLst>
                <a:tab pos="820419" algn="l"/>
              </a:tabLst>
            </a:pPr>
            <a:r>
              <a:rPr dirty="0" sz="1700"/>
              <a:t>Punteros</a:t>
            </a:r>
            <a:r>
              <a:rPr dirty="0" sz="1700" spc="-160"/>
              <a:t> </a:t>
            </a:r>
            <a:r>
              <a:rPr dirty="0" sz="1700" spc="-35"/>
              <a:t>a</a:t>
            </a:r>
            <a:r>
              <a:rPr dirty="0" sz="1700" spc="-160"/>
              <a:t> </a:t>
            </a:r>
            <a:r>
              <a:rPr dirty="0" sz="1700"/>
              <a:t>los</a:t>
            </a:r>
            <a:r>
              <a:rPr dirty="0" sz="1700" spc="-160"/>
              <a:t> </a:t>
            </a:r>
            <a:r>
              <a:rPr dirty="0" sz="1700"/>
              <a:t>bloques</a:t>
            </a:r>
            <a:r>
              <a:rPr dirty="0" sz="1700" spc="-155"/>
              <a:t> </a:t>
            </a:r>
            <a:r>
              <a:rPr dirty="0" sz="1700"/>
              <a:t>de</a:t>
            </a:r>
            <a:r>
              <a:rPr dirty="0" sz="1700" spc="-160"/>
              <a:t> </a:t>
            </a:r>
            <a:r>
              <a:rPr dirty="0" sz="1700"/>
              <a:t>disco</a:t>
            </a:r>
            <a:r>
              <a:rPr dirty="0" sz="1700" spc="-160"/>
              <a:t> </a:t>
            </a:r>
            <a:r>
              <a:rPr dirty="0" sz="1700"/>
              <a:t>donde</a:t>
            </a:r>
            <a:r>
              <a:rPr dirty="0" sz="1700" spc="-155"/>
              <a:t> </a:t>
            </a:r>
            <a:r>
              <a:rPr dirty="0" sz="1700" spc="-30"/>
              <a:t>se</a:t>
            </a:r>
            <a:r>
              <a:rPr dirty="0" sz="1700" spc="-160"/>
              <a:t> </a:t>
            </a:r>
            <a:r>
              <a:rPr dirty="0" sz="1700" spc="-10"/>
              <a:t>almacena</a:t>
            </a:r>
            <a:r>
              <a:rPr dirty="0" sz="1700" spc="-160"/>
              <a:t> </a:t>
            </a:r>
            <a:r>
              <a:rPr dirty="0" sz="1700"/>
              <a:t>el</a:t>
            </a:r>
            <a:r>
              <a:rPr dirty="0" sz="1700" spc="-155"/>
              <a:t> </a:t>
            </a:r>
            <a:r>
              <a:rPr dirty="0" sz="1700"/>
              <a:t>contenido</a:t>
            </a:r>
            <a:r>
              <a:rPr dirty="0" sz="1700" spc="-160"/>
              <a:t> </a:t>
            </a:r>
            <a:r>
              <a:rPr dirty="0" sz="1700"/>
              <a:t>real</a:t>
            </a:r>
            <a:r>
              <a:rPr dirty="0" sz="1700" spc="-160"/>
              <a:t> </a:t>
            </a:r>
            <a:r>
              <a:rPr dirty="0" sz="1700"/>
              <a:t>del</a:t>
            </a:r>
            <a:r>
              <a:rPr dirty="0" sz="1700" spc="-155"/>
              <a:t> </a:t>
            </a:r>
            <a:r>
              <a:rPr dirty="0" sz="1700" spc="-10"/>
              <a:t>archivo</a:t>
            </a:r>
            <a:endParaRPr sz="17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35599" y="4331705"/>
            <a:ext cx="7165340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inodo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contiene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punteros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bloques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datos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contienen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datos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archivo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endParaRPr sz="1500">
              <a:latin typeface="Tahoma"/>
              <a:cs typeface="Tahoma"/>
            </a:endParaRPr>
          </a:p>
          <a:p>
            <a:pPr marL="469265" indent="-34353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inodo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13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contiene</a:t>
            </a:r>
            <a:r>
              <a:rPr dirty="0" sz="15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datos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archivo</a:t>
            </a:r>
            <a:endParaRPr sz="1500">
              <a:latin typeface="Tahoma"/>
              <a:cs typeface="Tahoma"/>
            </a:endParaRPr>
          </a:p>
          <a:p>
            <a:pPr marL="469265" indent="-34353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inodo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85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contiene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metadata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archivo</a:t>
            </a:r>
            <a:endParaRPr sz="1500">
              <a:latin typeface="Tahoma"/>
              <a:cs typeface="Tahom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9225" y="-2"/>
            <a:ext cx="6325549" cy="434222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2475" y="627612"/>
            <a:ext cx="3399790" cy="3822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2300" spc="65" b="1">
                <a:solidFill>
                  <a:srgbClr val="1A1A1A"/>
                </a:solidFill>
                <a:latin typeface="Trebuchet MS"/>
                <a:cs typeface="Trebuchet MS"/>
              </a:rPr>
              <a:t>Tipos</a:t>
            </a:r>
            <a:r>
              <a:rPr dirty="0" sz="2300" spc="-130" b="1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2300" spc="114" b="1">
                <a:solidFill>
                  <a:srgbClr val="1A1A1A"/>
                </a:solidFill>
                <a:latin typeface="Trebuchet MS"/>
                <a:cs typeface="Trebuchet MS"/>
              </a:rPr>
              <a:t>de</a:t>
            </a:r>
            <a:r>
              <a:rPr dirty="0" sz="2300" spc="-125" b="1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2300" spc="95" b="1">
                <a:solidFill>
                  <a:srgbClr val="1A1A1A"/>
                </a:solidFill>
                <a:latin typeface="Trebuchet MS"/>
                <a:cs typeface="Trebuchet MS"/>
              </a:rPr>
              <a:t>Inodo</a:t>
            </a:r>
            <a:r>
              <a:rPr dirty="0" sz="2300" spc="-125" b="1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2300" spc="50" b="1">
                <a:solidFill>
                  <a:srgbClr val="1A1A1A"/>
                </a:solidFill>
                <a:latin typeface="Trebuchet MS"/>
                <a:cs typeface="Trebuchet MS"/>
              </a:rPr>
              <a:t>en</a:t>
            </a:r>
            <a:r>
              <a:rPr dirty="0" sz="2300" spc="-125" b="1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2300" spc="-10" b="1">
                <a:solidFill>
                  <a:srgbClr val="1A1A1A"/>
                </a:solidFill>
                <a:latin typeface="Trebuchet MS"/>
                <a:cs typeface="Trebuchet MS"/>
              </a:rPr>
              <a:t>Linux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02475" y="1545095"/>
            <a:ext cx="7194550" cy="6038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tipos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inodo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Linux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nos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dan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idea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variedad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“objetos”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podemos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anclar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filesystem</a:t>
            </a:r>
            <a:endParaRPr sz="13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dirty="0" sz="1300" spc="-3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3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especifican</a:t>
            </a:r>
            <a:r>
              <a:rPr dirty="0" sz="13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3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campo</a:t>
            </a:r>
            <a:r>
              <a:rPr dirty="0" sz="13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 b="1">
                <a:solidFill>
                  <a:srgbClr val="595959"/>
                </a:solidFill>
                <a:latin typeface="Tahoma"/>
                <a:cs typeface="Tahoma"/>
              </a:rPr>
              <a:t>mode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:</a:t>
            </a:r>
            <a:endParaRPr sz="13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6121" y="2304646"/>
            <a:ext cx="6376172" cy="24087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622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10"/>
              <a:t>Dentry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55724" y="1417288"/>
            <a:ext cx="7808595" cy="26612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11454">
              <a:lnSpc>
                <a:spcPct val="114999"/>
              </a:lnSpc>
              <a:spcBef>
                <a:spcPts val="100"/>
              </a:spcBef>
            </a:pPr>
            <a:r>
              <a:rPr dirty="0" sz="1900" spc="55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9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Dentry</a:t>
            </a:r>
            <a:r>
              <a:rPr dirty="0" sz="19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(directory</a:t>
            </a:r>
            <a:r>
              <a:rPr dirty="0" sz="19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entry)</a:t>
            </a:r>
            <a:r>
              <a:rPr dirty="0" sz="19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representa</a:t>
            </a:r>
            <a:r>
              <a:rPr dirty="0" sz="19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9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relación</a:t>
            </a:r>
            <a:r>
              <a:rPr dirty="0" sz="19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entre</a:t>
            </a:r>
            <a:r>
              <a:rPr dirty="0" sz="19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9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nombre</a:t>
            </a:r>
            <a:r>
              <a:rPr dirty="0" sz="19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9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5">
                <a:solidFill>
                  <a:srgbClr val="595959"/>
                </a:solidFill>
                <a:latin typeface="Tahoma"/>
                <a:cs typeface="Tahoma"/>
              </a:rPr>
              <a:t>un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archivo</a:t>
            </a:r>
            <a:r>
              <a:rPr dirty="0" sz="19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9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5">
                <a:solidFill>
                  <a:srgbClr val="595959"/>
                </a:solidFill>
                <a:latin typeface="Tahoma"/>
                <a:cs typeface="Tahoma"/>
              </a:rPr>
              <a:t>su</a:t>
            </a:r>
            <a:r>
              <a:rPr dirty="0" sz="19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inodo</a:t>
            </a:r>
            <a:r>
              <a:rPr dirty="0" sz="19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correspondiente.</a:t>
            </a:r>
            <a:endParaRPr sz="1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dirty="0" sz="1900" spc="-145" b="1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900" spc="-15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0" b="1">
                <a:solidFill>
                  <a:srgbClr val="595959"/>
                </a:solidFill>
                <a:latin typeface="Tahoma"/>
                <a:cs typeface="Tahoma"/>
              </a:rPr>
              <a:t>directorios</a:t>
            </a:r>
            <a:r>
              <a:rPr dirty="0" sz="1900" spc="-15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45" b="1">
                <a:solidFill>
                  <a:srgbClr val="595959"/>
                </a:solidFill>
                <a:latin typeface="Tahoma"/>
                <a:cs typeface="Tahoma"/>
              </a:rPr>
              <a:t>son</a:t>
            </a:r>
            <a:r>
              <a:rPr dirty="0" sz="1900" spc="-16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14" b="1">
                <a:solidFill>
                  <a:srgbClr val="595959"/>
                </a:solidFill>
                <a:latin typeface="Tahoma"/>
                <a:cs typeface="Tahoma"/>
              </a:rPr>
              <a:t>listas</a:t>
            </a:r>
            <a:r>
              <a:rPr dirty="0" sz="1900" spc="-15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25" b="1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900" spc="-16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" b="1">
                <a:solidFill>
                  <a:srgbClr val="595959"/>
                </a:solidFill>
                <a:latin typeface="Tahoma"/>
                <a:cs typeface="Tahoma"/>
              </a:rPr>
              <a:t>dentries.</a:t>
            </a:r>
            <a:endParaRPr sz="1900">
              <a:latin typeface="Tahoma"/>
              <a:cs typeface="Tahoma"/>
            </a:endParaRPr>
          </a:p>
          <a:p>
            <a:pPr marL="12700" marR="5080">
              <a:lnSpc>
                <a:spcPct val="114999"/>
              </a:lnSpc>
              <a:spcBef>
                <a:spcPts val="1200"/>
              </a:spcBef>
            </a:pP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9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función</a:t>
            </a:r>
            <a:r>
              <a:rPr dirty="0" sz="19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principal</a:t>
            </a:r>
            <a:r>
              <a:rPr dirty="0" sz="19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9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9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dentry</a:t>
            </a:r>
            <a:r>
              <a:rPr dirty="0" sz="19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5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9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ayudar</a:t>
            </a:r>
            <a:r>
              <a:rPr dirty="0" sz="19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9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resolver</a:t>
            </a:r>
            <a:r>
              <a:rPr dirty="0" sz="19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nombres</a:t>
            </a:r>
            <a:r>
              <a:rPr dirty="0" sz="19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9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archivos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9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rutas</a:t>
            </a:r>
            <a:r>
              <a:rPr dirty="0" sz="19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9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9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sistema</a:t>
            </a:r>
            <a:r>
              <a:rPr dirty="0" sz="19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9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0">
                <a:solidFill>
                  <a:srgbClr val="595959"/>
                </a:solidFill>
                <a:latin typeface="Tahoma"/>
                <a:cs typeface="Tahoma"/>
              </a:rPr>
              <a:t>archivos.</a:t>
            </a:r>
            <a:r>
              <a:rPr dirty="0" sz="19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Cuando</a:t>
            </a:r>
            <a:r>
              <a:rPr dirty="0" sz="19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9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sistema</a:t>
            </a:r>
            <a:r>
              <a:rPr dirty="0" sz="19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9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archivos</a:t>
            </a:r>
            <a:r>
              <a:rPr dirty="0" sz="19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busca</a:t>
            </a:r>
            <a:r>
              <a:rPr dirty="0" sz="19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5">
                <a:solidFill>
                  <a:srgbClr val="595959"/>
                </a:solidFill>
                <a:latin typeface="Tahoma"/>
                <a:cs typeface="Tahoma"/>
              </a:rPr>
              <a:t>un </a:t>
            </a:r>
            <a:r>
              <a:rPr dirty="0" sz="1900" spc="-20">
                <a:solidFill>
                  <a:srgbClr val="595959"/>
                </a:solidFill>
                <a:latin typeface="Tahoma"/>
                <a:cs typeface="Tahoma"/>
              </a:rPr>
              <a:t>archivo,</a:t>
            </a:r>
            <a:r>
              <a:rPr dirty="0" sz="19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utiliza</a:t>
            </a:r>
            <a:r>
              <a:rPr dirty="0" sz="19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9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dentries</a:t>
            </a:r>
            <a:r>
              <a:rPr dirty="0" sz="19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9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traducir</a:t>
            </a:r>
            <a:r>
              <a:rPr dirty="0" sz="19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9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ruta</a:t>
            </a:r>
            <a:r>
              <a:rPr dirty="0" sz="19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dirty="0" sz="19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inodo</a:t>
            </a:r>
            <a:r>
              <a:rPr dirty="0" sz="19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correspondiente,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9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contiene</a:t>
            </a:r>
            <a:r>
              <a:rPr dirty="0" sz="19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9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información</a:t>
            </a:r>
            <a:r>
              <a:rPr dirty="0" sz="19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9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archivo.</a:t>
            </a:r>
            <a:endParaRPr sz="1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622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10"/>
              <a:t>Dentry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55724" y="1422877"/>
            <a:ext cx="7805420" cy="6216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Puede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haber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40">
                <a:solidFill>
                  <a:srgbClr val="595959"/>
                </a:solidFill>
                <a:latin typeface="Tahoma"/>
                <a:cs typeface="Tahoma"/>
              </a:rPr>
              <a:t>más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Dentry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apuntando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mismo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inodo.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Esto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efectivamente un</a:t>
            </a:r>
            <a:r>
              <a:rPr dirty="0" sz="17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hard</a:t>
            </a:r>
            <a:r>
              <a:rPr dirty="0" sz="17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0">
                <a:solidFill>
                  <a:srgbClr val="595959"/>
                </a:solidFill>
                <a:latin typeface="Tahoma"/>
                <a:cs typeface="Tahoma"/>
              </a:rPr>
              <a:t>link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026350" y="2758100"/>
            <a:ext cx="1022985" cy="447675"/>
          </a:xfrm>
          <a:prstGeom prst="rect">
            <a:avLst/>
          </a:prstGeom>
          <a:solidFill>
            <a:srgbClr val="E9EDEE"/>
          </a:solidFill>
          <a:ln w="9524">
            <a:solidFill>
              <a:srgbClr val="1A1A1A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04800" marR="255270" indent="-41910">
              <a:lnSpc>
                <a:spcPts val="1650"/>
              </a:lnSpc>
              <a:spcBef>
                <a:spcPts val="135"/>
              </a:spcBef>
            </a:pPr>
            <a:r>
              <a:rPr dirty="0" sz="1400" spc="-45">
                <a:latin typeface="Tahoma"/>
                <a:cs typeface="Tahoma"/>
              </a:rPr>
              <a:t>Inodo: </a:t>
            </a:r>
            <a:r>
              <a:rPr dirty="0" sz="1400" spc="-20">
                <a:latin typeface="Tahoma"/>
                <a:cs typeface="Tahoma"/>
              </a:rPr>
              <a:t>5664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622974" y="2463225"/>
            <a:ext cx="1022985" cy="447675"/>
          </a:xfrm>
          <a:prstGeom prst="rect">
            <a:avLst/>
          </a:prstGeom>
          <a:solidFill>
            <a:srgbClr val="E9EDEE"/>
          </a:solidFill>
          <a:ln w="9524">
            <a:solidFill>
              <a:srgbClr val="1A1A1A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07975" marR="203200" indent="-97155">
              <a:lnSpc>
                <a:spcPts val="1650"/>
              </a:lnSpc>
              <a:spcBef>
                <a:spcPts val="135"/>
              </a:spcBef>
            </a:pPr>
            <a:r>
              <a:rPr dirty="0" sz="1400" spc="-10">
                <a:latin typeface="Tahoma"/>
                <a:cs typeface="Tahoma"/>
              </a:rPr>
              <a:t>Dentry: test1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622974" y="3307824"/>
            <a:ext cx="1022985" cy="447675"/>
          </a:xfrm>
          <a:prstGeom prst="rect">
            <a:avLst/>
          </a:prstGeom>
          <a:solidFill>
            <a:srgbClr val="E9EDEE"/>
          </a:solidFill>
          <a:ln w="9524">
            <a:solidFill>
              <a:srgbClr val="1A1A1A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307975" marR="203200" indent="-97155">
              <a:lnSpc>
                <a:spcPts val="1650"/>
              </a:lnSpc>
              <a:spcBef>
                <a:spcPts val="135"/>
              </a:spcBef>
            </a:pPr>
            <a:r>
              <a:rPr dirty="0" sz="1400" spc="-10">
                <a:latin typeface="Tahoma"/>
                <a:cs typeface="Tahoma"/>
              </a:rPr>
              <a:t>Dentry: test2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3640612" y="2682112"/>
            <a:ext cx="1377950" cy="854710"/>
            <a:chOff x="3640612" y="2682112"/>
            <a:chExt cx="1377950" cy="854710"/>
          </a:xfrm>
        </p:grpSpPr>
        <p:sp>
          <p:nvSpPr>
            <p:cNvPr id="8" name="object 8" descr=""/>
            <p:cNvSpPr/>
            <p:nvPr/>
          </p:nvSpPr>
          <p:spPr>
            <a:xfrm>
              <a:off x="3645375" y="2686874"/>
              <a:ext cx="1349375" cy="288290"/>
            </a:xfrm>
            <a:custGeom>
              <a:avLst/>
              <a:gdLst/>
              <a:ahLst/>
              <a:cxnLst/>
              <a:rect l="l" t="t" r="r" b="b"/>
              <a:pathLst>
                <a:path w="1349375" h="288289">
                  <a:moveTo>
                    <a:pt x="0" y="0"/>
                  </a:moveTo>
                  <a:lnTo>
                    <a:pt x="1348976" y="288082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981639" y="2962245"/>
              <a:ext cx="31115" cy="20955"/>
            </a:xfrm>
            <a:custGeom>
              <a:avLst/>
              <a:gdLst/>
              <a:ahLst/>
              <a:cxnLst/>
              <a:rect l="l" t="t" r="r" b="b"/>
              <a:pathLst>
                <a:path w="31114" h="20955">
                  <a:moveTo>
                    <a:pt x="0" y="20950"/>
                  </a:moveTo>
                  <a:lnTo>
                    <a:pt x="12712" y="12712"/>
                  </a:lnTo>
                  <a:lnTo>
                    <a:pt x="4474" y="0"/>
                  </a:lnTo>
                  <a:lnTo>
                    <a:pt x="31017" y="16621"/>
                  </a:lnTo>
                  <a:lnTo>
                    <a:pt x="0" y="2095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981639" y="2962245"/>
              <a:ext cx="31115" cy="20955"/>
            </a:xfrm>
            <a:custGeom>
              <a:avLst/>
              <a:gdLst/>
              <a:ahLst/>
              <a:cxnLst/>
              <a:rect l="l" t="t" r="r" b="b"/>
              <a:pathLst>
                <a:path w="31114" h="20955">
                  <a:moveTo>
                    <a:pt x="12712" y="12712"/>
                  </a:moveTo>
                  <a:lnTo>
                    <a:pt x="0" y="20950"/>
                  </a:lnTo>
                  <a:lnTo>
                    <a:pt x="31017" y="16621"/>
                  </a:lnTo>
                  <a:lnTo>
                    <a:pt x="4474" y="0"/>
                  </a:lnTo>
                  <a:lnTo>
                    <a:pt x="12712" y="12712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645375" y="2993945"/>
              <a:ext cx="1350645" cy="537845"/>
            </a:xfrm>
            <a:custGeom>
              <a:avLst/>
              <a:gdLst/>
              <a:ahLst/>
              <a:cxnLst/>
              <a:rect l="l" t="t" r="r" b="b"/>
              <a:pathLst>
                <a:path w="1350645" h="537845">
                  <a:moveTo>
                    <a:pt x="0" y="537528"/>
                  </a:moveTo>
                  <a:lnTo>
                    <a:pt x="1350570" y="0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982032" y="2987024"/>
              <a:ext cx="31750" cy="20955"/>
            </a:xfrm>
            <a:custGeom>
              <a:avLst/>
              <a:gdLst/>
              <a:ahLst/>
              <a:cxnLst/>
              <a:rect l="l" t="t" r="r" b="b"/>
              <a:pathLst>
                <a:path w="31750" h="20955">
                  <a:moveTo>
                    <a:pt x="7922" y="20835"/>
                  </a:moveTo>
                  <a:lnTo>
                    <a:pt x="13913" y="6921"/>
                  </a:lnTo>
                  <a:lnTo>
                    <a:pt x="0" y="930"/>
                  </a:lnTo>
                  <a:lnTo>
                    <a:pt x="31304" y="0"/>
                  </a:lnTo>
                  <a:lnTo>
                    <a:pt x="7922" y="2083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982032" y="2987024"/>
              <a:ext cx="31750" cy="20955"/>
            </a:xfrm>
            <a:custGeom>
              <a:avLst/>
              <a:gdLst/>
              <a:ahLst/>
              <a:cxnLst/>
              <a:rect l="l" t="t" r="r" b="b"/>
              <a:pathLst>
                <a:path w="31750" h="20955">
                  <a:moveTo>
                    <a:pt x="13913" y="6921"/>
                  </a:moveTo>
                  <a:lnTo>
                    <a:pt x="7922" y="20835"/>
                  </a:lnTo>
                  <a:lnTo>
                    <a:pt x="31304" y="0"/>
                  </a:lnTo>
                  <a:lnTo>
                    <a:pt x="0" y="930"/>
                  </a:lnTo>
                  <a:lnTo>
                    <a:pt x="13913" y="6921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912275" y="4106702"/>
            <a:ext cx="7162165" cy="6216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700" spc="-2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inodos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estan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asociados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sistema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jerarquico.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dentries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formar directorios</a:t>
            </a:r>
            <a:endParaRPr sz="1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622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10"/>
              <a:t>Directorios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0675" y="1332339"/>
            <a:ext cx="7950200" cy="2994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900" spc="-145" b="1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900" spc="-1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0" b="1">
                <a:solidFill>
                  <a:srgbClr val="595959"/>
                </a:solidFill>
                <a:latin typeface="Tahoma"/>
                <a:cs typeface="Tahoma"/>
              </a:rPr>
              <a:t>directorios</a:t>
            </a:r>
            <a:r>
              <a:rPr dirty="0" sz="1900" spc="-12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45" b="1">
                <a:solidFill>
                  <a:srgbClr val="595959"/>
                </a:solidFill>
                <a:latin typeface="Tahoma"/>
                <a:cs typeface="Tahoma"/>
              </a:rPr>
              <a:t>son</a:t>
            </a:r>
            <a:r>
              <a:rPr dirty="0" sz="1900" spc="-1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20" b="1">
                <a:solidFill>
                  <a:srgbClr val="595959"/>
                </a:solidFill>
                <a:latin typeface="Tahoma"/>
                <a:cs typeface="Tahoma"/>
              </a:rPr>
              <a:t>archivos</a:t>
            </a:r>
            <a:r>
              <a:rPr dirty="0" sz="1900" spc="-125" b="1">
                <a:solidFill>
                  <a:srgbClr val="595959"/>
                </a:solidFill>
                <a:latin typeface="Tahoma"/>
                <a:cs typeface="Tahoma"/>
              </a:rPr>
              <a:t> especiales de</a:t>
            </a:r>
            <a:r>
              <a:rPr dirty="0" sz="1900" spc="-1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95" b="1">
                <a:solidFill>
                  <a:srgbClr val="595959"/>
                </a:solidFill>
                <a:latin typeface="Tahoma"/>
                <a:cs typeface="Tahoma"/>
              </a:rPr>
              <a:t>tipo</a:t>
            </a:r>
            <a:r>
              <a:rPr dirty="0" sz="1900" spc="-130" b="1">
                <a:solidFill>
                  <a:srgbClr val="595959"/>
                </a:solidFill>
                <a:latin typeface="Tahoma"/>
                <a:cs typeface="Tahoma"/>
              </a:rPr>
              <a:t> “directorio”</a:t>
            </a:r>
            <a:r>
              <a:rPr dirty="0" sz="1900" spc="-130">
                <a:solidFill>
                  <a:srgbClr val="595959"/>
                </a:solidFill>
                <a:latin typeface="Tahoma"/>
                <a:cs typeface="Tahoma"/>
              </a:rPr>
              <a:t>.</a:t>
            </a:r>
            <a:r>
              <a:rPr dirty="0" sz="19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9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contenido</a:t>
            </a:r>
            <a:r>
              <a:rPr dirty="0" sz="19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5">
                <a:solidFill>
                  <a:srgbClr val="595959"/>
                </a:solidFill>
                <a:latin typeface="Tahoma"/>
                <a:cs typeface="Tahoma"/>
              </a:rPr>
              <a:t>de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estos</a:t>
            </a:r>
            <a:r>
              <a:rPr dirty="0" sz="19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archivos</a:t>
            </a:r>
            <a:r>
              <a:rPr dirty="0" sz="19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5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9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3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9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lista</a:t>
            </a:r>
            <a:r>
              <a:rPr dirty="0" sz="19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9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dentries.</a:t>
            </a:r>
            <a:endParaRPr sz="19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75"/>
              </a:spcBef>
            </a:pPr>
            <a:endParaRPr sz="1900">
              <a:latin typeface="Tahoma"/>
              <a:cs typeface="Tahoma"/>
            </a:endParaRPr>
          </a:p>
          <a:p>
            <a:pPr algn="just" marL="467995" indent="-372745">
              <a:lnSpc>
                <a:spcPct val="100000"/>
              </a:lnSpc>
              <a:buFont typeface="Arial MT"/>
              <a:buChar char="●"/>
              <a:tabLst>
                <a:tab pos="467995" algn="l"/>
              </a:tabLst>
            </a:pPr>
            <a:r>
              <a:rPr dirty="0" sz="1900" spc="55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9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dentry</a:t>
            </a:r>
            <a:r>
              <a:rPr dirty="0" sz="19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9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apunta</a:t>
            </a:r>
            <a:r>
              <a:rPr dirty="0" sz="19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9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otro</a:t>
            </a:r>
            <a:r>
              <a:rPr dirty="0" sz="19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30">
                <a:solidFill>
                  <a:srgbClr val="595959"/>
                </a:solidFill>
                <a:latin typeface="Tahoma"/>
                <a:cs typeface="Tahoma"/>
              </a:rPr>
              <a:t>dentry,</a:t>
            </a:r>
            <a:r>
              <a:rPr dirty="0" sz="19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solo</a:t>
            </a:r>
            <a:r>
              <a:rPr dirty="0" sz="19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9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inodos</a:t>
            </a:r>
            <a:endParaRPr sz="1900">
              <a:latin typeface="Tahoma"/>
              <a:cs typeface="Tahoma"/>
            </a:endParaRPr>
          </a:p>
          <a:p>
            <a:pPr algn="just" marL="467995" indent="-372745">
              <a:lnSpc>
                <a:spcPct val="100000"/>
              </a:lnSpc>
              <a:spcBef>
                <a:spcPts val="345"/>
              </a:spcBef>
              <a:buFont typeface="Arial MT"/>
              <a:buChar char="●"/>
              <a:tabLst>
                <a:tab pos="467995" algn="l"/>
              </a:tabLst>
            </a:pPr>
            <a:r>
              <a:rPr dirty="0" sz="1900" spc="55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9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inodo</a:t>
            </a:r>
            <a:r>
              <a:rPr dirty="0" sz="19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9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apunta</a:t>
            </a:r>
            <a:r>
              <a:rPr dirty="0" sz="19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9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otros</a:t>
            </a:r>
            <a:r>
              <a:rPr dirty="0" sz="19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5">
                <a:solidFill>
                  <a:srgbClr val="595959"/>
                </a:solidFill>
                <a:latin typeface="Tahoma"/>
                <a:cs typeface="Tahoma"/>
              </a:rPr>
              <a:t>inodos,</a:t>
            </a:r>
            <a:r>
              <a:rPr dirty="0" sz="19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solo</a:t>
            </a:r>
            <a:r>
              <a:rPr dirty="0" sz="19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9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datos.</a:t>
            </a:r>
            <a:endParaRPr sz="1900">
              <a:latin typeface="Tahoma"/>
              <a:cs typeface="Tahoma"/>
            </a:endParaRPr>
          </a:p>
          <a:p>
            <a:pPr algn="just" marL="467995" marR="184150" indent="-372745">
              <a:lnSpc>
                <a:spcPct val="114999"/>
              </a:lnSpc>
              <a:buFont typeface="Arial MT"/>
              <a:buChar char="●"/>
              <a:tabLst>
                <a:tab pos="469900" algn="l"/>
              </a:tabLst>
            </a:pPr>
            <a:r>
              <a:rPr dirty="0" sz="1900" spc="35">
                <a:solidFill>
                  <a:srgbClr val="595959"/>
                </a:solidFill>
                <a:latin typeface="Tahoma"/>
                <a:cs typeface="Tahoma"/>
              </a:rPr>
              <a:t>Pero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5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25">
                <a:solidFill>
                  <a:srgbClr val="595959"/>
                </a:solidFill>
                <a:latin typeface="Tahoma"/>
                <a:cs typeface="Tahoma"/>
              </a:rPr>
              <a:t>dentry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5">
                <a:solidFill>
                  <a:srgbClr val="595959"/>
                </a:solidFill>
                <a:latin typeface="Tahoma"/>
                <a:cs typeface="Tahoma"/>
              </a:rPr>
              <a:t>puede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apuntar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5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15">
                <a:solidFill>
                  <a:srgbClr val="595959"/>
                </a:solidFill>
                <a:latin typeface="Tahoma"/>
                <a:cs typeface="Tahoma"/>
              </a:rPr>
              <a:t>inodo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30">
                <a:solidFill>
                  <a:srgbClr val="595959"/>
                </a:solidFill>
                <a:latin typeface="Tahoma"/>
                <a:cs typeface="Tahoma"/>
              </a:rPr>
              <a:t>tipo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15">
                <a:solidFill>
                  <a:srgbClr val="595959"/>
                </a:solidFill>
                <a:latin typeface="Tahoma"/>
                <a:cs typeface="Tahoma"/>
              </a:rPr>
              <a:t>directorio,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apunta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1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900" spc="-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5">
                <a:solidFill>
                  <a:srgbClr val="595959"/>
                </a:solidFill>
                <a:latin typeface="Tahoma"/>
                <a:cs typeface="Tahoma"/>
              </a:rPr>
              <a:t>	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datos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15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5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datos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5">
                <a:solidFill>
                  <a:srgbClr val="595959"/>
                </a:solidFill>
                <a:latin typeface="Tahoma"/>
                <a:cs typeface="Tahoma"/>
              </a:rPr>
              <a:t>contienen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5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20">
                <a:solidFill>
                  <a:srgbClr val="595959"/>
                </a:solidFill>
                <a:latin typeface="Tahoma"/>
                <a:cs typeface="Tahoma"/>
              </a:rPr>
              <a:t>lista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dentries.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55">
                <a:solidFill>
                  <a:srgbClr val="595959"/>
                </a:solidFill>
                <a:latin typeface="Tahoma"/>
                <a:cs typeface="Tahoma"/>
              </a:rPr>
              <a:t>Asi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implementa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2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900" spc="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15">
                <a:solidFill>
                  <a:srgbClr val="595959"/>
                </a:solidFill>
                <a:latin typeface="Tahoma"/>
                <a:cs typeface="Tahoma"/>
              </a:rPr>
              <a:t>	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sistema</a:t>
            </a:r>
            <a:r>
              <a:rPr dirty="0" sz="1900" spc="-229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5">
                <a:solidFill>
                  <a:srgbClr val="595959"/>
                </a:solidFill>
                <a:latin typeface="Tahoma"/>
                <a:cs typeface="Tahoma"/>
              </a:rPr>
              <a:t>jerarquico!</a:t>
            </a:r>
            <a:endParaRPr sz="1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3150" y="60223"/>
            <a:ext cx="1702435" cy="40957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00" spc="-10"/>
              <a:t>Directorios</a:t>
            </a:r>
            <a:endParaRPr sz="2500"/>
          </a:p>
        </p:txBody>
      </p:sp>
      <p:sp>
        <p:nvSpPr>
          <p:cNvPr id="3" name="object 3" descr=""/>
          <p:cNvSpPr txBox="1"/>
          <p:nvPr/>
        </p:nvSpPr>
        <p:spPr>
          <a:xfrm>
            <a:off x="797975" y="4007130"/>
            <a:ext cx="7355205" cy="75057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 marR="5080">
              <a:lnSpc>
                <a:spcPts val="1870"/>
              </a:lnSpc>
              <a:spcBef>
                <a:spcPts val="240"/>
              </a:spcBef>
            </a:pPr>
            <a:r>
              <a:rPr dirty="0" sz="1600" spc="1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tener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cuenta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directorio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tratado</a:t>
            </a:r>
            <a:r>
              <a:rPr dirty="0" sz="16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como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archivo</a:t>
            </a:r>
            <a:r>
              <a:rPr dirty="0" sz="16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normal,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hay</a:t>
            </a:r>
            <a:r>
              <a:rPr dirty="0" sz="16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un </a:t>
            </a:r>
            <a:r>
              <a:rPr dirty="0" sz="1600" spc="20">
                <a:solidFill>
                  <a:srgbClr val="595959"/>
                </a:solidFill>
                <a:latin typeface="Tahoma"/>
                <a:cs typeface="Tahoma"/>
              </a:rPr>
              <a:t>objeto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20">
                <a:solidFill>
                  <a:srgbClr val="595959"/>
                </a:solidFill>
                <a:latin typeface="Tahoma"/>
                <a:cs typeface="Tahoma"/>
              </a:rPr>
              <a:t>específico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20">
                <a:solidFill>
                  <a:srgbClr val="595959"/>
                </a:solidFill>
                <a:latin typeface="Tahoma"/>
                <a:cs typeface="Tahoma"/>
              </a:rPr>
              <a:t>directorios.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2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20">
                <a:solidFill>
                  <a:srgbClr val="595959"/>
                </a:solidFill>
                <a:latin typeface="Tahoma"/>
                <a:cs typeface="Tahoma"/>
              </a:rPr>
              <a:t>unix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2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20">
                <a:solidFill>
                  <a:srgbClr val="595959"/>
                </a:solidFill>
                <a:latin typeface="Tahoma"/>
                <a:cs typeface="Tahoma"/>
              </a:rPr>
              <a:t>directorios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0">
                <a:solidFill>
                  <a:srgbClr val="595959"/>
                </a:solidFill>
                <a:latin typeface="Tahoma"/>
                <a:cs typeface="Tahoma"/>
              </a:rPr>
              <a:t>son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20">
                <a:solidFill>
                  <a:srgbClr val="595959"/>
                </a:solidFill>
                <a:latin typeface="Tahoma"/>
                <a:cs typeface="Tahoma"/>
              </a:rPr>
              <a:t>archivos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normales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listan</a:t>
            </a:r>
            <a:r>
              <a:rPr dirty="0" sz="16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6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archivos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contenidos</a:t>
            </a:r>
            <a:r>
              <a:rPr dirty="0" sz="16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ellos.</a:t>
            </a:r>
            <a:r>
              <a:rPr dirty="0" sz="16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::</a:t>
            </a:r>
            <a:r>
              <a:rPr dirty="0" sz="16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/home/darthmendez/hola.txt</a:t>
            </a:r>
            <a:endParaRPr sz="16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175" y="670962"/>
            <a:ext cx="7324651" cy="314992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232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50"/>
              <a:t>Recapitulando:</a:t>
            </a:r>
            <a:r>
              <a:rPr dirty="0" spc="-125"/>
              <a:t> </a:t>
            </a:r>
            <a:r>
              <a:rPr dirty="0" spc="70"/>
              <a:t>abstracciones</a:t>
            </a:r>
            <a:r>
              <a:rPr dirty="0" spc="-125"/>
              <a:t> </a:t>
            </a:r>
            <a:r>
              <a:rPr dirty="0" spc="100"/>
              <a:t>del</a:t>
            </a:r>
            <a:r>
              <a:rPr dirty="0" spc="-185"/>
              <a:t> </a:t>
            </a:r>
            <a:r>
              <a:rPr dirty="0" spc="90"/>
              <a:t>FS</a:t>
            </a: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947737" y="2238037"/>
          <a:ext cx="7324725" cy="14001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19500"/>
                <a:gridCol w="3619500"/>
              </a:tblGrid>
              <a:tr h="395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 spc="-10" b="1">
                          <a:latin typeface="Arial"/>
                          <a:cs typeface="Arial"/>
                        </a:rPr>
                        <a:t>Abstracción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 b="1">
                          <a:latin typeface="Arial"/>
                          <a:cs typeface="Arial"/>
                        </a:rPr>
                        <a:t>Entidad</a:t>
                      </a:r>
                      <a:r>
                        <a:rPr dirty="0" sz="14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latin typeface="Arial"/>
                          <a:cs typeface="Arial"/>
                        </a:rPr>
                        <a:t>del</a:t>
                      </a:r>
                      <a:r>
                        <a:rPr dirty="0" sz="14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 b="1">
                          <a:latin typeface="Arial"/>
                          <a:cs typeface="Arial"/>
                        </a:rPr>
                        <a:t>Kernel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608965">
                <a:tc>
                  <a:txBody>
                    <a:bodyPr/>
                    <a:lstStyle/>
                    <a:p>
                      <a:pPr marL="85725" marR="2889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Los</a:t>
                      </a:r>
                      <a:r>
                        <a:rPr dirty="0" sz="14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archivos</a:t>
                      </a:r>
                      <a:r>
                        <a:rPr dirty="0" sz="14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14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si</a:t>
                      </a:r>
                      <a:r>
                        <a:rPr dirty="0" sz="14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(regulares,</a:t>
                      </a:r>
                      <a:r>
                        <a:rPr dirty="0" sz="14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directorios,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dispositivos,</a:t>
                      </a:r>
                      <a:r>
                        <a:rPr dirty="0" sz="14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o</a:t>
                      </a:r>
                      <a:r>
                        <a:rPr dirty="0" sz="14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especiales)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 spc="-10">
                          <a:latin typeface="Arial MT"/>
                          <a:cs typeface="Arial MT"/>
                        </a:rPr>
                        <a:t>Inodo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Los</a:t>
                      </a:r>
                      <a:r>
                        <a:rPr dirty="0" sz="14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nombres</a:t>
                      </a:r>
                      <a:r>
                        <a:rPr dirty="0" sz="14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asociados</a:t>
                      </a:r>
                      <a:r>
                        <a:rPr dirty="0" sz="14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4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los</a:t>
                      </a:r>
                      <a:r>
                        <a:rPr dirty="0" sz="14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archivos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 spc="-10">
                          <a:latin typeface="Arial MT"/>
                          <a:cs typeface="Arial MT"/>
                        </a:rPr>
                        <a:t>Dentry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00675" y="1458345"/>
            <a:ext cx="7385684" cy="3286760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469265" indent="-381635">
              <a:lnSpc>
                <a:spcPct val="100000"/>
              </a:lnSpc>
              <a:spcBef>
                <a:spcPts val="459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2000" spc="7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2000" spc="-2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inodo</a:t>
            </a:r>
            <a:r>
              <a:rPr dirty="0" sz="20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apunta</a:t>
            </a:r>
            <a:r>
              <a:rPr dirty="0" sz="2000" spc="-2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5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20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595959"/>
                </a:solidFill>
                <a:latin typeface="Tahoma"/>
                <a:cs typeface="Tahoma"/>
              </a:rPr>
              <a:t>datos</a:t>
            </a:r>
            <a:endParaRPr sz="2000">
              <a:latin typeface="Tahoma"/>
              <a:cs typeface="Tahoma"/>
            </a:endParaRPr>
          </a:p>
          <a:p>
            <a:pPr marL="469265" indent="-381635">
              <a:lnSpc>
                <a:spcPct val="100000"/>
              </a:lnSpc>
              <a:spcBef>
                <a:spcPts val="359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2000" spc="7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20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dentry</a:t>
            </a:r>
            <a:r>
              <a:rPr dirty="0" sz="20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apunta</a:t>
            </a:r>
            <a:r>
              <a:rPr dirty="0" sz="20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5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20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595959"/>
                </a:solidFill>
                <a:latin typeface="Tahoma"/>
                <a:cs typeface="Tahoma"/>
              </a:rPr>
              <a:t>inodos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dirty="0" sz="2000" spc="-10">
                <a:solidFill>
                  <a:srgbClr val="595959"/>
                </a:solidFill>
                <a:latin typeface="Tahoma"/>
                <a:cs typeface="Tahoma"/>
              </a:rPr>
              <a:t>Pero:</a:t>
            </a:r>
            <a:endParaRPr sz="2000">
              <a:latin typeface="Tahoma"/>
              <a:cs typeface="Tahoma"/>
            </a:endParaRPr>
          </a:p>
          <a:p>
            <a:pPr marL="469265" indent="-381635">
              <a:lnSpc>
                <a:spcPct val="100000"/>
              </a:lnSpc>
              <a:spcBef>
                <a:spcPts val="1560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2000" spc="7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20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inodo</a:t>
            </a:r>
            <a:r>
              <a:rPr dirty="0" sz="20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20">
                <a:solidFill>
                  <a:srgbClr val="595959"/>
                </a:solidFill>
                <a:latin typeface="Tahoma"/>
                <a:cs typeface="Tahoma"/>
              </a:rPr>
              <a:t>nunca</a:t>
            </a:r>
            <a:r>
              <a:rPr dirty="0" sz="20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apunta</a:t>
            </a:r>
            <a:r>
              <a:rPr dirty="0" sz="20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5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20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otros</a:t>
            </a:r>
            <a:r>
              <a:rPr dirty="0" sz="20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595959"/>
                </a:solidFill>
                <a:latin typeface="Tahoma"/>
                <a:cs typeface="Tahoma"/>
              </a:rPr>
              <a:t>inodos</a:t>
            </a:r>
            <a:endParaRPr sz="2000">
              <a:latin typeface="Tahoma"/>
              <a:cs typeface="Tahoma"/>
            </a:endParaRPr>
          </a:p>
          <a:p>
            <a:pPr marL="469265" indent="-381635">
              <a:lnSpc>
                <a:spcPct val="100000"/>
              </a:lnSpc>
              <a:spcBef>
                <a:spcPts val="359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2000" spc="7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20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dentry</a:t>
            </a:r>
            <a:r>
              <a:rPr dirty="0" sz="20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20">
                <a:solidFill>
                  <a:srgbClr val="595959"/>
                </a:solidFill>
                <a:latin typeface="Tahoma"/>
                <a:cs typeface="Tahoma"/>
              </a:rPr>
              <a:t>nunca</a:t>
            </a:r>
            <a:r>
              <a:rPr dirty="0" sz="20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apunta</a:t>
            </a:r>
            <a:r>
              <a:rPr dirty="0" sz="20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5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20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otros</a:t>
            </a:r>
            <a:r>
              <a:rPr dirty="0" sz="20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595959"/>
                </a:solidFill>
                <a:latin typeface="Tahoma"/>
                <a:cs typeface="Tahoma"/>
              </a:rPr>
              <a:t>dentries</a:t>
            </a:r>
            <a:endParaRPr sz="2000">
              <a:latin typeface="Tahoma"/>
              <a:cs typeface="Tahoma"/>
            </a:endParaRPr>
          </a:p>
          <a:p>
            <a:pPr marL="12700" marR="5080">
              <a:lnSpc>
                <a:spcPct val="114999"/>
              </a:lnSpc>
              <a:spcBef>
                <a:spcPts val="1200"/>
              </a:spcBef>
            </a:pPr>
            <a:r>
              <a:rPr dirty="0" sz="2000" spc="-2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20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jerarquía</a:t>
            </a:r>
            <a:r>
              <a:rPr dirty="0" sz="20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20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filesystem</a:t>
            </a:r>
            <a:r>
              <a:rPr dirty="0" sz="20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20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forma</a:t>
            </a:r>
            <a:r>
              <a:rPr dirty="0" sz="20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porque</a:t>
            </a:r>
            <a:r>
              <a:rPr dirty="0" sz="20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2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20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directorio</a:t>
            </a:r>
            <a:r>
              <a:rPr dirty="0" sz="20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595959"/>
                </a:solidFill>
                <a:latin typeface="Tahoma"/>
                <a:cs typeface="Tahoma"/>
              </a:rPr>
              <a:t>contiene algunos</a:t>
            </a:r>
            <a:r>
              <a:rPr dirty="0" sz="20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dentries</a:t>
            </a:r>
            <a:r>
              <a:rPr dirty="0" sz="20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20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apuntan</a:t>
            </a:r>
            <a:r>
              <a:rPr dirty="0" sz="20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5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20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inodos</a:t>
            </a:r>
            <a:r>
              <a:rPr dirty="0" sz="20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20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tipo</a:t>
            </a:r>
            <a:r>
              <a:rPr dirty="0" sz="20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DIRECTORY,</a:t>
            </a:r>
            <a:r>
              <a:rPr dirty="0" sz="20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20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595959"/>
                </a:solidFill>
                <a:latin typeface="Tahoma"/>
                <a:cs typeface="Tahoma"/>
              </a:rPr>
              <a:t>estos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apuntan</a:t>
            </a:r>
            <a:r>
              <a:rPr dirty="0" sz="20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5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20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bloques</a:t>
            </a:r>
            <a:r>
              <a:rPr dirty="0" sz="20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20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datos</a:t>
            </a:r>
            <a:r>
              <a:rPr dirty="0" sz="20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20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contienen</a:t>
            </a:r>
            <a:r>
              <a:rPr dirty="0" sz="20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listas</a:t>
            </a:r>
            <a:r>
              <a:rPr dirty="0" sz="20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2000" spc="-2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595959"/>
                </a:solidFill>
                <a:latin typeface="Tahoma"/>
                <a:cs typeface="Tahoma"/>
              </a:rPr>
              <a:t>dentries.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232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50"/>
              <a:t>Recapitulando:</a:t>
            </a:r>
            <a:r>
              <a:rPr dirty="0" spc="-125"/>
              <a:t> </a:t>
            </a:r>
            <a:r>
              <a:rPr dirty="0" spc="70"/>
              <a:t>abstracciones</a:t>
            </a:r>
            <a:r>
              <a:rPr dirty="0" spc="-125"/>
              <a:t> </a:t>
            </a:r>
            <a:r>
              <a:rPr dirty="0" spc="100"/>
              <a:t>del</a:t>
            </a:r>
            <a:r>
              <a:rPr dirty="0" spc="-185"/>
              <a:t> </a:t>
            </a:r>
            <a:r>
              <a:rPr dirty="0" spc="90"/>
              <a:t>FS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0675" y="112562"/>
            <a:ext cx="1247140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40"/>
              <a:t>Archivos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409312" rIns="0" bIns="0" rtlCol="0" vert="horz">
            <a:spAutoFit/>
          </a:bodyPr>
          <a:lstStyle/>
          <a:p>
            <a:pPr marL="308610" marR="15240">
              <a:lnSpc>
                <a:spcPct val="100000"/>
              </a:lnSpc>
              <a:spcBef>
                <a:spcPts val="100"/>
              </a:spcBef>
            </a:pPr>
            <a:r>
              <a:rPr dirty="0"/>
              <a:t>El</a:t>
            </a:r>
            <a:r>
              <a:rPr dirty="0" spc="-180"/>
              <a:t> </a:t>
            </a:r>
            <a:r>
              <a:rPr dirty="0"/>
              <a:t>componente</a:t>
            </a:r>
            <a:r>
              <a:rPr dirty="0" spc="-175"/>
              <a:t> </a:t>
            </a:r>
            <a:r>
              <a:rPr dirty="0"/>
              <a:t>que</a:t>
            </a:r>
            <a:r>
              <a:rPr dirty="0" spc="-175"/>
              <a:t> </a:t>
            </a:r>
            <a:r>
              <a:rPr dirty="0"/>
              <a:t>falta</a:t>
            </a:r>
            <a:r>
              <a:rPr dirty="0" spc="-180"/>
              <a:t> </a:t>
            </a:r>
            <a:r>
              <a:rPr dirty="0" spc="-20"/>
              <a:t>para</a:t>
            </a:r>
            <a:r>
              <a:rPr dirty="0" spc="-175"/>
              <a:t> </a:t>
            </a:r>
            <a:r>
              <a:rPr dirty="0"/>
              <a:t>unir</a:t>
            </a:r>
            <a:r>
              <a:rPr dirty="0" spc="-175"/>
              <a:t> </a:t>
            </a:r>
            <a:r>
              <a:rPr dirty="0"/>
              <a:t>el</a:t>
            </a:r>
            <a:r>
              <a:rPr dirty="0" spc="-175"/>
              <a:t> </a:t>
            </a:r>
            <a:r>
              <a:rPr dirty="0"/>
              <a:t>filesystem</a:t>
            </a:r>
            <a:r>
              <a:rPr dirty="0" spc="-180"/>
              <a:t> </a:t>
            </a:r>
            <a:r>
              <a:rPr dirty="0"/>
              <a:t>con</a:t>
            </a:r>
            <a:r>
              <a:rPr dirty="0" spc="-175"/>
              <a:t> </a:t>
            </a:r>
            <a:r>
              <a:rPr dirty="0"/>
              <a:t>los</a:t>
            </a:r>
            <a:r>
              <a:rPr dirty="0" spc="-175"/>
              <a:t> </a:t>
            </a:r>
            <a:r>
              <a:rPr dirty="0"/>
              <a:t>procesos</a:t>
            </a:r>
            <a:r>
              <a:rPr dirty="0" spc="-175"/>
              <a:t> </a:t>
            </a:r>
            <a:r>
              <a:rPr dirty="0" spc="-25"/>
              <a:t>es</a:t>
            </a:r>
            <a:r>
              <a:rPr dirty="0" spc="-180"/>
              <a:t> </a:t>
            </a:r>
            <a:r>
              <a:rPr dirty="0"/>
              <a:t>la</a:t>
            </a:r>
            <a:r>
              <a:rPr dirty="0" spc="-175"/>
              <a:t> </a:t>
            </a:r>
            <a:r>
              <a:rPr dirty="0"/>
              <a:t>tabla</a:t>
            </a:r>
            <a:r>
              <a:rPr dirty="0" spc="-175"/>
              <a:t> </a:t>
            </a:r>
            <a:r>
              <a:rPr dirty="0" spc="-25"/>
              <a:t>de </a:t>
            </a:r>
            <a:r>
              <a:rPr dirty="0"/>
              <a:t>archivos</a:t>
            </a:r>
            <a:r>
              <a:rPr dirty="0" spc="-155"/>
              <a:t> </a:t>
            </a:r>
            <a:r>
              <a:rPr dirty="0" spc="-10"/>
              <a:t>abiertos</a:t>
            </a:r>
          </a:p>
          <a:p>
            <a:pPr marL="308610" marR="212725">
              <a:lnSpc>
                <a:spcPct val="100000"/>
              </a:lnSpc>
              <a:spcBef>
                <a:spcPts val="2160"/>
              </a:spcBef>
            </a:pPr>
            <a:r>
              <a:rPr dirty="0"/>
              <a:t>Esta</a:t>
            </a:r>
            <a:r>
              <a:rPr dirty="0" spc="-165"/>
              <a:t> </a:t>
            </a:r>
            <a:r>
              <a:rPr dirty="0"/>
              <a:t>tabla</a:t>
            </a:r>
            <a:r>
              <a:rPr dirty="0" spc="-160"/>
              <a:t> </a:t>
            </a:r>
            <a:r>
              <a:rPr dirty="0"/>
              <a:t>vincula</a:t>
            </a:r>
            <a:r>
              <a:rPr dirty="0" spc="-160"/>
              <a:t> </a:t>
            </a:r>
            <a:r>
              <a:rPr dirty="0"/>
              <a:t>un</a:t>
            </a:r>
            <a:r>
              <a:rPr dirty="0" spc="-160"/>
              <a:t> </a:t>
            </a:r>
            <a:r>
              <a:rPr dirty="0"/>
              <a:t>file</a:t>
            </a:r>
            <a:r>
              <a:rPr dirty="0" spc="-160"/>
              <a:t> </a:t>
            </a:r>
            <a:r>
              <a:rPr dirty="0"/>
              <a:t>descriptor</a:t>
            </a:r>
            <a:r>
              <a:rPr dirty="0" spc="-160"/>
              <a:t> </a:t>
            </a:r>
            <a:r>
              <a:rPr dirty="0" spc="-70"/>
              <a:t>(open,</a:t>
            </a:r>
            <a:r>
              <a:rPr dirty="0" spc="-160"/>
              <a:t> </a:t>
            </a:r>
            <a:r>
              <a:rPr dirty="0" spc="-40"/>
              <a:t>read,</a:t>
            </a:r>
            <a:r>
              <a:rPr dirty="0" spc="-160"/>
              <a:t> </a:t>
            </a:r>
            <a:r>
              <a:rPr dirty="0"/>
              <a:t>write,</a:t>
            </a:r>
            <a:r>
              <a:rPr dirty="0" spc="-160"/>
              <a:t> </a:t>
            </a:r>
            <a:r>
              <a:rPr dirty="0" spc="-60"/>
              <a:t>etc.)</a:t>
            </a:r>
            <a:r>
              <a:rPr dirty="0" spc="-160"/>
              <a:t> </a:t>
            </a:r>
            <a:r>
              <a:rPr dirty="0"/>
              <a:t>con</a:t>
            </a:r>
            <a:r>
              <a:rPr dirty="0" spc="-160"/>
              <a:t> </a:t>
            </a:r>
            <a:r>
              <a:rPr dirty="0"/>
              <a:t>el</a:t>
            </a:r>
            <a:r>
              <a:rPr dirty="0" spc="-160"/>
              <a:t> </a:t>
            </a:r>
            <a:r>
              <a:rPr dirty="0"/>
              <a:t>inodo</a:t>
            </a:r>
            <a:r>
              <a:rPr dirty="0" spc="-160"/>
              <a:t> </a:t>
            </a:r>
            <a:r>
              <a:rPr dirty="0" spc="-25"/>
              <a:t>que </a:t>
            </a:r>
            <a:r>
              <a:rPr dirty="0"/>
              <a:t>representa</a:t>
            </a:r>
            <a:r>
              <a:rPr dirty="0" spc="-160"/>
              <a:t> </a:t>
            </a:r>
            <a:r>
              <a:rPr dirty="0"/>
              <a:t>el</a:t>
            </a:r>
            <a:r>
              <a:rPr dirty="0" spc="-155"/>
              <a:t> </a:t>
            </a:r>
            <a:r>
              <a:rPr dirty="0" spc="-10"/>
              <a:t>archivo.</a:t>
            </a:r>
          </a:p>
          <a:p>
            <a:pPr marL="308610" marR="5080">
              <a:lnSpc>
                <a:spcPct val="100000"/>
              </a:lnSpc>
              <a:spcBef>
                <a:spcPts val="2160"/>
              </a:spcBef>
            </a:pPr>
            <a:r>
              <a:rPr dirty="0"/>
              <a:t>El</a:t>
            </a:r>
            <a:r>
              <a:rPr dirty="0" spc="-180"/>
              <a:t> </a:t>
            </a:r>
            <a:r>
              <a:rPr dirty="0"/>
              <a:t>file</a:t>
            </a:r>
            <a:r>
              <a:rPr dirty="0" spc="-175"/>
              <a:t> </a:t>
            </a:r>
            <a:r>
              <a:rPr dirty="0" spc="-10"/>
              <a:t>(miembro</a:t>
            </a:r>
            <a:r>
              <a:rPr dirty="0" spc="-175"/>
              <a:t> </a:t>
            </a:r>
            <a:r>
              <a:rPr dirty="0" spc="-10"/>
              <a:t>de</a:t>
            </a:r>
            <a:r>
              <a:rPr dirty="0" spc="-175"/>
              <a:t> </a:t>
            </a:r>
            <a:r>
              <a:rPr dirty="0"/>
              <a:t>la</a:t>
            </a:r>
            <a:r>
              <a:rPr dirty="0" spc="-175"/>
              <a:t> </a:t>
            </a:r>
            <a:r>
              <a:rPr dirty="0"/>
              <a:t>open</a:t>
            </a:r>
            <a:r>
              <a:rPr dirty="0" spc="-175"/>
              <a:t> </a:t>
            </a:r>
            <a:r>
              <a:rPr dirty="0"/>
              <a:t>file</a:t>
            </a:r>
            <a:r>
              <a:rPr dirty="0" spc="-175"/>
              <a:t> </a:t>
            </a:r>
            <a:r>
              <a:rPr dirty="0" spc="-25"/>
              <a:t>table)</a:t>
            </a:r>
            <a:r>
              <a:rPr dirty="0" spc="-175"/>
              <a:t> </a:t>
            </a:r>
            <a:r>
              <a:rPr dirty="0"/>
              <a:t>contiene</a:t>
            </a:r>
            <a:r>
              <a:rPr dirty="0" spc="-175"/>
              <a:t> </a:t>
            </a:r>
            <a:r>
              <a:rPr dirty="0"/>
              <a:t>el</a:t>
            </a:r>
            <a:r>
              <a:rPr dirty="0" spc="-175"/>
              <a:t> </a:t>
            </a:r>
            <a:r>
              <a:rPr dirty="0" spc="-10"/>
              <a:t>offset.</a:t>
            </a:r>
            <a:r>
              <a:rPr dirty="0" spc="-175"/>
              <a:t> </a:t>
            </a:r>
            <a:r>
              <a:rPr dirty="0"/>
              <a:t>Esto</a:t>
            </a:r>
            <a:r>
              <a:rPr dirty="0" spc="-175"/>
              <a:t> </a:t>
            </a:r>
            <a:r>
              <a:rPr dirty="0" spc="-25"/>
              <a:t>es</a:t>
            </a:r>
            <a:r>
              <a:rPr dirty="0" spc="-175"/>
              <a:t> </a:t>
            </a:r>
            <a:r>
              <a:rPr dirty="0"/>
              <a:t>el</a:t>
            </a:r>
            <a:r>
              <a:rPr dirty="0" spc="-175"/>
              <a:t> </a:t>
            </a:r>
            <a:r>
              <a:rPr dirty="0" spc="-20"/>
              <a:t>“cursor”</a:t>
            </a:r>
            <a:r>
              <a:rPr dirty="0" spc="-175"/>
              <a:t> </a:t>
            </a:r>
            <a:r>
              <a:rPr dirty="0" spc="-25"/>
              <a:t>que </a:t>
            </a:r>
            <a:r>
              <a:rPr dirty="0"/>
              <a:t>indica</a:t>
            </a:r>
            <a:r>
              <a:rPr dirty="0" spc="-175"/>
              <a:t> </a:t>
            </a:r>
            <a:r>
              <a:rPr dirty="0"/>
              <a:t>donde</a:t>
            </a:r>
            <a:r>
              <a:rPr dirty="0" spc="-175"/>
              <a:t> </a:t>
            </a:r>
            <a:r>
              <a:rPr dirty="0" spc="-25"/>
              <a:t>se</a:t>
            </a:r>
            <a:r>
              <a:rPr dirty="0" spc="-175"/>
              <a:t> </a:t>
            </a:r>
            <a:r>
              <a:rPr dirty="0" spc="-10"/>
              <a:t>va</a:t>
            </a:r>
            <a:r>
              <a:rPr dirty="0" spc="-175"/>
              <a:t> </a:t>
            </a:r>
            <a:r>
              <a:rPr dirty="0" spc="-45"/>
              <a:t>a</a:t>
            </a:r>
            <a:r>
              <a:rPr dirty="0" spc="-175"/>
              <a:t> </a:t>
            </a:r>
            <a:r>
              <a:rPr dirty="0"/>
              <a:t>escribir</a:t>
            </a:r>
            <a:r>
              <a:rPr dirty="0" spc="-170"/>
              <a:t> </a:t>
            </a:r>
            <a:r>
              <a:rPr dirty="0"/>
              <a:t>o</a:t>
            </a:r>
            <a:r>
              <a:rPr dirty="0" spc="-175"/>
              <a:t> </a:t>
            </a:r>
            <a:r>
              <a:rPr dirty="0"/>
              <a:t>leer</a:t>
            </a:r>
            <a:r>
              <a:rPr dirty="0" spc="-175"/>
              <a:t> </a:t>
            </a:r>
            <a:r>
              <a:rPr dirty="0" spc="-45"/>
              <a:t>a</a:t>
            </a:r>
            <a:r>
              <a:rPr dirty="0" spc="-175"/>
              <a:t> </a:t>
            </a:r>
            <a:r>
              <a:rPr dirty="0" spc="-10"/>
              <a:t>continuacion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7750" y="586624"/>
            <a:ext cx="6457600" cy="4357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00675" y="112562"/>
            <a:ext cx="1454150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90"/>
              <a:t>Open</a:t>
            </a:r>
            <a:r>
              <a:rPr dirty="0" spc="-125"/>
              <a:t> </a:t>
            </a:r>
            <a:r>
              <a:rPr dirty="0" spc="-10"/>
              <a:t>files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1A99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830389" y="1191259"/>
            <a:ext cx="746125" cy="46355"/>
          </a:xfrm>
          <a:custGeom>
            <a:avLst/>
            <a:gdLst/>
            <a:ahLst/>
            <a:cxnLst/>
            <a:rect l="l" t="t" r="r" b="b"/>
            <a:pathLst>
              <a:path w="746125" h="46355">
                <a:moveTo>
                  <a:pt x="745756" y="0"/>
                </a:moveTo>
                <a:lnTo>
                  <a:pt x="376008" y="0"/>
                </a:lnTo>
                <a:lnTo>
                  <a:pt x="372897" y="0"/>
                </a:lnTo>
                <a:lnTo>
                  <a:pt x="0" y="0"/>
                </a:lnTo>
                <a:lnTo>
                  <a:pt x="0" y="45834"/>
                </a:lnTo>
                <a:lnTo>
                  <a:pt x="372897" y="45834"/>
                </a:lnTo>
                <a:lnTo>
                  <a:pt x="376008" y="45834"/>
                </a:lnTo>
                <a:lnTo>
                  <a:pt x="745756" y="45834"/>
                </a:lnTo>
                <a:lnTo>
                  <a:pt x="74575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02475" y="1377186"/>
            <a:ext cx="4002404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FFFFFF"/>
                </a:solidFill>
              </a:rPr>
              <a:t>Virtual</a:t>
            </a:r>
            <a:r>
              <a:rPr dirty="0" sz="3600" spc="-210">
                <a:solidFill>
                  <a:srgbClr val="FFFFFF"/>
                </a:solidFill>
              </a:rPr>
              <a:t> </a:t>
            </a:r>
            <a:r>
              <a:rPr dirty="0" sz="3600" spc="55">
                <a:solidFill>
                  <a:srgbClr val="FFFFFF"/>
                </a:solidFill>
              </a:rPr>
              <a:t>FileSystem</a:t>
            </a:r>
            <a:endParaRPr sz="3600"/>
          </a:p>
        </p:txBody>
      </p:sp>
      <p:sp>
        <p:nvSpPr>
          <p:cNvPr id="5" name="object 5" descr=""/>
          <p:cNvSpPr txBox="1"/>
          <p:nvPr/>
        </p:nvSpPr>
        <p:spPr>
          <a:xfrm>
            <a:off x="913550" y="3201581"/>
            <a:ext cx="284734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60" b="1">
                <a:solidFill>
                  <a:srgbClr val="FFFFFF"/>
                </a:solidFill>
                <a:latin typeface="Trebuchet MS"/>
                <a:cs typeface="Trebuchet MS"/>
              </a:rPr>
              <a:t>Conceptos</a:t>
            </a:r>
            <a:r>
              <a:rPr dirty="0" sz="1800" spc="-11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Trebuchet MS"/>
                <a:cs typeface="Trebuchet MS"/>
              </a:rPr>
              <a:t>clave: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800" spc="90">
                <a:solidFill>
                  <a:srgbClr val="FFFFFF"/>
                </a:solidFill>
                <a:latin typeface="Trebuchet MS"/>
                <a:cs typeface="Trebuchet MS"/>
              </a:rPr>
              <a:t>Capas</a:t>
            </a:r>
            <a:r>
              <a:rPr dirty="0" sz="180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85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800" spc="-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abstracción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800" spc="70">
                <a:solidFill>
                  <a:srgbClr val="FFFFFF"/>
                </a:solidFill>
                <a:latin typeface="Trebuchet MS"/>
                <a:cs typeface="Trebuchet MS"/>
              </a:rPr>
              <a:t>Componentes</a:t>
            </a:r>
            <a:r>
              <a:rPr dirty="0" sz="180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50">
                <a:solidFill>
                  <a:srgbClr val="FFFFFF"/>
                </a:solidFill>
                <a:latin typeface="Trebuchet MS"/>
                <a:cs typeface="Trebuchet MS"/>
              </a:rPr>
              <a:t>del</a:t>
            </a:r>
            <a:r>
              <a:rPr dirty="0" sz="1800" spc="-1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125">
                <a:solidFill>
                  <a:srgbClr val="FFFFFF"/>
                </a:solidFill>
                <a:latin typeface="Trebuchet MS"/>
                <a:cs typeface="Trebuchet MS"/>
              </a:rPr>
              <a:t>VFS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2475" y="1379787"/>
            <a:ext cx="3009900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75"/>
              <a:t>El</a:t>
            </a:r>
            <a:r>
              <a:rPr dirty="0" spc="-200"/>
              <a:t> </a:t>
            </a:r>
            <a:r>
              <a:rPr dirty="0"/>
              <a:t>Virtual</a:t>
            </a:r>
            <a:r>
              <a:rPr dirty="0" spc="-105"/>
              <a:t> </a:t>
            </a:r>
            <a:r>
              <a:rPr dirty="0"/>
              <a:t>File</a:t>
            </a:r>
            <a:r>
              <a:rPr dirty="0" spc="-35"/>
              <a:t> </a:t>
            </a:r>
            <a:r>
              <a:rPr dirty="0" spc="95"/>
              <a:t>System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2475" y="2107195"/>
            <a:ext cx="7387590" cy="272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60" b="1">
                <a:solidFill>
                  <a:srgbClr val="595959"/>
                </a:solidFill>
                <a:latin typeface="Tahoma"/>
                <a:cs typeface="Tahoma"/>
              </a:rPr>
              <a:t>Virtual</a:t>
            </a:r>
            <a:r>
              <a:rPr dirty="0" sz="1600" spc="-1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80" b="1">
                <a:solidFill>
                  <a:srgbClr val="595959"/>
                </a:solidFill>
                <a:latin typeface="Tahoma"/>
                <a:cs typeface="Tahoma"/>
              </a:rPr>
              <a:t>Files</a:t>
            </a:r>
            <a:r>
              <a:rPr dirty="0" sz="1600" spc="-1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25" b="1">
                <a:solidFill>
                  <a:srgbClr val="595959"/>
                </a:solidFill>
                <a:latin typeface="Tahoma"/>
                <a:cs typeface="Tahoma"/>
              </a:rPr>
              <a:t>System (VFS)</a:t>
            </a:r>
            <a:r>
              <a:rPr dirty="0" sz="1600" spc="-1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subsistema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kernel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implementa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interfaz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tiene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ver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archivos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sistema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archivos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provistos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programas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corriendo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modo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usuario.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Todos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sistemas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archivos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deben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basarse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25">
                <a:solidFill>
                  <a:srgbClr val="595959"/>
                </a:solidFill>
                <a:latin typeface="Tahoma"/>
                <a:cs typeface="Tahoma"/>
              </a:rPr>
              <a:t>VFS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50">
                <a:solidFill>
                  <a:srgbClr val="595959"/>
                </a:solidFill>
                <a:latin typeface="Tahoma"/>
                <a:cs typeface="Tahoma"/>
              </a:rPr>
              <a:t>:</a:t>
            </a:r>
            <a:endParaRPr sz="1600">
              <a:latin typeface="Tahoma"/>
              <a:cs typeface="Tahoma"/>
            </a:endParaRPr>
          </a:p>
          <a:p>
            <a:pPr marL="469900" marR="5815330">
              <a:lnSpc>
                <a:spcPct val="177500"/>
              </a:lnSpc>
            </a:pP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coexistir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inter-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operar</a:t>
            </a:r>
            <a:endParaRPr sz="1600">
              <a:latin typeface="Tahoma"/>
              <a:cs typeface="Tahoma"/>
            </a:endParaRPr>
          </a:p>
          <a:p>
            <a:pPr marL="12700" marR="45720">
              <a:lnSpc>
                <a:spcPct val="114999"/>
              </a:lnSpc>
              <a:spcBef>
                <a:spcPts val="1200"/>
              </a:spcBef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Esto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habilita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programas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utilizar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system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calls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unix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leer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escribir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en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diferentes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sistemas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archivos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diferentes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medios.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3625" y="144998"/>
            <a:ext cx="3239770" cy="40957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00" spc="60"/>
              <a:t>El</a:t>
            </a:r>
            <a:r>
              <a:rPr dirty="0" sz="2500" spc="-254"/>
              <a:t> </a:t>
            </a:r>
            <a:r>
              <a:rPr dirty="0" sz="2500"/>
              <a:t>Virtual</a:t>
            </a:r>
            <a:r>
              <a:rPr dirty="0" sz="2500" spc="-160"/>
              <a:t> </a:t>
            </a:r>
            <a:r>
              <a:rPr dirty="0" sz="2500"/>
              <a:t>File</a:t>
            </a:r>
            <a:r>
              <a:rPr dirty="0" sz="2500" spc="-85"/>
              <a:t> </a:t>
            </a:r>
            <a:r>
              <a:rPr dirty="0" sz="2500" spc="85"/>
              <a:t>System</a:t>
            </a:r>
            <a:endParaRPr sz="2500"/>
          </a:p>
        </p:txBody>
      </p:sp>
      <p:sp>
        <p:nvSpPr>
          <p:cNvPr id="3" name="object 3" descr=""/>
          <p:cNvSpPr txBox="1"/>
          <p:nvPr/>
        </p:nvSpPr>
        <p:spPr>
          <a:xfrm>
            <a:off x="797975" y="4338133"/>
            <a:ext cx="743585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600" spc="50">
                <a:solidFill>
                  <a:srgbClr val="595959"/>
                </a:solidFill>
                <a:latin typeface="Tahoma"/>
                <a:cs typeface="Tahoma"/>
              </a:rPr>
              <a:t>VFS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pegamento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habilita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system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calls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como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ejemplo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65">
                <a:solidFill>
                  <a:srgbClr val="595959"/>
                </a:solidFill>
                <a:latin typeface="Tahoma"/>
                <a:cs typeface="Tahoma"/>
              </a:rPr>
              <a:t>open(),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5">
                <a:solidFill>
                  <a:srgbClr val="595959"/>
                </a:solidFill>
                <a:latin typeface="Tahoma"/>
                <a:cs typeface="Tahoma"/>
              </a:rPr>
              <a:t>read()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50">
                <a:solidFill>
                  <a:srgbClr val="595959"/>
                </a:solidFill>
                <a:latin typeface="Tahoma"/>
                <a:cs typeface="Tahoma"/>
              </a:rPr>
              <a:t>y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write()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funcionar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sin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estas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necesitan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tener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cuenta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hardware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subyacente.</a:t>
            </a:r>
            <a:endParaRPr sz="16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1869" y="763505"/>
            <a:ext cx="5238890" cy="322944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0730" y="2104402"/>
            <a:ext cx="7443470" cy="24091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71475" marR="5080" indent="-359410">
              <a:lnSpc>
                <a:spcPct val="114999"/>
              </a:lnSpc>
              <a:spcBef>
                <a:spcPts val="100"/>
              </a:spcBef>
              <a:buFont typeface="Arial MT"/>
              <a:buChar char="●"/>
              <a:tabLst>
                <a:tab pos="371475" algn="l"/>
              </a:tabLst>
            </a:pP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700" spc="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700" spc="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tipo</a:t>
            </a:r>
            <a:r>
              <a:rPr dirty="0" sz="1700" spc="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genérico</a:t>
            </a:r>
            <a:r>
              <a:rPr dirty="0" sz="1700" spc="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interfaz</a:t>
            </a:r>
            <a:r>
              <a:rPr dirty="0" sz="1700" spc="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700" spc="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cualquier</a:t>
            </a:r>
            <a:r>
              <a:rPr dirty="0" sz="1700" spc="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tipo</a:t>
            </a:r>
            <a:r>
              <a:rPr dirty="0" sz="1700" spc="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filesystem</a:t>
            </a:r>
            <a:r>
              <a:rPr dirty="0" sz="1700" spc="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700" spc="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es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posible</a:t>
            </a:r>
            <a:r>
              <a:rPr dirty="0" sz="1700" spc="2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sólo</a:t>
            </a:r>
            <a:r>
              <a:rPr dirty="0" sz="1700" spc="2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porque</a:t>
            </a:r>
            <a:r>
              <a:rPr dirty="0" sz="1700" spc="2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2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kernel</a:t>
            </a:r>
            <a:r>
              <a:rPr dirty="0" sz="1700" spc="2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implementa</a:t>
            </a:r>
            <a:r>
              <a:rPr dirty="0" sz="1700" spc="2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700" spc="2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capa</a:t>
            </a:r>
            <a:r>
              <a:rPr dirty="0" sz="1700" spc="2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2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abstracción</a:t>
            </a:r>
            <a:r>
              <a:rPr dirty="0" sz="1700" spc="2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que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rodea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esta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interfaz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sistema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archivo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bajo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nivel.</a:t>
            </a:r>
            <a:endParaRPr sz="1700">
              <a:latin typeface="Tahoma"/>
              <a:cs typeface="Tahoma"/>
            </a:endParaRPr>
          </a:p>
          <a:p>
            <a:pPr algn="just" marL="371475" marR="9525" indent="-359410">
              <a:lnSpc>
                <a:spcPct val="114999"/>
              </a:lnSpc>
              <a:buFont typeface="Arial MT"/>
              <a:buChar char="●"/>
              <a:tabLst>
                <a:tab pos="371475" algn="l"/>
              </a:tabLst>
            </a:pP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Esta</a:t>
            </a:r>
            <a:r>
              <a:rPr dirty="0" sz="1700" spc="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capa</a:t>
            </a:r>
            <a:r>
              <a:rPr dirty="0" sz="1700" spc="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abstracción</a:t>
            </a:r>
            <a:r>
              <a:rPr dirty="0" sz="1700" spc="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habilita</a:t>
            </a:r>
            <a:r>
              <a:rPr dirty="0" sz="1700" spc="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700" spc="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Linux</a:t>
            </a:r>
            <a:r>
              <a:rPr dirty="0" sz="1700" spc="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700" spc="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soportar</a:t>
            </a:r>
            <a:r>
              <a:rPr dirty="0" sz="1700" spc="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sistemas</a:t>
            </a:r>
            <a:r>
              <a:rPr dirty="0" sz="1700" spc="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archivos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diferentes,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incluso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estos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difieren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características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comportamiento.</a:t>
            </a:r>
            <a:endParaRPr sz="1700">
              <a:latin typeface="Tahoma"/>
              <a:cs typeface="Tahoma"/>
            </a:endParaRPr>
          </a:p>
          <a:p>
            <a:pPr algn="just" marL="371475" marR="9525" indent="-359410">
              <a:lnSpc>
                <a:spcPct val="114999"/>
              </a:lnSpc>
              <a:buFont typeface="Arial MT"/>
              <a:buChar char="●"/>
              <a:tabLst>
                <a:tab pos="371475" algn="l"/>
              </a:tabLst>
            </a:pP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Esto</a:t>
            </a:r>
            <a:r>
              <a:rPr dirty="0" sz="1700" spc="25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700" spc="25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posible</a:t>
            </a:r>
            <a:r>
              <a:rPr dirty="0" sz="1700" spc="25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porque</a:t>
            </a:r>
            <a:r>
              <a:rPr dirty="0" sz="1700" spc="25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VFS</a:t>
            </a:r>
            <a:r>
              <a:rPr dirty="0" sz="1700" spc="25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provee</a:t>
            </a:r>
            <a:r>
              <a:rPr dirty="0" sz="1700" spc="25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700" spc="25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modelo</a:t>
            </a:r>
            <a:r>
              <a:rPr dirty="0" sz="1700" spc="25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común</a:t>
            </a:r>
            <a:r>
              <a:rPr dirty="0" sz="1700" spc="25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25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archivos</a:t>
            </a:r>
            <a:r>
              <a:rPr dirty="0" sz="1700" spc="25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que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pueda</a:t>
            </a:r>
            <a:r>
              <a:rPr dirty="0" sz="1700" spc="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representar</a:t>
            </a:r>
            <a:r>
              <a:rPr dirty="0" sz="1700" spc="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cualquier</a:t>
            </a:r>
            <a:r>
              <a:rPr dirty="0" sz="1700" spc="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característica</a:t>
            </a:r>
            <a:r>
              <a:rPr dirty="0" sz="1700" spc="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700" spc="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comportamiento</a:t>
            </a:r>
            <a:r>
              <a:rPr dirty="0" sz="1700" spc="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general</a:t>
            </a:r>
            <a:r>
              <a:rPr dirty="0" sz="1700" spc="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de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cualquier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sistema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archivos.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02475" y="1379787"/>
            <a:ext cx="4167504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65"/>
              <a:t>FileSystem</a:t>
            </a:r>
            <a:r>
              <a:rPr dirty="0" spc="-195"/>
              <a:t> </a:t>
            </a:r>
            <a:r>
              <a:rPr dirty="0" spc="50"/>
              <a:t>Abstraction</a:t>
            </a:r>
            <a:r>
              <a:rPr dirty="0" spc="-120"/>
              <a:t> </a:t>
            </a:r>
            <a:r>
              <a:rPr dirty="0" spc="-10"/>
              <a:t>Layer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8150" y="189775"/>
            <a:ext cx="7387149" cy="495372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97975" y="4390264"/>
            <a:ext cx="3935729" cy="3625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00" b="1">
                <a:solidFill>
                  <a:srgbClr val="1A1A1A"/>
                </a:solidFill>
                <a:latin typeface="Trebuchet MS"/>
                <a:cs typeface="Trebuchet MS"/>
              </a:rPr>
              <a:t>FileSystem</a:t>
            </a:r>
            <a:r>
              <a:rPr dirty="0" sz="2200" spc="190" b="1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2200" b="1">
                <a:solidFill>
                  <a:srgbClr val="1A1A1A"/>
                </a:solidFill>
                <a:latin typeface="Trebuchet MS"/>
                <a:cs typeface="Trebuchet MS"/>
              </a:rPr>
              <a:t>Abstraction</a:t>
            </a:r>
            <a:r>
              <a:rPr dirty="0" sz="2200" spc="325" b="1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2200" spc="-10" b="1">
                <a:solidFill>
                  <a:srgbClr val="1A1A1A"/>
                </a:solidFill>
                <a:latin typeface="Trebuchet MS"/>
                <a:cs typeface="Trebuchet MS"/>
              </a:rPr>
              <a:t>Layer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00" spc="55"/>
              <a:t>FileSystem</a:t>
            </a:r>
            <a:r>
              <a:rPr dirty="0" sz="2500" spc="-215"/>
              <a:t> </a:t>
            </a:r>
            <a:r>
              <a:rPr dirty="0" sz="2500" spc="50"/>
              <a:t>Abstraction</a:t>
            </a:r>
            <a:r>
              <a:rPr dirty="0" sz="2500" spc="-135"/>
              <a:t> </a:t>
            </a:r>
            <a:r>
              <a:rPr dirty="0" sz="2500" spc="-10"/>
              <a:t>Layer</a:t>
            </a:r>
            <a:endParaRPr sz="2500"/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4225" y="229162"/>
            <a:ext cx="8439149" cy="414337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2475" y="1379787"/>
            <a:ext cx="4167504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65"/>
              <a:t>FileSystem</a:t>
            </a:r>
            <a:r>
              <a:rPr dirty="0" spc="-195"/>
              <a:t> </a:t>
            </a:r>
            <a:r>
              <a:rPr dirty="0" spc="50"/>
              <a:t>Abstraction</a:t>
            </a:r>
            <a:r>
              <a:rPr dirty="0" spc="-120"/>
              <a:t> </a:t>
            </a:r>
            <a:r>
              <a:rPr dirty="0" spc="-10"/>
              <a:t>Layer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2475" y="2107195"/>
            <a:ext cx="7540625" cy="2573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4610">
              <a:lnSpc>
                <a:spcPct val="114999"/>
              </a:lnSpc>
              <a:spcBef>
                <a:spcPts val="100"/>
              </a:spcBef>
            </a:pP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Esta</a:t>
            </a:r>
            <a:r>
              <a:rPr dirty="0" sz="16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50">
                <a:solidFill>
                  <a:srgbClr val="595959"/>
                </a:solidFill>
                <a:latin typeface="Tahoma"/>
                <a:cs typeface="Tahoma"/>
              </a:rPr>
              <a:t>capa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7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abstracción</a:t>
            </a:r>
            <a:r>
              <a:rPr dirty="0" sz="16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trabaja</a:t>
            </a:r>
            <a:r>
              <a:rPr dirty="0" sz="16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mediante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6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definición</a:t>
            </a:r>
            <a:r>
              <a:rPr dirty="0" sz="16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7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interfaces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conceptualmente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básicas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estructuras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cualquier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sistema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archivos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soporta.</a:t>
            </a:r>
            <a:endParaRPr sz="1600">
              <a:latin typeface="Tahoma"/>
              <a:cs typeface="Tahoma"/>
            </a:endParaRPr>
          </a:p>
          <a:p>
            <a:pPr algn="just" marL="12700" marR="5080">
              <a:lnSpc>
                <a:spcPct val="114999"/>
              </a:lnSpc>
              <a:spcBef>
                <a:spcPts val="1200"/>
              </a:spcBef>
            </a:pP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6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filesystems</a:t>
            </a:r>
            <a:r>
              <a:rPr dirty="0" sz="16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amoldan</a:t>
            </a:r>
            <a:r>
              <a:rPr dirty="0" sz="16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0">
                <a:solidFill>
                  <a:srgbClr val="595959"/>
                </a:solidFill>
                <a:latin typeface="Tahoma"/>
                <a:cs typeface="Tahoma"/>
              </a:rPr>
              <a:t>su</a:t>
            </a:r>
            <a:r>
              <a:rPr dirty="0" sz="16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visión</a:t>
            </a:r>
            <a:r>
              <a:rPr dirty="0" sz="16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conceptos</a:t>
            </a:r>
            <a:r>
              <a:rPr dirty="0" sz="16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como</a:t>
            </a:r>
            <a:r>
              <a:rPr dirty="0" sz="16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5">
                <a:solidFill>
                  <a:srgbClr val="595959"/>
                </a:solidFill>
                <a:latin typeface="Tahoma"/>
                <a:cs typeface="Tahoma"/>
              </a:rPr>
              <a:t>“esta</a:t>
            </a:r>
            <a:r>
              <a:rPr dirty="0" sz="16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5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6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forma</a:t>
            </a:r>
            <a:r>
              <a:rPr dirty="0" sz="16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cómo</a:t>
            </a:r>
            <a:r>
              <a:rPr dirty="0" sz="16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abro un</a:t>
            </a:r>
            <a:r>
              <a:rPr dirty="0" sz="16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archivo”</a:t>
            </a:r>
            <a:r>
              <a:rPr dirty="0" sz="16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6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matchear</a:t>
            </a:r>
            <a:r>
              <a:rPr dirty="0" sz="16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6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expectativas</a:t>
            </a:r>
            <a:r>
              <a:rPr dirty="0" sz="16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6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VFS,</a:t>
            </a:r>
            <a:r>
              <a:rPr dirty="0" sz="16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todos</a:t>
            </a:r>
            <a:r>
              <a:rPr dirty="0" sz="16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estos</a:t>
            </a:r>
            <a:r>
              <a:rPr dirty="0" sz="16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sistemas</a:t>
            </a:r>
            <a:r>
              <a:rPr dirty="0" sz="16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archivos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soportan</a:t>
            </a:r>
            <a:r>
              <a:rPr dirty="0" sz="1600" spc="2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nociones</a:t>
            </a:r>
            <a:r>
              <a:rPr dirty="0" sz="1600" spc="2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tales</a:t>
            </a:r>
            <a:r>
              <a:rPr dirty="0" sz="1600" spc="2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como</a:t>
            </a:r>
            <a:r>
              <a:rPr dirty="0" sz="1600" spc="2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archivos,</a:t>
            </a:r>
            <a:r>
              <a:rPr dirty="0" sz="1600" spc="2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directorios</a:t>
            </a:r>
            <a:r>
              <a:rPr dirty="0" sz="1600" spc="2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600" spc="2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además</a:t>
            </a:r>
            <a:r>
              <a:rPr dirty="0" sz="1600" spc="2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todos</a:t>
            </a:r>
            <a:r>
              <a:rPr dirty="0" sz="1600" spc="2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soportan</a:t>
            </a:r>
            <a:r>
              <a:rPr dirty="0" sz="1600" spc="2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un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conjunto</a:t>
            </a:r>
            <a:r>
              <a:rPr dirty="0" sz="16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operaciones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básicas</a:t>
            </a:r>
            <a:r>
              <a:rPr dirty="0" sz="16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sobre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estos.</a:t>
            </a:r>
            <a:endParaRPr sz="1600">
              <a:latin typeface="Tahoma"/>
              <a:cs typeface="Tahoma"/>
            </a:endParaRPr>
          </a:p>
          <a:p>
            <a:pPr marL="12700" marR="509270">
              <a:lnSpc>
                <a:spcPct val="114999"/>
              </a:lnSpc>
              <a:spcBef>
                <a:spcPts val="1200"/>
              </a:spcBef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resultado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capa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abstracción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general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permite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kernel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manejar muchos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tipos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sistemas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archivos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forma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fácil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limpia.</a:t>
            </a:r>
            <a:endParaRPr sz="16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79500" y="1067450"/>
            <a:ext cx="3505199" cy="838199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2475" y="1379787"/>
            <a:ext cx="4167504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65"/>
              <a:t>FileSystem</a:t>
            </a:r>
            <a:r>
              <a:rPr dirty="0" spc="-195"/>
              <a:t> </a:t>
            </a:r>
            <a:r>
              <a:rPr dirty="0" spc="50"/>
              <a:t>Abstraction</a:t>
            </a:r>
            <a:r>
              <a:rPr dirty="0" spc="-120"/>
              <a:t> </a:t>
            </a:r>
            <a:r>
              <a:rPr dirty="0" spc="-10"/>
              <a:t>Layer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242" y="2520253"/>
            <a:ext cx="7835113" cy="1873613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2475" y="1379787"/>
            <a:ext cx="4167504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65"/>
              <a:t>FileSystem</a:t>
            </a:r>
            <a:r>
              <a:rPr dirty="0" spc="-195"/>
              <a:t> </a:t>
            </a:r>
            <a:r>
              <a:rPr dirty="0" spc="50"/>
              <a:t>Abstraction</a:t>
            </a:r>
            <a:r>
              <a:rPr dirty="0" spc="-120"/>
              <a:t> </a:t>
            </a:r>
            <a:r>
              <a:rPr dirty="0" spc="-10"/>
              <a:t>Layer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48087" y="1853850"/>
            <a:ext cx="3451432" cy="296567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2475" y="1379787"/>
            <a:ext cx="4167504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65"/>
              <a:t>FileSystem</a:t>
            </a:r>
            <a:r>
              <a:rPr dirty="0" spc="-195"/>
              <a:t> </a:t>
            </a:r>
            <a:r>
              <a:rPr dirty="0" spc="50"/>
              <a:t>Abstraction</a:t>
            </a:r>
            <a:r>
              <a:rPr dirty="0" spc="-120"/>
              <a:t> </a:t>
            </a:r>
            <a:r>
              <a:rPr dirty="0" spc="-10"/>
              <a:t>Layer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42900" y="1950800"/>
            <a:ext cx="3261794" cy="2984849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40"/>
              </a:spcBef>
            </a:pPr>
            <a:r>
              <a:rPr dirty="0"/>
              <a:t>VFS:</a:t>
            </a:r>
            <a:r>
              <a:rPr dirty="0" spc="-85"/>
              <a:t> </a:t>
            </a:r>
            <a:r>
              <a:rPr dirty="0" spc="160"/>
              <a:t>Sus</a:t>
            </a:r>
            <a:r>
              <a:rPr dirty="0" spc="-85"/>
              <a:t> </a:t>
            </a:r>
            <a:r>
              <a:rPr dirty="0" spc="-10"/>
              <a:t>Objetos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49225" y="1383651"/>
            <a:ext cx="7443470" cy="2851785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algn="just" marL="12700" marR="5080">
              <a:lnSpc>
                <a:spcPts val="2330"/>
              </a:lnSpc>
              <a:spcBef>
                <a:spcPts val="275"/>
              </a:spcBef>
            </a:pPr>
            <a:r>
              <a:rPr dirty="0" sz="2000" spc="55">
                <a:solidFill>
                  <a:srgbClr val="595959"/>
                </a:solidFill>
                <a:latin typeface="Tahoma"/>
                <a:cs typeface="Tahoma"/>
              </a:rPr>
              <a:t>VFS</a:t>
            </a:r>
            <a:r>
              <a:rPr dirty="0" sz="20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presenta</a:t>
            </a:r>
            <a:r>
              <a:rPr dirty="0" sz="20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45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20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serie</a:t>
            </a:r>
            <a:r>
              <a:rPr dirty="0" sz="20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45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20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estructuras</a:t>
            </a:r>
            <a:r>
              <a:rPr dirty="0" sz="20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20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modelan</a:t>
            </a:r>
            <a:r>
              <a:rPr dirty="0" sz="20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6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20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595959"/>
                </a:solidFill>
                <a:latin typeface="Tahoma"/>
                <a:cs typeface="Tahoma"/>
              </a:rPr>
              <a:t>filesystem, estas</a:t>
            </a:r>
            <a:r>
              <a:rPr dirty="0" sz="20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estructuras</a:t>
            </a:r>
            <a:r>
              <a:rPr dirty="0" sz="20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8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20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denominan</a:t>
            </a:r>
            <a:r>
              <a:rPr dirty="0" sz="20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objetos</a:t>
            </a:r>
            <a:r>
              <a:rPr dirty="0" sz="20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20">
                <a:solidFill>
                  <a:srgbClr val="595959"/>
                </a:solidFill>
                <a:latin typeface="Tahoma"/>
                <a:cs typeface="Tahoma"/>
              </a:rPr>
              <a:t>(programadas</a:t>
            </a:r>
            <a:r>
              <a:rPr dirty="0" sz="20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6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20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10">
                <a:solidFill>
                  <a:srgbClr val="595959"/>
                </a:solidFill>
                <a:latin typeface="Tahoma"/>
                <a:cs typeface="Tahoma"/>
              </a:rPr>
              <a:t>C).</a:t>
            </a:r>
            <a:r>
              <a:rPr dirty="0" sz="2000" spc="-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595959"/>
                </a:solidFill>
                <a:latin typeface="Tahoma"/>
                <a:cs typeface="Tahoma"/>
              </a:rPr>
              <a:t>Estos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Objetos</a:t>
            </a:r>
            <a:r>
              <a:rPr dirty="0" sz="2000" spc="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20">
                <a:solidFill>
                  <a:srgbClr val="595959"/>
                </a:solidFill>
                <a:latin typeface="Tahoma"/>
                <a:cs typeface="Tahoma"/>
              </a:rPr>
              <a:t>son:</a:t>
            </a:r>
            <a:endParaRPr sz="2000">
              <a:latin typeface="Tahoma"/>
              <a:cs typeface="Tahoma"/>
            </a:endParaRPr>
          </a:p>
          <a:p>
            <a:pPr algn="just" marL="466725" indent="-382270">
              <a:lnSpc>
                <a:spcPts val="2365"/>
              </a:lnSpc>
              <a:spcBef>
                <a:spcPts val="1050"/>
              </a:spcBef>
              <a:buFont typeface="Arial MT"/>
              <a:buChar char="●"/>
              <a:tabLst>
                <a:tab pos="466725" algn="l"/>
              </a:tabLst>
            </a:pPr>
            <a:r>
              <a:rPr dirty="0" sz="2000" spc="55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20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14" b="1">
                <a:solidFill>
                  <a:srgbClr val="595959"/>
                </a:solidFill>
                <a:latin typeface="Tahoma"/>
                <a:cs typeface="Tahoma"/>
              </a:rPr>
              <a:t>super</a:t>
            </a:r>
            <a:r>
              <a:rPr dirty="0" sz="2000" spc="-12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14" b="1">
                <a:solidFill>
                  <a:srgbClr val="595959"/>
                </a:solidFill>
                <a:latin typeface="Tahoma"/>
                <a:cs typeface="Tahoma"/>
              </a:rPr>
              <a:t>bloque</a:t>
            </a:r>
            <a:r>
              <a:rPr dirty="0" sz="2000" spc="-114">
                <a:solidFill>
                  <a:srgbClr val="595959"/>
                </a:solidFill>
                <a:latin typeface="Tahoma"/>
                <a:cs typeface="Tahoma"/>
              </a:rPr>
              <a:t>,</a:t>
            </a:r>
            <a:r>
              <a:rPr dirty="0" sz="20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20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representa</a:t>
            </a:r>
            <a:r>
              <a:rPr dirty="0" sz="20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3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20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20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sistema</a:t>
            </a:r>
            <a:r>
              <a:rPr dirty="0" sz="20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20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595959"/>
                </a:solidFill>
                <a:latin typeface="Tahoma"/>
                <a:cs typeface="Tahoma"/>
              </a:rPr>
              <a:t>archivos.</a:t>
            </a:r>
            <a:endParaRPr sz="2000">
              <a:latin typeface="Tahoma"/>
              <a:cs typeface="Tahoma"/>
            </a:endParaRPr>
          </a:p>
          <a:p>
            <a:pPr algn="just" marL="466725" indent="-382270">
              <a:lnSpc>
                <a:spcPts val="2325"/>
              </a:lnSpc>
              <a:buFont typeface="Arial MT"/>
              <a:buChar char="●"/>
              <a:tabLst>
                <a:tab pos="466725" algn="l"/>
              </a:tabLst>
            </a:pPr>
            <a:r>
              <a:rPr dirty="0" sz="2000" spc="55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20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10" b="1">
                <a:solidFill>
                  <a:srgbClr val="595959"/>
                </a:solidFill>
                <a:latin typeface="Tahoma"/>
                <a:cs typeface="Tahoma"/>
              </a:rPr>
              <a:t>inodo,</a:t>
            </a:r>
            <a:r>
              <a:rPr dirty="0" sz="2000" spc="-9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20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representa</a:t>
            </a:r>
            <a:r>
              <a:rPr dirty="0" sz="20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3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20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20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determinado</a:t>
            </a:r>
            <a:r>
              <a:rPr dirty="0" sz="20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595959"/>
                </a:solidFill>
                <a:latin typeface="Tahoma"/>
                <a:cs typeface="Tahoma"/>
              </a:rPr>
              <a:t>archivo.</a:t>
            </a:r>
            <a:endParaRPr sz="2000">
              <a:latin typeface="Tahoma"/>
              <a:cs typeface="Tahoma"/>
            </a:endParaRPr>
          </a:p>
          <a:p>
            <a:pPr algn="just" marL="466725" marR="34925" indent="-382270">
              <a:lnSpc>
                <a:spcPts val="2330"/>
              </a:lnSpc>
              <a:spcBef>
                <a:spcPts val="100"/>
              </a:spcBef>
              <a:buFont typeface="Arial MT"/>
              <a:buChar char="●"/>
              <a:tabLst>
                <a:tab pos="469900" algn="l"/>
              </a:tabLst>
            </a:pPr>
            <a:r>
              <a:rPr dirty="0" sz="2000" spc="1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20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45" b="1">
                <a:solidFill>
                  <a:srgbClr val="595959"/>
                </a:solidFill>
                <a:latin typeface="Tahoma"/>
                <a:cs typeface="Tahoma"/>
              </a:rPr>
              <a:t>dentry,</a:t>
            </a:r>
            <a:r>
              <a:rPr dirty="0" sz="2000" spc="-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20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representa</a:t>
            </a:r>
            <a:r>
              <a:rPr dirty="0" sz="20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45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20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entrada</a:t>
            </a:r>
            <a:r>
              <a:rPr dirty="0" sz="20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45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20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directorio,</a:t>
            </a:r>
            <a:r>
              <a:rPr dirty="0" sz="20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20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85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20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25">
                <a:solidFill>
                  <a:srgbClr val="595959"/>
                </a:solidFill>
                <a:latin typeface="Tahoma"/>
                <a:cs typeface="Tahoma"/>
              </a:rPr>
              <a:t>un </a:t>
            </a:r>
            <a:r>
              <a:rPr dirty="0" sz="2000" spc="-25">
                <a:solidFill>
                  <a:srgbClr val="595959"/>
                </a:solidFill>
                <a:latin typeface="Tahoma"/>
                <a:cs typeface="Tahoma"/>
              </a:rPr>
              <a:t>	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componente</a:t>
            </a:r>
            <a:r>
              <a:rPr dirty="0" sz="20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simple</a:t>
            </a:r>
            <a:r>
              <a:rPr dirty="0" sz="20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20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20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595959"/>
                </a:solidFill>
                <a:latin typeface="Tahoma"/>
                <a:cs typeface="Tahoma"/>
              </a:rPr>
              <a:t>path.</a:t>
            </a:r>
            <a:endParaRPr sz="2000">
              <a:latin typeface="Tahoma"/>
              <a:cs typeface="Tahoma"/>
            </a:endParaRPr>
          </a:p>
          <a:p>
            <a:pPr algn="just" marL="466725" indent="-382270">
              <a:lnSpc>
                <a:spcPts val="2220"/>
              </a:lnSpc>
              <a:buFont typeface="Arial MT"/>
              <a:buChar char="●"/>
              <a:tabLst>
                <a:tab pos="466725" algn="l"/>
              </a:tabLst>
            </a:pPr>
            <a:r>
              <a:rPr dirty="0" sz="2000" spc="55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20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90" b="1">
                <a:solidFill>
                  <a:srgbClr val="595959"/>
                </a:solidFill>
                <a:latin typeface="Tahoma"/>
                <a:cs typeface="Tahoma"/>
              </a:rPr>
              <a:t>file</a:t>
            </a:r>
            <a:r>
              <a:rPr dirty="0" sz="2000" spc="-11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20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representa</a:t>
            </a:r>
            <a:r>
              <a:rPr dirty="0" sz="20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3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20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20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archivo</a:t>
            </a:r>
            <a:r>
              <a:rPr dirty="0" sz="20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asociado</a:t>
            </a:r>
            <a:r>
              <a:rPr dirty="0" sz="20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3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20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20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595959"/>
                </a:solidFill>
                <a:latin typeface="Tahoma"/>
                <a:cs typeface="Tahoma"/>
              </a:rPr>
              <a:t>determinado</a:t>
            </a:r>
            <a:endParaRPr sz="2000">
              <a:latin typeface="Tahoma"/>
              <a:cs typeface="Tahoma"/>
            </a:endParaRPr>
          </a:p>
          <a:p>
            <a:pPr marL="469900">
              <a:lnSpc>
                <a:spcPts val="2365"/>
              </a:lnSpc>
            </a:pPr>
            <a:r>
              <a:rPr dirty="0" sz="2000" spc="-1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7249" y="1023225"/>
            <a:ext cx="7595074" cy="41202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40"/>
              </a:spcBef>
            </a:pPr>
            <a:r>
              <a:rPr dirty="0"/>
              <a:t>VFS:</a:t>
            </a:r>
            <a:r>
              <a:rPr dirty="0" spc="-85"/>
              <a:t> </a:t>
            </a:r>
            <a:r>
              <a:rPr dirty="0" spc="160"/>
              <a:t>Sus</a:t>
            </a:r>
            <a:r>
              <a:rPr dirty="0" spc="-85"/>
              <a:t> </a:t>
            </a:r>
            <a:r>
              <a:rPr dirty="0" spc="-10"/>
              <a:t>Objetos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5104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40"/>
              </a:spcBef>
            </a:pPr>
            <a:r>
              <a:rPr dirty="0"/>
              <a:t>VFS:</a:t>
            </a:r>
            <a:r>
              <a:rPr dirty="0" spc="-45"/>
              <a:t> </a:t>
            </a:r>
            <a:r>
              <a:rPr dirty="0" spc="60"/>
              <a:t>Operaciones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75939" y="1580371"/>
            <a:ext cx="7366634" cy="264985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367030" marR="69215" indent="-354965">
              <a:lnSpc>
                <a:spcPts val="1870"/>
              </a:lnSpc>
              <a:spcBef>
                <a:spcPts val="240"/>
              </a:spcBef>
              <a:buFont typeface="Arial MT"/>
              <a:buChar char="●"/>
              <a:tabLst>
                <a:tab pos="367030" algn="l"/>
              </a:tabLst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6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0">
                <a:solidFill>
                  <a:srgbClr val="595959"/>
                </a:solidFill>
                <a:latin typeface="Tahoma"/>
                <a:cs typeface="Tahoma"/>
              </a:rPr>
              <a:t>super_operations</a:t>
            </a:r>
            <a:r>
              <a:rPr dirty="0" sz="16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0">
                <a:solidFill>
                  <a:srgbClr val="595959"/>
                </a:solidFill>
                <a:latin typeface="Tahoma"/>
                <a:cs typeface="Tahoma"/>
              </a:rPr>
              <a:t>métodos</a:t>
            </a:r>
            <a:r>
              <a:rPr dirty="0" sz="16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0">
                <a:solidFill>
                  <a:srgbClr val="595959"/>
                </a:solidFill>
                <a:latin typeface="Tahoma"/>
                <a:cs typeface="Tahoma"/>
              </a:rPr>
              <a:t>aplica</a:t>
            </a:r>
            <a:r>
              <a:rPr dirty="0" sz="16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0">
                <a:solidFill>
                  <a:srgbClr val="595959"/>
                </a:solidFill>
                <a:latin typeface="Tahoma"/>
                <a:cs typeface="Tahoma"/>
              </a:rPr>
              <a:t>kernel</a:t>
            </a:r>
            <a:r>
              <a:rPr dirty="0" sz="16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0">
                <a:solidFill>
                  <a:srgbClr val="595959"/>
                </a:solidFill>
                <a:latin typeface="Tahoma"/>
                <a:cs typeface="Tahoma"/>
              </a:rPr>
              <a:t>sobre</a:t>
            </a:r>
            <a:r>
              <a:rPr dirty="0" sz="16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0">
                <a:solidFill>
                  <a:srgbClr val="595959"/>
                </a:solidFill>
                <a:latin typeface="Tahoma"/>
                <a:cs typeface="Tahoma"/>
              </a:rPr>
              <a:t>determinado</a:t>
            </a:r>
            <a:r>
              <a:rPr dirty="0" sz="16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sistema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archivos,</a:t>
            </a:r>
            <a:r>
              <a:rPr dirty="0" sz="16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6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ejemplo</a:t>
            </a:r>
            <a:r>
              <a:rPr dirty="0" sz="16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write_inode()</a:t>
            </a:r>
            <a:r>
              <a:rPr dirty="0" sz="16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o</a:t>
            </a:r>
            <a:r>
              <a:rPr dirty="0" sz="16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sync_fs().</a:t>
            </a:r>
            <a:endParaRPr sz="1600">
              <a:latin typeface="Tahoma"/>
              <a:cs typeface="Tahoma"/>
            </a:endParaRPr>
          </a:p>
          <a:p>
            <a:pPr marL="367030" marR="927735" indent="-354965">
              <a:lnSpc>
                <a:spcPts val="1870"/>
              </a:lnSpc>
              <a:spcBef>
                <a:spcPts val="1870"/>
              </a:spcBef>
              <a:buFont typeface="Arial MT"/>
              <a:buChar char="●"/>
              <a:tabLst>
                <a:tab pos="367030" algn="l"/>
              </a:tabLst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6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inode_operations</a:t>
            </a:r>
            <a:r>
              <a:rPr dirty="0" sz="16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métodos</a:t>
            </a:r>
            <a:r>
              <a:rPr dirty="0" sz="16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aplica</a:t>
            </a:r>
            <a:r>
              <a:rPr dirty="0" sz="16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kernel</a:t>
            </a:r>
            <a:r>
              <a:rPr dirty="0" sz="16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sobre</a:t>
            </a:r>
            <a:r>
              <a:rPr dirty="0" sz="16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archivo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determinado,</a:t>
            </a:r>
            <a:r>
              <a:rPr dirty="0" sz="16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6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ejemplo</a:t>
            </a:r>
            <a:r>
              <a:rPr dirty="0" sz="16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create()</a:t>
            </a:r>
            <a:r>
              <a:rPr dirty="0" sz="16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o</a:t>
            </a:r>
            <a:r>
              <a:rPr dirty="0" sz="16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link().</a:t>
            </a:r>
            <a:endParaRPr sz="1600">
              <a:latin typeface="Tahoma"/>
              <a:cs typeface="Tahoma"/>
            </a:endParaRPr>
          </a:p>
          <a:p>
            <a:pPr marL="367030" marR="5080" indent="-354965">
              <a:lnSpc>
                <a:spcPts val="1870"/>
              </a:lnSpc>
              <a:spcBef>
                <a:spcPts val="1870"/>
              </a:spcBef>
              <a:buFont typeface="Arial MT"/>
              <a:buChar char="●"/>
              <a:tabLst>
                <a:tab pos="367030" algn="l"/>
              </a:tabLst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6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0">
                <a:solidFill>
                  <a:srgbClr val="595959"/>
                </a:solidFill>
                <a:latin typeface="Tahoma"/>
                <a:cs typeface="Tahoma"/>
              </a:rPr>
              <a:t>dentry_operations</a:t>
            </a:r>
            <a:r>
              <a:rPr dirty="0" sz="16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0">
                <a:solidFill>
                  <a:srgbClr val="595959"/>
                </a:solidFill>
                <a:latin typeface="Tahoma"/>
                <a:cs typeface="Tahoma"/>
              </a:rPr>
              <a:t>métodos</a:t>
            </a:r>
            <a:r>
              <a:rPr dirty="0" sz="16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0">
                <a:solidFill>
                  <a:srgbClr val="595959"/>
                </a:solidFill>
                <a:latin typeface="Tahoma"/>
                <a:cs typeface="Tahoma"/>
              </a:rPr>
              <a:t>aplican</a:t>
            </a:r>
            <a:r>
              <a:rPr dirty="0" sz="16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0">
                <a:solidFill>
                  <a:srgbClr val="595959"/>
                </a:solidFill>
                <a:latin typeface="Tahoma"/>
                <a:cs typeface="Tahoma"/>
              </a:rPr>
              <a:t>directamente</a:t>
            </a:r>
            <a:r>
              <a:rPr dirty="0" sz="16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6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0">
                <a:solidFill>
                  <a:srgbClr val="595959"/>
                </a:solidFill>
                <a:latin typeface="Tahoma"/>
                <a:cs typeface="Tahoma"/>
              </a:rPr>
              <a:t>kernel</a:t>
            </a:r>
            <a:r>
              <a:rPr dirty="0" sz="16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50">
                <a:solidFill>
                  <a:srgbClr val="595959"/>
                </a:solidFill>
                <a:latin typeface="Tahoma"/>
                <a:cs typeface="Tahoma"/>
              </a:rPr>
              <a:t>a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6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determinada</a:t>
            </a:r>
            <a:r>
              <a:rPr dirty="0" sz="16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directory</a:t>
            </a:r>
            <a:r>
              <a:rPr dirty="0" sz="16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entry,</a:t>
            </a:r>
            <a:r>
              <a:rPr dirty="0" sz="16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como</a:t>
            </a:r>
            <a:r>
              <a:rPr dirty="0" sz="16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6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ejemplo,</a:t>
            </a:r>
            <a:r>
              <a:rPr dirty="0" sz="16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0">
                <a:solidFill>
                  <a:srgbClr val="595959"/>
                </a:solidFill>
                <a:latin typeface="Tahoma"/>
                <a:cs typeface="Tahoma"/>
              </a:rPr>
              <a:t>d_compare()</a:t>
            </a:r>
            <a:r>
              <a:rPr dirty="0" sz="16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6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d_delete().</a:t>
            </a:r>
            <a:endParaRPr sz="1600">
              <a:latin typeface="Tahoma"/>
              <a:cs typeface="Tahoma"/>
            </a:endParaRPr>
          </a:p>
          <a:p>
            <a:pPr marL="367030" marR="606425" indent="-354965">
              <a:lnSpc>
                <a:spcPts val="1870"/>
              </a:lnSpc>
              <a:spcBef>
                <a:spcPts val="1870"/>
              </a:spcBef>
              <a:buFont typeface="Arial MT"/>
              <a:buChar char="●"/>
              <a:tabLst>
                <a:tab pos="367030" algn="l"/>
              </a:tabLst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6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0">
                <a:solidFill>
                  <a:srgbClr val="595959"/>
                </a:solidFill>
                <a:latin typeface="Tahoma"/>
                <a:cs typeface="Tahoma"/>
              </a:rPr>
              <a:t>file_operations</a:t>
            </a:r>
            <a:r>
              <a:rPr dirty="0" sz="16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0">
                <a:solidFill>
                  <a:srgbClr val="595959"/>
                </a:solidFill>
                <a:latin typeface="Tahoma"/>
                <a:cs typeface="Tahoma"/>
              </a:rPr>
              <a:t>métodos</a:t>
            </a:r>
            <a:r>
              <a:rPr dirty="0" sz="16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0">
                <a:solidFill>
                  <a:srgbClr val="595959"/>
                </a:solidFill>
                <a:latin typeface="Tahoma"/>
                <a:cs typeface="Tahoma"/>
              </a:rPr>
              <a:t>kernel</a:t>
            </a:r>
            <a:r>
              <a:rPr dirty="0" sz="16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0">
                <a:solidFill>
                  <a:srgbClr val="595959"/>
                </a:solidFill>
                <a:latin typeface="Tahoma"/>
                <a:cs typeface="Tahoma"/>
              </a:rPr>
              <a:t>aplica</a:t>
            </a:r>
            <a:r>
              <a:rPr dirty="0" sz="16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0">
                <a:solidFill>
                  <a:srgbClr val="595959"/>
                </a:solidFill>
                <a:latin typeface="Tahoma"/>
                <a:cs typeface="Tahoma"/>
              </a:rPr>
              <a:t>directamente</a:t>
            </a:r>
            <a:r>
              <a:rPr dirty="0" sz="16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0">
                <a:solidFill>
                  <a:srgbClr val="595959"/>
                </a:solidFill>
                <a:latin typeface="Tahoma"/>
                <a:cs typeface="Tahoma"/>
              </a:rPr>
              <a:t>sobre</a:t>
            </a:r>
            <a:r>
              <a:rPr dirty="0" sz="16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un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archivo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abierto</a:t>
            </a:r>
            <a:r>
              <a:rPr dirty="0" sz="16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6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proceso,</a:t>
            </a:r>
            <a:r>
              <a:rPr dirty="0" sz="16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0">
                <a:solidFill>
                  <a:srgbClr val="595959"/>
                </a:solidFill>
                <a:latin typeface="Tahoma"/>
                <a:cs typeface="Tahoma"/>
              </a:rPr>
              <a:t>read()</a:t>
            </a:r>
            <a:r>
              <a:rPr dirty="0" sz="16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write(),</a:t>
            </a:r>
            <a:r>
              <a:rPr dirty="0" sz="16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6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ejemplo.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87595" y="4282966"/>
            <a:ext cx="301561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b="1">
                <a:solidFill>
                  <a:srgbClr val="1A1A1A"/>
                </a:solidFill>
                <a:latin typeface="Trebuchet MS"/>
                <a:cs typeface="Trebuchet MS"/>
              </a:rPr>
              <a:t>VFS:</a:t>
            </a:r>
            <a:r>
              <a:rPr dirty="0" sz="2800" spc="-175" b="1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2800" spc="50" b="1">
                <a:solidFill>
                  <a:srgbClr val="1A1A1A"/>
                </a:solidFill>
                <a:latin typeface="Trebuchet MS"/>
                <a:cs typeface="Trebuchet MS"/>
              </a:rPr>
              <a:t>Operaciones</a:t>
            </a:r>
            <a:endParaRPr sz="2800">
              <a:latin typeface="Trebuchet MS"/>
              <a:cs typeface="Trebuchet MS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43450" y="0"/>
            <a:ext cx="3361517" cy="5143499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1A99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830389" y="1191259"/>
            <a:ext cx="746125" cy="46355"/>
          </a:xfrm>
          <a:custGeom>
            <a:avLst/>
            <a:gdLst/>
            <a:ahLst/>
            <a:cxnLst/>
            <a:rect l="l" t="t" r="r" b="b"/>
            <a:pathLst>
              <a:path w="746125" h="46355">
                <a:moveTo>
                  <a:pt x="745756" y="0"/>
                </a:moveTo>
                <a:lnTo>
                  <a:pt x="376008" y="0"/>
                </a:lnTo>
                <a:lnTo>
                  <a:pt x="372897" y="0"/>
                </a:lnTo>
                <a:lnTo>
                  <a:pt x="0" y="0"/>
                </a:lnTo>
                <a:lnTo>
                  <a:pt x="0" y="45834"/>
                </a:lnTo>
                <a:lnTo>
                  <a:pt x="372897" y="45834"/>
                </a:lnTo>
                <a:lnTo>
                  <a:pt x="376008" y="45834"/>
                </a:lnTo>
                <a:lnTo>
                  <a:pt x="745756" y="45834"/>
                </a:lnTo>
                <a:lnTo>
                  <a:pt x="74575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02475" y="1377186"/>
            <a:ext cx="264287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55">
                <a:solidFill>
                  <a:srgbClr val="FFFFFF"/>
                </a:solidFill>
              </a:rPr>
              <a:t>Dispositivos</a:t>
            </a:r>
            <a:endParaRPr sz="3600"/>
          </a:p>
        </p:txBody>
      </p:sp>
      <p:sp>
        <p:nvSpPr>
          <p:cNvPr id="5" name="object 5" descr=""/>
          <p:cNvSpPr txBox="1"/>
          <p:nvPr/>
        </p:nvSpPr>
        <p:spPr>
          <a:xfrm>
            <a:off x="913550" y="3201581"/>
            <a:ext cx="4309745" cy="1671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60" b="1">
                <a:solidFill>
                  <a:srgbClr val="FFFFFF"/>
                </a:solidFill>
                <a:latin typeface="Trebuchet MS"/>
                <a:cs typeface="Trebuchet MS"/>
              </a:rPr>
              <a:t>Conceptos</a:t>
            </a:r>
            <a:r>
              <a:rPr dirty="0" sz="1800" spc="-11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Trebuchet MS"/>
                <a:cs typeface="Trebuchet MS"/>
              </a:rPr>
              <a:t>clave: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Drivers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800" spc="45">
                <a:solidFill>
                  <a:srgbClr val="FFFFFF"/>
                </a:solidFill>
                <a:latin typeface="Trebuchet MS"/>
                <a:cs typeface="Trebuchet MS"/>
              </a:rPr>
              <a:t>/dev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Dispositivos</a:t>
            </a:r>
            <a:r>
              <a:rPr dirty="0" sz="18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85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8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70">
                <a:solidFill>
                  <a:srgbClr val="FFFFFF"/>
                </a:solidFill>
                <a:latin typeface="Trebuchet MS"/>
                <a:cs typeface="Trebuchet MS"/>
              </a:rPr>
              <a:t>bloque</a:t>
            </a:r>
            <a:r>
              <a:rPr dirty="0" sz="180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75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dirty="0" sz="1800" spc="-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85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8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caracter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800" spc="95">
                <a:solidFill>
                  <a:srgbClr val="FFFFFF"/>
                </a:solidFill>
                <a:latin typeface="Trebuchet MS"/>
                <a:cs typeface="Trebuchet MS"/>
              </a:rPr>
              <a:t>mknod</a:t>
            </a:r>
            <a:r>
              <a:rPr dirty="0" sz="1800" spc="-1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75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dirty="0" sz="1800" spc="-1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45">
                <a:solidFill>
                  <a:srgbClr val="FFFFFF"/>
                </a:solidFill>
                <a:latin typeface="Trebuchet MS"/>
                <a:cs typeface="Trebuchet MS"/>
              </a:rPr>
              <a:t>mount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800" spc="60">
                <a:solidFill>
                  <a:srgbClr val="FFFFFF"/>
                </a:solidFill>
                <a:latin typeface="Trebuchet MS"/>
                <a:cs typeface="Trebuchet MS"/>
              </a:rPr>
              <a:t>Sistemas</a:t>
            </a:r>
            <a:r>
              <a:rPr dirty="0" sz="18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85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 archivos</a:t>
            </a:r>
            <a:r>
              <a:rPr dirty="0" sz="180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virtuales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1454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140"/>
              </a:spcBef>
            </a:pPr>
            <a:r>
              <a:rPr dirty="0"/>
              <a:t>Estructura</a:t>
            </a:r>
            <a:r>
              <a:rPr dirty="0" spc="-45"/>
              <a:t> </a:t>
            </a:r>
            <a:r>
              <a:rPr dirty="0" spc="70"/>
              <a:t>para</a:t>
            </a:r>
            <a:r>
              <a:rPr dirty="0" spc="-40"/>
              <a:t> </a:t>
            </a:r>
            <a:r>
              <a:rPr dirty="0" spc="70"/>
              <a:t>el</a:t>
            </a:r>
            <a:r>
              <a:rPr dirty="0" spc="-110"/>
              <a:t> </a:t>
            </a:r>
            <a:r>
              <a:rPr dirty="0" spc="114"/>
              <a:t>acceso</a:t>
            </a:r>
            <a:r>
              <a:rPr dirty="0" spc="-45"/>
              <a:t> </a:t>
            </a:r>
            <a:r>
              <a:rPr dirty="0" spc="110"/>
              <a:t>a</a:t>
            </a:r>
            <a:r>
              <a:rPr dirty="0" spc="-40"/>
              <a:t> </a:t>
            </a:r>
            <a:r>
              <a:rPr dirty="0" spc="50"/>
              <a:t>dispositivos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23493" y="1449587"/>
            <a:ext cx="4418575" cy="333092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809833" y="2112146"/>
            <a:ext cx="3018790" cy="1808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0360" marR="5080" indent="-328295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340360" algn="l"/>
              </a:tabLst>
            </a:pP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3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dispositivos</a:t>
            </a:r>
            <a:r>
              <a:rPr dirty="0" sz="13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3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representan</a:t>
            </a:r>
            <a:r>
              <a:rPr dirty="0" sz="13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como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archivos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especiales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tipo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DEVICE</a:t>
            </a:r>
            <a:endParaRPr sz="1300">
              <a:latin typeface="Tahoma"/>
              <a:cs typeface="Tahoma"/>
            </a:endParaRPr>
          </a:p>
          <a:p>
            <a:pPr marL="340360" marR="128270" indent="-328295">
              <a:lnSpc>
                <a:spcPct val="100000"/>
              </a:lnSpc>
              <a:buFont typeface="Arial MT"/>
              <a:buChar char="●"/>
              <a:tabLst>
                <a:tab pos="340360" algn="l"/>
              </a:tabLst>
            </a:pPr>
            <a:r>
              <a:rPr dirty="0" sz="1300" spc="-3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3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usan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mismas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system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calls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que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operar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archivos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normales</a:t>
            </a:r>
            <a:endParaRPr sz="1300">
              <a:latin typeface="Tahoma"/>
              <a:cs typeface="Tahoma"/>
            </a:endParaRPr>
          </a:p>
          <a:p>
            <a:pPr marL="340360" marR="260985" indent="-328295">
              <a:lnSpc>
                <a:spcPct val="100000"/>
              </a:lnSpc>
              <a:buFont typeface="Arial MT"/>
              <a:buChar char="●"/>
              <a:tabLst>
                <a:tab pos="340360" algn="l"/>
              </a:tabLst>
            </a:pP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VFS</a:t>
            </a:r>
            <a:r>
              <a:rPr dirty="0" sz="13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interactua</a:t>
            </a:r>
            <a:r>
              <a:rPr dirty="0" sz="13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3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3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capa</a:t>
            </a:r>
            <a:r>
              <a:rPr dirty="0" sz="13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de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Drivers</a:t>
            </a:r>
            <a:endParaRPr sz="1300">
              <a:latin typeface="Tahoma"/>
              <a:cs typeface="Tahoma"/>
            </a:endParaRPr>
          </a:p>
          <a:p>
            <a:pPr marL="340360" marR="43815" indent="-328295">
              <a:lnSpc>
                <a:spcPct val="100000"/>
              </a:lnSpc>
              <a:buFont typeface="Arial MT"/>
              <a:buChar char="●"/>
              <a:tabLst>
                <a:tab pos="340360" algn="l"/>
              </a:tabLst>
            </a:pP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Drivers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son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implementan las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operaciones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bajo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nivel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que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interactuan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hardware.</a:t>
            </a:r>
            <a:endParaRPr sz="1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6629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40"/>
              </a:spcBef>
            </a:pPr>
            <a:r>
              <a:rPr dirty="0" spc="75"/>
              <a:t>El</a:t>
            </a:r>
            <a:r>
              <a:rPr dirty="0" spc="-105"/>
              <a:t> </a:t>
            </a:r>
            <a:r>
              <a:rPr dirty="0"/>
              <a:t>directorio</a:t>
            </a:r>
            <a:r>
              <a:rPr dirty="0" spc="-30"/>
              <a:t> </a:t>
            </a:r>
            <a:r>
              <a:rPr dirty="0" spc="195"/>
              <a:t>/dev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2475" y="1475704"/>
            <a:ext cx="7261859" cy="2661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general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dispositivos</a:t>
            </a:r>
            <a:r>
              <a:rPr dirty="0" sz="15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cargan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como</a:t>
            </a:r>
            <a:r>
              <a:rPr dirty="0" sz="15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archivos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especiales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5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directorio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595959"/>
                </a:solidFill>
                <a:latin typeface="Tahoma"/>
                <a:cs typeface="Tahoma"/>
              </a:rPr>
              <a:t>/dev</a:t>
            </a: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70"/>
              </a:spcBef>
            </a:pP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Ejemplos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dispositivos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encuentran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ahí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60">
                <a:solidFill>
                  <a:srgbClr val="595959"/>
                </a:solidFill>
                <a:latin typeface="Tahoma"/>
                <a:cs typeface="Tahoma"/>
              </a:rPr>
              <a:t>(se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pueden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listar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595959"/>
                </a:solidFill>
                <a:latin typeface="Tahoma"/>
                <a:cs typeface="Tahoma"/>
              </a:rPr>
              <a:t>ls):</a:t>
            </a:r>
            <a:endParaRPr sz="1500">
              <a:latin typeface="Tahoma"/>
              <a:cs typeface="Tahoma"/>
            </a:endParaRPr>
          </a:p>
          <a:p>
            <a:pPr marL="469265" indent="-343535">
              <a:lnSpc>
                <a:spcPct val="100000"/>
              </a:lnSpc>
              <a:spcBef>
                <a:spcPts val="1470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500" spc="-185" b="1">
                <a:solidFill>
                  <a:srgbClr val="595959"/>
                </a:solidFill>
                <a:latin typeface="Tahoma"/>
                <a:cs typeface="Tahoma"/>
              </a:rPr>
              <a:t>/dev/sda:</a:t>
            </a:r>
            <a:r>
              <a:rPr dirty="0" sz="1500" spc="-9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5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primer</a:t>
            </a:r>
            <a:r>
              <a:rPr dirty="0" sz="15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disco</a:t>
            </a:r>
            <a:r>
              <a:rPr dirty="0" sz="15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duro</a:t>
            </a:r>
            <a:r>
              <a:rPr dirty="0" sz="15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5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5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sistema.</a:t>
            </a:r>
            <a:endParaRPr sz="1500">
              <a:latin typeface="Tahoma"/>
              <a:cs typeface="Tahoma"/>
            </a:endParaRPr>
          </a:p>
          <a:p>
            <a:pPr marL="469265" indent="-343535">
              <a:lnSpc>
                <a:spcPct val="100000"/>
              </a:lnSpc>
              <a:spcBef>
                <a:spcPts val="270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500" spc="-175" b="1">
                <a:solidFill>
                  <a:srgbClr val="595959"/>
                </a:solidFill>
                <a:latin typeface="Tahoma"/>
                <a:cs typeface="Tahoma"/>
              </a:rPr>
              <a:t>/dev/sda1:</a:t>
            </a:r>
            <a:r>
              <a:rPr dirty="0" sz="1500" spc="-6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5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primera</a:t>
            </a:r>
            <a:r>
              <a:rPr dirty="0" sz="15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partición</a:t>
            </a:r>
            <a:r>
              <a:rPr dirty="0" sz="15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5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primer</a:t>
            </a:r>
            <a:r>
              <a:rPr dirty="0" sz="15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disco</a:t>
            </a:r>
            <a:r>
              <a:rPr dirty="0" sz="15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duro.</a:t>
            </a:r>
            <a:endParaRPr sz="1500">
              <a:latin typeface="Tahoma"/>
              <a:cs typeface="Tahoma"/>
            </a:endParaRPr>
          </a:p>
          <a:p>
            <a:pPr marL="469265" indent="-343535">
              <a:lnSpc>
                <a:spcPct val="100000"/>
              </a:lnSpc>
              <a:spcBef>
                <a:spcPts val="270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500" spc="-155" b="1">
                <a:solidFill>
                  <a:srgbClr val="595959"/>
                </a:solidFill>
                <a:latin typeface="Tahoma"/>
                <a:cs typeface="Tahoma"/>
              </a:rPr>
              <a:t>/dev/ttyS0:</a:t>
            </a:r>
            <a:r>
              <a:rPr dirty="0" sz="1500" spc="-9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5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puerto</a:t>
            </a:r>
            <a:r>
              <a:rPr dirty="0" sz="15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serie</a:t>
            </a:r>
            <a:r>
              <a:rPr dirty="0" sz="15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40">
                <a:solidFill>
                  <a:srgbClr val="595959"/>
                </a:solidFill>
                <a:latin typeface="Tahoma"/>
                <a:cs typeface="Tahoma"/>
              </a:rPr>
              <a:t>(como</a:t>
            </a:r>
            <a:r>
              <a:rPr dirty="0" sz="15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5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puerto</a:t>
            </a:r>
            <a:r>
              <a:rPr dirty="0" sz="15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155">
                <a:solidFill>
                  <a:srgbClr val="595959"/>
                </a:solidFill>
                <a:latin typeface="Tahoma"/>
                <a:cs typeface="Tahoma"/>
              </a:rPr>
              <a:t>COM</a:t>
            </a:r>
            <a:r>
              <a:rPr dirty="0" sz="15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5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sistemas</a:t>
            </a:r>
            <a:r>
              <a:rPr dirty="0" sz="15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Windows).</a:t>
            </a:r>
            <a:endParaRPr sz="1500">
              <a:latin typeface="Tahoma"/>
              <a:cs typeface="Tahoma"/>
            </a:endParaRPr>
          </a:p>
          <a:p>
            <a:pPr marL="469900" marR="5080" indent="-344170">
              <a:lnSpc>
                <a:spcPct val="114999"/>
              </a:lnSpc>
              <a:buFont typeface="Arial MT"/>
              <a:buChar char="●"/>
              <a:tabLst>
                <a:tab pos="469900" algn="l"/>
              </a:tabLst>
            </a:pPr>
            <a:r>
              <a:rPr dirty="0" sz="1500" spc="-150" b="1">
                <a:solidFill>
                  <a:srgbClr val="595959"/>
                </a:solidFill>
                <a:latin typeface="Tahoma"/>
                <a:cs typeface="Tahoma"/>
              </a:rPr>
              <a:t>/dev/loop0:</a:t>
            </a:r>
            <a:r>
              <a:rPr dirty="0" sz="1500" spc="-9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dispositivo</a:t>
            </a:r>
            <a:r>
              <a:rPr dirty="0" sz="15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bucle</a:t>
            </a:r>
            <a:r>
              <a:rPr dirty="0" sz="15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permite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tratar</a:t>
            </a:r>
            <a:r>
              <a:rPr dirty="0" sz="15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archivo</a:t>
            </a:r>
            <a:r>
              <a:rPr dirty="0" sz="15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como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5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fuera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un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disco.</a:t>
            </a:r>
            <a:endParaRPr sz="1500">
              <a:latin typeface="Tahoma"/>
              <a:cs typeface="Tahoma"/>
            </a:endParaRPr>
          </a:p>
          <a:p>
            <a:pPr marL="469265" indent="-343535">
              <a:lnSpc>
                <a:spcPct val="100000"/>
              </a:lnSpc>
              <a:spcBef>
                <a:spcPts val="270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500" spc="-165" b="1">
                <a:solidFill>
                  <a:srgbClr val="595959"/>
                </a:solidFill>
                <a:latin typeface="Tahoma"/>
                <a:cs typeface="Tahoma"/>
              </a:rPr>
              <a:t>/dev/null:</a:t>
            </a:r>
            <a:r>
              <a:rPr dirty="0" sz="1500" spc="-11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"dispositivo"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descarta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cualquier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dato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le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escriba.</a:t>
            </a:r>
            <a:endParaRPr sz="1500">
              <a:latin typeface="Tahoma"/>
              <a:cs typeface="Tahoma"/>
            </a:endParaRPr>
          </a:p>
          <a:p>
            <a:pPr marL="469265" indent="-343535">
              <a:lnSpc>
                <a:spcPct val="100000"/>
              </a:lnSpc>
              <a:spcBef>
                <a:spcPts val="270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500" spc="-165" b="1">
                <a:solidFill>
                  <a:srgbClr val="595959"/>
                </a:solidFill>
                <a:latin typeface="Tahoma"/>
                <a:cs typeface="Tahoma"/>
              </a:rPr>
              <a:t>/dev/random:</a:t>
            </a:r>
            <a:r>
              <a:rPr dirty="0" sz="1500" spc="-8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Proveedor</a:t>
            </a:r>
            <a:r>
              <a:rPr dirty="0" sz="15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números</a:t>
            </a:r>
            <a:r>
              <a:rPr dirty="0" sz="15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aleatorios.</a:t>
            </a:r>
            <a:endParaRPr sz="1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2475" y="1379787"/>
            <a:ext cx="2993390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65"/>
              <a:t>Tipos</a:t>
            </a:r>
            <a:r>
              <a:rPr dirty="0" spc="-125"/>
              <a:t> </a:t>
            </a:r>
            <a:r>
              <a:rPr dirty="0" spc="114"/>
              <a:t>de</a:t>
            </a:r>
            <a:r>
              <a:rPr dirty="0" spc="-120"/>
              <a:t> </a:t>
            </a:r>
            <a:r>
              <a:rPr dirty="0" spc="50"/>
              <a:t>dispositivos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2475" y="2107195"/>
            <a:ext cx="7529830" cy="2012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Existen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dos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tipos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fundamentales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dispositivos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Unix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pueden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vincular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como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nodos</a:t>
            </a:r>
            <a:r>
              <a:rPr dirty="0" sz="16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dirty="0" sz="16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filesystem.</a:t>
            </a:r>
            <a:endParaRPr sz="1600">
              <a:latin typeface="Tahoma"/>
              <a:cs typeface="Tahoma"/>
            </a:endParaRPr>
          </a:p>
          <a:p>
            <a:pPr marL="469265" indent="-351155">
              <a:lnSpc>
                <a:spcPct val="100000"/>
              </a:lnSpc>
              <a:spcBef>
                <a:spcPts val="1485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Dispositivos</a:t>
            </a:r>
            <a:r>
              <a:rPr dirty="0" sz="16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bloque</a:t>
            </a:r>
            <a:endParaRPr sz="1600">
              <a:latin typeface="Tahoma"/>
              <a:cs typeface="Tahoma"/>
            </a:endParaRPr>
          </a:p>
          <a:p>
            <a:pPr marL="469265" indent="-351155">
              <a:lnSpc>
                <a:spcPct val="100000"/>
              </a:lnSpc>
              <a:spcBef>
                <a:spcPts val="290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Dispositivos</a:t>
            </a:r>
            <a:r>
              <a:rPr dirty="0" sz="16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caracter</a:t>
            </a:r>
            <a:endParaRPr sz="1600">
              <a:latin typeface="Tahoma"/>
              <a:cs typeface="Tahoma"/>
            </a:endParaRPr>
          </a:p>
          <a:p>
            <a:pPr marL="12700" marR="621665">
              <a:lnSpc>
                <a:spcPct val="114999"/>
              </a:lnSpc>
              <a:spcBef>
                <a:spcPts val="1200"/>
              </a:spcBef>
            </a:pPr>
            <a:r>
              <a:rPr dirty="0" sz="1600" spc="-90" i="1">
                <a:solidFill>
                  <a:srgbClr val="595959"/>
                </a:solidFill>
                <a:latin typeface="Trebuchet MS"/>
                <a:cs typeface="Trebuchet MS"/>
              </a:rPr>
              <a:t>Nota:</a:t>
            </a:r>
            <a:r>
              <a:rPr dirty="0" sz="1600" spc="-145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100" i="1">
                <a:solidFill>
                  <a:srgbClr val="595959"/>
                </a:solidFill>
                <a:latin typeface="Trebuchet MS"/>
                <a:cs typeface="Trebuchet MS"/>
              </a:rPr>
              <a:t>existen</a:t>
            </a:r>
            <a:r>
              <a:rPr dirty="0" sz="1600" spc="-140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85" i="1">
                <a:solidFill>
                  <a:srgbClr val="595959"/>
                </a:solidFill>
                <a:latin typeface="Trebuchet MS"/>
                <a:cs typeface="Trebuchet MS"/>
              </a:rPr>
              <a:t>también</a:t>
            </a:r>
            <a:r>
              <a:rPr dirty="0" sz="1600" spc="-145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80" i="1">
                <a:solidFill>
                  <a:srgbClr val="595959"/>
                </a:solidFill>
                <a:latin typeface="Trebuchet MS"/>
                <a:cs typeface="Trebuchet MS"/>
              </a:rPr>
              <a:t>los</a:t>
            </a:r>
            <a:r>
              <a:rPr dirty="0" sz="1600" spc="-140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75" i="1">
                <a:solidFill>
                  <a:srgbClr val="595959"/>
                </a:solidFill>
                <a:latin typeface="Trebuchet MS"/>
                <a:cs typeface="Trebuchet MS"/>
              </a:rPr>
              <a:t>dispositivos</a:t>
            </a:r>
            <a:r>
              <a:rPr dirty="0" sz="1600" spc="-145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95" i="1">
                <a:solidFill>
                  <a:srgbClr val="595959"/>
                </a:solidFill>
                <a:latin typeface="Trebuchet MS"/>
                <a:cs typeface="Trebuchet MS"/>
              </a:rPr>
              <a:t>de</a:t>
            </a:r>
            <a:r>
              <a:rPr dirty="0" sz="1600" spc="-140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150" i="1">
                <a:solidFill>
                  <a:srgbClr val="595959"/>
                </a:solidFill>
                <a:latin typeface="Trebuchet MS"/>
                <a:cs typeface="Trebuchet MS"/>
              </a:rPr>
              <a:t>red,</a:t>
            </a:r>
            <a:r>
              <a:rPr dirty="0" sz="1600" spc="-140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95" i="1">
                <a:solidFill>
                  <a:srgbClr val="595959"/>
                </a:solidFill>
                <a:latin typeface="Trebuchet MS"/>
                <a:cs typeface="Trebuchet MS"/>
              </a:rPr>
              <a:t>que</a:t>
            </a:r>
            <a:r>
              <a:rPr dirty="0" sz="1600" spc="-145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60" i="1">
                <a:solidFill>
                  <a:srgbClr val="595959"/>
                </a:solidFill>
                <a:latin typeface="Trebuchet MS"/>
                <a:cs typeface="Trebuchet MS"/>
              </a:rPr>
              <a:t>no</a:t>
            </a:r>
            <a:r>
              <a:rPr dirty="0" sz="1600" spc="-140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90" i="1">
                <a:solidFill>
                  <a:srgbClr val="595959"/>
                </a:solidFill>
                <a:latin typeface="Trebuchet MS"/>
                <a:cs typeface="Trebuchet MS"/>
              </a:rPr>
              <a:t>se</a:t>
            </a:r>
            <a:r>
              <a:rPr dirty="0" sz="1600" spc="-145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60" i="1">
                <a:solidFill>
                  <a:srgbClr val="595959"/>
                </a:solidFill>
                <a:latin typeface="Trebuchet MS"/>
                <a:cs typeface="Trebuchet MS"/>
              </a:rPr>
              <a:t>vinculan</a:t>
            </a:r>
            <a:r>
              <a:rPr dirty="0" sz="1600" spc="-140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55" i="1">
                <a:solidFill>
                  <a:srgbClr val="595959"/>
                </a:solidFill>
                <a:latin typeface="Trebuchet MS"/>
                <a:cs typeface="Trebuchet MS"/>
              </a:rPr>
              <a:t>con</a:t>
            </a:r>
            <a:r>
              <a:rPr dirty="0" sz="1600" spc="-145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140" i="1">
                <a:solidFill>
                  <a:srgbClr val="595959"/>
                </a:solidFill>
                <a:latin typeface="Trebuchet MS"/>
                <a:cs typeface="Trebuchet MS"/>
              </a:rPr>
              <a:t>el </a:t>
            </a:r>
            <a:r>
              <a:rPr dirty="0" sz="1600" spc="-110" i="1">
                <a:solidFill>
                  <a:srgbClr val="595959"/>
                </a:solidFill>
                <a:latin typeface="Trebuchet MS"/>
                <a:cs typeface="Trebuchet MS"/>
              </a:rPr>
              <a:t>filesystem</a:t>
            </a:r>
            <a:r>
              <a:rPr dirty="0" sz="1600" spc="-140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45" i="1">
                <a:solidFill>
                  <a:srgbClr val="595959"/>
                </a:solidFill>
                <a:latin typeface="Trebuchet MS"/>
                <a:cs typeface="Trebuchet MS"/>
              </a:rPr>
              <a:t>del </a:t>
            </a:r>
            <a:r>
              <a:rPr dirty="0" sz="1600" spc="-10" i="1">
                <a:solidFill>
                  <a:srgbClr val="595959"/>
                </a:solidFill>
                <a:latin typeface="Trebuchet MS"/>
                <a:cs typeface="Trebuchet MS"/>
              </a:rPr>
              <a:t>sistema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185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60"/>
              <a:t>Dispositivos</a:t>
            </a:r>
            <a:r>
              <a:rPr dirty="0" spc="25"/>
              <a:t> </a:t>
            </a:r>
            <a:r>
              <a:rPr dirty="0" spc="114"/>
              <a:t>de</a:t>
            </a:r>
            <a:r>
              <a:rPr dirty="0" spc="25"/>
              <a:t> </a:t>
            </a:r>
            <a:r>
              <a:rPr dirty="0"/>
              <a:t>carácter</a:t>
            </a:r>
            <a:r>
              <a:rPr dirty="0" spc="-35"/>
              <a:t> </a:t>
            </a:r>
            <a:r>
              <a:rPr dirty="0"/>
              <a:t>(character</a:t>
            </a:r>
            <a:r>
              <a:rPr dirty="0" spc="-40"/>
              <a:t> </a:t>
            </a:r>
            <a:r>
              <a:rPr dirty="0" spc="40"/>
              <a:t>devices)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0675" y="1456615"/>
            <a:ext cx="7675880" cy="3111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dispositivos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carácter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permiten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transferencia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datos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byte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byte.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Estos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dispositivos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almacenan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datos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595959"/>
                </a:solidFill>
                <a:latin typeface="Tahoma"/>
                <a:cs typeface="Tahoma"/>
              </a:rPr>
              <a:t>bloques,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sino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transmiten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información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carácter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595959"/>
                </a:solidFill>
                <a:latin typeface="Tahoma"/>
                <a:cs typeface="Tahoma"/>
              </a:rPr>
              <a:t>carácter,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lo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hace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adecuados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dispositivos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requieren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procesamiento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grandes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cantidades</a:t>
            </a:r>
            <a:r>
              <a:rPr dirty="0" sz="15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datos</a:t>
            </a:r>
            <a:r>
              <a:rPr dirty="0" sz="15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5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sola</a:t>
            </a:r>
            <a:r>
              <a:rPr dirty="0" sz="15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595959"/>
                </a:solidFill>
                <a:latin typeface="Tahoma"/>
                <a:cs typeface="Tahoma"/>
              </a:rPr>
              <a:t>vez.</a:t>
            </a: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70"/>
              </a:spcBef>
            </a:pP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Ejemplos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dispositivos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carácter:</a:t>
            </a:r>
            <a:endParaRPr sz="1500">
              <a:latin typeface="Tahoma"/>
              <a:cs typeface="Tahoma"/>
            </a:endParaRPr>
          </a:p>
          <a:p>
            <a:pPr marL="469265" indent="-343535">
              <a:lnSpc>
                <a:spcPct val="100000"/>
              </a:lnSpc>
              <a:spcBef>
                <a:spcPts val="1470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500" spc="-20">
                <a:solidFill>
                  <a:srgbClr val="595959"/>
                </a:solidFill>
                <a:latin typeface="Tahoma"/>
                <a:cs typeface="Tahoma"/>
              </a:rPr>
              <a:t>Terminales</a:t>
            </a:r>
            <a:r>
              <a:rPr dirty="0" sz="15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40">
                <a:solidFill>
                  <a:srgbClr val="595959"/>
                </a:solidFill>
                <a:latin typeface="Tahoma"/>
                <a:cs typeface="Tahoma"/>
              </a:rPr>
              <a:t>(como</a:t>
            </a:r>
            <a:r>
              <a:rPr dirty="0" sz="15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consolas</a:t>
            </a:r>
            <a:r>
              <a:rPr dirty="0" sz="15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o</a:t>
            </a:r>
            <a:r>
              <a:rPr dirty="0" sz="15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dispositivos</a:t>
            </a:r>
            <a:r>
              <a:rPr dirty="0" sz="15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595959"/>
                </a:solidFill>
                <a:latin typeface="Tahoma"/>
                <a:cs typeface="Tahoma"/>
              </a:rPr>
              <a:t>tty)</a:t>
            </a:r>
            <a:endParaRPr sz="1500">
              <a:latin typeface="Tahoma"/>
              <a:cs typeface="Tahoma"/>
            </a:endParaRPr>
          </a:p>
          <a:p>
            <a:pPr marL="469265" indent="-343535">
              <a:lnSpc>
                <a:spcPct val="100000"/>
              </a:lnSpc>
              <a:spcBef>
                <a:spcPts val="270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Puertos</a:t>
            </a:r>
            <a:r>
              <a:rPr dirty="0" sz="15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serie</a:t>
            </a:r>
            <a:r>
              <a:rPr dirty="0" sz="15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40">
                <a:solidFill>
                  <a:srgbClr val="595959"/>
                </a:solidFill>
                <a:latin typeface="Tahoma"/>
                <a:cs typeface="Tahoma"/>
              </a:rPr>
              <a:t>(para</a:t>
            </a:r>
            <a:r>
              <a:rPr dirty="0" sz="15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dispositivos</a:t>
            </a:r>
            <a:r>
              <a:rPr dirty="0" sz="15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como</a:t>
            </a:r>
            <a:r>
              <a:rPr dirty="0" sz="15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ratones</a:t>
            </a:r>
            <a:r>
              <a:rPr dirty="0" sz="15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o</a:t>
            </a:r>
            <a:r>
              <a:rPr dirty="0" sz="15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modems)</a:t>
            </a:r>
            <a:endParaRPr sz="1500">
              <a:latin typeface="Tahoma"/>
              <a:cs typeface="Tahoma"/>
            </a:endParaRPr>
          </a:p>
          <a:p>
            <a:pPr marL="469265" indent="-343535">
              <a:lnSpc>
                <a:spcPct val="100000"/>
              </a:lnSpc>
              <a:spcBef>
                <a:spcPts val="270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Impresoras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tipo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línea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línea</a:t>
            </a:r>
            <a:endParaRPr sz="1500">
              <a:latin typeface="Tahoma"/>
              <a:cs typeface="Tahoma"/>
            </a:endParaRPr>
          </a:p>
          <a:p>
            <a:pPr marL="12700" marR="235585">
              <a:lnSpc>
                <a:spcPct val="114999"/>
              </a:lnSpc>
              <a:spcBef>
                <a:spcPts val="1200"/>
              </a:spcBef>
            </a:pP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30">
                <a:solidFill>
                  <a:srgbClr val="595959"/>
                </a:solidFill>
                <a:latin typeface="Tahoma"/>
                <a:cs typeface="Tahoma"/>
              </a:rPr>
              <a:t>sistema,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estos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dispositivos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suelen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encontrarse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75">
                <a:solidFill>
                  <a:srgbClr val="595959"/>
                </a:solidFill>
                <a:latin typeface="Tahoma"/>
                <a:cs typeface="Tahoma"/>
              </a:rPr>
              <a:t>/dev,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nombres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como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/dev/ttyS0 para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puerto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serie.</a:t>
            </a:r>
            <a:endParaRPr sz="1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9030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40"/>
              </a:spcBef>
            </a:pPr>
            <a:r>
              <a:rPr dirty="0" spc="60"/>
              <a:t>Dispositivos</a:t>
            </a:r>
            <a:r>
              <a:rPr dirty="0" spc="-114"/>
              <a:t> </a:t>
            </a:r>
            <a:r>
              <a:rPr dirty="0" spc="114"/>
              <a:t>de</a:t>
            </a:r>
            <a:r>
              <a:rPr dirty="0" spc="-120"/>
              <a:t> </a:t>
            </a:r>
            <a:r>
              <a:rPr dirty="0" spc="95"/>
              <a:t>bloque</a:t>
            </a:r>
            <a:r>
              <a:rPr dirty="0" spc="-114"/>
              <a:t> </a:t>
            </a:r>
            <a:r>
              <a:rPr dirty="0" spc="55"/>
              <a:t>(block</a:t>
            </a:r>
            <a:r>
              <a:rPr dirty="0" spc="-114"/>
              <a:t> </a:t>
            </a:r>
            <a:r>
              <a:rPr dirty="0" spc="40"/>
              <a:t>devices)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2475" y="1388240"/>
            <a:ext cx="7388225" cy="3111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dispositivos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bloque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permiten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transferencia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datos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bloques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tamaño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595959"/>
                </a:solidFill>
                <a:latin typeface="Tahoma"/>
                <a:cs typeface="Tahoma"/>
              </a:rPr>
              <a:t>fijo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(normalmente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varios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40">
                <a:solidFill>
                  <a:srgbClr val="595959"/>
                </a:solidFill>
                <a:latin typeface="Tahoma"/>
                <a:cs typeface="Tahoma"/>
              </a:rPr>
              <a:t>bytes).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Este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tipo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dispositivo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adecuado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hardware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que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requiere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acceso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grandes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cantidades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datos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forma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eficiente,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como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sistemas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de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almacenamiento.</a:t>
            </a: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70"/>
              </a:spcBef>
            </a:pP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Ejemplos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dispositivos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bloque:</a:t>
            </a:r>
            <a:endParaRPr sz="1500">
              <a:latin typeface="Tahoma"/>
              <a:cs typeface="Tahoma"/>
            </a:endParaRPr>
          </a:p>
          <a:p>
            <a:pPr marL="469265" indent="-343535">
              <a:lnSpc>
                <a:spcPct val="100000"/>
              </a:lnSpc>
              <a:spcBef>
                <a:spcPts val="1470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Discos</a:t>
            </a:r>
            <a:r>
              <a:rPr dirty="0" sz="15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duros</a:t>
            </a:r>
            <a:endParaRPr sz="1500">
              <a:latin typeface="Tahoma"/>
              <a:cs typeface="Tahoma"/>
            </a:endParaRPr>
          </a:p>
          <a:p>
            <a:pPr marL="469265" indent="-343535">
              <a:lnSpc>
                <a:spcPct val="100000"/>
              </a:lnSpc>
              <a:spcBef>
                <a:spcPts val="270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Unidades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estado</a:t>
            </a:r>
            <a:r>
              <a:rPr dirty="0" sz="15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sólido</a:t>
            </a:r>
            <a:r>
              <a:rPr dirty="0" sz="15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(SSD)</a:t>
            </a:r>
            <a:endParaRPr sz="1500">
              <a:latin typeface="Tahoma"/>
              <a:cs typeface="Tahoma"/>
            </a:endParaRPr>
          </a:p>
          <a:p>
            <a:pPr marL="469265" indent="-343535">
              <a:lnSpc>
                <a:spcPct val="100000"/>
              </a:lnSpc>
              <a:spcBef>
                <a:spcPts val="270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Memorias</a:t>
            </a:r>
            <a:r>
              <a:rPr dirty="0" sz="1500" spc="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USB</a:t>
            </a: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70"/>
              </a:spcBef>
            </a:pP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30">
                <a:solidFill>
                  <a:srgbClr val="595959"/>
                </a:solidFill>
                <a:latin typeface="Tahoma"/>
                <a:cs typeface="Tahoma"/>
              </a:rPr>
              <a:t>sistema,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estos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dispositivos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también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encuentran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75">
                <a:solidFill>
                  <a:srgbClr val="595959"/>
                </a:solidFill>
                <a:latin typeface="Tahoma"/>
                <a:cs typeface="Tahoma"/>
              </a:rPr>
              <a:t>/dev,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nombres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595959"/>
                </a:solidFill>
                <a:latin typeface="Tahoma"/>
                <a:cs typeface="Tahoma"/>
              </a:rPr>
              <a:t>como</a:t>
            </a: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dirty="0" sz="1500" spc="-50">
                <a:solidFill>
                  <a:srgbClr val="595959"/>
                </a:solidFill>
                <a:latin typeface="Tahoma"/>
                <a:cs typeface="Tahoma"/>
              </a:rPr>
              <a:t>/dev/sda</a:t>
            </a:r>
            <a:r>
              <a:rPr dirty="0" sz="15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5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5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disco</a:t>
            </a:r>
            <a:r>
              <a:rPr dirty="0" sz="15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duro</a:t>
            </a:r>
            <a:r>
              <a:rPr dirty="0" sz="15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o</a:t>
            </a:r>
            <a:r>
              <a:rPr dirty="0" sz="15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5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partición</a:t>
            </a:r>
            <a:r>
              <a:rPr dirty="0" sz="15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específica.</a:t>
            </a:r>
            <a:endParaRPr sz="1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105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145"/>
              <a:t>Cómo</a:t>
            </a:r>
            <a:r>
              <a:rPr dirty="0" spc="-130"/>
              <a:t> </a:t>
            </a:r>
            <a:r>
              <a:rPr dirty="0" spc="114"/>
              <a:t>se</a:t>
            </a:r>
            <a:r>
              <a:rPr dirty="0" spc="-185"/>
              <a:t> </a:t>
            </a:r>
            <a:r>
              <a:rPr dirty="0" spc="55"/>
              <a:t>vinculan</a:t>
            </a:r>
            <a:r>
              <a:rPr dirty="0" spc="-125"/>
              <a:t> </a:t>
            </a:r>
            <a:r>
              <a:rPr dirty="0" spc="105"/>
              <a:t>los</a:t>
            </a:r>
            <a:r>
              <a:rPr dirty="0" spc="-125"/>
              <a:t> </a:t>
            </a:r>
            <a:r>
              <a:rPr dirty="0" spc="60"/>
              <a:t>dispositivos</a:t>
            </a:r>
            <a:r>
              <a:rPr dirty="0" spc="-130"/>
              <a:t> </a:t>
            </a:r>
            <a:r>
              <a:rPr dirty="0" spc="85"/>
              <a:t>al</a:t>
            </a:r>
            <a:r>
              <a:rPr dirty="0" spc="-185"/>
              <a:t> </a:t>
            </a:r>
            <a:r>
              <a:rPr dirty="0" spc="35"/>
              <a:t>filesystem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0675" y="1472314"/>
            <a:ext cx="7459980" cy="3111500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5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dispositivos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595959"/>
                </a:solidFill>
                <a:latin typeface="Tahoma"/>
                <a:cs typeface="Tahoma"/>
              </a:rPr>
              <a:t>I/O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tienen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par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10" b="1">
                <a:solidFill>
                  <a:srgbClr val="595959"/>
                </a:solidFill>
                <a:latin typeface="Tahoma"/>
                <a:cs typeface="Tahoma"/>
              </a:rPr>
              <a:t>números</a:t>
            </a:r>
            <a:r>
              <a:rPr dirty="0" sz="1500" spc="-12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asociados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llamados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números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10" b="1">
                <a:solidFill>
                  <a:srgbClr val="595959"/>
                </a:solidFill>
                <a:latin typeface="Tahoma"/>
                <a:cs typeface="Tahoma"/>
              </a:rPr>
              <a:t>mayor</a:t>
            </a:r>
            <a:r>
              <a:rPr dirty="0" sz="1500" spc="-12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5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dirty="0" sz="1500" spc="-10" b="1">
                <a:solidFill>
                  <a:srgbClr val="595959"/>
                </a:solidFill>
                <a:latin typeface="Tahoma"/>
                <a:cs typeface="Tahoma"/>
              </a:rPr>
              <a:t>minor.</a:t>
            </a: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70"/>
              </a:spcBef>
            </a:pPr>
            <a:r>
              <a:rPr dirty="0" sz="1500" spc="-95" b="1">
                <a:solidFill>
                  <a:srgbClr val="595959"/>
                </a:solidFill>
                <a:latin typeface="Tahoma"/>
                <a:cs typeface="Tahoma"/>
              </a:rPr>
              <a:t>Estos</a:t>
            </a:r>
            <a:r>
              <a:rPr dirty="0" sz="1500" spc="-12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10" b="1">
                <a:solidFill>
                  <a:srgbClr val="595959"/>
                </a:solidFill>
                <a:latin typeface="Tahoma"/>
                <a:cs typeface="Tahoma"/>
              </a:rPr>
              <a:t>números</a:t>
            </a:r>
            <a:r>
              <a:rPr dirty="0" sz="1500" spc="-114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10" b="1">
                <a:solidFill>
                  <a:srgbClr val="595959"/>
                </a:solidFill>
                <a:latin typeface="Tahoma"/>
                <a:cs typeface="Tahoma"/>
              </a:rPr>
              <a:t>implementan</a:t>
            </a:r>
            <a:r>
              <a:rPr dirty="0" sz="1500" spc="-125" b="1">
                <a:solidFill>
                  <a:srgbClr val="595959"/>
                </a:solidFill>
                <a:latin typeface="Tahoma"/>
                <a:cs typeface="Tahoma"/>
              </a:rPr>
              <a:t> un</a:t>
            </a:r>
            <a:r>
              <a:rPr dirty="0" sz="1500" spc="-12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10" b="1">
                <a:solidFill>
                  <a:srgbClr val="595959"/>
                </a:solidFill>
                <a:latin typeface="Tahoma"/>
                <a:cs typeface="Tahoma"/>
              </a:rPr>
              <a:t>sistema</a:t>
            </a:r>
            <a:r>
              <a:rPr dirty="0" sz="1500" spc="-12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30" b="1">
                <a:solidFill>
                  <a:srgbClr val="595959"/>
                </a:solidFill>
                <a:latin typeface="Tahoma"/>
                <a:cs typeface="Tahoma"/>
              </a:rPr>
              <a:t>muy</a:t>
            </a:r>
            <a:r>
              <a:rPr dirty="0" sz="1500" spc="-12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0" b="1">
                <a:solidFill>
                  <a:srgbClr val="595959"/>
                </a:solidFill>
                <a:latin typeface="Tahoma"/>
                <a:cs typeface="Tahoma"/>
              </a:rPr>
              <a:t>básico</a:t>
            </a:r>
            <a:r>
              <a:rPr dirty="0" sz="1500" spc="-12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0" b="1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2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85" b="1">
                <a:solidFill>
                  <a:srgbClr val="595959"/>
                </a:solidFill>
                <a:latin typeface="Tahoma"/>
                <a:cs typeface="Tahoma"/>
              </a:rPr>
              <a:t>ruteo</a:t>
            </a:r>
            <a:r>
              <a:rPr dirty="0" sz="1500" spc="-12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0" b="1">
                <a:solidFill>
                  <a:srgbClr val="595959"/>
                </a:solidFill>
                <a:latin typeface="Tahoma"/>
                <a:cs typeface="Tahoma"/>
              </a:rPr>
              <a:t>hacia</a:t>
            </a:r>
            <a:r>
              <a:rPr dirty="0" sz="1500" spc="-12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85" b="1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500" spc="-12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95" b="1">
                <a:solidFill>
                  <a:srgbClr val="595959"/>
                </a:solidFill>
                <a:latin typeface="Tahoma"/>
                <a:cs typeface="Tahoma"/>
              </a:rPr>
              <a:t>dispositivos</a:t>
            </a:r>
            <a:r>
              <a:rPr dirty="0" sz="1500" spc="-114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10" b="1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500" spc="-12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 b="1">
                <a:solidFill>
                  <a:srgbClr val="595959"/>
                </a:solidFill>
                <a:latin typeface="Tahoma"/>
                <a:cs typeface="Tahoma"/>
              </a:rPr>
              <a:t>sí.</a:t>
            </a:r>
            <a:endParaRPr sz="1500">
              <a:latin typeface="Tahoma"/>
              <a:cs typeface="Tahoma"/>
            </a:endParaRPr>
          </a:p>
          <a:p>
            <a:pPr marL="12700" marR="5080">
              <a:lnSpc>
                <a:spcPct val="114999"/>
              </a:lnSpc>
              <a:spcBef>
                <a:spcPts val="1200"/>
              </a:spcBef>
            </a:pPr>
            <a:r>
              <a:rPr dirty="0" sz="1500" spc="-80" b="1">
                <a:solidFill>
                  <a:srgbClr val="595959"/>
                </a:solidFill>
                <a:latin typeface="Tahoma"/>
                <a:cs typeface="Tahoma"/>
              </a:rPr>
              <a:t>Major</a:t>
            </a:r>
            <a:r>
              <a:rPr dirty="0" sz="1500" spc="-12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20" b="1">
                <a:solidFill>
                  <a:srgbClr val="595959"/>
                </a:solidFill>
                <a:latin typeface="Tahoma"/>
                <a:cs typeface="Tahoma"/>
              </a:rPr>
              <a:t>Number.</a:t>
            </a:r>
            <a:r>
              <a:rPr dirty="0" sz="1500" spc="-10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número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mayor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90" b="1">
                <a:solidFill>
                  <a:srgbClr val="595959"/>
                </a:solidFill>
                <a:latin typeface="Tahoma"/>
                <a:cs typeface="Tahoma"/>
              </a:rPr>
              <a:t>identifica</a:t>
            </a:r>
            <a:r>
              <a:rPr dirty="0" sz="1500" spc="-12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80" b="1">
                <a:solidFill>
                  <a:srgbClr val="595959"/>
                </a:solidFill>
                <a:latin typeface="Tahoma"/>
                <a:cs typeface="Tahoma"/>
              </a:rPr>
              <a:t>driver</a:t>
            </a:r>
            <a:r>
              <a:rPr dirty="0" sz="1500" spc="-11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30">
                <a:solidFill>
                  <a:srgbClr val="595959"/>
                </a:solidFill>
                <a:latin typeface="Tahoma"/>
                <a:cs typeface="Tahoma"/>
              </a:rPr>
              <a:t>maneja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grupo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específico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de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dispositivos.</a:t>
            </a:r>
            <a:r>
              <a:rPr dirty="0" sz="15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5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kernel</a:t>
            </a:r>
            <a:r>
              <a:rPr dirty="0" sz="15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utiliza</a:t>
            </a:r>
            <a:r>
              <a:rPr dirty="0" sz="15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este</a:t>
            </a:r>
            <a:r>
              <a:rPr dirty="0" sz="15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número</a:t>
            </a:r>
            <a:r>
              <a:rPr dirty="0" sz="15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5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determinar</a:t>
            </a:r>
            <a:r>
              <a:rPr dirty="0" sz="15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qué</a:t>
            </a:r>
            <a:r>
              <a:rPr dirty="0" sz="15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controlador</a:t>
            </a:r>
            <a:r>
              <a:rPr dirty="0" sz="15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debe</a:t>
            </a:r>
            <a:r>
              <a:rPr dirty="0" sz="15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gestionar las</a:t>
            </a:r>
            <a:r>
              <a:rPr dirty="0" sz="15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solicitudes</a:t>
            </a:r>
            <a:r>
              <a:rPr dirty="0" sz="15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entrada/salida</a:t>
            </a:r>
            <a:r>
              <a:rPr dirty="0" sz="15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75">
                <a:solidFill>
                  <a:srgbClr val="595959"/>
                </a:solidFill>
                <a:latin typeface="Tahoma"/>
                <a:cs typeface="Tahoma"/>
              </a:rPr>
              <a:t>(I/O)</a:t>
            </a:r>
            <a:r>
              <a:rPr dirty="0" sz="15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dirigidas</a:t>
            </a:r>
            <a:r>
              <a:rPr dirty="0" sz="15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5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5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dispositivo</a:t>
            </a:r>
            <a:r>
              <a:rPr dirty="0" sz="15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específico.</a:t>
            </a:r>
            <a:endParaRPr sz="1500">
              <a:latin typeface="Tahoma"/>
              <a:cs typeface="Tahoma"/>
            </a:endParaRPr>
          </a:p>
          <a:p>
            <a:pPr marL="12700" marR="36195">
              <a:lnSpc>
                <a:spcPct val="114999"/>
              </a:lnSpc>
              <a:spcBef>
                <a:spcPts val="1200"/>
              </a:spcBef>
            </a:pPr>
            <a:r>
              <a:rPr dirty="0" sz="1500" spc="-55" b="1">
                <a:solidFill>
                  <a:srgbClr val="595959"/>
                </a:solidFill>
                <a:latin typeface="Tahoma"/>
                <a:cs typeface="Tahoma"/>
              </a:rPr>
              <a:t>Minor</a:t>
            </a:r>
            <a:r>
              <a:rPr dirty="0" sz="1500" spc="-11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5" b="1">
                <a:solidFill>
                  <a:srgbClr val="595959"/>
                </a:solidFill>
                <a:latin typeface="Tahoma"/>
                <a:cs typeface="Tahoma"/>
              </a:rPr>
              <a:t>Number</a:t>
            </a:r>
            <a:r>
              <a:rPr dirty="0" sz="1500" spc="-105">
                <a:solidFill>
                  <a:srgbClr val="595959"/>
                </a:solidFill>
                <a:latin typeface="Tahoma"/>
                <a:cs typeface="Tahoma"/>
              </a:rPr>
              <a:t>.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número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menor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90" b="1">
                <a:solidFill>
                  <a:srgbClr val="595959"/>
                </a:solidFill>
                <a:latin typeface="Tahoma"/>
                <a:cs typeface="Tahoma"/>
              </a:rPr>
              <a:t>identifica</a:t>
            </a:r>
            <a:r>
              <a:rPr dirty="0" sz="1500" spc="-10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25" b="1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500" spc="-11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95" b="1">
                <a:solidFill>
                  <a:srgbClr val="595959"/>
                </a:solidFill>
                <a:latin typeface="Tahoma"/>
                <a:cs typeface="Tahoma"/>
              </a:rPr>
              <a:t>dispositivo</a:t>
            </a:r>
            <a:r>
              <a:rPr dirty="0" sz="1500" spc="-10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95" b="1">
                <a:solidFill>
                  <a:srgbClr val="595959"/>
                </a:solidFill>
                <a:latin typeface="Tahoma"/>
                <a:cs typeface="Tahoma"/>
              </a:rPr>
              <a:t>específico</a:t>
            </a:r>
            <a:r>
              <a:rPr dirty="0" sz="1500" spc="-10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85" b="1">
                <a:solidFill>
                  <a:srgbClr val="595959"/>
                </a:solidFill>
                <a:latin typeface="Tahoma"/>
                <a:cs typeface="Tahoma"/>
              </a:rPr>
              <a:t>dentro</a:t>
            </a:r>
            <a:r>
              <a:rPr dirty="0" sz="1500" spc="-10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85" b="1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500" spc="-10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20" b="1">
                <a:solidFill>
                  <a:srgbClr val="595959"/>
                </a:solidFill>
                <a:latin typeface="Tahoma"/>
                <a:cs typeface="Tahoma"/>
              </a:rPr>
              <a:t>grupo</a:t>
            </a:r>
            <a:r>
              <a:rPr dirty="0" sz="1500" spc="-10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 b="1">
                <a:solidFill>
                  <a:srgbClr val="595959"/>
                </a:solidFill>
                <a:latin typeface="Tahoma"/>
                <a:cs typeface="Tahoma"/>
              </a:rPr>
              <a:t>de </a:t>
            </a:r>
            <a:r>
              <a:rPr dirty="0" sz="1500" spc="-95" b="1">
                <a:solidFill>
                  <a:srgbClr val="595959"/>
                </a:solidFill>
                <a:latin typeface="Tahoma"/>
                <a:cs typeface="Tahoma"/>
              </a:rPr>
              <a:t>dispositivos</a:t>
            </a:r>
            <a:r>
              <a:rPr dirty="0" sz="1500" spc="-11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gestionado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mismo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controlador.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otras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30">
                <a:solidFill>
                  <a:srgbClr val="595959"/>
                </a:solidFill>
                <a:latin typeface="Tahoma"/>
                <a:cs typeface="Tahoma"/>
              </a:rPr>
              <a:t>palabras,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mientras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el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número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mayor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refiere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controlador,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número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menor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identifica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dispositivo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particular</a:t>
            </a:r>
            <a:r>
              <a:rPr dirty="0" sz="15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595959"/>
                </a:solidFill>
                <a:latin typeface="Tahoma"/>
                <a:cs typeface="Tahoma"/>
              </a:rPr>
              <a:t>bajo</a:t>
            </a:r>
            <a:r>
              <a:rPr dirty="0" sz="15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5">
                <a:solidFill>
                  <a:srgbClr val="595959"/>
                </a:solidFill>
                <a:latin typeface="Tahoma"/>
                <a:cs typeface="Tahoma"/>
              </a:rPr>
              <a:t>ese</a:t>
            </a:r>
            <a:r>
              <a:rPr dirty="0" sz="15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controlador.</a:t>
            </a:r>
            <a:endParaRPr sz="1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105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145"/>
              <a:t>Cómo</a:t>
            </a:r>
            <a:r>
              <a:rPr dirty="0" spc="-130"/>
              <a:t> </a:t>
            </a:r>
            <a:r>
              <a:rPr dirty="0" spc="80"/>
              <a:t>conectan</a:t>
            </a:r>
            <a:r>
              <a:rPr dirty="0" spc="-125"/>
              <a:t> </a:t>
            </a:r>
            <a:r>
              <a:rPr dirty="0" spc="105"/>
              <a:t>los</a:t>
            </a:r>
            <a:r>
              <a:rPr dirty="0" spc="-125"/>
              <a:t> </a:t>
            </a:r>
            <a:r>
              <a:rPr dirty="0" spc="60"/>
              <a:t>dispositivos</a:t>
            </a:r>
            <a:r>
              <a:rPr dirty="0" spc="-125"/>
              <a:t> </a:t>
            </a:r>
            <a:r>
              <a:rPr dirty="0" spc="85"/>
              <a:t>al</a:t>
            </a:r>
            <a:r>
              <a:rPr dirty="0" spc="-190"/>
              <a:t> </a:t>
            </a:r>
            <a:r>
              <a:rPr dirty="0" spc="35"/>
              <a:t>filesystem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0675" y="1472314"/>
            <a:ext cx="7494905" cy="551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dispositivos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son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45">
                <a:solidFill>
                  <a:srgbClr val="595959"/>
                </a:solidFill>
                <a:latin typeface="Tahoma"/>
                <a:cs typeface="Tahoma"/>
              </a:rPr>
              <a:t>más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archivos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especiales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80" b="1">
                <a:solidFill>
                  <a:srgbClr val="595959"/>
                </a:solidFill>
                <a:latin typeface="Tahoma"/>
                <a:cs typeface="Tahoma"/>
              </a:rPr>
              <a:t>tipo</a:t>
            </a:r>
            <a:r>
              <a:rPr dirty="0" sz="1500" spc="-1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80" b="1">
                <a:solidFill>
                  <a:srgbClr val="595959"/>
                </a:solidFill>
                <a:latin typeface="Tahoma"/>
                <a:cs typeface="Tahoma"/>
              </a:rPr>
              <a:t>DEVICE</a:t>
            </a:r>
            <a:r>
              <a:rPr dirty="0" sz="1500" spc="-12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crean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usando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la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system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call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mknod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27650" y="2280774"/>
            <a:ext cx="7630159" cy="431165"/>
          </a:xfrm>
          <a:prstGeom prst="rect">
            <a:avLst/>
          </a:prstGeom>
          <a:solidFill>
            <a:srgbClr val="1A1A1A"/>
          </a:solidFill>
        </p:spPr>
        <p:txBody>
          <a:bodyPr wrap="square" lIns="0" tIns="77470" rIns="0" bIns="0" rtlCol="0" vert="horz">
            <a:spAutoFit/>
          </a:bodyPr>
          <a:lstStyle/>
          <a:p>
            <a:pPr marL="85725">
              <a:lnSpc>
                <a:spcPct val="100000"/>
              </a:lnSpc>
              <a:spcBef>
                <a:spcPts val="610"/>
              </a:spcBef>
            </a:pPr>
            <a:r>
              <a:rPr dirty="0" sz="1600">
                <a:solidFill>
                  <a:srgbClr val="FFFFFF"/>
                </a:solidFill>
                <a:latin typeface="Courier New"/>
                <a:cs typeface="Courier New"/>
              </a:rPr>
              <a:t>sudo</a:t>
            </a:r>
            <a:r>
              <a:rPr dirty="0" sz="1600" spc="-6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600">
                <a:solidFill>
                  <a:srgbClr val="FFFFFF"/>
                </a:solidFill>
                <a:latin typeface="Courier New"/>
                <a:cs typeface="Courier New"/>
              </a:rPr>
              <a:t>mknod</a:t>
            </a:r>
            <a:r>
              <a:rPr dirty="0" sz="1600" spc="-6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600">
                <a:solidFill>
                  <a:srgbClr val="FFFFFF"/>
                </a:solidFill>
                <a:latin typeface="Courier New"/>
                <a:cs typeface="Courier New"/>
              </a:rPr>
              <a:t>/dev/ttyS1</a:t>
            </a:r>
            <a:r>
              <a:rPr dirty="0" sz="1600" spc="-6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600">
                <a:solidFill>
                  <a:srgbClr val="FFFFFF"/>
                </a:solidFill>
                <a:latin typeface="Courier New"/>
                <a:cs typeface="Courier New"/>
              </a:rPr>
              <a:t>c</a:t>
            </a:r>
            <a:r>
              <a:rPr dirty="0" sz="1600" spc="-6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600">
                <a:solidFill>
                  <a:srgbClr val="FFFFFF"/>
                </a:solidFill>
                <a:latin typeface="Courier New"/>
                <a:cs typeface="Courier New"/>
              </a:rPr>
              <a:t>4</a:t>
            </a:r>
            <a:r>
              <a:rPr dirty="0" sz="1600" spc="-6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600" spc="-25">
                <a:solidFill>
                  <a:srgbClr val="FFFFFF"/>
                </a:solidFill>
                <a:latin typeface="Courier New"/>
                <a:cs typeface="Courier New"/>
              </a:rPr>
              <a:t>65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00675" y="3068521"/>
            <a:ext cx="7288530" cy="1808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30">
                <a:solidFill>
                  <a:srgbClr val="595959"/>
                </a:solidFill>
                <a:latin typeface="Tahoma"/>
                <a:cs typeface="Tahoma"/>
              </a:rPr>
              <a:t>/dev/ttyS1: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nombre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archivo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especial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vamos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crear</a:t>
            </a:r>
            <a:endParaRPr sz="1300">
              <a:latin typeface="Tahoma"/>
              <a:cs typeface="Tahoma"/>
            </a:endParaRPr>
          </a:p>
          <a:p>
            <a:pPr marL="12700" marR="2008505">
              <a:lnSpc>
                <a:spcPct val="100000"/>
              </a:lnSpc>
            </a:pP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C: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indica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este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dispositivo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caracteres,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bloques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(sino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seria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b) </a:t>
            </a:r>
            <a:r>
              <a:rPr dirty="0" sz="1300" spc="-55">
                <a:solidFill>
                  <a:srgbClr val="595959"/>
                </a:solidFill>
                <a:latin typeface="Tahoma"/>
                <a:cs typeface="Tahoma"/>
              </a:rPr>
              <a:t>4:</a:t>
            </a:r>
            <a:r>
              <a:rPr dirty="0" sz="13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3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major</a:t>
            </a:r>
            <a:endParaRPr sz="13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65:</a:t>
            </a:r>
            <a:r>
              <a:rPr dirty="0" sz="13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minor</a:t>
            </a:r>
            <a:endParaRPr sz="13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spcBef>
                <a:spcPts val="1560"/>
              </a:spcBef>
            </a:pP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general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crear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nodos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dispositivo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necesario,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esto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lo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resuelve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programa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0" b="1">
                <a:solidFill>
                  <a:srgbClr val="595959"/>
                </a:solidFill>
                <a:latin typeface="Tahoma"/>
                <a:cs typeface="Tahoma"/>
              </a:rPr>
              <a:t>udev</a:t>
            </a:r>
            <a:r>
              <a:rPr dirty="0" sz="1300" spc="-9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que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dinámicamente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monitorea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crea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nodos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dispositivo.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Además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resuelve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gestión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major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minors para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cual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30">
                <a:solidFill>
                  <a:srgbClr val="595959"/>
                </a:solidFill>
                <a:latin typeface="Tahoma"/>
                <a:cs typeface="Tahoma"/>
              </a:rPr>
              <a:t>“se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40">
                <a:solidFill>
                  <a:srgbClr val="595959"/>
                </a:solidFill>
                <a:latin typeface="Tahoma"/>
                <a:cs typeface="Tahoma"/>
              </a:rPr>
              <a:t>asume”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administrador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sistema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tiene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conocimiento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cómo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obtenerlos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para cada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dispositivo</a:t>
            </a:r>
            <a:endParaRPr sz="1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87146" y="2076746"/>
            <a:ext cx="6376670" cy="2409190"/>
            <a:chOff x="1387146" y="2076746"/>
            <a:chExt cx="6376670" cy="240919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7146" y="2076746"/>
              <a:ext cx="6376172" cy="2408775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6845374" y="3274499"/>
              <a:ext cx="478790" cy="266065"/>
            </a:xfrm>
            <a:custGeom>
              <a:avLst/>
              <a:gdLst/>
              <a:ahLst/>
              <a:cxnLst/>
              <a:rect l="l" t="t" r="r" b="b"/>
              <a:pathLst>
                <a:path w="478790" h="266064">
                  <a:moveTo>
                    <a:pt x="132899" y="265799"/>
                  </a:moveTo>
                  <a:lnTo>
                    <a:pt x="0" y="132899"/>
                  </a:lnTo>
                  <a:lnTo>
                    <a:pt x="132899" y="0"/>
                  </a:lnTo>
                  <a:lnTo>
                    <a:pt x="132899" y="66449"/>
                  </a:lnTo>
                  <a:lnTo>
                    <a:pt x="478499" y="66449"/>
                  </a:lnTo>
                  <a:lnTo>
                    <a:pt x="478499" y="199349"/>
                  </a:lnTo>
                  <a:lnTo>
                    <a:pt x="132899" y="199349"/>
                  </a:lnTo>
                  <a:lnTo>
                    <a:pt x="132899" y="265799"/>
                  </a:lnTo>
                  <a:close/>
                </a:path>
              </a:pathLst>
            </a:custGeom>
            <a:solidFill>
              <a:srgbClr val="E9ED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845374" y="3274499"/>
              <a:ext cx="478790" cy="266065"/>
            </a:xfrm>
            <a:custGeom>
              <a:avLst/>
              <a:gdLst/>
              <a:ahLst/>
              <a:cxnLst/>
              <a:rect l="l" t="t" r="r" b="b"/>
              <a:pathLst>
                <a:path w="478790" h="266064">
                  <a:moveTo>
                    <a:pt x="0" y="132899"/>
                  </a:moveTo>
                  <a:lnTo>
                    <a:pt x="132899" y="0"/>
                  </a:lnTo>
                  <a:lnTo>
                    <a:pt x="132899" y="66449"/>
                  </a:lnTo>
                  <a:lnTo>
                    <a:pt x="478499" y="66449"/>
                  </a:lnTo>
                  <a:lnTo>
                    <a:pt x="478499" y="199349"/>
                  </a:lnTo>
                  <a:lnTo>
                    <a:pt x="132899" y="199349"/>
                  </a:lnTo>
                  <a:lnTo>
                    <a:pt x="132899" y="265799"/>
                  </a:lnTo>
                  <a:lnTo>
                    <a:pt x="0" y="132899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845374" y="3867549"/>
              <a:ext cx="478790" cy="266065"/>
            </a:xfrm>
            <a:custGeom>
              <a:avLst/>
              <a:gdLst/>
              <a:ahLst/>
              <a:cxnLst/>
              <a:rect l="l" t="t" r="r" b="b"/>
              <a:pathLst>
                <a:path w="478790" h="266064">
                  <a:moveTo>
                    <a:pt x="132899" y="265799"/>
                  </a:moveTo>
                  <a:lnTo>
                    <a:pt x="0" y="132899"/>
                  </a:lnTo>
                  <a:lnTo>
                    <a:pt x="132899" y="0"/>
                  </a:lnTo>
                  <a:lnTo>
                    <a:pt x="132899" y="66449"/>
                  </a:lnTo>
                  <a:lnTo>
                    <a:pt x="478499" y="66449"/>
                  </a:lnTo>
                  <a:lnTo>
                    <a:pt x="478499" y="199349"/>
                  </a:lnTo>
                  <a:lnTo>
                    <a:pt x="132899" y="199349"/>
                  </a:lnTo>
                  <a:lnTo>
                    <a:pt x="132899" y="265799"/>
                  </a:lnTo>
                  <a:close/>
                </a:path>
              </a:pathLst>
            </a:custGeom>
            <a:solidFill>
              <a:srgbClr val="E9ED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845374" y="3867549"/>
              <a:ext cx="478790" cy="266065"/>
            </a:xfrm>
            <a:custGeom>
              <a:avLst/>
              <a:gdLst/>
              <a:ahLst/>
              <a:cxnLst/>
              <a:rect l="l" t="t" r="r" b="b"/>
              <a:pathLst>
                <a:path w="478790" h="266064">
                  <a:moveTo>
                    <a:pt x="0" y="132899"/>
                  </a:moveTo>
                  <a:lnTo>
                    <a:pt x="132899" y="0"/>
                  </a:lnTo>
                  <a:lnTo>
                    <a:pt x="132899" y="66449"/>
                  </a:lnTo>
                  <a:lnTo>
                    <a:pt x="478499" y="66449"/>
                  </a:lnTo>
                  <a:lnTo>
                    <a:pt x="478499" y="199349"/>
                  </a:lnTo>
                  <a:lnTo>
                    <a:pt x="132899" y="199349"/>
                  </a:lnTo>
                  <a:lnTo>
                    <a:pt x="132899" y="265799"/>
                  </a:lnTo>
                  <a:lnTo>
                    <a:pt x="0" y="132899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105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145"/>
              <a:t>Cómo</a:t>
            </a:r>
            <a:r>
              <a:rPr dirty="0" spc="-130"/>
              <a:t> </a:t>
            </a:r>
            <a:r>
              <a:rPr dirty="0" spc="80"/>
              <a:t>conectan</a:t>
            </a:r>
            <a:r>
              <a:rPr dirty="0" spc="-125"/>
              <a:t> </a:t>
            </a:r>
            <a:r>
              <a:rPr dirty="0" spc="105"/>
              <a:t>los</a:t>
            </a:r>
            <a:r>
              <a:rPr dirty="0" spc="-125"/>
              <a:t> </a:t>
            </a:r>
            <a:r>
              <a:rPr dirty="0" spc="60"/>
              <a:t>dispositivos</a:t>
            </a:r>
            <a:r>
              <a:rPr dirty="0" spc="-125"/>
              <a:t> </a:t>
            </a:r>
            <a:r>
              <a:rPr dirty="0" spc="85"/>
              <a:t>al</a:t>
            </a:r>
            <a:r>
              <a:rPr dirty="0" spc="-190"/>
              <a:t> </a:t>
            </a:r>
            <a:r>
              <a:rPr dirty="0" spc="35"/>
              <a:t>filesystem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863175" y="1484746"/>
            <a:ext cx="424561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Mknod</a:t>
            </a:r>
            <a:r>
              <a:rPr dirty="0" sz="13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crea</a:t>
            </a:r>
            <a:r>
              <a:rPr dirty="0" sz="13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inodos</a:t>
            </a:r>
            <a:r>
              <a:rPr dirty="0" sz="13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tipo</a:t>
            </a:r>
            <a:r>
              <a:rPr dirty="0" sz="13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Block</a:t>
            </a:r>
            <a:r>
              <a:rPr dirty="0" sz="13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device</a:t>
            </a:r>
            <a:r>
              <a:rPr dirty="0" sz="13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o</a:t>
            </a:r>
            <a:r>
              <a:rPr dirty="0" sz="13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Character</a:t>
            </a:r>
            <a:r>
              <a:rPr dirty="0" sz="13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device</a:t>
            </a:r>
            <a:endParaRPr sz="1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105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145"/>
              <a:t>Cómo</a:t>
            </a:r>
            <a:r>
              <a:rPr dirty="0" spc="-130"/>
              <a:t> </a:t>
            </a:r>
            <a:r>
              <a:rPr dirty="0" spc="80"/>
              <a:t>conectan</a:t>
            </a:r>
            <a:r>
              <a:rPr dirty="0" spc="-125"/>
              <a:t> </a:t>
            </a:r>
            <a:r>
              <a:rPr dirty="0" spc="105"/>
              <a:t>los</a:t>
            </a:r>
            <a:r>
              <a:rPr dirty="0" spc="-125"/>
              <a:t> </a:t>
            </a:r>
            <a:r>
              <a:rPr dirty="0" spc="60"/>
              <a:t>dispositivos</a:t>
            </a:r>
            <a:r>
              <a:rPr dirty="0" spc="-125"/>
              <a:t> </a:t>
            </a:r>
            <a:r>
              <a:rPr dirty="0" spc="85"/>
              <a:t>al</a:t>
            </a:r>
            <a:r>
              <a:rPr dirty="0" spc="-190"/>
              <a:t> </a:t>
            </a:r>
            <a:r>
              <a:rPr dirty="0" spc="35"/>
              <a:t>filesystem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0675" y="1499696"/>
            <a:ext cx="7375525" cy="600075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12700" marR="5080">
              <a:lnSpc>
                <a:spcPts val="1480"/>
              </a:lnSpc>
              <a:spcBef>
                <a:spcPts val="215"/>
              </a:spcBef>
            </a:pP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Ahora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sabemos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crear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nodos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representan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dispositivos,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pero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mismo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archivo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decir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bytes.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Si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disco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nos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interesan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bloques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bytes,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nos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interesa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filesystem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esta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contenido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los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mismos.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27650" y="2371650"/>
            <a:ext cx="7630159" cy="400685"/>
          </a:xfrm>
          <a:prstGeom prst="rect">
            <a:avLst/>
          </a:prstGeom>
          <a:solidFill>
            <a:srgbClr val="1A1A1A"/>
          </a:solidFill>
        </p:spPr>
        <p:txBody>
          <a:bodyPr wrap="square" lIns="0" tIns="78740" rIns="0" bIns="0" rtlCol="0" vert="horz">
            <a:spAutoFit/>
          </a:bodyPr>
          <a:lstStyle/>
          <a:p>
            <a:pPr marL="85725">
              <a:lnSpc>
                <a:spcPct val="100000"/>
              </a:lnSpc>
              <a:spcBef>
                <a:spcPts val="620"/>
              </a:spcBef>
            </a:pP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sudo</a:t>
            </a:r>
            <a:r>
              <a:rPr dirty="0" sz="140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mount</a:t>
            </a:r>
            <a:r>
              <a:rPr dirty="0" sz="14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ourier New"/>
                <a:cs typeface="Courier New"/>
              </a:rPr>
              <a:t>-</a:t>
            </a: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t</a:t>
            </a:r>
            <a:r>
              <a:rPr dirty="0" sz="140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ext4</a:t>
            </a:r>
            <a:r>
              <a:rPr dirty="0" sz="14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/dev/sda1</a:t>
            </a:r>
            <a:r>
              <a:rPr dirty="0" sz="14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ourier New"/>
                <a:cs typeface="Courier New"/>
              </a:rPr>
              <a:t>/mnt/mi_directorio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00675" y="3273138"/>
            <a:ext cx="7294245" cy="878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Arial"/>
                <a:cs typeface="Arial"/>
              </a:rPr>
              <a:t>-t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ext4: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>
                <a:latin typeface="Arial MT"/>
                <a:cs typeface="Arial MT"/>
              </a:rPr>
              <a:t>es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el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tipo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filesystem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que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estamos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cargando.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Esto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le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permite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al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kernel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saber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20">
                <a:latin typeface="Arial MT"/>
                <a:cs typeface="Arial MT"/>
              </a:rPr>
              <a:t>como </a:t>
            </a:r>
            <a:r>
              <a:rPr dirty="0" sz="1400">
                <a:latin typeface="Arial MT"/>
                <a:cs typeface="Arial MT"/>
              </a:rPr>
              <a:t>interpretar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los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bloques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del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dispositivo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bloques.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latin typeface="Arial"/>
                <a:cs typeface="Arial"/>
              </a:rPr>
              <a:t>/dev/sda1: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>
                <a:latin typeface="Arial MT"/>
                <a:cs typeface="Arial MT"/>
              </a:rPr>
              <a:t>es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el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dipositivo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en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bloques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origen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del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filesystem.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latin typeface="Arial"/>
                <a:cs typeface="Arial"/>
              </a:rPr>
              <a:t>/mnt/mi_directorio: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>
                <a:latin typeface="Arial MT"/>
                <a:cs typeface="Arial MT"/>
              </a:rPr>
              <a:t>es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el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punto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montaje,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es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decir,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donde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se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va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colocar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el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filesystem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385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145"/>
              <a:t>Como</a:t>
            </a:r>
            <a:r>
              <a:rPr dirty="0" spc="-130"/>
              <a:t> </a:t>
            </a:r>
            <a:r>
              <a:rPr dirty="0" spc="114"/>
              <a:t>se</a:t>
            </a:r>
            <a:r>
              <a:rPr dirty="0" spc="-130"/>
              <a:t> </a:t>
            </a:r>
            <a:r>
              <a:rPr dirty="0" spc="90"/>
              <a:t>monta</a:t>
            </a:r>
            <a:r>
              <a:rPr dirty="0" spc="-130"/>
              <a:t> </a:t>
            </a:r>
            <a:r>
              <a:rPr dirty="0" spc="50"/>
              <a:t>un</a:t>
            </a:r>
            <a:r>
              <a:rPr dirty="0" spc="-130"/>
              <a:t> </a:t>
            </a:r>
            <a:r>
              <a:rPr dirty="0" spc="35"/>
              <a:t>filesystem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927496" y="1596217"/>
            <a:ext cx="3747135" cy="2554605"/>
            <a:chOff x="927496" y="1596217"/>
            <a:chExt cx="3747135" cy="255460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7496" y="1596217"/>
              <a:ext cx="3746641" cy="2554504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711239" y="1666374"/>
              <a:ext cx="2938780" cy="508634"/>
            </a:xfrm>
            <a:custGeom>
              <a:avLst/>
              <a:gdLst/>
              <a:ahLst/>
              <a:cxnLst/>
              <a:rect l="l" t="t" r="r" b="b"/>
              <a:pathLst>
                <a:path w="2938779" h="508635">
                  <a:moveTo>
                    <a:pt x="2938435" y="0"/>
                  </a:moveTo>
                  <a:lnTo>
                    <a:pt x="0" y="508632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692795" y="2162625"/>
              <a:ext cx="31115" cy="21590"/>
            </a:xfrm>
            <a:custGeom>
              <a:avLst/>
              <a:gdLst/>
              <a:ahLst/>
              <a:cxnLst/>
              <a:rect l="l" t="t" r="r" b="b"/>
              <a:pathLst>
                <a:path w="31114" h="21589">
                  <a:moveTo>
                    <a:pt x="30825" y="21109"/>
                  </a:moveTo>
                  <a:lnTo>
                    <a:pt x="0" y="15574"/>
                  </a:lnTo>
                  <a:lnTo>
                    <a:pt x="27171" y="0"/>
                  </a:lnTo>
                  <a:lnTo>
                    <a:pt x="18444" y="12381"/>
                  </a:lnTo>
                  <a:lnTo>
                    <a:pt x="30825" y="21109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692795" y="2162625"/>
              <a:ext cx="31115" cy="21590"/>
            </a:xfrm>
            <a:custGeom>
              <a:avLst/>
              <a:gdLst/>
              <a:ahLst/>
              <a:cxnLst/>
              <a:rect l="l" t="t" r="r" b="b"/>
              <a:pathLst>
                <a:path w="31114" h="21589">
                  <a:moveTo>
                    <a:pt x="18444" y="12381"/>
                  </a:moveTo>
                  <a:lnTo>
                    <a:pt x="27171" y="0"/>
                  </a:lnTo>
                  <a:lnTo>
                    <a:pt x="0" y="15574"/>
                  </a:lnTo>
                  <a:lnTo>
                    <a:pt x="30825" y="21109"/>
                  </a:lnTo>
                  <a:lnTo>
                    <a:pt x="18444" y="12381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 descr=""/>
          <p:cNvGrpSpPr/>
          <p:nvPr/>
        </p:nvGrpSpPr>
        <p:grpSpPr>
          <a:xfrm>
            <a:off x="6134136" y="1495951"/>
            <a:ext cx="2282825" cy="2508885"/>
            <a:chOff x="6134136" y="1495951"/>
            <a:chExt cx="2282825" cy="2508885"/>
          </a:xfrm>
        </p:grpSpPr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34136" y="1495951"/>
              <a:ext cx="2282631" cy="2508389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6176674" y="1666374"/>
              <a:ext cx="716915" cy="443865"/>
            </a:xfrm>
            <a:custGeom>
              <a:avLst/>
              <a:gdLst/>
              <a:ahLst/>
              <a:cxnLst/>
              <a:rect l="l" t="t" r="r" b="b"/>
              <a:pathLst>
                <a:path w="716915" h="443864">
                  <a:moveTo>
                    <a:pt x="0" y="0"/>
                  </a:moveTo>
                  <a:lnTo>
                    <a:pt x="716842" y="443621"/>
                  </a:lnTo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878771" y="2095251"/>
              <a:ext cx="31115" cy="24765"/>
            </a:xfrm>
            <a:custGeom>
              <a:avLst/>
              <a:gdLst/>
              <a:ahLst/>
              <a:cxnLst/>
              <a:rect l="l" t="t" r="r" b="b"/>
              <a:pathLst>
                <a:path w="31115" h="24764">
                  <a:moveTo>
                    <a:pt x="30662" y="24595"/>
                  </a:moveTo>
                  <a:lnTo>
                    <a:pt x="0" y="18217"/>
                  </a:lnTo>
                  <a:lnTo>
                    <a:pt x="14745" y="14745"/>
                  </a:lnTo>
                  <a:lnTo>
                    <a:pt x="11273" y="0"/>
                  </a:lnTo>
                  <a:lnTo>
                    <a:pt x="30662" y="2459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878771" y="2095251"/>
              <a:ext cx="31115" cy="24765"/>
            </a:xfrm>
            <a:custGeom>
              <a:avLst/>
              <a:gdLst/>
              <a:ahLst/>
              <a:cxnLst/>
              <a:rect l="l" t="t" r="r" b="b"/>
              <a:pathLst>
                <a:path w="31115" h="24764">
                  <a:moveTo>
                    <a:pt x="14745" y="14745"/>
                  </a:moveTo>
                  <a:lnTo>
                    <a:pt x="0" y="18217"/>
                  </a:lnTo>
                  <a:lnTo>
                    <a:pt x="30662" y="24595"/>
                  </a:lnTo>
                  <a:lnTo>
                    <a:pt x="11273" y="0"/>
                  </a:lnTo>
                  <a:lnTo>
                    <a:pt x="14745" y="14745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4748438" y="1540345"/>
            <a:ext cx="132905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80" b="1">
                <a:solidFill>
                  <a:srgbClr val="595959"/>
                </a:solidFill>
                <a:latin typeface="Tahoma"/>
                <a:cs typeface="Tahoma"/>
              </a:rPr>
              <a:t>Punto</a:t>
            </a:r>
            <a:r>
              <a:rPr dirty="0" sz="1300" spc="-114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90" b="1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1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80" b="1">
                <a:solidFill>
                  <a:srgbClr val="595959"/>
                </a:solidFill>
                <a:latin typeface="Tahoma"/>
                <a:cs typeface="Tahoma"/>
              </a:rPr>
              <a:t>montaje</a:t>
            </a:r>
            <a:endParaRPr sz="1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6629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40"/>
              </a:spcBef>
            </a:pPr>
            <a:r>
              <a:rPr dirty="0" spc="65"/>
              <a:t>Filesystems</a:t>
            </a:r>
            <a:r>
              <a:rPr dirty="0" spc="-155"/>
              <a:t> </a:t>
            </a:r>
            <a:r>
              <a:rPr dirty="0" spc="-10"/>
              <a:t>virtuales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32875" y="1431121"/>
            <a:ext cx="6974205" cy="6038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7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todos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filesystems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corresponden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dispositivo.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Algunos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son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95" b="1">
                <a:solidFill>
                  <a:srgbClr val="595959"/>
                </a:solidFill>
                <a:latin typeface="Tahoma"/>
                <a:cs typeface="Tahoma"/>
              </a:rPr>
              <a:t>enteramente </a:t>
            </a:r>
            <a:r>
              <a:rPr dirty="0" sz="1300" spc="-35" b="1">
                <a:solidFill>
                  <a:srgbClr val="595959"/>
                </a:solidFill>
                <a:latin typeface="Tahoma"/>
                <a:cs typeface="Tahoma"/>
              </a:rPr>
              <a:t>virtuales</a:t>
            </a:r>
            <a:r>
              <a:rPr dirty="0" sz="1300" spc="-35">
                <a:solidFill>
                  <a:srgbClr val="595959"/>
                </a:solidFill>
                <a:latin typeface="Tahoma"/>
                <a:cs typeface="Tahoma"/>
              </a:rPr>
              <a:t>!</a:t>
            </a:r>
            <a:endParaRPr sz="13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dirty="0" sz="1300" spc="-100" b="1">
                <a:solidFill>
                  <a:srgbClr val="595959"/>
                </a:solidFill>
                <a:latin typeface="Tahoma"/>
                <a:cs typeface="Tahoma"/>
              </a:rPr>
              <a:t>Ejemplo:</a:t>
            </a:r>
            <a:r>
              <a:rPr dirty="0" sz="1300" spc="-8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595959"/>
                </a:solidFill>
                <a:latin typeface="Tahoma"/>
                <a:cs typeface="Tahoma"/>
              </a:rPr>
              <a:t>procfs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89399" y="2351425"/>
            <a:ext cx="7630159" cy="400685"/>
          </a:xfrm>
          <a:prstGeom prst="rect">
            <a:avLst/>
          </a:prstGeom>
          <a:solidFill>
            <a:srgbClr val="1A1A1A"/>
          </a:solidFill>
        </p:spPr>
        <p:txBody>
          <a:bodyPr wrap="square" lIns="0" tIns="78105" rIns="0" bIns="0" rtlCol="0" vert="horz">
            <a:spAutoFit/>
          </a:bodyPr>
          <a:lstStyle/>
          <a:p>
            <a:pPr marL="85725">
              <a:lnSpc>
                <a:spcPct val="100000"/>
              </a:lnSpc>
              <a:spcBef>
                <a:spcPts val="615"/>
              </a:spcBef>
            </a:pP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mount</a:t>
            </a:r>
            <a:r>
              <a:rPr dirty="0" sz="14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ourier New"/>
                <a:cs typeface="Courier New"/>
              </a:rPr>
              <a:t>-</a:t>
            </a: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t</a:t>
            </a:r>
            <a:r>
              <a:rPr dirty="0" sz="1400" spc="-1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proc</a:t>
            </a:r>
            <a:r>
              <a:rPr dirty="0" sz="1400" spc="-1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proc</a:t>
            </a:r>
            <a:r>
              <a:rPr dirty="0" sz="1400" spc="-1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ourier New"/>
                <a:cs typeface="Courier New"/>
              </a:rPr>
              <a:t>/proc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32875" y="3166490"/>
            <a:ext cx="7522209" cy="8140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procfs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30">
                <a:solidFill>
                  <a:srgbClr val="595959"/>
                </a:solidFill>
                <a:latin typeface="Tahoma"/>
                <a:cs typeface="Tahoma"/>
              </a:rPr>
              <a:t>(sistema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archivos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procesos)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sistema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archivos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virtual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sistemas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operativos</a:t>
            </a:r>
            <a:r>
              <a:rPr dirty="0" sz="15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tipo</a:t>
            </a:r>
            <a:r>
              <a:rPr dirty="0" sz="15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Unix</a:t>
            </a:r>
            <a:r>
              <a:rPr dirty="0" sz="15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(incluyendo</a:t>
            </a:r>
            <a:r>
              <a:rPr dirty="0" sz="15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595959"/>
                </a:solidFill>
                <a:latin typeface="Tahoma"/>
                <a:cs typeface="Tahoma"/>
              </a:rPr>
              <a:t>Linux)</a:t>
            </a:r>
            <a:r>
              <a:rPr dirty="0" sz="15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5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proporciona</a:t>
            </a:r>
            <a:r>
              <a:rPr dirty="0" sz="15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5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interfaz</a:t>
            </a:r>
            <a:r>
              <a:rPr dirty="0" sz="15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5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acceder</a:t>
            </a:r>
            <a:r>
              <a:rPr dirty="0" sz="15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5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la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información</a:t>
            </a:r>
            <a:r>
              <a:rPr dirty="0" sz="15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sobre</a:t>
            </a:r>
            <a:r>
              <a:rPr dirty="0" sz="15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5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procesos</a:t>
            </a:r>
            <a:r>
              <a:rPr dirty="0" sz="15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5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otros</a:t>
            </a:r>
            <a:r>
              <a:rPr dirty="0" sz="15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datos</a:t>
            </a:r>
            <a:r>
              <a:rPr dirty="0" sz="15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5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sistema</a:t>
            </a:r>
            <a:r>
              <a:rPr dirty="0" sz="15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directamente</a:t>
            </a:r>
            <a:r>
              <a:rPr dirty="0" sz="15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desde</a:t>
            </a:r>
            <a:r>
              <a:rPr dirty="0" sz="15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5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kernel.</a:t>
            </a:r>
            <a:endParaRPr sz="1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02475" y="1507621"/>
            <a:ext cx="2977515" cy="6038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3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otros</a:t>
            </a:r>
            <a:r>
              <a:rPr dirty="0" sz="13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tipos</a:t>
            </a:r>
            <a:r>
              <a:rPr dirty="0" sz="13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filesystem</a:t>
            </a:r>
            <a:r>
              <a:rPr dirty="0" sz="13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virtual</a:t>
            </a:r>
            <a:r>
              <a:rPr dirty="0" sz="13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hay?</a:t>
            </a:r>
            <a:endParaRPr sz="13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Usemos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/proc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obtener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respuesta!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6629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40"/>
              </a:spcBef>
            </a:pPr>
            <a:r>
              <a:rPr dirty="0" spc="65"/>
              <a:t>Filesystems</a:t>
            </a:r>
            <a:r>
              <a:rPr dirty="0" spc="-155"/>
              <a:t> </a:t>
            </a:r>
            <a:r>
              <a:rPr dirty="0" spc="-10"/>
              <a:t>virtuales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826425" y="2318474"/>
            <a:ext cx="7630159" cy="2016760"/>
          </a:xfrm>
          <a:prstGeom prst="rect">
            <a:avLst/>
          </a:prstGeom>
          <a:solidFill>
            <a:srgbClr val="1A1A1A"/>
          </a:solidFill>
        </p:spPr>
        <p:txBody>
          <a:bodyPr wrap="square" lIns="0" tIns="76835" rIns="0" bIns="0" rtlCol="0" vert="horz">
            <a:spAutoFit/>
          </a:bodyPr>
          <a:lstStyle/>
          <a:p>
            <a:pPr marL="85725" marR="2484120">
              <a:lnSpc>
                <a:spcPct val="100000"/>
              </a:lnSpc>
              <a:spcBef>
                <a:spcPts val="605"/>
              </a:spcBef>
              <a:tabLst>
                <a:tab pos="999490" algn="l"/>
              </a:tabLst>
            </a:pPr>
            <a:r>
              <a:rPr dirty="0" sz="1700" spc="-10">
                <a:solidFill>
                  <a:srgbClr val="FFFFFF"/>
                </a:solidFill>
                <a:latin typeface="Courier New"/>
                <a:cs typeface="Courier New"/>
              </a:rPr>
              <a:t>ubuntu@primary:~$</a:t>
            </a:r>
            <a:r>
              <a:rPr dirty="0" sz="1700" spc="-8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FFFFFF"/>
                </a:solidFill>
                <a:latin typeface="Courier New"/>
                <a:cs typeface="Courier New"/>
              </a:rPr>
              <a:t>cat</a:t>
            </a:r>
            <a:r>
              <a:rPr dirty="0" sz="1700" spc="-6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Courier New"/>
                <a:cs typeface="Courier New"/>
              </a:rPr>
              <a:t>/proc/filesystems nodev</a:t>
            </a:r>
            <a:r>
              <a:rPr dirty="0" sz="1700">
                <a:solidFill>
                  <a:srgbClr val="FFFFFF"/>
                </a:solidFill>
                <a:latin typeface="Courier New"/>
                <a:cs typeface="Courier New"/>
              </a:rPr>
              <a:t>	</a:t>
            </a:r>
            <a:r>
              <a:rPr dirty="0" sz="1700" spc="-10">
                <a:solidFill>
                  <a:srgbClr val="FFFFFF"/>
                </a:solidFill>
                <a:latin typeface="Courier New"/>
                <a:cs typeface="Courier New"/>
              </a:rPr>
              <a:t>sysfs</a:t>
            </a:r>
            <a:endParaRPr sz="1700">
              <a:latin typeface="Courier New"/>
              <a:cs typeface="Courier New"/>
            </a:endParaRPr>
          </a:p>
          <a:p>
            <a:pPr marL="85725" marR="5844540">
              <a:lnSpc>
                <a:spcPct val="100000"/>
              </a:lnSpc>
              <a:tabLst>
                <a:tab pos="999490" algn="l"/>
              </a:tabLst>
            </a:pPr>
            <a:r>
              <a:rPr dirty="0" sz="1700" spc="-10">
                <a:solidFill>
                  <a:srgbClr val="FFFFFF"/>
                </a:solidFill>
                <a:latin typeface="Courier New"/>
                <a:cs typeface="Courier New"/>
              </a:rPr>
              <a:t>nodev</a:t>
            </a:r>
            <a:r>
              <a:rPr dirty="0" sz="1700">
                <a:solidFill>
                  <a:srgbClr val="FFFFFF"/>
                </a:solidFill>
                <a:latin typeface="Courier New"/>
                <a:cs typeface="Courier New"/>
              </a:rPr>
              <a:t>	</a:t>
            </a:r>
            <a:r>
              <a:rPr dirty="0" sz="1700" spc="-10">
                <a:solidFill>
                  <a:srgbClr val="FFFFFF"/>
                </a:solidFill>
                <a:latin typeface="Courier New"/>
                <a:cs typeface="Courier New"/>
              </a:rPr>
              <a:t>tmpfs nodev</a:t>
            </a:r>
            <a:r>
              <a:rPr dirty="0" sz="1700">
                <a:solidFill>
                  <a:srgbClr val="FFFFFF"/>
                </a:solidFill>
                <a:latin typeface="Courier New"/>
                <a:cs typeface="Courier New"/>
              </a:rPr>
              <a:t>	</a:t>
            </a:r>
            <a:r>
              <a:rPr dirty="0" sz="1700" spc="-20">
                <a:solidFill>
                  <a:srgbClr val="FFFFFF"/>
                </a:solidFill>
                <a:latin typeface="Courier New"/>
                <a:cs typeface="Courier New"/>
              </a:rPr>
              <a:t>proc </a:t>
            </a:r>
            <a:r>
              <a:rPr dirty="0" sz="1700" spc="-10">
                <a:solidFill>
                  <a:srgbClr val="FFFFFF"/>
                </a:solidFill>
                <a:latin typeface="Courier New"/>
                <a:cs typeface="Courier New"/>
              </a:rPr>
              <a:t>nodev</a:t>
            </a:r>
            <a:r>
              <a:rPr dirty="0" sz="1700">
                <a:solidFill>
                  <a:srgbClr val="FFFFFF"/>
                </a:solidFill>
                <a:latin typeface="Courier New"/>
                <a:cs typeface="Courier New"/>
              </a:rPr>
              <a:t>	</a:t>
            </a:r>
            <a:r>
              <a:rPr dirty="0" sz="1700" spc="-20">
                <a:solidFill>
                  <a:srgbClr val="FFFFFF"/>
                </a:solidFill>
                <a:latin typeface="Courier New"/>
                <a:cs typeface="Courier New"/>
              </a:rPr>
              <a:t>cgroup</a:t>
            </a:r>
            <a:endParaRPr sz="1700">
              <a:latin typeface="Courier New"/>
              <a:cs typeface="Courier New"/>
            </a:endParaRPr>
          </a:p>
          <a:p>
            <a:pPr marL="1000125">
              <a:lnSpc>
                <a:spcPct val="100000"/>
              </a:lnSpc>
            </a:pPr>
            <a:r>
              <a:rPr dirty="0" sz="1700" spc="-20">
                <a:solidFill>
                  <a:srgbClr val="FFFFFF"/>
                </a:solidFill>
                <a:latin typeface="Courier New"/>
                <a:cs typeface="Courier New"/>
              </a:rPr>
              <a:t>ext4</a:t>
            </a:r>
            <a:endParaRPr sz="1700">
              <a:latin typeface="Courier New"/>
              <a:cs typeface="Courier New"/>
            </a:endParaRPr>
          </a:p>
          <a:p>
            <a:pPr marL="85725">
              <a:lnSpc>
                <a:spcPct val="100000"/>
              </a:lnSpc>
            </a:pPr>
            <a:r>
              <a:rPr dirty="0" sz="1700" spc="-50">
                <a:solidFill>
                  <a:srgbClr val="FFFFFF"/>
                </a:solidFill>
                <a:latin typeface="Courier New"/>
                <a:cs typeface="Courier New"/>
              </a:rPr>
              <a:t>…</a:t>
            </a:r>
            <a:endParaRPr sz="17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8 - File System I</dc:title>
  <dcterms:created xsi:type="dcterms:W3CDTF">2026-03-16T16:21:28Z</dcterms:created>
  <dcterms:modified xsi:type="dcterms:W3CDTF">2026-03-16T16:21:28Z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2026-03-16T00:00:00Z</vt:filetime>
  </property>
  <property fmtid="{D5CDD505-2E9C-101B-9397-08002B2CF9AE}" pid="3" name="Creator">
    <vt:lpwstr>Google</vt:lpwstr>
  </property>
  <property fmtid="{D5CDD505-2E9C-101B-9397-08002B2CF9AE}" pid="4" name="LastSaved">
    <vt:filetime>2026-03-16T00:00:00Z</vt:filetime>
  </property>
</Properties>
</file>