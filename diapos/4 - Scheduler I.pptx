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75" y="661812"/>
            <a:ext cx="7539049" cy="382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1850" y="614737"/>
            <a:ext cx="6401679" cy="476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2475" y="1262255"/>
            <a:ext cx="7508240" cy="309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medium.com/%40mattklein123/meltdown-spectre-explained-6bc8634cc0c2" TargetMode="External"/><Relationship Id="rId4" Type="http://schemas.openxmlformats.org/officeDocument/2006/relationships/hyperlink" Target="https://en.wikipedia.org/wiki/Kernel_page-table_isolation" TargetMode="External"/><Relationship Id="rId5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ages.cs.wisc.edu/~remzi/OSTEP/cpu-sched.pdf" TargetMode="External"/><Relationship Id="rId3" Type="http://schemas.openxmlformats.org/officeDocument/2006/relationships/hyperlink" Target="https://pages.cs.wisc.edu/~remzi/OSTEP/cpu-sched-mlfq.pdf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487800"/>
              <a:ext cx="9144000" cy="4655820"/>
            </a:xfrm>
            <a:custGeom>
              <a:avLst/>
              <a:gdLst/>
              <a:ahLst/>
              <a:cxnLst/>
              <a:rect l="l" t="t" r="r" b="b"/>
              <a:pathLst>
                <a:path w="9144000" h="4655820">
                  <a:moveTo>
                    <a:pt x="0" y="4655699"/>
                  </a:moveTo>
                  <a:lnTo>
                    <a:pt x="9143999" y="465569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6556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488315"/>
            </a:xfrm>
            <a:custGeom>
              <a:avLst/>
              <a:gdLst/>
              <a:ahLst/>
              <a:cxnLst/>
              <a:rect l="l" t="t" r="r" b="b"/>
              <a:pathLst>
                <a:path w="9144000" h="488315">
                  <a:moveTo>
                    <a:pt x="9143999" y="487799"/>
                  </a:moveTo>
                  <a:lnTo>
                    <a:pt x="0" y="487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8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2475" y="1374138"/>
            <a:ext cx="524637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/>
              <a:t>Sistemas</a:t>
            </a:r>
            <a:r>
              <a:rPr dirty="0" sz="4200" spc="-235"/>
              <a:t> </a:t>
            </a:r>
            <a:r>
              <a:rPr dirty="0" sz="4200" spc="50"/>
              <a:t>Operativos </a:t>
            </a:r>
            <a:r>
              <a:rPr dirty="0" sz="4200" spc="130"/>
              <a:t>Scheduler</a:t>
            </a:r>
            <a:r>
              <a:rPr dirty="0" sz="4200" spc="-350"/>
              <a:t> </a:t>
            </a:r>
            <a:r>
              <a:rPr dirty="0" sz="4200" spc="-50"/>
              <a:t>I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5424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Transición</a:t>
            </a:r>
            <a:r>
              <a:rPr dirty="0" sz="3600" spc="-150">
                <a:solidFill>
                  <a:srgbClr val="FFFFFF"/>
                </a:solidFill>
              </a:rPr>
              <a:t> </a:t>
            </a:r>
            <a:r>
              <a:rPr dirty="0" sz="3600" spc="90">
                <a:solidFill>
                  <a:srgbClr val="FFFFFF"/>
                </a:solidFill>
              </a:rPr>
              <a:t>User-</a:t>
            </a:r>
            <a:r>
              <a:rPr dirty="0" sz="3600">
                <a:solidFill>
                  <a:srgbClr val="FFFFFF"/>
                </a:solidFill>
              </a:rPr>
              <a:t>Kernel</a:t>
            </a:r>
            <a:r>
              <a:rPr dirty="0" sz="3600" spc="-250">
                <a:solidFill>
                  <a:srgbClr val="FFFFFF"/>
                </a:solidFill>
              </a:rPr>
              <a:t> </a:t>
            </a:r>
            <a:r>
              <a:rPr dirty="0" sz="3600" spc="60">
                <a:solidFill>
                  <a:srgbClr val="FFFFFF"/>
                </a:solidFill>
              </a:rPr>
              <a:t>en</a:t>
            </a:r>
            <a:r>
              <a:rPr dirty="0" sz="3600" spc="-150">
                <a:solidFill>
                  <a:srgbClr val="FFFFFF"/>
                </a:solidFill>
              </a:rPr>
              <a:t> </a:t>
            </a:r>
            <a:r>
              <a:rPr dirty="0" sz="3600" spc="-25">
                <a:solidFill>
                  <a:srgbClr val="FFFFFF"/>
                </a:solidFill>
              </a:rPr>
              <a:t>xv6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913550" y="3201581"/>
            <a:ext cx="261747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Cambio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contexto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Memoria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virtual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Trampoline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Trapframe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461454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Estructura</a:t>
            </a:r>
            <a:r>
              <a:rPr dirty="0" spc="-40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50"/>
              <a:t>un</a:t>
            </a:r>
            <a:r>
              <a:rPr dirty="0" spc="-35"/>
              <a:t> </a:t>
            </a:r>
            <a:r>
              <a:rPr dirty="0" spc="85"/>
              <a:t>proceso</a:t>
            </a:r>
            <a:r>
              <a:rPr dirty="0" spc="-40"/>
              <a:t> </a:t>
            </a:r>
            <a:r>
              <a:rPr dirty="0" spc="50"/>
              <a:t>en</a:t>
            </a:r>
            <a:r>
              <a:rPr dirty="0" spc="-40"/>
              <a:t> </a:t>
            </a:r>
            <a:r>
              <a:rPr dirty="0" spc="-25"/>
              <a:t>xv6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946222"/>
            <a:ext cx="7253605" cy="173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clase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anterior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asociado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contexto.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informalmente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pensar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completo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ejecución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conformado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por:</a:t>
            </a:r>
            <a:endParaRPr sz="1600">
              <a:latin typeface="Tahoma"/>
              <a:cs typeface="Tahoma"/>
            </a:endParaRPr>
          </a:p>
          <a:p>
            <a:pPr marL="469265" indent="-299085">
              <a:lnSpc>
                <a:spcPct val="100000"/>
              </a:lnSpc>
              <a:spcBef>
                <a:spcPts val="1920"/>
              </a:spcBef>
              <a:buChar char="-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direcciones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endParaRPr sz="1600">
              <a:latin typeface="Tahoma"/>
              <a:cs typeface="Tahoma"/>
            </a:endParaRPr>
          </a:p>
          <a:p>
            <a:pPr marL="469265" indent="-29908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endParaRPr sz="1600">
              <a:latin typeface="Tahoma"/>
              <a:cs typeface="Tahoma"/>
            </a:endParaRPr>
          </a:p>
          <a:p>
            <a:pPr marL="469265" indent="-29908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Estructuras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4475" y="3316106"/>
            <a:ext cx="74028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9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 sistema</a:t>
            </a:r>
            <a:r>
              <a:rPr dirty="0" sz="18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interrumpe</a:t>
            </a:r>
            <a:r>
              <a:rPr dirty="0" sz="18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momentáneamente</a:t>
            </a:r>
            <a:r>
              <a:rPr dirty="0" sz="18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0" b="1">
                <a:solidFill>
                  <a:srgbClr val="595959"/>
                </a:solidFill>
                <a:latin typeface="Tahoma"/>
                <a:cs typeface="Tahoma"/>
              </a:rPr>
              <a:t>ejecución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90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restaura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5" b="1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5" b="1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5" b="1">
                <a:solidFill>
                  <a:srgbClr val="595959"/>
                </a:solidFill>
                <a:latin typeface="Tahoma"/>
                <a:cs typeface="Tahoma"/>
              </a:rPr>
              <a:t>suspendido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produce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8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Tahoma"/>
                <a:cs typeface="Tahoma"/>
              </a:rPr>
              <a:t>contexto.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47485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Diagrama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100"/>
              <a:t>cambio</a:t>
            </a:r>
            <a:r>
              <a:rPr dirty="0" spc="-120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-10"/>
              <a:t>contexto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338086" y="2202297"/>
            <a:ext cx="1419225" cy="929005"/>
            <a:chOff x="3338086" y="2202297"/>
            <a:chExt cx="1419225" cy="929005"/>
          </a:xfrm>
        </p:grpSpPr>
        <p:sp>
          <p:nvSpPr>
            <p:cNvPr id="4" name="object 4" descr=""/>
            <p:cNvSpPr/>
            <p:nvPr/>
          </p:nvSpPr>
          <p:spPr>
            <a:xfrm>
              <a:off x="3342849" y="2207060"/>
              <a:ext cx="1409700" cy="919480"/>
            </a:xfrm>
            <a:custGeom>
              <a:avLst/>
              <a:gdLst/>
              <a:ahLst/>
              <a:cxnLst/>
              <a:rect l="l" t="t" r="r" b="b"/>
              <a:pathLst>
                <a:path w="1409700" h="919480">
                  <a:moveTo>
                    <a:pt x="704662" y="919299"/>
                  </a:moveTo>
                  <a:lnTo>
                    <a:pt x="0" y="459649"/>
                  </a:lnTo>
                  <a:lnTo>
                    <a:pt x="704662" y="0"/>
                  </a:lnTo>
                  <a:lnTo>
                    <a:pt x="1409324" y="459649"/>
                  </a:lnTo>
                  <a:lnTo>
                    <a:pt x="704662" y="9192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42849" y="2207060"/>
              <a:ext cx="1409700" cy="919480"/>
            </a:xfrm>
            <a:custGeom>
              <a:avLst/>
              <a:gdLst/>
              <a:ahLst/>
              <a:cxnLst/>
              <a:rect l="l" t="t" r="r" b="b"/>
              <a:pathLst>
                <a:path w="1409700" h="919480">
                  <a:moveTo>
                    <a:pt x="0" y="459649"/>
                  </a:moveTo>
                  <a:lnTo>
                    <a:pt x="704662" y="0"/>
                  </a:lnTo>
                  <a:lnTo>
                    <a:pt x="1409324" y="459649"/>
                  </a:lnTo>
                  <a:lnTo>
                    <a:pt x="704662" y="919299"/>
                  </a:lnTo>
                  <a:lnTo>
                    <a:pt x="0" y="45964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810048" y="2496529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ahoma"/>
                <a:cs typeface="Tahoma"/>
              </a:rPr>
              <a:t>Context Switch?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42849" y="805325"/>
            <a:ext cx="1409700" cy="71437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48590" rIns="0" bIns="0" rtlCol="0" vert="horz">
            <a:spAutoFit/>
          </a:bodyPr>
          <a:lstStyle/>
          <a:p>
            <a:pPr marL="261620" marR="253365" indent="72390">
              <a:lnSpc>
                <a:spcPct val="101000"/>
              </a:lnSpc>
              <a:spcBef>
                <a:spcPts val="1170"/>
              </a:spcBef>
            </a:pPr>
            <a:r>
              <a:rPr dirty="0" sz="1300" spc="-10">
                <a:latin typeface="Tahoma"/>
                <a:cs typeface="Tahoma"/>
              </a:rPr>
              <a:t>Transición </a:t>
            </a:r>
            <a:r>
              <a:rPr dirty="0" sz="1300">
                <a:latin typeface="Tahoma"/>
                <a:cs typeface="Tahoma"/>
              </a:rPr>
              <a:t>User-</a:t>
            </a:r>
            <a:r>
              <a:rPr dirty="0" sz="1300" spc="-10">
                <a:latin typeface="Tahoma"/>
                <a:cs typeface="Tahoma"/>
              </a:rPr>
              <a:t>Kernel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87775" y="2399100"/>
            <a:ext cx="1094105" cy="53530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5557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225"/>
              </a:spcBef>
            </a:pPr>
            <a:r>
              <a:rPr dirty="0" sz="1400" spc="-10">
                <a:latin typeface="Tahoma"/>
                <a:cs typeface="Tahoma"/>
              </a:rPr>
              <a:t>Scheduler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87875" y="3903412"/>
            <a:ext cx="1094105" cy="53530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60960" rIns="0" bIns="0" rtlCol="0" vert="horz">
            <a:spAutoFit/>
          </a:bodyPr>
          <a:lstStyle/>
          <a:p>
            <a:pPr marL="293370" marR="224154" indent="-61594">
              <a:lnSpc>
                <a:spcPts val="1650"/>
              </a:lnSpc>
              <a:spcBef>
                <a:spcPts val="480"/>
              </a:spcBef>
            </a:pPr>
            <a:r>
              <a:rPr dirty="0" sz="1400" spc="-10">
                <a:latin typeface="Tahoma"/>
                <a:cs typeface="Tahoma"/>
              </a:rPr>
              <a:t>Context switch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42849" y="3813924"/>
            <a:ext cx="1409700" cy="71437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48590" rIns="0" bIns="0" rtlCol="0" vert="horz">
            <a:spAutoFit/>
          </a:bodyPr>
          <a:lstStyle/>
          <a:p>
            <a:pPr marL="261620" marR="253365" indent="72390">
              <a:lnSpc>
                <a:spcPct val="101000"/>
              </a:lnSpc>
              <a:spcBef>
                <a:spcPts val="1170"/>
              </a:spcBef>
            </a:pPr>
            <a:r>
              <a:rPr dirty="0" sz="1300" spc="-10">
                <a:latin typeface="Tahoma"/>
                <a:cs typeface="Tahoma"/>
              </a:rPr>
              <a:t>Transición </a:t>
            </a:r>
            <a:r>
              <a:rPr dirty="0" sz="1300">
                <a:latin typeface="Tahoma"/>
                <a:cs typeface="Tahoma"/>
              </a:rPr>
              <a:t>Kernel-</a:t>
            </a:r>
            <a:r>
              <a:rPr dirty="0" sz="1300" spc="-20">
                <a:latin typeface="Tahoma"/>
                <a:cs typeface="Tahoma"/>
              </a:rPr>
              <a:t>User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027016" y="1519499"/>
            <a:ext cx="1851660" cy="2285365"/>
            <a:chOff x="4027016" y="1519499"/>
            <a:chExt cx="1851660" cy="2285365"/>
          </a:xfrm>
        </p:grpSpPr>
        <p:sp>
          <p:nvSpPr>
            <p:cNvPr id="12" name="object 12" descr=""/>
            <p:cNvSpPr/>
            <p:nvPr/>
          </p:nvSpPr>
          <p:spPr>
            <a:xfrm>
              <a:off x="4047512" y="1519499"/>
              <a:ext cx="0" cy="630555"/>
            </a:xfrm>
            <a:custGeom>
              <a:avLst/>
              <a:gdLst/>
              <a:ahLst/>
              <a:cxnLst/>
              <a:rect l="l" t="t" r="r" b="b"/>
              <a:pathLst>
                <a:path w="0" h="630555">
                  <a:moveTo>
                    <a:pt x="0" y="0"/>
                  </a:moveTo>
                  <a:lnTo>
                    <a:pt x="0" y="6304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31779" y="21499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31779" y="21499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52174" y="2666709"/>
              <a:ext cx="1078865" cy="0"/>
            </a:xfrm>
            <a:custGeom>
              <a:avLst/>
              <a:gdLst/>
              <a:ahLst/>
              <a:cxnLst/>
              <a:rect l="l" t="t" r="r" b="b"/>
              <a:pathLst>
                <a:path w="1078864" h="0">
                  <a:moveTo>
                    <a:pt x="0" y="0"/>
                  </a:moveTo>
                  <a:lnTo>
                    <a:pt x="10783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830524" y="265097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30524" y="265097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7511" y="3126359"/>
              <a:ext cx="0" cy="630555"/>
            </a:xfrm>
            <a:custGeom>
              <a:avLst/>
              <a:gdLst/>
              <a:ahLst/>
              <a:cxnLst/>
              <a:rect l="l" t="t" r="r" b="b"/>
              <a:pathLst>
                <a:path w="0" h="630554">
                  <a:moveTo>
                    <a:pt x="0" y="0"/>
                  </a:moveTo>
                  <a:lnTo>
                    <a:pt x="0" y="6304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031779" y="37568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031779" y="37568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6414304" y="2934299"/>
            <a:ext cx="41275" cy="960119"/>
            <a:chOff x="6414304" y="2934299"/>
            <a:chExt cx="41275" cy="960119"/>
          </a:xfrm>
        </p:grpSpPr>
        <p:sp>
          <p:nvSpPr>
            <p:cNvPr id="22" name="object 22" descr=""/>
            <p:cNvSpPr/>
            <p:nvPr/>
          </p:nvSpPr>
          <p:spPr>
            <a:xfrm>
              <a:off x="6434799" y="2934299"/>
              <a:ext cx="0" cy="911860"/>
            </a:xfrm>
            <a:custGeom>
              <a:avLst/>
              <a:gdLst/>
              <a:ahLst/>
              <a:cxnLst/>
              <a:rect l="l" t="t" r="r" b="b"/>
              <a:pathLst>
                <a:path w="0" h="911860">
                  <a:moveTo>
                    <a:pt x="0" y="0"/>
                  </a:moveTo>
                  <a:lnTo>
                    <a:pt x="0" y="9118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419067" y="38461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419067" y="38461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761236" y="4150517"/>
            <a:ext cx="1127125" cy="41275"/>
            <a:chOff x="4761236" y="4150517"/>
            <a:chExt cx="1127125" cy="41275"/>
          </a:xfrm>
        </p:grpSpPr>
        <p:sp>
          <p:nvSpPr>
            <p:cNvPr id="26" name="object 26" descr=""/>
            <p:cNvSpPr/>
            <p:nvPr/>
          </p:nvSpPr>
          <p:spPr>
            <a:xfrm>
              <a:off x="4809224" y="4171012"/>
              <a:ext cx="1078865" cy="0"/>
            </a:xfrm>
            <a:custGeom>
              <a:avLst/>
              <a:gdLst/>
              <a:ahLst/>
              <a:cxnLst/>
              <a:rect l="l" t="t" r="r" b="b"/>
              <a:pathLst>
                <a:path w="1078864" h="0">
                  <a:moveTo>
                    <a:pt x="1078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765999" y="41552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65999" y="415527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825200" y="2348221"/>
            <a:ext cx="1555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120525" y="3192770"/>
            <a:ext cx="2425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45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69133" y="736233"/>
            <a:ext cx="148209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0360" algn="l"/>
              </a:tabLst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endParaRPr sz="13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buFont typeface="Arial MT"/>
              <a:buChar char="●"/>
              <a:tabLst>
                <a:tab pos="340360" algn="l"/>
              </a:tabLst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Interrupt</a:t>
            </a:r>
            <a:endParaRPr sz="13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buFont typeface="Arial MT"/>
              <a:buChar char="●"/>
              <a:tabLst>
                <a:tab pos="340360" algn="l"/>
              </a:tabLst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Interrupt</a:t>
            </a:r>
            <a:endParaRPr sz="13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buFont typeface="Arial MT"/>
              <a:buChar char="●"/>
              <a:tabLst>
                <a:tab pos="340360" algn="l"/>
              </a:tabLst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Exception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01450" y="2240521"/>
            <a:ext cx="2268855" cy="1374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context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switch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endParaRPr sz="13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endParaRPr sz="13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Bloqueante</a:t>
            </a:r>
            <a:endParaRPr sz="13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terminado</a:t>
            </a:r>
            <a:endParaRPr sz="1300">
              <a:latin typeface="Tahoma"/>
              <a:cs typeface="Tahoma"/>
            </a:endParaRPr>
          </a:p>
          <a:p>
            <a:pPr marL="57785" marR="177800">
              <a:lnSpc>
                <a:spcPct val="100000"/>
              </a:lnSpc>
              <a:spcBef>
                <a:spcPts val="1255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no,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transición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kernel,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normal.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310500" y="2440620"/>
            <a:ext cx="143637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elige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proximo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proceso…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451275" y="3880371"/>
            <a:ext cx="119253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…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context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switch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dicho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482092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Cambio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/>
              <a:t>contexto:</a:t>
            </a:r>
            <a:r>
              <a:rPr dirty="0" spc="-125"/>
              <a:t> </a:t>
            </a:r>
            <a:r>
              <a:rPr dirty="0" spc="80"/>
              <a:t>Resumiendo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0022" y="589781"/>
            <a:ext cx="7314565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2275" marR="22860" indent="-41020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2227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Comienza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transición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Kernel-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Space.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cambiar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user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  <a:p>
            <a:pPr lvl="1" marL="879475" marR="146050" indent="-393065">
              <a:lnSpc>
                <a:spcPct val="100000"/>
              </a:lnSpc>
              <a:buAutoNum type="alphaLcPeriod"/>
              <a:tabLst>
                <a:tab pos="87947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ocurrir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tanto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interrupciones,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excepciones,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como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llama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call.</a:t>
            </a:r>
            <a:endParaRPr sz="1800">
              <a:latin typeface="Tahoma"/>
              <a:cs typeface="Tahoma"/>
            </a:endParaRPr>
          </a:p>
          <a:p>
            <a:pPr lvl="1" marL="879475" indent="-405130">
              <a:lnSpc>
                <a:spcPct val="100000"/>
              </a:lnSpc>
              <a:buAutoNum type="alphaLcPeriod"/>
              <a:tabLst>
                <a:tab pos="87947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casos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producir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endParaRPr sz="1800">
              <a:latin typeface="Tahoma"/>
              <a:cs typeface="Tahoma"/>
            </a:endParaRPr>
          </a:p>
          <a:p>
            <a:pPr marL="422275" marR="187325" indent="-410209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2227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decide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realizar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contexto,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scheduler.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2227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elije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siguiente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llama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switch.</a:t>
            </a:r>
            <a:endParaRPr sz="1800">
              <a:latin typeface="Tahoma"/>
              <a:cs typeface="Tahoma"/>
            </a:endParaRPr>
          </a:p>
          <a:p>
            <a:pPr algn="just" marL="421005" marR="5080" indent="-40894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22275" algn="l"/>
              </a:tabLst>
            </a:pP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Switch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2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saca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foto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Tahoma"/>
                <a:cs typeface="Tahoma"/>
              </a:rPr>
              <a:t>kernel-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user-space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(en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 spc="-15">
                <a:solidFill>
                  <a:srgbClr val="595959"/>
                </a:solidFill>
                <a:latin typeface="Tahoma"/>
                <a:cs typeface="Tahoma"/>
              </a:rPr>
              <a:t>general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20">
                <a:solidFill>
                  <a:srgbClr val="595959"/>
                </a:solidFill>
                <a:latin typeface="Tahoma"/>
                <a:cs typeface="Tahoma"/>
              </a:rPr>
              <a:t>ultimo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estaba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guardado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1)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restaura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proceso 	candidato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(que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queda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Kernel-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Space)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22275" algn="l"/>
              </a:tabLst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Regresa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User-Space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481076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Comparativa</a:t>
            </a:r>
            <a:r>
              <a:rPr dirty="0" spc="-40"/>
              <a:t> </a:t>
            </a:r>
            <a:r>
              <a:rPr dirty="0"/>
              <a:t>xv6</a:t>
            </a:r>
            <a:r>
              <a:rPr dirty="0" spc="-105"/>
              <a:t> </a:t>
            </a:r>
            <a:r>
              <a:rPr dirty="0" spc="60"/>
              <a:t>y</a:t>
            </a:r>
            <a:r>
              <a:rPr dirty="0" spc="-105"/>
              <a:t> </a:t>
            </a:r>
            <a:r>
              <a:rPr dirty="0"/>
              <a:t>Linux</a:t>
            </a:r>
            <a:r>
              <a:rPr dirty="0" spc="-35"/>
              <a:t> </a:t>
            </a:r>
            <a:r>
              <a:rPr dirty="0"/>
              <a:t>pre-</a:t>
            </a:r>
            <a:r>
              <a:rPr dirty="0" spc="60"/>
              <a:t>KPTI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2066" y="623032"/>
            <a:ext cx="3652704" cy="44334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804" y="1453447"/>
            <a:ext cx="1978323" cy="3186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461454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Estructura</a:t>
            </a:r>
            <a:r>
              <a:rPr dirty="0" spc="-40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50"/>
              <a:t>un</a:t>
            </a:r>
            <a:r>
              <a:rPr dirty="0" spc="-35"/>
              <a:t> </a:t>
            </a:r>
            <a:r>
              <a:rPr dirty="0" spc="85"/>
              <a:t>proceso</a:t>
            </a:r>
            <a:r>
              <a:rPr dirty="0" spc="-40"/>
              <a:t> </a:t>
            </a:r>
            <a:r>
              <a:rPr dirty="0" spc="50"/>
              <a:t>en</a:t>
            </a:r>
            <a:r>
              <a:rPr dirty="0" spc="-40"/>
              <a:t> </a:t>
            </a:r>
            <a:r>
              <a:rPr dirty="0" spc="-25"/>
              <a:t>xv6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699" y="1057397"/>
            <a:ext cx="4438152" cy="36549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22100" y="1172622"/>
            <a:ext cx="3460115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estándar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5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dos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particularidades:</a:t>
            </a:r>
            <a:endParaRPr sz="1900">
              <a:latin typeface="Tahoma"/>
              <a:cs typeface="Tahoma"/>
            </a:endParaRPr>
          </a:p>
          <a:p>
            <a:pPr marL="469265" indent="-31178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Trampoline</a:t>
            </a:r>
            <a:endParaRPr sz="1900">
              <a:latin typeface="Tahoma"/>
              <a:cs typeface="Tahoma"/>
            </a:endParaRPr>
          </a:p>
          <a:p>
            <a:pPr marL="469265" indent="-31178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Trapframe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165290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Trampoline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7555" y="873602"/>
            <a:ext cx="7733665" cy="270700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05"/>
              </a:spcBef>
              <a:buFont typeface="Arial"/>
              <a:buChar char="●"/>
              <a:tabLst>
                <a:tab pos="371475" algn="l"/>
              </a:tabLst>
            </a:pP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assembler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transicionar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modo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modo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endParaRPr sz="1700">
              <a:latin typeface="Tahoma"/>
              <a:cs typeface="Tahoma"/>
            </a:endParaRPr>
          </a:p>
          <a:p>
            <a:pPr marL="371475" marR="5080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Conceptualmente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única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cargada 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user-space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única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página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compartida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address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kernel.</a:t>
            </a:r>
            <a:endParaRPr sz="1700">
              <a:latin typeface="Tahoma"/>
              <a:cs typeface="Tahoma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resto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cargará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necesario.</a:t>
            </a:r>
            <a:endParaRPr sz="1700">
              <a:latin typeface="Tahoma"/>
              <a:cs typeface="Tahoma"/>
            </a:endParaRPr>
          </a:p>
          <a:p>
            <a:pPr marL="371475" marR="19685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diferencia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previo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4.15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reside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completo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address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space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700">
              <a:latin typeface="Tahoma"/>
              <a:cs typeface="Tahoma"/>
            </a:endParaRPr>
          </a:p>
          <a:p>
            <a:pPr marL="371475" marR="267335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modernos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usan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page-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table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isolation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60" b="1">
                <a:solidFill>
                  <a:srgbClr val="595959"/>
                </a:solidFill>
                <a:latin typeface="Tahoma"/>
                <a:cs typeface="Tahoma"/>
              </a:rPr>
              <a:t>(KPTI)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técnica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similar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xv6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151638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Trapframe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7555" y="873602"/>
            <a:ext cx="7622540" cy="240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1475" marR="754380" indent="-35941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lugar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guarda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“la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foto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registros”,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poder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restaurarlos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luego.</a:t>
            </a:r>
            <a:endParaRPr sz="1700">
              <a:latin typeface="Tahoma"/>
              <a:cs typeface="Tahoma"/>
            </a:endParaRPr>
          </a:p>
          <a:p>
            <a:pPr marL="371475" marR="5080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guardar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del procesador,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previo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pasar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kernel,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garantías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hubieran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conservado.</a:t>
            </a:r>
            <a:endParaRPr sz="1700">
              <a:latin typeface="Tahoma"/>
              <a:cs typeface="Tahoma"/>
            </a:endParaRPr>
          </a:p>
          <a:p>
            <a:pPr marL="371475" marR="398145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Reciprocamente,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restaure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leer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guardados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Trapframe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colocara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nuevamente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4650" y="555737"/>
            <a:ext cx="4321699" cy="3604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25" y="65404"/>
            <a:ext cx="369570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Vulnerabilidad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Meltdown</a:t>
            </a:r>
            <a:r>
              <a:rPr dirty="0" sz="1500" spc="-1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y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su</a:t>
            </a:r>
            <a:r>
              <a:rPr dirty="0" sz="1500" spc="-10">
                <a:latin typeface="Arial"/>
                <a:cs typeface="Arial"/>
              </a:rPr>
              <a:t> mitigación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9075" y="4454755"/>
            <a:ext cx="76606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i="1">
                <a:solidFill>
                  <a:srgbClr val="1A1A1A"/>
                </a:solidFill>
                <a:latin typeface="Arial"/>
                <a:cs typeface="Arial"/>
              </a:rPr>
              <a:t>Meltdown:</a:t>
            </a:r>
            <a:r>
              <a:rPr dirty="0" sz="1500" spc="365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u="heavy" sz="1500" spc="-2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"/>
                <a:cs typeface="Arial"/>
                <a:hlinkClick r:id="rId3"/>
              </a:rPr>
              <a:t>https://medium.com/@mattklein123/meltdown-spectre-explained-</a:t>
            </a:r>
            <a:r>
              <a:rPr dirty="0" u="heavy" sz="1500" spc="-1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"/>
                <a:cs typeface="Arial"/>
                <a:hlinkClick r:id="rId3"/>
              </a:rPr>
              <a:t>6bc8634cc0c2</a:t>
            </a:r>
            <a:r>
              <a:rPr dirty="0" sz="1500" spc="-10" i="1">
                <a:solidFill>
                  <a:srgbClr val="1B3678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A1A1A"/>
                </a:solidFill>
                <a:latin typeface="Arial"/>
                <a:cs typeface="Arial"/>
              </a:rPr>
              <a:t>KPTS:</a:t>
            </a:r>
            <a:r>
              <a:rPr dirty="0" sz="1500" spc="335" i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u="heavy" sz="1500" spc="-2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"/>
                <a:cs typeface="Arial"/>
                <a:hlinkClick r:id="rId4"/>
              </a:rPr>
              <a:t>https://en.wikipedia.org/wiki/Kernel_page-</a:t>
            </a:r>
            <a:r>
              <a:rPr dirty="0" u="heavy" sz="1500" spc="-10" i="1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Arial"/>
                <a:cs typeface="Arial"/>
                <a:hlinkClick r:id="rId4"/>
              </a:rPr>
              <a:t>table_isolation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825" y="881124"/>
            <a:ext cx="1457599" cy="28350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24399" y="4176336"/>
            <a:ext cx="1042035" cy="723900"/>
          </a:xfrm>
          <a:custGeom>
            <a:avLst/>
            <a:gdLst/>
            <a:ahLst/>
            <a:cxnLst/>
            <a:rect l="l" t="t" r="r" b="b"/>
            <a:pathLst>
              <a:path w="1042035" h="723900">
                <a:moveTo>
                  <a:pt x="0" y="723337"/>
                </a:moveTo>
                <a:lnTo>
                  <a:pt x="1041899" y="723337"/>
                </a:lnTo>
                <a:lnTo>
                  <a:pt x="1041899" y="0"/>
                </a:lnTo>
                <a:lnTo>
                  <a:pt x="0" y="0"/>
                </a:lnTo>
                <a:lnTo>
                  <a:pt x="0" y="723337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824399" y="3728174"/>
            <a:ext cx="1042035" cy="635"/>
          </a:xfrm>
          <a:custGeom>
            <a:avLst/>
            <a:gdLst/>
            <a:ahLst/>
            <a:cxnLst/>
            <a:rect l="l" t="t" r="r" b="b"/>
            <a:pathLst>
              <a:path w="1042035" h="635">
                <a:moveTo>
                  <a:pt x="0" y="262"/>
                </a:moveTo>
                <a:lnTo>
                  <a:pt x="1041899" y="262"/>
                </a:lnTo>
                <a:lnTo>
                  <a:pt x="1041899" y="0"/>
                </a:lnTo>
                <a:lnTo>
                  <a:pt x="0" y="0"/>
                </a:lnTo>
                <a:lnTo>
                  <a:pt x="0" y="262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824399" y="3098600"/>
            <a:ext cx="1042035" cy="327025"/>
          </a:xfrm>
          <a:custGeom>
            <a:avLst/>
            <a:gdLst/>
            <a:ahLst/>
            <a:cxnLst/>
            <a:rect l="l" t="t" r="r" b="b"/>
            <a:pathLst>
              <a:path w="1042035" h="327025">
                <a:moveTo>
                  <a:pt x="0" y="326674"/>
                </a:moveTo>
                <a:lnTo>
                  <a:pt x="1041899" y="326674"/>
                </a:lnTo>
                <a:lnTo>
                  <a:pt x="1041899" y="0"/>
                </a:lnTo>
                <a:lnTo>
                  <a:pt x="0" y="0"/>
                </a:lnTo>
                <a:lnTo>
                  <a:pt x="0" y="326674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824399" y="1923096"/>
            <a:ext cx="1042035" cy="424815"/>
          </a:xfrm>
          <a:custGeom>
            <a:avLst/>
            <a:gdLst/>
            <a:ahLst/>
            <a:cxnLst/>
            <a:rect l="l" t="t" r="r" b="b"/>
            <a:pathLst>
              <a:path w="1042035" h="424814">
                <a:moveTo>
                  <a:pt x="0" y="424303"/>
                </a:moveTo>
                <a:lnTo>
                  <a:pt x="1041899" y="424303"/>
                </a:lnTo>
                <a:lnTo>
                  <a:pt x="1041899" y="0"/>
                </a:lnTo>
                <a:lnTo>
                  <a:pt x="0" y="0"/>
                </a:lnTo>
                <a:lnTo>
                  <a:pt x="0" y="424303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824399" y="1573352"/>
            <a:ext cx="1042035" cy="9525"/>
          </a:xfrm>
          <a:custGeom>
            <a:avLst/>
            <a:gdLst/>
            <a:ahLst/>
            <a:cxnLst/>
            <a:rect l="l" t="t" r="r" b="b"/>
            <a:pathLst>
              <a:path w="1042035" h="9525">
                <a:moveTo>
                  <a:pt x="0" y="8944"/>
                </a:moveTo>
                <a:lnTo>
                  <a:pt x="1041899" y="8944"/>
                </a:lnTo>
                <a:lnTo>
                  <a:pt x="1041899" y="0"/>
                </a:lnTo>
                <a:lnTo>
                  <a:pt x="0" y="0"/>
                </a:lnTo>
                <a:lnTo>
                  <a:pt x="0" y="8944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3814874" y="793312"/>
            <a:ext cx="1061085" cy="4111625"/>
            <a:chOff x="3814874" y="793312"/>
            <a:chExt cx="1061085" cy="4111625"/>
          </a:xfrm>
        </p:grpSpPr>
        <p:sp>
          <p:nvSpPr>
            <p:cNvPr id="8" name="object 8" descr=""/>
            <p:cNvSpPr/>
            <p:nvPr/>
          </p:nvSpPr>
          <p:spPr>
            <a:xfrm>
              <a:off x="3824399" y="798074"/>
              <a:ext cx="1042035" cy="266065"/>
            </a:xfrm>
            <a:custGeom>
              <a:avLst/>
              <a:gdLst/>
              <a:ahLst/>
              <a:cxnLst/>
              <a:rect l="l" t="t" r="r" b="b"/>
              <a:pathLst>
                <a:path w="1042035" h="266065">
                  <a:moveTo>
                    <a:pt x="0" y="266024"/>
                  </a:moveTo>
                  <a:lnTo>
                    <a:pt x="1041899" y="266024"/>
                  </a:lnTo>
                  <a:lnTo>
                    <a:pt x="1041899" y="0"/>
                  </a:lnTo>
                  <a:lnTo>
                    <a:pt x="0" y="0"/>
                  </a:lnTo>
                  <a:lnTo>
                    <a:pt x="0" y="266024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24399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5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243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1041899" y="751199"/>
                  </a:moveTo>
                  <a:lnTo>
                    <a:pt x="0" y="7511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511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243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0" y="0"/>
                  </a:moveTo>
                  <a:lnTo>
                    <a:pt x="1041899" y="0"/>
                  </a:lnTo>
                  <a:lnTo>
                    <a:pt x="1041899" y="751199"/>
                  </a:lnTo>
                  <a:lnTo>
                    <a:pt x="0" y="75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243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1041899" y="93899"/>
                  </a:moveTo>
                  <a:lnTo>
                    <a:pt x="0" y="93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938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243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0" y="0"/>
                  </a:moveTo>
                  <a:lnTo>
                    <a:pt x="1041899" y="0"/>
                  </a:lnTo>
                  <a:lnTo>
                    <a:pt x="1041899" y="93899"/>
                  </a:lnTo>
                  <a:lnTo>
                    <a:pt x="0" y="9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243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1041899" y="168899"/>
                  </a:moveTo>
                  <a:lnTo>
                    <a:pt x="0" y="168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6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243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0" y="0"/>
                  </a:moveTo>
                  <a:lnTo>
                    <a:pt x="1041899" y="0"/>
                  </a:lnTo>
                  <a:lnTo>
                    <a:pt x="1041899" y="168899"/>
                  </a:lnTo>
                  <a:lnTo>
                    <a:pt x="0" y="168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243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1041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2465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243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0" y="0"/>
                  </a:moveTo>
                  <a:lnTo>
                    <a:pt x="1041899" y="0"/>
                  </a:lnTo>
                  <a:lnTo>
                    <a:pt x="1041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8243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1041899" y="340799"/>
                  </a:moveTo>
                  <a:lnTo>
                    <a:pt x="0" y="340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340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8243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0" y="0"/>
                  </a:moveTo>
                  <a:lnTo>
                    <a:pt x="1041899" y="0"/>
                  </a:lnTo>
                  <a:lnTo>
                    <a:pt x="1041899" y="340799"/>
                  </a:lnTo>
                  <a:lnTo>
                    <a:pt x="0" y="34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243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1041899" y="143399"/>
                  </a:moveTo>
                  <a:lnTo>
                    <a:pt x="0" y="1433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433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8243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0" y="0"/>
                  </a:moveTo>
                  <a:lnTo>
                    <a:pt x="1041899" y="0"/>
                  </a:lnTo>
                  <a:lnTo>
                    <a:pt x="1041899" y="143399"/>
                  </a:lnTo>
                  <a:lnTo>
                    <a:pt x="0" y="143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243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243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8243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1041899" y="447899"/>
                  </a:moveTo>
                  <a:lnTo>
                    <a:pt x="0" y="447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447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8243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0" y="0"/>
                  </a:moveTo>
                  <a:lnTo>
                    <a:pt x="1041899" y="0"/>
                  </a:lnTo>
                  <a:lnTo>
                    <a:pt x="1041899" y="447899"/>
                  </a:lnTo>
                  <a:lnTo>
                    <a:pt x="0" y="447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8243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243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921824" y="475102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921824" y="536184"/>
            <a:ext cx="1947545" cy="36703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988060">
              <a:lnSpc>
                <a:spcPct val="100000"/>
              </a:lnSpc>
              <a:spcBef>
                <a:spcPts val="185"/>
              </a:spcBef>
            </a:pPr>
            <a:r>
              <a:rPr dirty="0" sz="11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100" spc="-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A1A"/>
                </a:solidFill>
                <a:latin typeface="Arial MT"/>
                <a:cs typeface="Arial MT"/>
              </a:rPr>
              <a:t>Fisica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10850" y="2313205"/>
            <a:ext cx="1294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A1A1A"/>
                </a:solidFill>
                <a:latin typeface="Arial MT"/>
                <a:cs typeface="Arial MT"/>
              </a:rPr>
              <a:t>PROGRAMA</a:t>
            </a:r>
            <a:r>
              <a:rPr dirty="0" sz="1500" spc="-1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363962" y="1115635"/>
            <a:ext cx="3870325" cy="2831465"/>
            <a:chOff x="2363962" y="1115635"/>
            <a:chExt cx="3870325" cy="2831465"/>
          </a:xfrm>
        </p:grpSpPr>
        <p:sp>
          <p:nvSpPr>
            <p:cNvPr id="32" name="object 32" descr=""/>
            <p:cNvSpPr/>
            <p:nvPr/>
          </p:nvSpPr>
          <p:spPr>
            <a:xfrm>
              <a:off x="2368724" y="1149728"/>
              <a:ext cx="1414145" cy="1306195"/>
            </a:xfrm>
            <a:custGeom>
              <a:avLst/>
              <a:gdLst/>
              <a:ahLst/>
              <a:cxnLst/>
              <a:rect l="l" t="t" r="r" b="b"/>
              <a:pathLst>
                <a:path w="1414145" h="1306195">
                  <a:moveTo>
                    <a:pt x="0" y="1305821"/>
                  </a:moveTo>
                  <a:lnTo>
                    <a:pt x="141361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71669" y="1120398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350" y="40886"/>
                  </a:moveTo>
                  <a:lnTo>
                    <a:pt x="0" y="17773"/>
                  </a:lnTo>
                  <a:lnTo>
                    <a:pt x="42426" y="0"/>
                  </a:lnTo>
                  <a:lnTo>
                    <a:pt x="21350" y="4088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771669" y="1120398"/>
              <a:ext cx="42545" cy="41275"/>
            </a:xfrm>
            <a:custGeom>
              <a:avLst/>
              <a:gdLst/>
              <a:ahLst/>
              <a:cxnLst/>
              <a:rect l="l" t="t" r="r" b="b"/>
              <a:pathLst>
                <a:path w="42545" h="41275">
                  <a:moveTo>
                    <a:pt x="21350" y="40886"/>
                  </a:moveTo>
                  <a:lnTo>
                    <a:pt x="42426" y="0"/>
                  </a:lnTo>
                  <a:lnTo>
                    <a:pt x="0" y="17773"/>
                  </a:lnTo>
                  <a:lnTo>
                    <a:pt x="21350" y="4088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368799" y="1482536"/>
              <a:ext cx="1409065" cy="973455"/>
            </a:xfrm>
            <a:custGeom>
              <a:avLst/>
              <a:gdLst/>
              <a:ahLst/>
              <a:cxnLst/>
              <a:rect l="l" t="t" r="r" b="b"/>
              <a:pathLst>
                <a:path w="1409064" h="973455">
                  <a:moveTo>
                    <a:pt x="0" y="973115"/>
                  </a:moveTo>
                  <a:lnTo>
                    <a:pt x="140857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768436" y="1457967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17885" y="37513"/>
                  </a:moveTo>
                  <a:lnTo>
                    <a:pt x="0" y="11625"/>
                  </a:lnTo>
                  <a:lnTo>
                    <a:pt x="44506" y="0"/>
                  </a:lnTo>
                  <a:lnTo>
                    <a:pt x="17885" y="3751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768436" y="1457967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17885" y="37513"/>
                  </a:moveTo>
                  <a:lnTo>
                    <a:pt x="44506" y="0"/>
                  </a:lnTo>
                  <a:lnTo>
                    <a:pt x="0" y="11625"/>
                  </a:lnTo>
                  <a:lnTo>
                    <a:pt x="17885" y="3751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368724" y="2455550"/>
              <a:ext cx="1399540" cy="257810"/>
            </a:xfrm>
            <a:custGeom>
              <a:avLst/>
              <a:gdLst/>
              <a:ahLst/>
              <a:cxnLst/>
              <a:rect l="l" t="t" r="r" b="b"/>
              <a:pathLst>
                <a:path w="1399539" h="257810">
                  <a:moveTo>
                    <a:pt x="0" y="0"/>
                  </a:moveTo>
                  <a:lnTo>
                    <a:pt x="1399391" y="25726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765272" y="26973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46"/>
                  </a:moveTo>
                  <a:lnTo>
                    <a:pt x="5689" y="0"/>
                  </a:lnTo>
                  <a:lnTo>
                    <a:pt x="45357" y="23288"/>
                  </a:lnTo>
                  <a:lnTo>
                    <a:pt x="0" y="3094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765272" y="26973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46"/>
                  </a:moveTo>
                  <a:lnTo>
                    <a:pt x="45357" y="23288"/>
                  </a:lnTo>
                  <a:lnTo>
                    <a:pt x="5689" y="0"/>
                  </a:lnTo>
                  <a:lnTo>
                    <a:pt x="0" y="30946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68724" y="2455550"/>
              <a:ext cx="1409065" cy="977265"/>
            </a:xfrm>
            <a:custGeom>
              <a:avLst/>
              <a:gdLst/>
              <a:ahLst/>
              <a:cxnLst/>
              <a:rect l="l" t="t" r="r" b="b"/>
              <a:pathLst>
                <a:path w="1409064" h="977264">
                  <a:moveTo>
                    <a:pt x="0" y="0"/>
                  </a:moveTo>
                  <a:lnTo>
                    <a:pt x="1408638" y="97693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768397" y="3419553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44485" y="37561"/>
                  </a:moveTo>
                  <a:lnTo>
                    <a:pt x="0" y="25855"/>
                  </a:lnTo>
                  <a:lnTo>
                    <a:pt x="17931" y="0"/>
                  </a:lnTo>
                  <a:lnTo>
                    <a:pt x="44485" y="375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768397" y="3419553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0" y="25855"/>
                  </a:moveTo>
                  <a:lnTo>
                    <a:pt x="44485" y="37561"/>
                  </a:lnTo>
                  <a:lnTo>
                    <a:pt x="17931" y="0"/>
                  </a:lnTo>
                  <a:lnTo>
                    <a:pt x="0" y="2585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368724" y="2455550"/>
              <a:ext cx="1411605" cy="1164590"/>
            </a:xfrm>
            <a:custGeom>
              <a:avLst/>
              <a:gdLst/>
              <a:ahLst/>
              <a:cxnLst/>
              <a:rect l="l" t="t" r="r" b="b"/>
              <a:pathLst>
                <a:path w="1411604" h="1164589">
                  <a:moveTo>
                    <a:pt x="0" y="0"/>
                  </a:moveTo>
                  <a:lnTo>
                    <a:pt x="1411516" y="116452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770229" y="3607944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43354" y="39644"/>
                  </a:moveTo>
                  <a:lnTo>
                    <a:pt x="0" y="24271"/>
                  </a:lnTo>
                  <a:lnTo>
                    <a:pt x="20024" y="0"/>
                  </a:lnTo>
                  <a:lnTo>
                    <a:pt x="43354" y="3964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770229" y="3607944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4" h="40004">
                  <a:moveTo>
                    <a:pt x="0" y="24271"/>
                  </a:moveTo>
                  <a:lnTo>
                    <a:pt x="43354" y="39644"/>
                  </a:lnTo>
                  <a:lnTo>
                    <a:pt x="20024" y="0"/>
                  </a:lnTo>
                  <a:lnTo>
                    <a:pt x="0" y="24271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909058" y="1280353"/>
              <a:ext cx="1320165" cy="1175385"/>
            </a:xfrm>
            <a:custGeom>
              <a:avLst/>
              <a:gdLst/>
              <a:ahLst/>
              <a:cxnLst/>
              <a:rect l="l" t="t" r="r" b="b"/>
              <a:pathLst>
                <a:path w="1320164" h="1175385">
                  <a:moveTo>
                    <a:pt x="1319916" y="1175196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876775" y="1251609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40">
                  <a:moveTo>
                    <a:pt x="21821" y="40494"/>
                  </a:moveTo>
                  <a:lnTo>
                    <a:pt x="0" y="0"/>
                  </a:lnTo>
                  <a:lnTo>
                    <a:pt x="42745" y="16993"/>
                  </a:lnTo>
                  <a:lnTo>
                    <a:pt x="21821" y="4049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876775" y="1251609"/>
              <a:ext cx="43180" cy="40640"/>
            </a:xfrm>
            <a:custGeom>
              <a:avLst/>
              <a:gdLst/>
              <a:ahLst/>
              <a:cxnLst/>
              <a:rect l="l" t="t" r="r" b="b"/>
              <a:pathLst>
                <a:path w="43179" h="40640">
                  <a:moveTo>
                    <a:pt x="42745" y="16993"/>
                  </a:moveTo>
                  <a:lnTo>
                    <a:pt x="0" y="0"/>
                  </a:lnTo>
                  <a:lnTo>
                    <a:pt x="21821" y="40494"/>
                  </a:lnTo>
                  <a:lnTo>
                    <a:pt x="42745" y="1699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917090" y="1778897"/>
              <a:ext cx="1311910" cy="676910"/>
            </a:xfrm>
            <a:custGeom>
              <a:avLst/>
              <a:gdLst/>
              <a:ahLst/>
              <a:cxnLst/>
              <a:rect l="l" t="t" r="r" b="b"/>
              <a:pathLst>
                <a:path w="1311910" h="676910">
                  <a:moveTo>
                    <a:pt x="1311809" y="6766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878674" y="1759080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31202" y="33798"/>
                  </a:moveTo>
                  <a:lnTo>
                    <a:pt x="0" y="0"/>
                  </a:lnTo>
                  <a:lnTo>
                    <a:pt x="45627" y="5834"/>
                  </a:lnTo>
                  <a:lnTo>
                    <a:pt x="31202" y="3379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878674" y="1759080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45627" y="5834"/>
                  </a:moveTo>
                  <a:lnTo>
                    <a:pt x="0" y="0"/>
                  </a:lnTo>
                  <a:lnTo>
                    <a:pt x="31202" y="33798"/>
                  </a:lnTo>
                  <a:lnTo>
                    <a:pt x="45627" y="5834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911013" y="2455550"/>
              <a:ext cx="1318260" cy="1054100"/>
            </a:xfrm>
            <a:custGeom>
              <a:avLst/>
              <a:gdLst/>
              <a:ahLst/>
              <a:cxnLst/>
              <a:rect l="l" t="t" r="r" b="b"/>
              <a:pathLst>
                <a:path w="1318260" h="1054100">
                  <a:moveTo>
                    <a:pt x="1317960" y="0"/>
                  </a:moveTo>
                  <a:lnTo>
                    <a:pt x="0" y="1053614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877251" y="3496875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0" y="39279"/>
                  </a:moveTo>
                  <a:lnTo>
                    <a:pt x="23938" y="0"/>
                  </a:lnTo>
                  <a:lnTo>
                    <a:pt x="43586" y="24576"/>
                  </a:lnTo>
                  <a:lnTo>
                    <a:pt x="0" y="3927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877251" y="3496875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70">
                  <a:moveTo>
                    <a:pt x="23938" y="0"/>
                  </a:moveTo>
                  <a:lnTo>
                    <a:pt x="0" y="39279"/>
                  </a:lnTo>
                  <a:lnTo>
                    <a:pt x="43586" y="24576"/>
                  </a:lnTo>
                  <a:lnTo>
                    <a:pt x="23938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904848" y="2455550"/>
              <a:ext cx="1324610" cy="1454785"/>
            </a:xfrm>
            <a:custGeom>
              <a:avLst/>
              <a:gdLst/>
              <a:ahLst/>
              <a:cxnLst/>
              <a:rect l="l" t="t" r="r" b="b"/>
              <a:pathLst>
                <a:path w="1324610" h="1454785">
                  <a:moveTo>
                    <a:pt x="1324126" y="0"/>
                  </a:moveTo>
                  <a:lnTo>
                    <a:pt x="0" y="145443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875749" y="3899398"/>
              <a:ext cx="41275" cy="43180"/>
            </a:xfrm>
            <a:custGeom>
              <a:avLst/>
              <a:gdLst/>
              <a:ahLst/>
              <a:cxnLst/>
              <a:rect l="l" t="t" r="r" b="b"/>
              <a:pathLst>
                <a:path w="41275" h="43179">
                  <a:moveTo>
                    <a:pt x="0" y="42554"/>
                  </a:moveTo>
                  <a:lnTo>
                    <a:pt x="17465" y="0"/>
                  </a:lnTo>
                  <a:lnTo>
                    <a:pt x="40733" y="21182"/>
                  </a:lnTo>
                  <a:lnTo>
                    <a:pt x="0" y="4255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875749" y="3899398"/>
              <a:ext cx="41275" cy="43180"/>
            </a:xfrm>
            <a:custGeom>
              <a:avLst/>
              <a:gdLst/>
              <a:ahLst/>
              <a:cxnLst/>
              <a:rect l="l" t="t" r="r" b="b"/>
              <a:pathLst>
                <a:path w="41275" h="43179">
                  <a:moveTo>
                    <a:pt x="17465" y="0"/>
                  </a:moveTo>
                  <a:lnTo>
                    <a:pt x="0" y="42554"/>
                  </a:lnTo>
                  <a:lnTo>
                    <a:pt x="40733" y="21182"/>
                  </a:lnTo>
                  <a:lnTo>
                    <a:pt x="1746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6302000" y="2313205"/>
            <a:ext cx="13049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A1A1A"/>
                </a:solidFill>
                <a:latin typeface="Arial MT"/>
                <a:cs typeface="Arial MT"/>
              </a:rPr>
              <a:t>PROGRAMA</a:t>
            </a:r>
            <a:r>
              <a:rPr dirty="0" sz="1500" spc="-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00" spc="-50">
                <a:solidFill>
                  <a:srgbClr val="1A1A1A"/>
                </a:solidFill>
                <a:latin typeface="Arial MT"/>
                <a:cs typeface="Arial MT"/>
              </a:rPr>
              <a:t>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34194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20"/>
              <a:t>Repaso</a:t>
            </a:r>
            <a:r>
              <a:rPr dirty="0" spc="-120"/>
              <a:t> </a:t>
            </a:r>
            <a:r>
              <a:rPr dirty="0" spc="80"/>
              <a:t>Memoria</a:t>
            </a:r>
            <a:r>
              <a:rPr dirty="0" spc="-200"/>
              <a:t> </a:t>
            </a:r>
            <a:r>
              <a:rPr dirty="0" spc="-10"/>
              <a:t>Virtual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5787" y="1803487"/>
            <a:ext cx="1694814" cy="1536700"/>
            <a:chOff x="3615787" y="1803487"/>
            <a:chExt cx="1694814" cy="1536700"/>
          </a:xfrm>
        </p:grpSpPr>
        <p:sp>
          <p:nvSpPr>
            <p:cNvPr id="3" name="object 3" descr=""/>
            <p:cNvSpPr/>
            <p:nvPr/>
          </p:nvSpPr>
          <p:spPr>
            <a:xfrm>
              <a:off x="3620549" y="1894250"/>
              <a:ext cx="1598930" cy="1441450"/>
            </a:xfrm>
            <a:custGeom>
              <a:avLst/>
              <a:gdLst/>
              <a:ahLst/>
              <a:cxnLst/>
              <a:rect l="l" t="t" r="r" b="b"/>
              <a:pathLst>
                <a:path w="1598929" h="1441450">
                  <a:moveTo>
                    <a:pt x="1598799" y="1440999"/>
                  </a:moveTo>
                  <a:lnTo>
                    <a:pt x="0" y="1440999"/>
                  </a:lnTo>
                  <a:lnTo>
                    <a:pt x="0" y="0"/>
                  </a:lnTo>
                  <a:lnTo>
                    <a:pt x="1598799" y="0"/>
                  </a:lnTo>
                  <a:lnTo>
                    <a:pt x="1598799" y="14409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219349" y="1808249"/>
              <a:ext cx="86360" cy="1527175"/>
            </a:xfrm>
            <a:custGeom>
              <a:avLst/>
              <a:gdLst/>
              <a:ahLst/>
              <a:cxnLst/>
              <a:rect l="l" t="t" r="r" b="b"/>
              <a:pathLst>
                <a:path w="86360" h="1527175">
                  <a:moveTo>
                    <a:pt x="0" y="1526999"/>
                  </a:moveTo>
                  <a:lnTo>
                    <a:pt x="0" y="86000"/>
                  </a:lnTo>
                  <a:lnTo>
                    <a:pt x="86000" y="0"/>
                  </a:lnTo>
                  <a:lnTo>
                    <a:pt x="86000" y="1440999"/>
                  </a:lnTo>
                  <a:lnTo>
                    <a:pt x="0" y="1526999"/>
                  </a:lnTo>
                  <a:close/>
                </a:path>
              </a:pathLst>
            </a:custGeom>
            <a:solidFill>
              <a:srgbClr val="BAB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20549" y="1808249"/>
              <a:ext cx="1685289" cy="86360"/>
            </a:xfrm>
            <a:custGeom>
              <a:avLst/>
              <a:gdLst/>
              <a:ahLst/>
              <a:cxnLst/>
              <a:rect l="l" t="t" r="r" b="b"/>
              <a:pathLst>
                <a:path w="1685289" h="86360">
                  <a:moveTo>
                    <a:pt x="1598799" y="86000"/>
                  </a:moveTo>
                  <a:lnTo>
                    <a:pt x="0" y="86000"/>
                  </a:lnTo>
                  <a:lnTo>
                    <a:pt x="86000" y="0"/>
                  </a:lnTo>
                  <a:lnTo>
                    <a:pt x="1684799" y="0"/>
                  </a:lnTo>
                  <a:lnTo>
                    <a:pt x="1598799" y="86000"/>
                  </a:lnTo>
                  <a:close/>
                </a:path>
              </a:pathLst>
            </a:custGeom>
            <a:solidFill>
              <a:srgbClr val="EDF0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20549" y="1808249"/>
              <a:ext cx="1685289" cy="1527175"/>
            </a:xfrm>
            <a:custGeom>
              <a:avLst/>
              <a:gdLst/>
              <a:ahLst/>
              <a:cxnLst/>
              <a:rect l="l" t="t" r="r" b="b"/>
              <a:pathLst>
                <a:path w="1685289" h="1527175">
                  <a:moveTo>
                    <a:pt x="0" y="86000"/>
                  </a:moveTo>
                  <a:lnTo>
                    <a:pt x="86000" y="0"/>
                  </a:lnTo>
                  <a:lnTo>
                    <a:pt x="1684799" y="0"/>
                  </a:lnTo>
                  <a:lnTo>
                    <a:pt x="1684799" y="1440999"/>
                  </a:lnTo>
                  <a:lnTo>
                    <a:pt x="1598799" y="1526999"/>
                  </a:lnTo>
                  <a:lnTo>
                    <a:pt x="0" y="1526999"/>
                  </a:lnTo>
                  <a:lnTo>
                    <a:pt x="0" y="86000"/>
                  </a:lnTo>
                  <a:close/>
                </a:path>
                <a:path w="1685289" h="1527175">
                  <a:moveTo>
                    <a:pt x="0" y="86000"/>
                  </a:moveTo>
                  <a:lnTo>
                    <a:pt x="1598799" y="86000"/>
                  </a:lnTo>
                  <a:lnTo>
                    <a:pt x="1684799" y="0"/>
                  </a:lnTo>
                </a:path>
                <a:path w="1685289" h="1527175">
                  <a:moveTo>
                    <a:pt x="1598799" y="86000"/>
                  </a:moveTo>
                  <a:lnTo>
                    <a:pt x="1598799" y="15269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678812" y="2459600"/>
            <a:ext cx="1413510" cy="765175"/>
          </a:xfrm>
          <a:prstGeom prst="rect">
            <a:avLst/>
          </a:prstGeom>
          <a:solidFill>
            <a:srgbClr val="B7B7B7"/>
          </a:solidFill>
          <a:ln w="9524">
            <a:solidFill>
              <a:srgbClr val="1A1A1A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615"/>
              </a:spcBef>
            </a:pPr>
            <a:r>
              <a:rPr dirty="0" sz="1500" spc="-25">
                <a:solidFill>
                  <a:srgbClr val="1A1A1A"/>
                </a:solidFill>
                <a:latin typeface="Arial MT"/>
                <a:cs typeface="Arial MT"/>
              </a:rPr>
              <a:t>MMU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20549" y="1947055"/>
            <a:ext cx="159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244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CPU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376474" y="787687"/>
            <a:ext cx="6021070" cy="4128135"/>
            <a:chOff x="1376474" y="787687"/>
            <a:chExt cx="6021070" cy="4128135"/>
          </a:xfrm>
        </p:grpSpPr>
        <p:sp>
          <p:nvSpPr>
            <p:cNvPr id="10" name="object 10" descr=""/>
            <p:cNvSpPr/>
            <p:nvPr/>
          </p:nvSpPr>
          <p:spPr>
            <a:xfrm>
              <a:off x="1385989" y="798080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5" h="4102100">
                  <a:moveTo>
                    <a:pt x="1041908" y="3378263"/>
                  </a:moveTo>
                  <a:lnTo>
                    <a:pt x="0" y="3378263"/>
                  </a:lnTo>
                  <a:lnTo>
                    <a:pt x="0" y="4101604"/>
                  </a:lnTo>
                  <a:lnTo>
                    <a:pt x="1041908" y="4101604"/>
                  </a:lnTo>
                  <a:lnTo>
                    <a:pt x="1041908" y="3378263"/>
                  </a:lnTo>
                  <a:close/>
                </a:path>
                <a:path w="1042035" h="4102100">
                  <a:moveTo>
                    <a:pt x="1041908" y="2930106"/>
                  </a:moveTo>
                  <a:lnTo>
                    <a:pt x="0" y="2930106"/>
                  </a:lnTo>
                  <a:lnTo>
                    <a:pt x="0" y="2930360"/>
                  </a:lnTo>
                  <a:lnTo>
                    <a:pt x="1041908" y="2930360"/>
                  </a:lnTo>
                  <a:lnTo>
                    <a:pt x="1041908" y="2930106"/>
                  </a:lnTo>
                  <a:close/>
                </a:path>
                <a:path w="1042035" h="4102100">
                  <a:moveTo>
                    <a:pt x="1041908" y="2300528"/>
                  </a:moveTo>
                  <a:lnTo>
                    <a:pt x="0" y="2300528"/>
                  </a:lnTo>
                  <a:lnTo>
                    <a:pt x="0" y="2627198"/>
                  </a:lnTo>
                  <a:lnTo>
                    <a:pt x="1041908" y="2627198"/>
                  </a:lnTo>
                  <a:lnTo>
                    <a:pt x="1041908" y="2300528"/>
                  </a:lnTo>
                  <a:close/>
                </a:path>
                <a:path w="1042035" h="4102100">
                  <a:moveTo>
                    <a:pt x="1041908" y="1125016"/>
                  </a:moveTo>
                  <a:lnTo>
                    <a:pt x="0" y="1125016"/>
                  </a:lnTo>
                  <a:lnTo>
                    <a:pt x="0" y="1549323"/>
                  </a:lnTo>
                  <a:lnTo>
                    <a:pt x="1041908" y="1549323"/>
                  </a:lnTo>
                  <a:lnTo>
                    <a:pt x="1041908" y="1125016"/>
                  </a:lnTo>
                  <a:close/>
                </a:path>
                <a:path w="1042035" h="4102100">
                  <a:moveTo>
                    <a:pt x="1041908" y="775284"/>
                  </a:moveTo>
                  <a:lnTo>
                    <a:pt x="0" y="775284"/>
                  </a:lnTo>
                  <a:lnTo>
                    <a:pt x="0" y="784225"/>
                  </a:lnTo>
                  <a:lnTo>
                    <a:pt x="1041908" y="784225"/>
                  </a:lnTo>
                  <a:lnTo>
                    <a:pt x="1041908" y="775284"/>
                  </a:lnTo>
                  <a:close/>
                </a:path>
                <a:path w="1042035" h="4102100">
                  <a:moveTo>
                    <a:pt x="1041908" y="0"/>
                  </a:moveTo>
                  <a:lnTo>
                    <a:pt x="0" y="0"/>
                  </a:lnTo>
                  <a:lnTo>
                    <a:pt x="0" y="266026"/>
                  </a:lnTo>
                  <a:lnTo>
                    <a:pt x="1041908" y="266026"/>
                  </a:lnTo>
                  <a:lnTo>
                    <a:pt x="1041908" y="0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85999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5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859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1041899" y="751199"/>
                  </a:moveTo>
                  <a:lnTo>
                    <a:pt x="0" y="7511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511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859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0" y="0"/>
                  </a:moveTo>
                  <a:lnTo>
                    <a:pt x="1041899" y="0"/>
                  </a:lnTo>
                  <a:lnTo>
                    <a:pt x="1041899" y="751199"/>
                  </a:lnTo>
                  <a:lnTo>
                    <a:pt x="0" y="75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859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1041899" y="93899"/>
                  </a:moveTo>
                  <a:lnTo>
                    <a:pt x="0" y="93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938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859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0" y="0"/>
                  </a:moveTo>
                  <a:lnTo>
                    <a:pt x="1041899" y="0"/>
                  </a:lnTo>
                  <a:lnTo>
                    <a:pt x="1041899" y="93899"/>
                  </a:lnTo>
                  <a:lnTo>
                    <a:pt x="0" y="9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859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1041899" y="168899"/>
                  </a:moveTo>
                  <a:lnTo>
                    <a:pt x="0" y="168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6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859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0" y="0"/>
                  </a:moveTo>
                  <a:lnTo>
                    <a:pt x="1041899" y="0"/>
                  </a:lnTo>
                  <a:lnTo>
                    <a:pt x="1041899" y="168899"/>
                  </a:lnTo>
                  <a:lnTo>
                    <a:pt x="0" y="168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859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1041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2465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859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0" y="0"/>
                  </a:moveTo>
                  <a:lnTo>
                    <a:pt x="1041899" y="0"/>
                  </a:lnTo>
                  <a:lnTo>
                    <a:pt x="1041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859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1041899" y="340799"/>
                  </a:moveTo>
                  <a:lnTo>
                    <a:pt x="0" y="340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340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859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0" y="0"/>
                  </a:moveTo>
                  <a:lnTo>
                    <a:pt x="1041899" y="0"/>
                  </a:lnTo>
                  <a:lnTo>
                    <a:pt x="1041899" y="340799"/>
                  </a:lnTo>
                  <a:lnTo>
                    <a:pt x="0" y="34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859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1041899" y="143399"/>
                  </a:moveTo>
                  <a:lnTo>
                    <a:pt x="0" y="1433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433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859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0" y="0"/>
                  </a:moveTo>
                  <a:lnTo>
                    <a:pt x="1041899" y="0"/>
                  </a:lnTo>
                  <a:lnTo>
                    <a:pt x="1041899" y="143399"/>
                  </a:lnTo>
                  <a:lnTo>
                    <a:pt x="0" y="143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859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59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859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1041899" y="447899"/>
                  </a:moveTo>
                  <a:lnTo>
                    <a:pt x="0" y="447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447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859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0" y="0"/>
                  </a:moveTo>
                  <a:lnTo>
                    <a:pt x="1041899" y="0"/>
                  </a:lnTo>
                  <a:lnTo>
                    <a:pt x="1041899" y="447899"/>
                  </a:lnTo>
                  <a:lnTo>
                    <a:pt x="0" y="447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859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859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345872" y="1035379"/>
              <a:ext cx="1042035" cy="3033395"/>
            </a:xfrm>
            <a:custGeom>
              <a:avLst/>
              <a:gdLst/>
              <a:ahLst/>
              <a:cxnLst/>
              <a:rect l="l" t="t" r="r" b="b"/>
              <a:pathLst>
                <a:path w="1042034" h="3033395">
                  <a:moveTo>
                    <a:pt x="1041895" y="252323"/>
                  </a:moveTo>
                  <a:lnTo>
                    <a:pt x="0" y="252323"/>
                  </a:lnTo>
                  <a:lnTo>
                    <a:pt x="0" y="3033293"/>
                  </a:lnTo>
                  <a:lnTo>
                    <a:pt x="1041895" y="3033293"/>
                  </a:lnTo>
                  <a:lnTo>
                    <a:pt x="1041895" y="252323"/>
                  </a:lnTo>
                  <a:close/>
                </a:path>
                <a:path w="1042034" h="3033395">
                  <a:moveTo>
                    <a:pt x="1041895" y="0"/>
                  </a:moveTo>
                  <a:lnTo>
                    <a:pt x="0" y="0"/>
                  </a:lnTo>
                  <a:lnTo>
                    <a:pt x="0" y="5727"/>
                  </a:lnTo>
                  <a:lnTo>
                    <a:pt x="1041895" y="5727"/>
                  </a:lnTo>
                  <a:lnTo>
                    <a:pt x="1041895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45875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4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345862" y="4148462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4" h="751204">
                  <a:moveTo>
                    <a:pt x="1041899" y="751199"/>
                  </a:moveTo>
                  <a:lnTo>
                    <a:pt x="0" y="7511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511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45862" y="4148462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4" h="751204">
                  <a:moveTo>
                    <a:pt x="0" y="0"/>
                  </a:moveTo>
                  <a:lnTo>
                    <a:pt x="1041899" y="0"/>
                  </a:lnTo>
                  <a:lnTo>
                    <a:pt x="1041899" y="751199"/>
                  </a:lnTo>
                  <a:lnTo>
                    <a:pt x="0" y="75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45862" y="941474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4" h="93980">
                  <a:moveTo>
                    <a:pt x="1041899" y="93899"/>
                  </a:moveTo>
                  <a:lnTo>
                    <a:pt x="0" y="93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938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345862" y="941474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4" h="93980">
                  <a:moveTo>
                    <a:pt x="0" y="0"/>
                  </a:moveTo>
                  <a:lnTo>
                    <a:pt x="1041899" y="0"/>
                  </a:lnTo>
                  <a:lnTo>
                    <a:pt x="1041899" y="93899"/>
                  </a:lnTo>
                  <a:lnTo>
                    <a:pt x="0" y="9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45862" y="104110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4" h="247015">
                  <a:moveTo>
                    <a:pt x="1041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2465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345862" y="104110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4" h="247015">
                  <a:moveTo>
                    <a:pt x="0" y="0"/>
                  </a:moveTo>
                  <a:lnTo>
                    <a:pt x="1041899" y="0"/>
                  </a:lnTo>
                  <a:lnTo>
                    <a:pt x="1041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345862" y="7980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4" h="143509">
                  <a:moveTo>
                    <a:pt x="1041899" y="143400"/>
                  </a:moveTo>
                  <a:lnTo>
                    <a:pt x="0" y="143400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4340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45862" y="7980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4" h="143509">
                  <a:moveTo>
                    <a:pt x="0" y="0"/>
                  </a:moveTo>
                  <a:lnTo>
                    <a:pt x="1041899" y="0"/>
                  </a:lnTo>
                  <a:lnTo>
                    <a:pt x="1041899" y="143400"/>
                  </a:lnTo>
                  <a:lnTo>
                    <a:pt x="0" y="1434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345862" y="4068662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4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345862" y="4068662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4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447024" y="792449"/>
              <a:ext cx="3883025" cy="4118610"/>
            </a:xfrm>
            <a:custGeom>
              <a:avLst/>
              <a:gdLst/>
              <a:ahLst/>
              <a:cxnLst/>
              <a:rect l="l" t="t" r="r" b="b"/>
              <a:pathLst>
                <a:path w="3883025" h="4118610">
                  <a:moveTo>
                    <a:pt x="2873824" y="992249"/>
                  </a:moveTo>
                  <a:lnTo>
                    <a:pt x="3849424" y="5549"/>
                  </a:lnTo>
                </a:path>
                <a:path w="3883025" h="4118610">
                  <a:moveTo>
                    <a:pt x="2829499" y="2521999"/>
                  </a:moveTo>
                  <a:lnTo>
                    <a:pt x="3882499" y="4118299"/>
                  </a:lnTo>
                </a:path>
                <a:path w="3883025" h="4118610">
                  <a:moveTo>
                    <a:pt x="1155599" y="997799"/>
                  </a:moveTo>
                  <a:lnTo>
                    <a:pt x="0" y="0"/>
                  </a:lnTo>
                </a:path>
                <a:path w="3883025" h="4118610">
                  <a:moveTo>
                    <a:pt x="1155599" y="2521999"/>
                  </a:moveTo>
                  <a:lnTo>
                    <a:pt x="102599" y="41182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1170425" y="348355"/>
            <a:ext cx="1316355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0">
                <a:latin typeface="Arial MT"/>
                <a:cs typeface="Arial MT"/>
              </a:rPr>
              <a:t>Memoria</a:t>
            </a:r>
            <a:r>
              <a:rPr dirty="0" sz="1500" spc="-95" b="0">
                <a:latin typeface="Arial MT"/>
                <a:cs typeface="Arial MT"/>
              </a:rPr>
              <a:t> </a:t>
            </a:r>
            <a:r>
              <a:rPr dirty="0" sz="1500" spc="-10" b="0">
                <a:latin typeface="Arial MT"/>
                <a:cs typeface="Arial MT"/>
              </a:rPr>
              <a:t>Fisica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767412" y="2960825"/>
            <a:ext cx="1200785" cy="1600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050">
                <a:solidFill>
                  <a:srgbClr val="0D0D0D"/>
                </a:solidFill>
                <a:latin typeface="Courier New"/>
                <a:cs typeface="Courier New"/>
              </a:rPr>
              <a:t>satp:</a:t>
            </a:r>
            <a:r>
              <a:rPr dirty="0" sz="1050" spc="-20">
                <a:solidFill>
                  <a:srgbClr val="0D0D0D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FF9900"/>
                </a:solidFill>
                <a:latin typeface="Courier New"/>
                <a:cs typeface="Courier New"/>
              </a:rPr>
              <a:t>&lt;tabla_A&gt;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532175" y="470512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532175" y="746919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155925" y="348355"/>
            <a:ext cx="13557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500" spc="-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Arial MT"/>
                <a:cs typeface="Arial MT"/>
              </a:rPr>
              <a:t>Virtual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34750" y="4792395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12500" y="69217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7629525" y="1304925"/>
            <a:ext cx="210185" cy="2753360"/>
          </a:xfrm>
          <a:custGeom>
            <a:avLst/>
            <a:gdLst/>
            <a:ahLst/>
            <a:cxnLst/>
            <a:rect l="l" t="t" r="r" b="b"/>
            <a:pathLst>
              <a:path w="210184" h="2753360">
                <a:moveTo>
                  <a:pt x="0" y="0"/>
                </a:moveTo>
                <a:lnTo>
                  <a:pt x="20550" y="2033"/>
                </a:lnTo>
                <a:lnTo>
                  <a:pt x="40124" y="7981"/>
                </a:lnTo>
                <a:lnTo>
                  <a:pt x="74139" y="30709"/>
                </a:lnTo>
                <a:lnTo>
                  <a:pt x="96868" y="64725"/>
                </a:lnTo>
                <a:lnTo>
                  <a:pt x="104849" y="104849"/>
                </a:lnTo>
                <a:lnTo>
                  <a:pt x="104849" y="1271549"/>
                </a:lnTo>
                <a:lnTo>
                  <a:pt x="113089" y="1312362"/>
                </a:lnTo>
                <a:lnTo>
                  <a:pt x="135559" y="1345690"/>
                </a:lnTo>
                <a:lnTo>
                  <a:pt x="168887" y="1368160"/>
                </a:lnTo>
                <a:lnTo>
                  <a:pt x="209699" y="1376399"/>
                </a:lnTo>
                <a:lnTo>
                  <a:pt x="168887" y="1384639"/>
                </a:lnTo>
                <a:lnTo>
                  <a:pt x="135559" y="1407109"/>
                </a:lnTo>
                <a:lnTo>
                  <a:pt x="113089" y="1440437"/>
                </a:lnTo>
                <a:lnTo>
                  <a:pt x="104849" y="1481249"/>
                </a:lnTo>
                <a:lnTo>
                  <a:pt x="104849" y="2647949"/>
                </a:lnTo>
                <a:lnTo>
                  <a:pt x="96610" y="2688762"/>
                </a:lnTo>
                <a:lnTo>
                  <a:pt x="74140" y="2722090"/>
                </a:lnTo>
                <a:lnTo>
                  <a:pt x="40812" y="2744560"/>
                </a:lnTo>
                <a:lnTo>
                  <a:pt x="0" y="2752799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8086576" y="2471191"/>
            <a:ext cx="6610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08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A1A1A"/>
                </a:solidFill>
                <a:latin typeface="Arial MT"/>
                <a:cs typeface="Arial MT"/>
              </a:rPr>
              <a:t>Area</a:t>
            </a:r>
            <a:r>
              <a:rPr dirty="0" sz="12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1A1A1A"/>
                </a:solidFill>
                <a:latin typeface="Arial MT"/>
                <a:cs typeface="Arial MT"/>
              </a:rPr>
              <a:t>no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mapeada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5787" y="1803487"/>
            <a:ext cx="1694814" cy="1536700"/>
            <a:chOff x="3615787" y="1803487"/>
            <a:chExt cx="1694814" cy="1536700"/>
          </a:xfrm>
        </p:grpSpPr>
        <p:sp>
          <p:nvSpPr>
            <p:cNvPr id="3" name="object 3" descr=""/>
            <p:cNvSpPr/>
            <p:nvPr/>
          </p:nvSpPr>
          <p:spPr>
            <a:xfrm>
              <a:off x="3620549" y="1894250"/>
              <a:ext cx="1598930" cy="1441450"/>
            </a:xfrm>
            <a:custGeom>
              <a:avLst/>
              <a:gdLst/>
              <a:ahLst/>
              <a:cxnLst/>
              <a:rect l="l" t="t" r="r" b="b"/>
              <a:pathLst>
                <a:path w="1598929" h="1441450">
                  <a:moveTo>
                    <a:pt x="1598799" y="1440999"/>
                  </a:moveTo>
                  <a:lnTo>
                    <a:pt x="0" y="1440999"/>
                  </a:lnTo>
                  <a:lnTo>
                    <a:pt x="0" y="0"/>
                  </a:lnTo>
                  <a:lnTo>
                    <a:pt x="1598799" y="0"/>
                  </a:lnTo>
                  <a:lnTo>
                    <a:pt x="1598799" y="14409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219349" y="1808249"/>
              <a:ext cx="86360" cy="1527175"/>
            </a:xfrm>
            <a:custGeom>
              <a:avLst/>
              <a:gdLst/>
              <a:ahLst/>
              <a:cxnLst/>
              <a:rect l="l" t="t" r="r" b="b"/>
              <a:pathLst>
                <a:path w="86360" h="1527175">
                  <a:moveTo>
                    <a:pt x="0" y="1526999"/>
                  </a:moveTo>
                  <a:lnTo>
                    <a:pt x="0" y="86000"/>
                  </a:lnTo>
                  <a:lnTo>
                    <a:pt x="86000" y="0"/>
                  </a:lnTo>
                  <a:lnTo>
                    <a:pt x="86000" y="1440999"/>
                  </a:lnTo>
                  <a:lnTo>
                    <a:pt x="0" y="1526999"/>
                  </a:lnTo>
                  <a:close/>
                </a:path>
              </a:pathLst>
            </a:custGeom>
            <a:solidFill>
              <a:srgbClr val="BAB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20549" y="1808249"/>
              <a:ext cx="1685289" cy="86360"/>
            </a:xfrm>
            <a:custGeom>
              <a:avLst/>
              <a:gdLst/>
              <a:ahLst/>
              <a:cxnLst/>
              <a:rect l="l" t="t" r="r" b="b"/>
              <a:pathLst>
                <a:path w="1685289" h="86360">
                  <a:moveTo>
                    <a:pt x="1598799" y="86000"/>
                  </a:moveTo>
                  <a:lnTo>
                    <a:pt x="0" y="86000"/>
                  </a:lnTo>
                  <a:lnTo>
                    <a:pt x="86000" y="0"/>
                  </a:lnTo>
                  <a:lnTo>
                    <a:pt x="1684799" y="0"/>
                  </a:lnTo>
                  <a:lnTo>
                    <a:pt x="1598799" y="86000"/>
                  </a:lnTo>
                  <a:close/>
                </a:path>
              </a:pathLst>
            </a:custGeom>
            <a:solidFill>
              <a:srgbClr val="EDF0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20549" y="1808249"/>
              <a:ext cx="1685289" cy="1527175"/>
            </a:xfrm>
            <a:custGeom>
              <a:avLst/>
              <a:gdLst/>
              <a:ahLst/>
              <a:cxnLst/>
              <a:rect l="l" t="t" r="r" b="b"/>
              <a:pathLst>
                <a:path w="1685289" h="1527175">
                  <a:moveTo>
                    <a:pt x="0" y="86000"/>
                  </a:moveTo>
                  <a:lnTo>
                    <a:pt x="86000" y="0"/>
                  </a:lnTo>
                  <a:lnTo>
                    <a:pt x="1684799" y="0"/>
                  </a:lnTo>
                  <a:lnTo>
                    <a:pt x="1684799" y="1440999"/>
                  </a:lnTo>
                  <a:lnTo>
                    <a:pt x="1598799" y="1526999"/>
                  </a:lnTo>
                  <a:lnTo>
                    <a:pt x="0" y="1526999"/>
                  </a:lnTo>
                  <a:lnTo>
                    <a:pt x="0" y="86000"/>
                  </a:lnTo>
                  <a:close/>
                </a:path>
                <a:path w="1685289" h="1527175">
                  <a:moveTo>
                    <a:pt x="0" y="86000"/>
                  </a:moveTo>
                  <a:lnTo>
                    <a:pt x="1598799" y="86000"/>
                  </a:lnTo>
                  <a:lnTo>
                    <a:pt x="1684799" y="0"/>
                  </a:lnTo>
                </a:path>
                <a:path w="1685289" h="1527175">
                  <a:moveTo>
                    <a:pt x="1598799" y="86000"/>
                  </a:moveTo>
                  <a:lnTo>
                    <a:pt x="1598799" y="15269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678812" y="2459600"/>
            <a:ext cx="1413510" cy="765175"/>
          </a:xfrm>
          <a:prstGeom prst="rect">
            <a:avLst/>
          </a:prstGeom>
          <a:solidFill>
            <a:srgbClr val="B7B7B7"/>
          </a:solidFill>
          <a:ln w="9524">
            <a:solidFill>
              <a:srgbClr val="1A1A1A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615"/>
              </a:spcBef>
            </a:pPr>
            <a:r>
              <a:rPr dirty="0" sz="1500" spc="-25">
                <a:solidFill>
                  <a:srgbClr val="1A1A1A"/>
                </a:solidFill>
                <a:latin typeface="Arial MT"/>
                <a:cs typeface="Arial MT"/>
              </a:rPr>
              <a:t>MMU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20549" y="1947055"/>
            <a:ext cx="159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244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CPU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70425" y="348355"/>
            <a:ext cx="1316355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0">
                <a:latin typeface="Arial MT"/>
                <a:cs typeface="Arial MT"/>
              </a:rPr>
              <a:t>Memoria</a:t>
            </a:r>
            <a:r>
              <a:rPr dirty="0" sz="1500" spc="-95" b="0">
                <a:latin typeface="Arial MT"/>
                <a:cs typeface="Arial MT"/>
              </a:rPr>
              <a:t> </a:t>
            </a:r>
            <a:r>
              <a:rPr dirty="0" sz="1500" spc="-10" b="0">
                <a:latin typeface="Arial MT"/>
                <a:cs typeface="Arial MT"/>
              </a:rPr>
              <a:t>Fisica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67412" y="2977824"/>
            <a:ext cx="1200785" cy="151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85"/>
              </a:lnSpc>
            </a:pPr>
            <a:r>
              <a:rPr dirty="0" sz="1050">
                <a:solidFill>
                  <a:srgbClr val="0D0D0D"/>
                </a:solidFill>
                <a:latin typeface="Courier New"/>
                <a:cs typeface="Courier New"/>
              </a:rPr>
              <a:t>satp:</a:t>
            </a:r>
            <a:r>
              <a:rPr dirty="0" sz="1050" spc="-20">
                <a:solidFill>
                  <a:srgbClr val="0D0D0D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FF9900"/>
                </a:solidFill>
                <a:latin typeface="Courier New"/>
                <a:cs typeface="Courier New"/>
              </a:rPr>
              <a:t>&lt;tabla_A&gt;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376474" y="787687"/>
            <a:ext cx="6023610" cy="4128135"/>
            <a:chOff x="1376474" y="787687"/>
            <a:chExt cx="6023610" cy="4128135"/>
          </a:xfrm>
        </p:grpSpPr>
        <p:sp>
          <p:nvSpPr>
            <p:cNvPr id="12" name="object 12" descr=""/>
            <p:cNvSpPr/>
            <p:nvPr/>
          </p:nvSpPr>
          <p:spPr>
            <a:xfrm>
              <a:off x="1385989" y="798080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5" h="4102100">
                  <a:moveTo>
                    <a:pt x="1041908" y="3378263"/>
                  </a:moveTo>
                  <a:lnTo>
                    <a:pt x="0" y="3378263"/>
                  </a:lnTo>
                  <a:lnTo>
                    <a:pt x="0" y="4101604"/>
                  </a:lnTo>
                  <a:lnTo>
                    <a:pt x="1041908" y="4101604"/>
                  </a:lnTo>
                  <a:lnTo>
                    <a:pt x="1041908" y="3378263"/>
                  </a:lnTo>
                  <a:close/>
                </a:path>
                <a:path w="1042035" h="4102100">
                  <a:moveTo>
                    <a:pt x="1041908" y="2930106"/>
                  </a:moveTo>
                  <a:lnTo>
                    <a:pt x="0" y="2930106"/>
                  </a:lnTo>
                  <a:lnTo>
                    <a:pt x="0" y="2930360"/>
                  </a:lnTo>
                  <a:lnTo>
                    <a:pt x="1041908" y="2930360"/>
                  </a:lnTo>
                  <a:lnTo>
                    <a:pt x="1041908" y="2930106"/>
                  </a:lnTo>
                  <a:close/>
                </a:path>
                <a:path w="1042035" h="4102100">
                  <a:moveTo>
                    <a:pt x="1041908" y="2300528"/>
                  </a:moveTo>
                  <a:lnTo>
                    <a:pt x="0" y="2300528"/>
                  </a:lnTo>
                  <a:lnTo>
                    <a:pt x="0" y="2627198"/>
                  </a:lnTo>
                  <a:lnTo>
                    <a:pt x="1041908" y="2627198"/>
                  </a:lnTo>
                  <a:lnTo>
                    <a:pt x="1041908" y="2300528"/>
                  </a:lnTo>
                  <a:close/>
                </a:path>
                <a:path w="1042035" h="4102100">
                  <a:moveTo>
                    <a:pt x="1041908" y="1125016"/>
                  </a:moveTo>
                  <a:lnTo>
                    <a:pt x="0" y="1125016"/>
                  </a:lnTo>
                  <a:lnTo>
                    <a:pt x="0" y="1549323"/>
                  </a:lnTo>
                  <a:lnTo>
                    <a:pt x="1041908" y="1549323"/>
                  </a:lnTo>
                  <a:lnTo>
                    <a:pt x="1041908" y="1125016"/>
                  </a:lnTo>
                  <a:close/>
                </a:path>
                <a:path w="1042035" h="4102100">
                  <a:moveTo>
                    <a:pt x="1041908" y="775284"/>
                  </a:moveTo>
                  <a:lnTo>
                    <a:pt x="0" y="775284"/>
                  </a:lnTo>
                  <a:lnTo>
                    <a:pt x="0" y="784225"/>
                  </a:lnTo>
                  <a:lnTo>
                    <a:pt x="1041908" y="784225"/>
                  </a:lnTo>
                  <a:lnTo>
                    <a:pt x="1041908" y="775284"/>
                  </a:lnTo>
                  <a:close/>
                </a:path>
                <a:path w="1042035" h="4102100">
                  <a:moveTo>
                    <a:pt x="1041908" y="0"/>
                  </a:moveTo>
                  <a:lnTo>
                    <a:pt x="0" y="0"/>
                  </a:lnTo>
                  <a:lnTo>
                    <a:pt x="0" y="266026"/>
                  </a:lnTo>
                  <a:lnTo>
                    <a:pt x="1041908" y="266026"/>
                  </a:lnTo>
                  <a:lnTo>
                    <a:pt x="1041908" y="0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85999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5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859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1041899" y="751199"/>
                  </a:moveTo>
                  <a:lnTo>
                    <a:pt x="0" y="7511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511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859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0" y="0"/>
                  </a:moveTo>
                  <a:lnTo>
                    <a:pt x="1041899" y="0"/>
                  </a:lnTo>
                  <a:lnTo>
                    <a:pt x="1041899" y="751199"/>
                  </a:lnTo>
                  <a:lnTo>
                    <a:pt x="0" y="75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859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1041899" y="93899"/>
                  </a:moveTo>
                  <a:lnTo>
                    <a:pt x="0" y="93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938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859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0" y="0"/>
                  </a:moveTo>
                  <a:lnTo>
                    <a:pt x="1041899" y="0"/>
                  </a:lnTo>
                  <a:lnTo>
                    <a:pt x="1041899" y="93899"/>
                  </a:lnTo>
                  <a:lnTo>
                    <a:pt x="0" y="9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859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1041899" y="168899"/>
                  </a:moveTo>
                  <a:lnTo>
                    <a:pt x="0" y="168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6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859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0" y="0"/>
                  </a:moveTo>
                  <a:lnTo>
                    <a:pt x="1041899" y="0"/>
                  </a:lnTo>
                  <a:lnTo>
                    <a:pt x="1041899" y="168899"/>
                  </a:lnTo>
                  <a:lnTo>
                    <a:pt x="0" y="168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859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1041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2465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859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0" y="0"/>
                  </a:moveTo>
                  <a:lnTo>
                    <a:pt x="1041899" y="0"/>
                  </a:lnTo>
                  <a:lnTo>
                    <a:pt x="1041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859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1041899" y="340799"/>
                  </a:moveTo>
                  <a:lnTo>
                    <a:pt x="0" y="340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340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859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0" y="0"/>
                  </a:moveTo>
                  <a:lnTo>
                    <a:pt x="1041899" y="0"/>
                  </a:lnTo>
                  <a:lnTo>
                    <a:pt x="1041899" y="340799"/>
                  </a:lnTo>
                  <a:lnTo>
                    <a:pt x="0" y="34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859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1041899" y="143399"/>
                  </a:moveTo>
                  <a:lnTo>
                    <a:pt x="0" y="1433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433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59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0" y="0"/>
                  </a:moveTo>
                  <a:lnTo>
                    <a:pt x="1041899" y="0"/>
                  </a:lnTo>
                  <a:lnTo>
                    <a:pt x="1041899" y="143399"/>
                  </a:lnTo>
                  <a:lnTo>
                    <a:pt x="0" y="143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859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859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859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1041899" y="447899"/>
                  </a:moveTo>
                  <a:lnTo>
                    <a:pt x="0" y="447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447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859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0" y="0"/>
                  </a:moveTo>
                  <a:lnTo>
                    <a:pt x="1041899" y="0"/>
                  </a:lnTo>
                  <a:lnTo>
                    <a:pt x="1041899" y="447899"/>
                  </a:lnTo>
                  <a:lnTo>
                    <a:pt x="0" y="447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859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859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345862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4" h="4102100">
                  <a:moveTo>
                    <a:pt x="12" y="0"/>
                  </a:moveTo>
                  <a:lnTo>
                    <a:pt x="1041912" y="0"/>
                  </a:lnTo>
                  <a:lnTo>
                    <a:pt x="1041912" y="4101600"/>
                  </a:lnTo>
                  <a:lnTo>
                    <a:pt x="12" y="4101600"/>
                  </a:lnTo>
                  <a:lnTo>
                    <a:pt x="12" y="0"/>
                  </a:lnTo>
                  <a:close/>
                </a:path>
                <a:path w="1042034" h="4102100">
                  <a:moveTo>
                    <a:pt x="0" y="3350388"/>
                  </a:moveTo>
                  <a:lnTo>
                    <a:pt x="1041899" y="3350388"/>
                  </a:lnTo>
                  <a:lnTo>
                    <a:pt x="1041899" y="4101588"/>
                  </a:lnTo>
                  <a:lnTo>
                    <a:pt x="0" y="4101588"/>
                  </a:lnTo>
                  <a:lnTo>
                    <a:pt x="0" y="3350388"/>
                  </a:lnTo>
                  <a:close/>
                </a:path>
                <a:path w="1042034" h="4102100">
                  <a:moveTo>
                    <a:pt x="0" y="143400"/>
                  </a:moveTo>
                  <a:lnTo>
                    <a:pt x="1041899" y="143400"/>
                  </a:lnTo>
                  <a:lnTo>
                    <a:pt x="1041899" y="237300"/>
                  </a:lnTo>
                  <a:lnTo>
                    <a:pt x="0" y="237300"/>
                  </a:lnTo>
                  <a:lnTo>
                    <a:pt x="0" y="143400"/>
                  </a:lnTo>
                  <a:close/>
                </a:path>
                <a:path w="1042034" h="4102100">
                  <a:moveTo>
                    <a:pt x="0" y="243028"/>
                  </a:moveTo>
                  <a:lnTo>
                    <a:pt x="1041899" y="243028"/>
                  </a:lnTo>
                  <a:lnTo>
                    <a:pt x="1041899" y="489628"/>
                  </a:lnTo>
                  <a:lnTo>
                    <a:pt x="0" y="489628"/>
                  </a:lnTo>
                  <a:lnTo>
                    <a:pt x="0" y="243028"/>
                  </a:lnTo>
                  <a:close/>
                </a:path>
                <a:path w="1042034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143400"/>
                  </a:lnTo>
                  <a:lnTo>
                    <a:pt x="0" y="143400"/>
                  </a:lnTo>
                  <a:lnTo>
                    <a:pt x="0" y="0"/>
                  </a:lnTo>
                  <a:close/>
                </a:path>
                <a:path w="1042034" h="4102100">
                  <a:moveTo>
                    <a:pt x="0" y="3270588"/>
                  </a:moveTo>
                  <a:lnTo>
                    <a:pt x="1041899" y="3270588"/>
                  </a:lnTo>
                  <a:lnTo>
                    <a:pt x="1041899" y="3350388"/>
                  </a:lnTo>
                  <a:lnTo>
                    <a:pt x="0" y="3350388"/>
                  </a:lnTo>
                  <a:lnTo>
                    <a:pt x="0" y="3270588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447024" y="792449"/>
              <a:ext cx="3883025" cy="4118610"/>
            </a:xfrm>
            <a:custGeom>
              <a:avLst/>
              <a:gdLst/>
              <a:ahLst/>
              <a:cxnLst/>
              <a:rect l="l" t="t" r="r" b="b"/>
              <a:pathLst>
                <a:path w="3883025" h="4118610">
                  <a:moveTo>
                    <a:pt x="2873824" y="992249"/>
                  </a:moveTo>
                  <a:lnTo>
                    <a:pt x="3849424" y="5549"/>
                  </a:lnTo>
                </a:path>
                <a:path w="3883025" h="4118610">
                  <a:moveTo>
                    <a:pt x="2829499" y="2521999"/>
                  </a:moveTo>
                  <a:lnTo>
                    <a:pt x="3882499" y="4118299"/>
                  </a:lnTo>
                </a:path>
                <a:path w="3883025" h="4118610">
                  <a:moveTo>
                    <a:pt x="1155599" y="997799"/>
                  </a:moveTo>
                  <a:lnTo>
                    <a:pt x="0" y="0"/>
                  </a:lnTo>
                </a:path>
                <a:path w="3883025" h="4118610">
                  <a:moveTo>
                    <a:pt x="1155599" y="2521999"/>
                  </a:moveTo>
                  <a:lnTo>
                    <a:pt x="102599" y="41182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48618" y="1046774"/>
              <a:ext cx="1042035" cy="3064510"/>
            </a:xfrm>
            <a:custGeom>
              <a:avLst/>
              <a:gdLst/>
              <a:ahLst/>
              <a:cxnLst/>
              <a:rect l="l" t="t" r="r" b="b"/>
              <a:pathLst>
                <a:path w="1042034" h="3064510">
                  <a:moveTo>
                    <a:pt x="0" y="3064212"/>
                  </a:moveTo>
                  <a:lnTo>
                    <a:pt x="1041899" y="3064212"/>
                  </a:lnTo>
                  <a:lnTo>
                    <a:pt x="1041899" y="0"/>
                  </a:lnTo>
                  <a:lnTo>
                    <a:pt x="0" y="0"/>
                  </a:lnTo>
                  <a:lnTo>
                    <a:pt x="0" y="3064212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348618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4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3C4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48618" y="798083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4" h="168909">
                  <a:moveTo>
                    <a:pt x="1041899" y="168899"/>
                  </a:moveTo>
                  <a:lnTo>
                    <a:pt x="0" y="168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6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348618" y="798083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4" h="168909">
                  <a:moveTo>
                    <a:pt x="0" y="0"/>
                  </a:moveTo>
                  <a:lnTo>
                    <a:pt x="1041899" y="0"/>
                  </a:lnTo>
                  <a:lnTo>
                    <a:pt x="1041899" y="168899"/>
                  </a:lnTo>
                  <a:lnTo>
                    <a:pt x="0" y="168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348618" y="4558872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4" h="340995">
                  <a:moveTo>
                    <a:pt x="1041899" y="340799"/>
                  </a:moveTo>
                  <a:lnTo>
                    <a:pt x="0" y="340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340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48618" y="4558872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4" h="340995">
                  <a:moveTo>
                    <a:pt x="0" y="0"/>
                  </a:moveTo>
                  <a:lnTo>
                    <a:pt x="1041899" y="0"/>
                  </a:lnTo>
                  <a:lnTo>
                    <a:pt x="1041899" y="340799"/>
                  </a:lnTo>
                  <a:lnTo>
                    <a:pt x="0" y="34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348618" y="4110986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4" h="448310">
                  <a:moveTo>
                    <a:pt x="1041899" y="447899"/>
                  </a:moveTo>
                  <a:lnTo>
                    <a:pt x="0" y="447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447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348618" y="4110986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4" h="448310">
                  <a:moveTo>
                    <a:pt x="0" y="0"/>
                  </a:moveTo>
                  <a:lnTo>
                    <a:pt x="1041899" y="0"/>
                  </a:lnTo>
                  <a:lnTo>
                    <a:pt x="1041899" y="447899"/>
                  </a:lnTo>
                  <a:lnTo>
                    <a:pt x="0" y="447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348618" y="9669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4" h="80009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348618" y="9669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4" h="80009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7532175" y="470512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532175" y="746919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155925" y="348355"/>
            <a:ext cx="13557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500" spc="-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Arial MT"/>
                <a:cs typeface="Arial MT"/>
              </a:rPr>
              <a:t>Virtual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34750" y="4792395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12500" y="69217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767412" y="2960825"/>
            <a:ext cx="1200785" cy="1600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050">
                <a:solidFill>
                  <a:srgbClr val="0D0D0D"/>
                </a:solidFill>
                <a:latin typeface="Courier New"/>
                <a:cs typeface="Courier New"/>
              </a:rPr>
              <a:t>satp:</a:t>
            </a:r>
            <a:r>
              <a:rPr dirty="0" sz="1050" spc="-20">
                <a:solidFill>
                  <a:srgbClr val="0D0D0D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6AA84F"/>
                </a:solidFill>
                <a:latin typeface="Courier New"/>
                <a:cs typeface="Courier New"/>
              </a:rPr>
              <a:t>&lt;tabla_B&gt;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5787" y="1803487"/>
            <a:ext cx="1694814" cy="1536700"/>
            <a:chOff x="3615787" y="1803487"/>
            <a:chExt cx="1694814" cy="1536700"/>
          </a:xfrm>
        </p:grpSpPr>
        <p:sp>
          <p:nvSpPr>
            <p:cNvPr id="3" name="object 3" descr=""/>
            <p:cNvSpPr/>
            <p:nvPr/>
          </p:nvSpPr>
          <p:spPr>
            <a:xfrm>
              <a:off x="3620549" y="1894250"/>
              <a:ext cx="1598930" cy="1441450"/>
            </a:xfrm>
            <a:custGeom>
              <a:avLst/>
              <a:gdLst/>
              <a:ahLst/>
              <a:cxnLst/>
              <a:rect l="l" t="t" r="r" b="b"/>
              <a:pathLst>
                <a:path w="1598929" h="1441450">
                  <a:moveTo>
                    <a:pt x="1598799" y="1440999"/>
                  </a:moveTo>
                  <a:lnTo>
                    <a:pt x="0" y="1440999"/>
                  </a:lnTo>
                  <a:lnTo>
                    <a:pt x="0" y="0"/>
                  </a:lnTo>
                  <a:lnTo>
                    <a:pt x="1598799" y="0"/>
                  </a:lnTo>
                  <a:lnTo>
                    <a:pt x="1598799" y="14409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219349" y="1808249"/>
              <a:ext cx="86360" cy="1527175"/>
            </a:xfrm>
            <a:custGeom>
              <a:avLst/>
              <a:gdLst/>
              <a:ahLst/>
              <a:cxnLst/>
              <a:rect l="l" t="t" r="r" b="b"/>
              <a:pathLst>
                <a:path w="86360" h="1527175">
                  <a:moveTo>
                    <a:pt x="0" y="1526999"/>
                  </a:moveTo>
                  <a:lnTo>
                    <a:pt x="0" y="86000"/>
                  </a:lnTo>
                  <a:lnTo>
                    <a:pt x="86000" y="0"/>
                  </a:lnTo>
                  <a:lnTo>
                    <a:pt x="86000" y="1440999"/>
                  </a:lnTo>
                  <a:lnTo>
                    <a:pt x="0" y="1526999"/>
                  </a:lnTo>
                  <a:close/>
                </a:path>
              </a:pathLst>
            </a:custGeom>
            <a:solidFill>
              <a:srgbClr val="BAB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20549" y="1808249"/>
              <a:ext cx="1685289" cy="86360"/>
            </a:xfrm>
            <a:custGeom>
              <a:avLst/>
              <a:gdLst/>
              <a:ahLst/>
              <a:cxnLst/>
              <a:rect l="l" t="t" r="r" b="b"/>
              <a:pathLst>
                <a:path w="1685289" h="86360">
                  <a:moveTo>
                    <a:pt x="1598799" y="86000"/>
                  </a:moveTo>
                  <a:lnTo>
                    <a:pt x="0" y="86000"/>
                  </a:lnTo>
                  <a:lnTo>
                    <a:pt x="86000" y="0"/>
                  </a:lnTo>
                  <a:lnTo>
                    <a:pt x="1684799" y="0"/>
                  </a:lnTo>
                  <a:lnTo>
                    <a:pt x="1598799" y="86000"/>
                  </a:lnTo>
                  <a:close/>
                </a:path>
              </a:pathLst>
            </a:custGeom>
            <a:solidFill>
              <a:srgbClr val="EDF0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20549" y="1808249"/>
              <a:ext cx="1685289" cy="1527175"/>
            </a:xfrm>
            <a:custGeom>
              <a:avLst/>
              <a:gdLst/>
              <a:ahLst/>
              <a:cxnLst/>
              <a:rect l="l" t="t" r="r" b="b"/>
              <a:pathLst>
                <a:path w="1685289" h="1527175">
                  <a:moveTo>
                    <a:pt x="0" y="86000"/>
                  </a:moveTo>
                  <a:lnTo>
                    <a:pt x="86000" y="0"/>
                  </a:lnTo>
                  <a:lnTo>
                    <a:pt x="1684799" y="0"/>
                  </a:lnTo>
                  <a:lnTo>
                    <a:pt x="1684799" y="1440999"/>
                  </a:lnTo>
                  <a:lnTo>
                    <a:pt x="1598799" y="1526999"/>
                  </a:lnTo>
                  <a:lnTo>
                    <a:pt x="0" y="1526999"/>
                  </a:lnTo>
                  <a:lnTo>
                    <a:pt x="0" y="86000"/>
                  </a:lnTo>
                  <a:close/>
                </a:path>
                <a:path w="1685289" h="1527175">
                  <a:moveTo>
                    <a:pt x="0" y="86000"/>
                  </a:moveTo>
                  <a:lnTo>
                    <a:pt x="1598799" y="86000"/>
                  </a:lnTo>
                  <a:lnTo>
                    <a:pt x="1684799" y="0"/>
                  </a:lnTo>
                </a:path>
                <a:path w="1685289" h="1527175">
                  <a:moveTo>
                    <a:pt x="1598799" y="86000"/>
                  </a:moveTo>
                  <a:lnTo>
                    <a:pt x="1598799" y="15269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385999" y="4176336"/>
            <a:ext cx="1042035" cy="723900"/>
          </a:xfrm>
          <a:custGeom>
            <a:avLst/>
            <a:gdLst/>
            <a:ahLst/>
            <a:cxnLst/>
            <a:rect l="l" t="t" r="r" b="b"/>
            <a:pathLst>
              <a:path w="1042035" h="723900">
                <a:moveTo>
                  <a:pt x="0" y="723337"/>
                </a:moveTo>
                <a:lnTo>
                  <a:pt x="1041899" y="723337"/>
                </a:lnTo>
                <a:lnTo>
                  <a:pt x="1041899" y="0"/>
                </a:lnTo>
                <a:lnTo>
                  <a:pt x="0" y="0"/>
                </a:lnTo>
                <a:lnTo>
                  <a:pt x="0" y="723337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85999" y="3728174"/>
            <a:ext cx="1042035" cy="635"/>
          </a:xfrm>
          <a:custGeom>
            <a:avLst/>
            <a:gdLst/>
            <a:ahLst/>
            <a:cxnLst/>
            <a:rect l="l" t="t" r="r" b="b"/>
            <a:pathLst>
              <a:path w="1042035" h="635">
                <a:moveTo>
                  <a:pt x="0" y="262"/>
                </a:moveTo>
                <a:lnTo>
                  <a:pt x="1041899" y="262"/>
                </a:lnTo>
                <a:lnTo>
                  <a:pt x="1041899" y="0"/>
                </a:lnTo>
                <a:lnTo>
                  <a:pt x="0" y="0"/>
                </a:lnTo>
                <a:lnTo>
                  <a:pt x="0" y="262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85999" y="3098600"/>
            <a:ext cx="1042035" cy="327025"/>
          </a:xfrm>
          <a:custGeom>
            <a:avLst/>
            <a:gdLst/>
            <a:ahLst/>
            <a:cxnLst/>
            <a:rect l="l" t="t" r="r" b="b"/>
            <a:pathLst>
              <a:path w="1042035" h="327025">
                <a:moveTo>
                  <a:pt x="0" y="326674"/>
                </a:moveTo>
                <a:lnTo>
                  <a:pt x="1041899" y="326674"/>
                </a:lnTo>
                <a:lnTo>
                  <a:pt x="1041899" y="0"/>
                </a:lnTo>
                <a:lnTo>
                  <a:pt x="0" y="0"/>
                </a:lnTo>
                <a:lnTo>
                  <a:pt x="0" y="326674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85999" y="1923096"/>
            <a:ext cx="1042035" cy="424815"/>
          </a:xfrm>
          <a:custGeom>
            <a:avLst/>
            <a:gdLst/>
            <a:ahLst/>
            <a:cxnLst/>
            <a:rect l="l" t="t" r="r" b="b"/>
            <a:pathLst>
              <a:path w="1042035" h="424814">
                <a:moveTo>
                  <a:pt x="0" y="424303"/>
                </a:moveTo>
                <a:lnTo>
                  <a:pt x="1041899" y="424303"/>
                </a:lnTo>
                <a:lnTo>
                  <a:pt x="1041899" y="0"/>
                </a:lnTo>
                <a:lnTo>
                  <a:pt x="0" y="0"/>
                </a:lnTo>
                <a:lnTo>
                  <a:pt x="0" y="424303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385999" y="1573352"/>
            <a:ext cx="1042035" cy="9525"/>
          </a:xfrm>
          <a:custGeom>
            <a:avLst/>
            <a:gdLst/>
            <a:ahLst/>
            <a:cxnLst/>
            <a:rect l="l" t="t" r="r" b="b"/>
            <a:pathLst>
              <a:path w="1042035" h="9525">
                <a:moveTo>
                  <a:pt x="0" y="8944"/>
                </a:moveTo>
                <a:lnTo>
                  <a:pt x="1041899" y="8944"/>
                </a:lnTo>
                <a:lnTo>
                  <a:pt x="1041899" y="0"/>
                </a:lnTo>
                <a:lnTo>
                  <a:pt x="0" y="0"/>
                </a:lnTo>
                <a:lnTo>
                  <a:pt x="0" y="8944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376474" y="787687"/>
            <a:ext cx="2231390" cy="4128135"/>
            <a:chOff x="1376474" y="787687"/>
            <a:chExt cx="2231390" cy="4128135"/>
          </a:xfrm>
        </p:grpSpPr>
        <p:sp>
          <p:nvSpPr>
            <p:cNvPr id="13" name="object 13" descr=""/>
            <p:cNvSpPr/>
            <p:nvPr/>
          </p:nvSpPr>
          <p:spPr>
            <a:xfrm>
              <a:off x="1385999" y="798074"/>
              <a:ext cx="1042035" cy="266065"/>
            </a:xfrm>
            <a:custGeom>
              <a:avLst/>
              <a:gdLst/>
              <a:ahLst/>
              <a:cxnLst/>
              <a:rect l="l" t="t" r="r" b="b"/>
              <a:pathLst>
                <a:path w="1042035" h="266065">
                  <a:moveTo>
                    <a:pt x="0" y="266024"/>
                  </a:moveTo>
                  <a:lnTo>
                    <a:pt x="1041899" y="266024"/>
                  </a:lnTo>
                  <a:lnTo>
                    <a:pt x="1041899" y="0"/>
                  </a:lnTo>
                  <a:lnTo>
                    <a:pt x="0" y="0"/>
                  </a:lnTo>
                  <a:lnTo>
                    <a:pt x="0" y="266024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85999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5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859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1041899" y="751199"/>
                  </a:moveTo>
                  <a:lnTo>
                    <a:pt x="0" y="7511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511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85999" y="2347399"/>
              <a:ext cx="1042035" cy="751205"/>
            </a:xfrm>
            <a:custGeom>
              <a:avLst/>
              <a:gdLst/>
              <a:ahLst/>
              <a:cxnLst/>
              <a:rect l="l" t="t" r="r" b="b"/>
              <a:pathLst>
                <a:path w="1042035" h="751205">
                  <a:moveTo>
                    <a:pt x="0" y="0"/>
                  </a:moveTo>
                  <a:lnTo>
                    <a:pt x="1041899" y="0"/>
                  </a:lnTo>
                  <a:lnTo>
                    <a:pt x="1041899" y="751199"/>
                  </a:lnTo>
                  <a:lnTo>
                    <a:pt x="0" y="751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859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1041899" y="93899"/>
                  </a:moveTo>
                  <a:lnTo>
                    <a:pt x="0" y="93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938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85999" y="1064099"/>
              <a:ext cx="1042035" cy="93980"/>
            </a:xfrm>
            <a:custGeom>
              <a:avLst/>
              <a:gdLst/>
              <a:ahLst/>
              <a:cxnLst/>
              <a:rect l="l" t="t" r="r" b="b"/>
              <a:pathLst>
                <a:path w="1042035" h="93980">
                  <a:moveTo>
                    <a:pt x="0" y="0"/>
                  </a:moveTo>
                  <a:lnTo>
                    <a:pt x="1041899" y="0"/>
                  </a:lnTo>
                  <a:lnTo>
                    <a:pt x="1041899" y="93899"/>
                  </a:lnTo>
                  <a:lnTo>
                    <a:pt x="0" y="93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859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1041899" y="168899"/>
                  </a:moveTo>
                  <a:lnTo>
                    <a:pt x="0" y="168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6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85999" y="1157858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5" h="168909">
                  <a:moveTo>
                    <a:pt x="0" y="0"/>
                  </a:moveTo>
                  <a:lnTo>
                    <a:pt x="1041899" y="0"/>
                  </a:lnTo>
                  <a:lnTo>
                    <a:pt x="1041899" y="168899"/>
                  </a:lnTo>
                  <a:lnTo>
                    <a:pt x="0" y="168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859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1041899" y="246599"/>
                  </a:moveTo>
                  <a:lnTo>
                    <a:pt x="0" y="2465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2465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85999" y="1326752"/>
              <a:ext cx="1042035" cy="247015"/>
            </a:xfrm>
            <a:custGeom>
              <a:avLst/>
              <a:gdLst/>
              <a:ahLst/>
              <a:cxnLst/>
              <a:rect l="l" t="t" r="r" b="b"/>
              <a:pathLst>
                <a:path w="1042035" h="247015">
                  <a:moveTo>
                    <a:pt x="0" y="0"/>
                  </a:moveTo>
                  <a:lnTo>
                    <a:pt x="1041899" y="0"/>
                  </a:lnTo>
                  <a:lnTo>
                    <a:pt x="1041899" y="246599"/>
                  </a:lnTo>
                  <a:lnTo>
                    <a:pt x="0" y="246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859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1041899" y="340799"/>
                  </a:moveTo>
                  <a:lnTo>
                    <a:pt x="0" y="340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340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85999" y="1582296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5" h="340994">
                  <a:moveTo>
                    <a:pt x="0" y="0"/>
                  </a:moveTo>
                  <a:lnTo>
                    <a:pt x="1041899" y="0"/>
                  </a:lnTo>
                  <a:lnTo>
                    <a:pt x="1041899" y="340799"/>
                  </a:lnTo>
                  <a:lnTo>
                    <a:pt x="0" y="34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59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1041899" y="143399"/>
                  </a:moveTo>
                  <a:lnTo>
                    <a:pt x="0" y="1433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433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85999" y="3584774"/>
              <a:ext cx="1042035" cy="143510"/>
            </a:xfrm>
            <a:custGeom>
              <a:avLst/>
              <a:gdLst/>
              <a:ahLst/>
              <a:cxnLst/>
              <a:rect l="l" t="t" r="r" b="b"/>
              <a:pathLst>
                <a:path w="1042035" h="143510">
                  <a:moveTo>
                    <a:pt x="0" y="0"/>
                  </a:moveTo>
                  <a:lnTo>
                    <a:pt x="1041899" y="0"/>
                  </a:lnTo>
                  <a:lnTo>
                    <a:pt x="1041899" y="143399"/>
                  </a:lnTo>
                  <a:lnTo>
                    <a:pt x="0" y="143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859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85999" y="34252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859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1041899" y="447899"/>
                  </a:moveTo>
                  <a:lnTo>
                    <a:pt x="0" y="447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447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85999" y="372843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5" h="448310">
                  <a:moveTo>
                    <a:pt x="0" y="0"/>
                  </a:moveTo>
                  <a:lnTo>
                    <a:pt x="1041899" y="0"/>
                  </a:lnTo>
                  <a:lnTo>
                    <a:pt x="1041899" y="447899"/>
                  </a:lnTo>
                  <a:lnTo>
                    <a:pt x="0" y="447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859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85999" y="350502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5" h="80010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447024" y="792449"/>
              <a:ext cx="1155700" cy="4118610"/>
            </a:xfrm>
            <a:custGeom>
              <a:avLst/>
              <a:gdLst/>
              <a:ahLst/>
              <a:cxnLst/>
              <a:rect l="l" t="t" r="r" b="b"/>
              <a:pathLst>
                <a:path w="1155700" h="4118610">
                  <a:moveTo>
                    <a:pt x="1155599" y="997799"/>
                  </a:moveTo>
                  <a:lnTo>
                    <a:pt x="0" y="0"/>
                  </a:lnTo>
                </a:path>
                <a:path w="1155700" h="4118610">
                  <a:moveTo>
                    <a:pt x="1155599" y="2521999"/>
                  </a:moveTo>
                  <a:lnTo>
                    <a:pt x="102599" y="41182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532175" y="470512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532175" y="746919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767412" y="2960825"/>
            <a:ext cx="1200785" cy="1600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050">
                <a:solidFill>
                  <a:srgbClr val="0D0D0D"/>
                </a:solidFill>
                <a:latin typeface="Courier New"/>
                <a:cs typeface="Courier New"/>
              </a:rPr>
              <a:t>satp:</a:t>
            </a:r>
            <a:r>
              <a:rPr dirty="0" sz="1050" spc="-20">
                <a:solidFill>
                  <a:srgbClr val="0D0D0D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6AA84F"/>
                </a:solidFill>
                <a:latin typeface="Courier New"/>
                <a:cs typeface="Courier New"/>
              </a:rPr>
              <a:t>&lt;tabla_B&gt;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170425" y="348355"/>
            <a:ext cx="1316355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0">
                <a:latin typeface="Arial MT"/>
                <a:cs typeface="Arial MT"/>
              </a:rPr>
              <a:t>Memoria</a:t>
            </a:r>
            <a:r>
              <a:rPr dirty="0" sz="1500" spc="-95" b="0">
                <a:latin typeface="Arial MT"/>
                <a:cs typeface="Arial MT"/>
              </a:rPr>
              <a:t> </a:t>
            </a:r>
            <a:r>
              <a:rPr dirty="0" sz="1500" spc="-10" b="0">
                <a:latin typeface="Arial MT"/>
                <a:cs typeface="Arial MT"/>
              </a:rPr>
              <a:t>Fisica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678812" y="2459600"/>
            <a:ext cx="1413510" cy="765175"/>
          </a:xfrm>
          <a:prstGeom prst="rect">
            <a:avLst/>
          </a:prstGeom>
          <a:solidFill>
            <a:srgbClr val="B7B7B7"/>
          </a:solidFill>
          <a:ln w="9524">
            <a:solidFill>
              <a:srgbClr val="1A1A1A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615"/>
              </a:spcBef>
            </a:pPr>
            <a:r>
              <a:rPr dirty="0" sz="1500" spc="-25">
                <a:solidFill>
                  <a:srgbClr val="1A1A1A"/>
                </a:solidFill>
                <a:latin typeface="Arial MT"/>
                <a:cs typeface="Arial MT"/>
              </a:rPr>
              <a:t>MMU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620549" y="1947055"/>
            <a:ext cx="1594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244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1A1A1A"/>
                </a:solidFill>
                <a:latin typeface="Arial MT"/>
                <a:cs typeface="Arial MT"/>
              </a:rPr>
              <a:t>CPU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5271762" y="788549"/>
            <a:ext cx="2128520" cy="4127500"/>
            <a:chOff x="5271762" y="788549"/>
            <a:chExt cx="2128520" cy="4127500"/>
          </a:xfrm>
        </p:grpSpPr>
        <p:sp>
          <p:nvSpPr>
            <p:cNvPr id="41" name="object 41" descr=""/>
            <p:cNvSpPr/>
            <p:nvPr/>
          </p:nvSpPr>
          <p:spPr>
            <a:xfrm>
              <a:off x="5276524" y="797999"/>
              <a:ext cx="1053465" cy="4112895"/>
            </a:xfrm>
            <a:custGeom>
              <a:avLst/>
              <a:gdLst/>
              <a:ahLst/>
              <a:cxnLst/>
              <a:rect l="l" t="t" r="r" b="b"/>
              <a:pathLst>
                <a:path w="1053464" h="4112895">
                  <a:moveTo>
                    <a:pt x="44324" y="986699"/>
                  </a:moveTo>
                  <a:lnTo>
                    <a:pt x="1019924" y="0"/>
                  </a:lnTo>
                </a:path>
                <a:path w="1053464" h="4112895">
                  <a:moveTo>
                    <a:pt x="0" y="2516449"/>
                  </a:moveTo>
                  <a:lnTo>
                    <a:pt x="1052999" y="411274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348618" y="1046774"/>
              <a:ext cx="1042035" cy="3064510"/>
            </a:xfrm>
            <a:custGeom>
              <a:avLst/>
              <a:gdLst/>
              <a:ahLst/>
              <a:cxnLst/>
              <a:rect l="l" t="t" r="r" b="b"/>
              <a:pathLst>
                <a:path w="1042034" h="3064510">
                  <a:moveTo>
                    <a:pt x="0" y="3064212"/>
                  </a:moveTo>
                  <a:lnTo>
                    <a:pt x="1041899" y="3064212"/>
                  </a:lnTo>
                  <a:lnTo>
                    <a:pt x="1041899" y="0"/>
                  </a:lnTo>
                  <a:lnTo>
                    <a:pt x="0" y="0"/>
                  </a:lnTo>
                  <a:lnTo>
                    <a:pt x="0" y="3064212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348618" y="798074"/>
              <a:ext cx="1042035" cy="4102100"/>
            </a:xfrm>
            <a:custGeom>
              <a:avLst/>
              <a:gdLst/>
              <a:ahLst/>
              <a:cxnLst/>
              <a:rect l="l" t="t" r="r" b="b"/>
              <a:pathLst>
                <a:path w="1042034" h="4102100">
                  <a:moveTo>
                    <a:pt x="0" y="0"/>
                  </a:moveTo>
                  <a:lnTo>
                    <a:pt x="1041899" y="0"/>
                  </a:lnTo>
                  <a:lnTo>
                    <a:pt x="1041899" y="4101599"/>
                  </a:lnTo>
                  <a:lnTo>
                    <a:pt x="0" y="4101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3C4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348618" y="798083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4" h="168909">
                  <a:moveTo>
                    <a:pt x="1041899" y="168899"/>
                  </a:moveTo>
                  <a:lnTo>
                    <a:pt x="0" y="168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16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348618" y="798083"/>
              <a:ext cx="1042035" cy="168910"/>
            </a:xfrm>
            <a:custGeom>
              <a:avLst/>
              <a:gdLst/>
              <a:ahLst/>
              <a:cxnLst/>
              <a:rect l="l" t="t" r="r" b="b"/>
              <a:pathLst>
                <a:path w="1042034" h="168909">
                  <a:moveTo>
                    <a:pt x="0" y="0"/>
                  </a:moveTo>
                  <a:lnTo>
                    <a:pt x="1041899" y="0"/>
                  </a:lnTo>
                  <a:lnTo>
                    <a:pt x="1041899" y="168899"/>
                  </a:lnTo>
                  <a:lnTo>
                    <a:pt x="0" y="168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48618" y="4558871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4" h="340995">
                  <a:moveTo>
                    <a:pt x="1041899" y="340799"/>
                  </a:moveTo>
                  <a:lnTo>
                    <a:pt x="0" y="340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340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348618" y="4558871"/>
              <a:ext cx="1042035" cy="340995"/>
            </a:xfrm>
            <a:custGeom>
              <a:avLst/>
              <a:gdLst/>
              <a:ahLst/>
              <a:cxnLst/>
              <a:rect l="l" t="t" r="r" b="b"/>
              <a:pathLst>
                <a:path w="1042034" h="340995">
                  <a:moveTo>
                    <a:pt x="0" y="0"/>
                  </a:moveTo>
                  <a:lnTo>
                    <a:pt x="1041899" y="0"/>
                  </a:lnTo>
                  <a:lnTo>
                    <a:pt x="1041899" y="340799"/>
                  </a:lnTo>
                  <a:lnTo>
                    <a:pt x="0" y="34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348618" y="411098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4" h="448310">
                  <a:moveTo>
                    <a:pt x="1041899" y="447899"/>
                  </a:moveTo>
                  <a:lnTo>
                    <a:pt x="0" y="4478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447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348618" y="4110987"/>
              <a:ext cx="1042035" cy="448309"/>
            </a:xfrm>
            <a:custGeom>
              <a:avLst/>
              <a:gdLst/>
              <a:ahLst/>
              <a:cxnLst/>
              <a:rect l="l" t="t" r="r" b="b"/>
              <a:pathLst>
                <a:path w="1042034" h="448310">
                  <a:moveTo>
                    <a:pt x="0" y="0"/>
                  </a:moveTo>
                  <a:lnTo>
                    <a:pt x="1041899" y="0"/>
                  </a:lnTo>
                  <a:lnTo>
                    <a:pt x="1041899" y="447899"/>
                  </a:lnTo>
                  <a:lnTo>
                    <a:pt x="0" y="447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348618" y="9669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4" h="80009">
                  <a:moveTo>
                    <a:pt x="1041899" y="79799"/>
                  </a:moveTo>
                  <a:lnTo>
                    <a:pt x="0" y="79799"/>
                  </a:lnTo>
                  <a:lnTo>
                    <a:pt x="0" y="0"/>
                  </a:lnTo>
                  <a:lnTo>
                    <a:pt x="1041899" y="0"/>
                  </a:lnTo>
                  <a:lnTo>
                    <a:pt x="1041899" y="79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348618" y="966974"/>
              <a:ext cx="1042035" cy="80010"/>
            </a:xfrm>
            <a:custGeom>
              <a:avLst/>
              <a:gdLst/>
              <a:ahLst/>
              <a:cxnLst/>
              <a:rect l="l" t="t" r="r" b="b"/>
              <a:pathLst>
                <a:path w="1042034" h="80009">
                  <a:moveTo>
                    <a:pt x="0" y="0"/>
                  </a:moveTo>
                  <a:lnTo>
                    <a:pt x="1041899" y="0"/>
                  </a:lnTo>
                  <a:lnTo>
                    <a:pt x="1041899" y="79799"/>
                  </a:lnTo>
                  <a:lnTo>
                    <a:pt x="0" y="79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155925" y="348355"/>
            <a:ext cx="13557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500" spc="-9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1A1A1A"/>
                </a:solidFill>
                <a:latin typeface="Arial MT"/>
                <a:cs typeface="Arial MT"/>
              </a:rPr>
              <a:t>Virtual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34750" y="4792395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0x00000000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512500" y="692170"/>
            <a:ext cx="787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0xffffffff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01" y="711151"/>
            <a:ext cx="8424522" cy="37102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494200" y="2006400"/>
            <a:ext cx="876300" cy="203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390"/>
              </a:lnSpc>
            </a:pPr>
            <a:r>
              <a:rPr dirty="0" sz="1200" spc="-10" b="1">
                <a:solidFill>
                  <a:srgbClr val="1A1A1A"/>
                </a:solidFill>
                <a:latin typeface="Arial"/>
                <a:cs typeface="Arial"/>
              </a:rPr>
              <a:t>ECALL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86750" y="2470199"/>
            <a:ext cx="876300" cy="203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390"/>
              </a:lnSpc>
            </a:pPr>
            <a:r>
              <a:rPr dirty="0" sz="1200" spc="-20" b="1">
                <a:solidFill>
                  <a:srgbClr val="1A1A1A"/>
                </a:solidFill>
                <a:latin typeface="Arial"/>
                <a:cs typeface="Arial"/>
              </a:rPr>
              <a:t>SRET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28800" y="1624950"/>
            <a:ext cx="1191895" cy="2343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625"/>
              </a:lnSpc>
            </a:pPr>
            <a:r>
              <a:rPr dirty="0" sz="1400" spc="-10" b="1">
                <a:solidFill>
                  <a:srgbClr val="1A1A1A"/>
                </a:solidFill>
                <a:latin typeface="Courier New"/>
                <a:cs typeface="Courier New"/>
              </a:rPr>
              <a:t>uservect</a:t>
            </a:r>
            <a:r>
              <a:rPr dirty="0" sz="1400" spc="-10" b="1">
                <a:solidFill>
                  <a:srgbClr val="1A1A1A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86750" y="2047575"/>
            <a:ext cx="1393825" cy="2343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625"/>
              </a:lnSpc>
            </a:pPr>
            <a:r>
              <a:rPr dirty="0" sz="1400" spc="-10" b="1">
                <a:solidFill>
                  <a:srgbClr val="1A1A1A"/>
                </a:solidFill>
                <a:latin typeface="Courier New"/>
                <a:cs typeface="Courier New"/>
              </a:rPr>
              <a:t>usertrap()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746724" y="1568125"/>
            <a:ext cx="1258570" cy="2343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85725">
              <a:lnSpc>
                <a:spcPts val="1625"/>
              </a:lnSpc>
            </a:pPr>
            <a:r>
              <a:rPr dirty="0" sz="1400" spc="-10" b="1">
                <a:solidFill>
                  <a:srgbClr val="1A1A1A"/>
                </a:solidFill>
                <a:latin typeface="Courier New"/>
                <a:cs typeface="Courier New"/>
              </a:rPr>
              <a:t>usertrap()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02475" y="-3581"/>
            <a:ext cx="425450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/>
              <a:t>Invocación</a:t>
            </a:r>
            <a:r>
              <a:rPr dirty="0" sz="2600" spc="5"/>
              <a:t> </a:t>
            </a:r>
            <a:r>
              <a:rPr dirty="0" sz="2600" spc="105"/>
              <a:t>de</a:t>
            </a:r>
            <a:r>
              <a:rPr dirty="0" sz="2600" spc="5"/>
              <a:t> </a:t>
            </a:r>
            <a:r>
              <a:rPr dirty="0" sz="2600" spc="75"/>
              <a:t>Sistem</a:t>
            </a:r>
            <a:r>
              <a:rPr dirty="0" sz="2600" spc="5"/>
              <a:t> </a:t>
            </a:r>
            <a:r>
              <a:rPr dirty="0" sz="2600" spc="100"/>
              <a:t>Calls</a:t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342337" y="925262"/>
          <a:ext cx="1501140" cy="3232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5415"/>
              </a:tblGrid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1A9988"/>
                          </a:solidFill>
                          <a:latin typeface="Arial MT"/>
                          <a:cs typeface="Arial MT"/>
                        </a:rPr>
                        <a:t>TRAMPOLINE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TRAPFRAME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</a:tr>
              <a:tr h="1516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heap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000" spc="-15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2521524" y="4061970"/>
            <a:ext cx="254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A1A1A"/>
                </a:solidFill>
                <a:latin typeface="Courier New"/>
                <a:cs typeface="Courier New"/>
              </a:rPr>
              <a:t>0x0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2424" y="828619"/>
            <a:ext cx="406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MAXVA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845799" y="909529"/>
            <a:ext cx="492759" cy="41275"/>
            <a:chOff x="2845799" y="909529"/>
            <a:chExt cx="492759" cy="41275"/>
          </a:xfrm>
        </p:grpSpPr>
        <p:sp>
          <p:nvSpPr>
            <p:cNvPr id="6" name="object 6" descr=""/>
            <p:cNvSpPr/>
            <p:nvPr/>
          </p:nvSpPr>
          <p:spPr>
            <a:xfrm>
              <a:off x="2845799" y="930025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845799" y="4142879"/>
            <a:ext cx="492759" cy="41275"/>
            <a:chOff x="2845799" y="4142879"/>
            <a:chExt cx="492759" cy="41275"/>
          </a:xfrm>
        </p:grpSpPr>
        <p:sp>
          <p:nvSpPr>
            <p:cNvPr id="10" name="object 10" descr=""/>
            <p:cNvSpPr/>
            <p:nvPr/>
          </p:nvSpPr>
          <p:spPr>
            <a:xfrm>
              <a:off x="2845799" y="416337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936563" y="177196"/>
            <a:ext cx="223583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300" spc="-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virtual</a:t>
            </a:r>
            <a:r>
              <a:rPr dirty="0" sz="1300" spc="-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en</a:t>
            </a:r>
            <a:r>
              <a:rPr dirty="0" sz="1300" spc="-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user</a:t>
            </a:r>
            <a:r>
              <a:rPr dirty="0" sz="1300" spc="-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902999" y="920600"/>
            <a:ext cx="103505" cy="466090"/>
          </a:xfrm>
          <a:custGeom>
            <a:avLst/>
            <a:gdLst/>
            <a:ahLst/>
            <a:cxnLst/>
            <a:rect l="l" t="t" r="r" b="b"/>
            <a:pathLst>
              <a:path w="103504" h="466090">
                <a:moveTo>
                  <a:pt x="0" y="0"/>
                </a:moveTo>
                <a:lnTo>
                  <a:pt x="10143" y="1003"/>
                </a:lnTo>
                <a:lnTo>
                  <a:pt x="19803" y="3939"/>
                </a:lnTo>
                <a:lnTo>
                  <a:pt x="47810" y="31946"/>
                </a:lnTo>
                <a:lnTo>
                  <a:pt x="51749" y="51749"/>
                </a:lnTo>
                <a:lnTo>
                  <a:pt x="51749" y="181049"/>
                </a:lnTo>
                <a:lnTo>
                  <a:pt x="55816" y="201193"/>
                </a:lnTo>
                <a:lnTo>
                  <a:pt x="66907" y="217642"/>
                </a:lnTo>
                <a:lnTo>
                  <a:pt x="83356" y="228733"/>
                </a:lnTo>
                <a:lnTo>
                  <a:pt x="103499" y="232799"/>
                </a:lnTo>
                <a:lnTo>
                  <a:pt x="83356" y="236866"/>
                </a:lnTo>
                <a:lnTo>
                  <a:pt x="66907" y="247957"/>
                </a:lnTo>
                <a:lnTo>
                  <a:pt x="55816" y="264406"/>
                </a:lnTo>
                <a:lnTo>
                  <a:pt x="51749" y="284549"/>
                </a:lnTo>
                <a:lnTo>
                  <a:pt x="51749" y="413849"/>
                </a:lnTo>
                <a:lnTo>
                  <a:pt x="47683" y="433993"/>
                </a:lnTo>
                <a:lnTo>
                  <a:pt x="36592" y="450442"/>
                </a:lnTo>
                <a:lnTo>
                  <a:pt x="20143" y="461533"/>
                </a:lnTo>
                <a:lnTo>
                  <a:pt x="0" y="465599"/>
                </a:lnTo>
              </a:path>
            </a:pathLst>
          </a:custGeom>
          <a:ln w="9524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096374" y="959237"/>
            <a:ext cx="124079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A1A"/>
                </a:solidFill>
                <a:latin typeface="Arial"/>
                <a:cs typeface="Arial"/>
              </a:rPr>
              <a:t>User:</a:t>
            </a:r>
            <a:r>
              <a:rPr dirty="0" sz="1100" spc="-3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A1A"/>
                </a:solidFill>
                <a:latin typeface="Arial MT"/>
                <a:cs typeface="Arial MT"/>
              </a:rPr>
              <a:t>No</a:t>
            </a:r>
            <a:r>
              <a:rPr dirty="0" sz="11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A1A"/>
                </a:solidFill>
                <a:latin typeface="Arial MT"/>
                <a:cs typeface="Arial MT"/>
              </a:rPr>
              <a:t>accesible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1A1A1A"/>
                </a:solidFill>
                <a:latin typeface="Arial"/>
                <a:cs typeface="Arial"/>
              </a:rPr>
              <a:t>Kernel:</a:t>
            </a:r>
            <a:r>
              <a:rPr dirty="0" sz="1100" spc="-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A1A1A"/>
                </a:solidFill>
                <a:latin typeface="Arial MT"/>
                <a:cs typeface="Arial MT"/>
              </a:rPr>
              <a:t>Read/Write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3025" y="65404"/>
            <a:ext cx="210820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Transición</a:t>
            </a:r>
            <a:r>
              <a:rPr dirty="0" sz="1500" spc="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User-</a:t>
            </a:r>
            <a:r>
              <a:rPr dirty="0" sz="1500" spc="-10">
                <a:latin typeface="Arial"/>
                <a:cs typeface="Arial"/>
              </a:rPr>
              <a:t>Kernel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342337" y="925262"/>
          <a:ext cx="1996439" cy="3231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5415"/>
                <a:gridCol w="57784"/>
                <a:gridCol w="437514"/>
              </a:tblGrid>
              <a:tr h="108585">
                <a:tc rowSpan="2"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1A9988"/>
                          </a:solidFill>
                          <a:latin typeface="Arial MT"/>
                          <a:cs typeface="Arial MT"/>
                        </a:rPr>
                        <a:t>TRAMPOLINE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79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D4A6BD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TRAPFRAME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1516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heap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4038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000" spc="-15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4038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2521524" y="4061970"/>
            <a:ext cx="254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A1A1A"/>
                </a:solidFill>
                <a:latin typeface="Courier New"/>
                <a:cs typeface="Courier New"/>
              </a:rPr>
              <a:t>0x0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2424" y="828619"/>
            <a:ext cx="406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MAXVA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845799" y="909529"/>
            <a:ext cx="492759" cy="41275"/>
            <a:chOff x="2845799" y="909529"/>
            <a:chExt cx="492759" cy="41275"/>
          </a:xfrm>
        </p:grpSpPr>
        <p:sp>
          <p:nvSpPr>
            <p:cNvPr id="6" name="object 6" descr=""/>
            <p:cNvSpPr/>
            <p:nvPr/>
          </p:nvSpPr>
          <p:spPr>
            <a:xfrm>
              <a:off x="2845799" y="930025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845799" y="4142879"/>
            <a:ext cx="492759" cy="41275"/>
            <a:chOff x="2845799" y="4142879"/>
            <a:chExt cx="492759" cy="41275"/>
          </a:xfrm>
        </p:grpSpPr>
        <p:sp>
          <p:nvSpPr>
            <p:cNvPr id="10" name="object 10" descr=""/>
            <p:cNvSpPr/>
            <p:nvPr/>
          </p:nvSpPr>
          <p:spPr>
            <a:xfrm>
              <a:off x="2845799" y="416337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4771961" y="1018229"/>
            <a:ext cx="53340" cy="41275"/>
            <a:chOff x="4771961" y="1018229"/>
            <a:chExt cx="53340" cy="41275"/>
          </a:xfrm>
        </p:grpSpPr>
        <p:sp>
          <p:nvSpPr>
            <p:cNvPr id="14" name="object 14" descr=""/>
            <p:cNvSpPr/>
            <p:nvPr/>
          </p:nvSpPr>
          <p:spPr>
            <a:xfrm>
              <a:off x="4776724" y="1022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76724" y="1022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330475" y="2173931"/>
            <a:ext cx="4959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A1A1A"/>
                </a:solidFill>
                <a:latin typeface="Arial MT"/>
                <a:cs typeface="Arial MT"/>
              </a:rPr>
              <a:t>ecall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025" y="65404"/>
            <a:ext cx="210820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Transición</a:t>
            </a:r>
            <a:r>
              <a:rPr dirty="0" sz="1500" spc="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User-</a:t>
            </a:r>
            <a:r>
              <a:rPr dirty="0" sz="1500" spc="-10">
                <a:latin typeface="Arial"/>
                <a:cs typeface="Arial"/>
              </a:rPr>
              <a:t>Kernel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74125" y="996446"/>
            <a:ext cx="210502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transición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inicia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se genera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por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software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ecall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11774" y="2252846"/>
            <a:ext cx="193103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“salta”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trampoline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cambia </a:t>
            </a:r>
            <a:r>
              <a:rPr dirty="0" u="heavy" sz="130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automáticamente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Kernel </a:t>
            </a:r>
            <a:r>
              <a:rPr dirty="0" sz="1300" spc="30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63198" y="1186575"/>
            <a:ext cx="782320" cy="2646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05"/>
              </a:lnSpc>
            </a:pPr>
            <a:r>
              <a:rPr dirty="0" sz="1000" spc="-10">
                <a:solidFill>
                  <a:srgbClr val="A64D78"/>
                </a:solidFill>
                <a:latin typeface="Arial MT"/>
                <a:cs typeface="Arial MT"/>
              </a:rPr>
              <a:t>TRAPFRAME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heap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10">
                <a:solidFill>
                  <a:srgbClr val="A64D78"/>
                </a:solidFill>
                <a:latin typeface="Arial MT"/>
                <a:cs typeface="Arial MT"/>
              </a:rPr>
              <a:t>stack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A64D78"/>
                </a:solidFill>
                <a:latin typeface="Arial MT"/>
                <a:cs typeface="Arial MT"/>
              </a:rPr>
              <a:t>text</a:t>
            </a: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64D78"/>
                </a:solidFill>
                <a:latin typeface="Arial MT"/>
                <a:cs typeface="Arial MT"/>
              </a:rPr>
              <a:t>+</a:t>
            </a:r>
            <a:r>
              <a:rPr dirty="0" sz="1000" spc="-15">
                <a:solidFill>
                  <a:srgbClr val="A64D78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342337" y="925262"/>
          <a:ext cx="1852295" cy="3232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5415"/>
                <a:gridCol w="57784"/>
                <a:gridCol w="293369"/>
              </a:tblGrid>
              <a:tr h="108585">
                <a:tc rowSpan="2"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1A9988"/>
                          </a:solidFill>
                          <a:latin typeface="Arial MT"/>
                          <a:cs typeface="Arial MT"/>
                        </a:rPr>
                        <a:t>TRAMPOLINE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85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000" spc="-3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721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000" spc="-3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721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478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521524" y="4061970"/>
            <a:ext cx="254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A1A1A"/>
                </a:solidFill>
                <a:latin typeface="Courier New"/>
                <a:cs typeface="Courier New"/>
              </a:rPr>
              <a:t>0x0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62424" y="828619"/>
            <a:ext cx="406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MAXVA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845799" y="909529"/>
            <a:ext cx="492759" cy="41275"/>
            <a:chOff x="2845799" y="909529"/>
            <a:chExt cx="492759" cy="41275"/>
          </a:xfrm>
        </p:grpSpPr>
        <p:sp>
          <p:nvSpPr>
            <p:cNvPr id="7" name="object 7" descr=""/>
            <p:cNvSpPr/>
            <p:nvPr/>
          </p:nvSpPr>
          <p:spPr>
            <a:xfrm>
              <a:off x="2845799" y="930025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845799" y="4142879"/>
            <a:ext cx="492759" cy="41275"/>
            <a:chOff x="2845799" y="4142879"/>
            <a:chExt cx="492759" cy="41275"/>
          </a:xfrm>
        </p:grpSpPr>
        <p:sp>
          <p:nvSpPr>
            <p:cNvPr id="11" name="object 11" descr=""/>
            <p:cNvSpPr/>
            <p:nvPr/>
          </p:nvSpPr>
          <p:spPr>
            <a:xfrm>
              <a:off x="2845799" y="416337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4771961" y="2881729"/>
            <a:ext cx="53340" cy="41275"/>
            <a:chOff x="4771961" y="2881729"/>
            <a:chExt cx="53340" cy="41275"/>
          </a:xfrm>
        </p:grpSpPr>
        <p:sp>
          <p:nvSpPr>
            <p:cNvPr id="15" name="object 15" descr=""/>
            <p:cNvSpPr/>
            <p:nvPr/>
          </p:nvSpPr>
          <p:spPr>
            <a:xfrm>
              <a:off x="4776724" y="2886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76724" y="28864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186125" y="1690747"/>
            <a:ext cx="8496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i="1">
                <a:solidFill>
                  <a:srgbClr val="1A1A1A"/>
                </a:solidFill>
                <a:latin typeface="Times New Roman"/>
                <a:cs typeface="Times New Roman"/>
              </a:rPr>
              <a:t>usertrap()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27225" y="1266031"/>
            <a:ext cx="299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A1A1A"/>
                </a:solidFill>
                <a:latin typeface="Courier New"/>
                <a:cs typeface="Courier New"/>
              </a:rPr>
              <a:t>sp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050437" y="1452542"/>
            <a:ext cx="287655" cy="41275"/>
            <a:chOff x="3050437" y="1452542"/>
            <a:chExt cx="287655" cy="41275"/>
          </a:xfrm>
        </p:grpSpPr>
        <p:sp>
          <p:nvSpPr>
            <p:cNvPr id="20" name="object 20" descr=""/>
            <p:cNvSpPr/>
            <p:nvPr/>
          </p:nvSpPr>
          <p:spPr>
            <a:xfrm>
              <a:off x="3055199" y="1469899"/>
              <a:ext cx="234950" cy="3175"/>
            </a:xfrm>
            <a:custGeom>
              <a:avLst/>
              <a:gdLst/>
              <a:ahLst/>
              <a:cxnLst/>
              <a:rect l="l" t="t" r="r" b="b"/>
              <a:pathLst>
                <a:path w="234950" h="3175">
                  <a:moveTo>
                    <a:pt x="0" y="0"/>
                  </a:moveTo>
                  <a:lnTo>
                    <a:pt x="234754" y="313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289744" y="145730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2"/>
                  </a:moveTo>
                  <a:lnTo>
                    <a:pt x="420" y="0"/>
                  </a:lnTo>
                  <a:lnTo>
                    <a:pt x="43431" y="16308"/>
                  </a:lnTo>
                  <a:lnTo>
                    <a:pt x="0" y="3146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289744" y="145730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2"/>
                  </a:moveTo>
                  <a:lnTo>
                    <a:pt x="43431" y="16308"/>
                  </a:lnTo>
                  <a:lnTo>
                    <a:pt x="420" y="0"/>
                  </a:lnTo>
                  <a:lnTo>
                    <a:pt x="0" y="3146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872332" y="177196"/>
            <a:ext cx="23641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Memoria</a:t>
            </a:r>
            <a:r>
              <a:rPr dirty="0" sz="1300" spc="-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virtual</a:t>
            </a:r>
            <a:r>
              <a:rPr dirty="0" sz="1300" spc="-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en</a:t>
            </a:r>
            <a:r>
              <a:rPr dirty="0" sz="1300" spc="-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A1A"/>
                </a:solidFill>
                <a:latin typeface="Arial MT"/>
                <a:cs typeface="Arial MT"/>
              </a:rPr>
              <a:t>kernel</a:t>
            </a:r>
            <a:r>
              <a:rPr dirty="0" sz="1300" spc="-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025" y="65404"/>
            <a:ext cx="21082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A1A1A"/>
                </a:solidFill>
                <a:latin typeface="Arial"/>
                <a:cs typeface="Arial"/>
              </a:rPr>
              <a:t>Transición</a:t>
            </a:r>
            <a:r>
              <a:rPr dirty="0" sz="1500" spc="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1A1A1A"/>
                </a:solidFill>
                <a:latin typeface="Arial"/>
                <a:cs typeface="Arial"/>
              </a:rPr>
              <a:t>User-</a:t>
            </a:r>
            <a:r>
              <a:rPr dirty="0" sz="1500" spc="-10" b="1">
                <a:solidFill>
                  <a:srgbClr val="1A1A1A"/>
                </a:solidFill>
                <a:latin typeface="Arial"/>
                <a:cs typeface="Arial"/>
              </a:rPr>
              <a:t>Kernel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324949" y="996446"/>
            <a:ext cx="21869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Trampoline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este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orden: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636500" y="1581446"/>
            <a:ext cx="2244725" cy="211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Guarda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registros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trapframe</a:t>
            </a:r>
            <a:endParaRPr sz="1300">
              <a:latin typeface="Tahoma"/>
              <a:cs typeface="Tahoma"/>
            </a:endParaRPr>
          </a:p>
          <a:p>
            <a:pPr marL="12700" marR="88900" indent="127635">
              <a:lnSpc>
                <a:spcPct val="100000"/>
              </a:lnSpc>
              <a:spcBef>
                <a:spcPts val="1320"/>
              </a:spcBef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satp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,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cambiando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efectivamente,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address space.</a:t>
            </a:r>
            <a:endParaRPr sz="1300">
              <a:latin typeface="Tahoma"/>
              <a:cs typeface="Tahoma"/>
            </a:endParaRPr>
          </a:p>
          <a:p>
            <a:pPr marL="12700" marR="400685" indent="127635">
              <a:lnSpc>
                <a:spcPct val="100000"/>
              </a:lnSpc>
              <a:spcBef>
                <a:spcPts val="1080"/>
              </a:spcBef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sp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apuntando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kstack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actual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36500" y="3904271"/>
            <a:ext cx="21971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funcion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usertrap()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63198" y="1186575"/>
            <a:ext cx="782320" cy="2646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05"/>
              </a:lnSpc>
            </a:pPr>
            <a:r>
              <a:rPr dirty="0" sz="1000" spc="-10">
                <a:solidFill>
                  <a:srgbClr val="A64D78"/>
                </a:solidFill>
                <a:latin typeface="Arial MT"/>
                <a:cs typeface="Arial MT"/>
              </a:rPr>
              <a:t>TRAPFRAME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heap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10">
                <a:solidFill>
                  <a:srgbClr val="A64D78"/>
                </a:solidFill>
                <a:latin typeface="Arial MT"/>
                <a:cs typeface="Arial MT"/>
              </a:rPr>
              <a:t>stack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A64D78"/>
                </a:solidFill>
                <a:latin typeface="Arial MT"/>
                <a:cs typeface="Arial MT"/>
              </a:rPr>
              <a:t>text</a:t>
            </a: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64D78"/>
                </a:solidFill>
                <a:latin typeface="Arial MT"/>
                <a:cs typeface="Arial MT"/>
              </a:rPr>
              <a:t>+</a:t>
            </a:r>
            <a:r>
              <a:rPr dirty="0" sz="1000" spc="-15">
                <a:solidFill>
                  <a:srgbClr val="A64D78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342337" y="925262"/>
          <a:ext cx="1852295" cy="3232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5415"/>
                <a:gridCol w="57150"/>
                <a:gridCol w="294004"/>
              </a:tblGrid>
              <a:tr h="108585">
                <a:tc rowSpan="2"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1A9988"/>
                          </a:solidFill>
                          <a:latin typeface="Arial MT"/>
                          <a:cs typeface="Arial MT"/>
                        </a:rPr>
                        <a:t>TRAMPOLINE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85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000" spc="-3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7211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000" spc="-3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  <a:solidFill>
                      <a:srgbClr val="9FC5E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3721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478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521524" y="4061970"/>
            <a:ext cx="254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A1A1A"/>
                </a:solidFill>
                <a:latin typeface="Courier New"/>
                <a:cs typeface="Courier New"/>
              </a:rPr>
              <a:t>0x0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62424" y="828619"/>
            <a:ext cx="406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MAXVA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845799" y="909529"/>
            <a:ext cx="492759" cy="41275"/>
            <a:chOff x="2845799" y="909529"/>
            <a:chExt cx="492759" cy="41275"/>
          </a:xfrm>
        </p:grpSpPr>
        <p:sp>
          <p:nvSpPr>
            <p:cNvPr id="7" name="object 7" descr=""/>
            <p:cNvSpPr/>
            <p:nvPr/>
          </p:nvSpPr>
          <p:spPr>
            <a:xfrm>
              <a:off x="2845799" y="930025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845799" y="4142879"/>
            <a:ext cx="492759" cy="41275"/>
            <a:chOff x="2845799" y="4142879"/>
            <a:chExt cx="492759" cy="41275"/>
          </a:xfrm>
        </p:grpSpPr>
        <p:sp>
          <p:nvSpPr>
            <p:cNvPr id="11" name="object 11" descr=""/>
            <p:cNvSpPr/>
            <p:nvPr/>
          </p:nvSpPr>
          <p:spPr>
            <a:xfrm>
              <a:off x="2845799" y="416337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4771361" y="1018129"/>
            <a:ext cx="53340" cy="41275"/>
            <a:chOff x="4771361" y="1018129"/>
            <a:chExt cx="53340" cy="41275"/>
          </a:xfrm>
        </p:grpSpPr>
        <p:sp>
          <p:nvSpPr>
            <p:cNvPr id="15" name="object 15" descr=""/>
            <p:cNvSpPr/>
            <p:nvPr/>
          </p:nvSpPr>
          <p:spPr>
            <a:xfrm>
              <a:off x="4776124" y="10228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76124" y="10228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186125" y="1690747"/>
            <a:ext cx="7289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i="1">
                <a:solidFill>
                  <a:srgbClr val="1A1A1A"/>
                </a:solidFill>
                <a:latin typeface="Times New Roman"/>
                <a:cs typeface="Times New Roman"/>
              </a:rPr>
              <a:t>userret()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3025" y="65404"/>
            <a:ext cx="210820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Transición</a:t>
            </a:r>
            <a:r>
              <a:rPr dirty="0" sz="1500" spc="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User-</a:t>
            </a:r>
            <a:r>
              <a:rPr dirty="0" sz="1500" spc="-10">
                <a:latin typeface="Arial"/>
                <a:cs typeface="Arial"/>
              </a:rPr>
              <a:t>Kernel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36500" y="2735996"/>
            <a:ext cx="2244725" cy="1108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0"/>
              </a:spcBef>
              <a:buAutoNum type="arabicPlain" startAt="3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Restaura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registros guardados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trapframe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595959"/>
              </a:buClr>
              <a:buFont typeface="Tahoma"/>
              <a:buAutoNum type="arabicPlain" startAt="3"/>
            </a:pPr>
            <a:endParaRPr sz="1300">
              <a:latin typeface="Tahoma"/>
              <a:cs typeface="Tahoma"/>
            </a:endParaRPr>
          </a:p>
          <a:p>
            <a:pPr marL="12700" marR="217804" indent="127635">
              <a:lnSpc>
                <a:spcPct val="100000"/>
              </a:lnSpc>
              <a:buAutoNum type="arabicPlain" startAt="3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sret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volver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original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36500" y="1750796"/>
            <a:ext cx="216090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satp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,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cambiando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efectivamente,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address space.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36500" y="1165795"/>
            <a:ext cx="21113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funcion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userret() en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trampoline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63198" y="1186575"/>
            <a:ext cx="782320" cy="2646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05"/>
              </a:lnSpc>
            </a:pPr>
            <a:r>
              <a:rPr dirty="0" sz="1000" spc="-10">
                <a:solidFill>
                  <a:srgbClr val="A64D78"/>
                </a:solidFill>
                <a:latin typeface="Arial MT"/>
                <a:cs typeface="Arial MT"/>
              </a:rPr>
              <a:t>TRAPFRAME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heap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10">
                <a:solidFill>
                  <a:srgbClr val="A64D78"/>
                </a:solidFill>
                <a:latin typeface="Arial MT"/>
                <a:cs typeface="Arial MT"/>
              </a:rPr>
              <a:t>stack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A64D78"/>
                </a:solidFill>
                <a:latin typeface="Arial MT"/>
                <a:cs typeface="Arial MT"/>
              </a:rPr>
              <a:t>text</a:t>
            </a: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A64D78"/>
                </a:solidFill>
                <a:latin typeface="Arial MT"/>
                <a:cs typeface="Arial MT"/>
              </a:rPr>
              <a:t>+</a:t>
            </a:r>
            <a:r>
              <a:rPr dirty="0" sz="1000" spc="-15">
                <a:solidFill>
                  <a:srgbClr val="A64D78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A64D78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342337" y="925262"/>
          <a:ext cx="1501140" cy="3232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5415"/>
              </a:tblGrid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1A9988"/>
                          </a:solidFill>
                          <a:latin typeface="Arial MT"/>
                          <a:cs typeface="Arial MT"/>
                        </a:rPr>
                        <a:t>TRAMPOLINE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r>
                        <a:rPr dirty="0" sz="1000" spc="-5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5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000" spc="-3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744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000" spc="-3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1155CC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4478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521524" y="4061970"/>
            <a:ext cx="254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A1A1A"/>
                </a:solidFill>
                <a:latin typeface="Courier New"/>
                <a:cs typeface="Courier New"/>
              </a:rPr>
              <a:t>0x0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62424" y="828619"/>
            <a:ext cx="406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MAXVA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845799" y="909529"/>
            <a:ext cx="492759" cy="41275"/>
            <a:chOff x="2845799" y="909529"/>
            <a:chExt cx="492759" cy="41275"/>
          </a:xfrm>
        </p:grpSpPr>
        <p:sp>
          <p:nvSpPr>
            <p:cNvPr id="7" name="object 7" descr=""/>
            <p:cNvSpPr/>
            <p:nvPr/>
          </p:nvSpPr>
          <p:spPr>
            <a:xfrm>
              <a:off x="2845799" y="930025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845799" y="4142879"/>
            <a:ext cx="492759" cy="41275"/>
            <a:chOff x="2845799" y="4142879"/>
            <a:chExt cx="492759" cy="41275"/>
          </a:xfrm>
        </p:grpSpPr>
        <p:sp>
          <p:nvSpPr>
            <p:cNvPr id="11" name="object 11" descr=""/>
            <p:cNvSpPr/>
            <p:nvPr/>
          </p:nvSpPr>
          <p:spPr>
            <a:xfrm>
              <a:off x="2845799" y="416337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3025" y="65404"/>
            <a:ext cx="210820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Transición</a:t>
            </a:r>
            <a:r>
              <a:rPr dirty="0" sz="1500" spc="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User-</a:t>
            </a:r>
            <a:r>
              <a:rPr dirty="0" sz="1500" spc="-10">
                <a:latin typeface="Arial"/>
                <a:cs typeface="Arial"/>
              </a:rPr>
              <a:t>Kernel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636500" y="1165795"/>
            <a:ext cx="2244725" cy="267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7795" indent="12763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funcion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userret() (parte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trampoline)</a:t>
            </a:r>
            <a:endParaRPr sz="1300">
              <a:latin typeface="Tahoma"/>
              <a:cs typeface="Tahoma"/>
            </a:endParaRPr>
          </a:p>
          <a:p>
            <a:pPr marL="12700" marR="88900" indent="127635">
              <a:lnSpc>
                <a:spcPct val="100000"/>
              </a:lnSpc>
              <a:spcBef>
                <a:spcPts val="1485"/>
              </a:spcBef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satp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,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cambiando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efectivamente,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address space.</a:t>
            </a:r>
            <a:endParaRPr sz="1300">
              <a:latin typeface="Tahoma"/>
              <a:cs typeface="Tahoma"/>
            </a:endParaRPr>
          </a:p>
          <a:p>
            <a:pPr marL="12700" marR="5080" indent="127635">
              <a:lnSpc>
                <a:spcPct val="100000"/>
              </a:lnSpc>
              <a:spcBef>
                <a:spcPts val="1515"/>
              </a:spcBef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Restaura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registros guardados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trapframe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5"/>
              </a:spcBef>
              <a:buClr>
                <a:srgbClr val="595959"/>
              </a:buClr>
              <a:buFont typeface="Tahoma"/>
              <a:buAutoNum type="arabicPlain"/>
            </a:pPr>
            <a:endParaRPr sz="1300">
              <a:latin typeface="Tahoma"/>
              <a:cs typeface="Tahoma"/>
            </a:endParaRPr>
          </a:p>
          <a:p>
            <a:pPr marL="12700" marR="217804" indent="127635">
              <a:lnSpc>
                <a:spcPct val="100000"/>
              </a:lnSpc>
              <a:buAutoNum type="arabicPlain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sret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volver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original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342337" y="925262"/>
          <a:ext cx="1965960" cy="3231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5415"/>
                <a:gridCol w="57784"/>
                <a:gridCol w="407035"/>
              </a:tblGrid>
              <a:tr h="108585">
                <a:tc rowSpan="2"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1A9988"/>
                          </a:solidFill>
                          <a:latin typeface="Arial MT"/>
                          <a:cs typeface="Arial MT"/>
                        </a:rPr>
                        <a:t>TRAMPOLINE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85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D4A6BD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000" spc="-1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TRAPFRAME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1516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heap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4032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000" spc="-15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A64D7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  <a:solidFill>
                      <a:srgbClr val="D4A6B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1A1A1A"/>
                      </a:solidFill>
                      <a:prstDash val="sysDash"/>
                    </a:lnR>
                    <a:lnT w="9525">
                      <a:solidFill>
                        <a:srgbClr val="1A1A1A"/>
                      </a:solidFill>
                      <a:prstDash val="sysDash"/>
                    </a:lnT>
                    <a:lnB w="9525">
                      <a:solidFill>
                        <a:srgbClr val="1A1A1A"/>
                      </a:solidFill>
                      <a:prstDash val="sysDash"/>
                    </a:lnB>
                  </a:tcPr>
                </a:tc>
              </a:tr>
              <a:tr h="4038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D4A6B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A1A1A"/>
                      </a:solidFill>
                      <a:prstDash val="solid"/>
                    </a:lnL>
                    <a:lnT w="9525">
                      <a:solidFill>
                        <a:srgbClr val="1A1A1A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2521524" y="4061970"/>
            <a:ext cx="2540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 b="1">
                <a:solidFill>
                  <a:srgbClr val="1A1A1A"/>
                </a:solidFill>
                <a:latin typeface="Courier New"/>
                <a:cs typeface="Courier New"/>
              </a:rPr>
              <a:t>0x0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2424" y="828619"/>
            <a:ext cx="4064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A1A"/>
                </a:solidFill>
                <a:latin typeface="Courier New"/>
                <a:cs typeface="Courier New"/>
              </a:rPr>
              <a:t>MAXVA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845799" y="909529"/>
            <a:ext cx="492759" cy="41275"/>
            <a:chOff x="2845799" y="909529"/>
            <a:chExt cx="492759" cy="41275"/>
          </a:xfrm>
        </p:grpSpPr>
        <p:sp>
          <p:nvSpPr>
            <p:cNvPr id="6" name="object 6" descr=""/>
            <p:cNvSpPr/>
            <p:nvPr/>
          </p:nvSpPr>
          <p:spPr>
            <a:xfrm>
              <a:off x="2845799" y="930025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9949" y="9142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845799" y="4142879"/>
            <a:ext cx="492759" cy="41275"/>
            <a:chOff x="2845799" y="4142879"/>
            <a:chExt cx="492759" cy="41275"/>
          </a:xfrm>
        </p:grpSpPr>
        <p:sp>
          <p:nvSpPr>
            <p:cNvPr id="10" name="object 10" descr=""/>
            <p:cNvSpPr/>
            <p:nvPr/>
          </p:nvSpPr>
          <p:spPr>
            <a:xfrm>
              <a:off x="2845799" y="4163374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0" y="0"/>
                  </a:moveTo>
                  <a:lnTo>
                    <a:pt x="4441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89949" y="4147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4771961" y="3738829"/>
            <a:ext cx="53340" cy="41275"/>
            <a:chOff x="4771961" y="3738829"/>
            <a:chExt cx="53340" cy="41275"/>
          </a:xfrm>
        </p:grpSpPr>
        <p:sp>
          <p:nvSpPr>
            <p:cNvPr id="14" name="object 14" descr=""/>
            <p:cNvSpPr/>
            <p:nvPr/>
          </p:nvSpPr>
          <p:spPr>
            <a:xfrm>
              <a:off x="4776724" y="3743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76724" y="3743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415250" y="2173931"/>
            <a:ext cx="405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1A1A1A"/>
                </a:solidFill>
                <a:latin typeface="Arial MT"/>
                <a:cs typeface="Arial MT"/>
              </a:rPr>
              <a:t>sret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025" y="65404"/>
            <a:ext cx="2108200" cy="254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Transición</a:t>
            </a:r>
            <a:r>
              <a:rPr dirty="0" sz="1500" spc="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User-</a:t>
            </a:r>
            <a:r>
              <a:rPr dirty="0" sz="1500" spc="-10">
                <a:latin typeface="Arial"/>
                <a:cs typeface="Arial"/>
              </a:rPr>
              <a:t>Kernel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36500" y="2735996"/>
            <a:ext cx="2244725" cy="1108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0"/>
              </a:spcBef>
              <a:buAutoNum type="arabicPlain" startAt="3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Restaura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registros guardados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trapframe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buClr>
                <a:srgbClr val="595959"/>
              </a:buClr>
              <a:buFont typeface="Tahoma"/>
              <a:buAutoNum type="arabicPlain" startAt="3"/>
            </a:pPr>
            <a:endParaRPr sz="1300">
              <a:latin typeface="Tahoma"/>
              <a:cs typeface="Tahoma"/>
            </a:endParaRPr>
          </a:p>
          <a:p>
            <a:pPr marL="12700" marR="217804" indent="127635">
              <a:lnSpc>
                <a:spcPct val="100000"/>
              </a:lnSpc>
              <a:buAutoNum type="arabicPlain" startAt="3"/>
              <a:tabLst>
                <a:tab pos="140335" algn="l"/>
              </a:tabLst>
            </a:pP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sret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volver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original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36500" y="1750796"/>
            <a:ext cx="216090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satp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,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cambiando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páginas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efectivamente,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address space.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36500" y="1165795"/>
            <a:ext cx="21113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Invoca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funcion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userret() en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trampoline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59791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20">
                <a:solidFill>
                  <a:srgbClr val="FFFFFF"/>
                </a:solidFill>
              </a:rPr>
              <a:t>Cambio</a:t>
            </a:r>
            <a:r>
              <a:rPr dirty="0" sz="3600" spc="-165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160">
                <a:solidFill>
                  <a:srgbClr val="FFFFFF"/>
                </a:solidFill>
              </a:rPr>
              <a:t> </a:t>
            </a:r>
            <a:r>
              <a:rPr dirty="0" sz="3600">
                <a:solidFill>
                  <a:srgbClr val="FFFFFF"/>
                </a:solidFill>
              </a:rPr>
              <a:t>contexto</a:t>
            </a:r>
            <a:r>
              <a:rPr dirty="0" sz="3600" spc="-160">
                <a:solidFill>
                  <a:srgbClr val="FFFFFF"/>
                </a:solidFill>
              </a:rPr>
              <a:t> </a:t>
            </a:r>
            <a:r>
              <a:rPr dirty="0" sz="3600" spc="60">
                <a:solidFill>
                  <a:srgbClr val="FFFFFF"/>
                </a:solidFill>
              </a:rPr>
              <a:t>en</a:t>
            </a:r>
            <a:r>
              <a:rPr dirty="0" sz="3600" spc="-160">
                <a:solidFill>
                  <a:srgbClr val="FFFFFF"/>
                </a:solidFill>
              </a:rPr>
              <a:t> </a:t>
            </a:r>
            <a:r>
              <a:rPr dirty="0" sz="3600" spc="-25">
                <a:solidFill>
                  <a:srgbClr val="FFFFFF"/>
                </a:solidFill>
              </a:rPr>
              <a:t>xv6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913550" y="3201581"/>
            <a:ext cx="39776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Scheduler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thread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Guardado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contexto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Kernel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647950" y="1981050"/>
            <a:ext cx="5639435" cy="1144905"/>
            <a:chOff x="2647950" y="1981050"/>
            <a:chExt cx="5639435" cy="1144905"/>
          </a:xfrm>
        </p:grpSpPr>
        <p:sp>
          <p:nvSpPr>
            <p:cNvPr id="3" name="object 3" descr=""/>
            <p:cNvSpPr/>
            <p:nvPr/>
          </p:nvSpPr>
          <p:spPr>
            <a:xfrm>
              <a:off x="2647950" y="3105150"/>
              <a:ext cx="5591810" cy="0"/>
            </a:xfrm>
            <a:custGeom>
              <a:avLst/>
              <a:gdLst/>
              <a:ahLst/>
              <a:cxnLst/>
              <a:rect l="l" t="t" r="r" b="b"/>
              <a:pathLst>
                <a:path w="5591809" h="0">
                  <a:moveTo>
                    <a:pt x="0" y="0"/>
                  </a:moveTo>
                  <a:lnTo>
                    <a:pt x="55912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239199" y="30894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39199" y="30894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686050" y="2657475"/>
              <a:ext cx="1886585" cy="150495"/>
            </a:xfrm>
            <a:custGeom>
              <a:avLst/>
              <a:gdLst/>
              <a:ahLst/>
              <a:cxnLst/>
              <a:rect l="l" t="t" r="r" b="b"/>
              <a:pathLst>
                <a:path w="1886585" h="150494">
                  <a:moveTo>
                    <a:pt x="18860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1886099" y="0"/>
                  </a:lnTo>
                  <a:lnTo>
                    <a:pt x="1886099" y="150299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86050" y="2657475"/>
              <a:ext cx="1886585" cy="150495"/>
            </a:xfrm>
            <a:custGeom>
              <a:avLst/>
              <a:gdLst/>
              <a:ahLst/>
              <a:cxnLst/>
              <a:rect l="l" t="t" r="r" b="b"/>
              <a:pathLst>
                <a:path w="1886585" h="150494">
                  <a:moveTo>
                    <a:pt x="0" y="0"/>
                  </a:moveTo>
                  <a:lnTo>
                    <a:pt x="1886099" y="0"/>
                  </a:lnTo>
                  <a:lnTo>
                    <a:pt x="1886099" y="150299"/>
                  </a:lnTo>
                  <a:lnTo>
                    <a:pt x="0" y="15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72149" y="2094450"/>
              <a:ext cx="1485900" cy="150495"/>
            </a:xfrm>
            <a:custGeom>
              <a:avLst/>
              <a:gdLst/>
              <a:ahLst/>
              <a:cxnLst/>
              <a:rect l="l" t="t" r="r" b="b"/>
              <a:pathLst>
                <a:path w="1485900" h="150494">
                  <a:moveTo>
                    <a:pt x="14858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1485899" y="0"/>
                  </a:lnTo>
                  <a:lnTo>
                    <a:pt x="1485899" y="150299"/>
                  </a:lnTo>
                  <a:close/>
                </a:path>
              </a:pathLst>
            </a:custGeom>
            <a:solidFill>
              <a:srgbClr val="6C9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572149" y="2094450"/>
              <a:ext cx="1485900" cy="150495"/>
            </a:xfrm>
            <a:custGeom>
              <a:avLst/>
              <a:gdLst/>
              <a:ahLst/>
              <a:cxnLst/>
              <a:rect l="l" t="t" r="r" b="b"/>
              <a:pathLst>
                <a:path w="1485900" h="150494">
                  <a:moveTo>
                    <a:pt x="0" y="0"/>
                  </a:moveTo>
                  <a:lnTo>
                    <a:pt x="1485899" y="0"/>
                  </a:lnTo>
                  <a:lnTo>
                    <a:pt x="1485899" y="150299"/>
                  </a:lnTo>
                  <a:lnTo>
                    <a:pt x="0" y="15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58049" y="2646900"/>
              <a:ext cx="819150" cy="150495"/>
            </a:xfrm>
            <a:custGeom>
              <a:avLst/>
              <a:gdLst/>
              <a:ahLst/>
              <a:cxnLst/>
              <a:rect l="l" t="t" r="r" b="b"/>
              <a:pathLst>
                <a:path w="819150" h="150494">
                  <a:moveTo>
                    <a:pt x="8189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818999" y="0"/>
                  </a:lnTo>
                  <a:lnTo>
                    <a:pt x="818999" y="150299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686050" y="1981050"/>
              <a:ext cx="4191000" cy="1124585"/>
            </a:xfrm>
            <a:custGeom>
              <a:avLst/>
              <a:gdLst/>
              <a:ahLst/>
              <a:cxnLst/>
              <a:rect l="l" t="t" r="r" b="b"/>
              <a:pathLst>
                <a:path w="4191000" h="1124585">
                  <a:moveTo>
                    <a:pt x="3371999" y="665849"/>
                  </a:moveTo>
                  <a:lnTo>
                    <a:pt x="4190999" y="665849"/>
                  </a:lnTo>
                  <a:lnTo>
                    <a:pt x="4190999" y="816149"/>
                  </a:lnTo>
                  <a:lnTo>
                    <a:pt x="3371999" y="816149"/>
                  </a:lnTo>
                  <a:lnTo>
                    <a:pt x="3371999" y="665849"/>
                  </a:lnTo>
                  <a:close/>
                </a:path>
                <a:path w="4191000" h="1124585">
                  <a:moveTo>
                    <a:pt x="0" y="0"/>
                  </a:moveTo>
                  <a:lnTo>
                    <a:pt x="0" y="1124099"/>
                  </a:lnTo>
                </a:path>
                <a:path w="4191000" h="1124585">
                  <a:moveTo>
                    <a:pt x="1886099" y="668699"/>
                  </a:moveTo>
                  <a:lnTo>
                    <a:pt x="1889965" y="320846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60283" y="22586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3" y="43397"/>
                  </a:moveTo>
                  <a:lnTo>
                    <a:pt x="0" y="43047"/>
                  </a:lnTo>
                  <a:lnTo>
                    <a:pt x="16211" y="0"/>
                  </a:lnTo>
                  <a:lnTo>
                    <a:pt x="31463" y="4339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60283" y="22586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3" y="43397"/>
                  </a:moveTo>
                  <a:lnTo>
                    <a:pt x="16211" y="0"/>
                  </a:lnTo>
                  <a:lnTo>
                    <a:pt x="0" y="43047"/>
                  </a:lnTo>
                  <a:lnTo>
                    <a:pt x="31463" y="4339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58049" y="2226899"/>
              <a:ext cx="4445" cy="347980"/>
            </a:xfrm>
            <a:custGeom>
              <a:avLst/>
              <a:gdLst/>
              <a:ahLst/>
              <a:cxnLst/>
              <a:rect l="l" t="t" r="r" b="b"/>
              <a:pathLst>
                <a:path w="4445" h="347980">
                  <a:moveTo>
                    <a:pt x="0" y="0"/>
                  </a:moveTo>
                  <a:lnTo>
                    <a:pt x="3865" y="347853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46183" y="25745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211" y="43397"/>
                  </a:moveTo>
                  <a:lnTo>
                    <a:pt x="0" y="349"/>
                  </a:lnTo>
                  <a:lnTo>
                    <a:pt x="31463" y="0"/>
                  </a:lnTo>
                  <a:lnTo>
                    <a:pt x="16211" y="4339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46183" y="25745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349"/>
                  </a:moveTo>
                  <a:lnTo>
                    <a:pt x="16211" y="43397"/>
                  </a:lnTo>
                  <a:lnTo>
                    <a:pt x="31463" y="0"/>
                  </a:lnTo>
                  <a:lnTo>
                    <a:pt x="0" y="34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673350" y="3171063"/>
            <a:ext cx="519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A1A1A"/>
                </a:solidFill>
                <a:latin typeface="Times New Roman"/>
                <a:cs typeface="Times New Roman"/>
              </a:rPr>
              <a:t>tiempo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68450" y="2620645"/>
            <a:ext cx="8343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USER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06525" y="2068195"/>
            <a:ext cx="9848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KERNEL</a:t>
            </a:r>
            <a:r>
              <a:rPr dirty="0" sz="1000" spc="-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064000" y="2311679"/>
            <a:ext cx="439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1A1A1A"/>
                </a:solidFill>
                <a:latin typeface="Times New Roman"/>
                <a:cs typeface="Times New Roman"/>
              </a:rPr>
              <a:t>syscall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107225" y="2311666"/>
            <a:ext cx="375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1A1A1A"/>
                </a:solidFill>
                <a:latin typeface="Times New Roman"/>
                <a:cs typeface="Times New Roman"/>
              </a:rPr>
              <a:t>sysret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326771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Transición</a:t>
            </a:r>
            <a:r>
              <a:rPr dirty="0" spc="135"/>
              <a:t> </a:t>
            </a:r>
            <a:r>
              <a:rPr dirty="0" spc="65"/>
              <a:t>User-</a:t>
            </a:r>
            <a:r>
              <a:rPr dirty="0" spc="-10"/>
              <a:t>Kernel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5650" y="1186299"/>
            <a:ext cx="7736840" cy="2585085"/>
            <a:chOff x="915650" y="1186299"/>
            <a:chExt cx="7736840" cy="2585085"/>
          </a:xfrm>
        </p:grpSpPr>
        <p:sp>
          <p:nvSpPr>
            <p:cNvPr id="3" name="object 3" descr=""/>
            <p:cNvSpPr/>
            <p:nvPr/>
          </p:nvSpPr>
          <p:spPr>
            <a:xfrm>
              <a:off x="2945024" y="3698299"/>
              <a:ext cx="5591810" cy="0"/>
            </a:xfrm>
            <a:custGeom>
              <a:avLst/>
              <a:gdLst/>
              <a:ahLst/>
              <a:cxnLst/>
              <a:rect l="l" t="t" r="r" b="b"/>
              <a:pathLst>
                <a:path w="5591809" h="0">
                  <a:moveTo>
                    <a:pt x="0" y="0"/>
                  </a:moveTo>
                  <a:lnTo>
                    <a:pt x="5591249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536274" y="3682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536274" y="3682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983124" y="3250624"/>
              <a:ext cx="1068070" cy="150495"/>
            </a:xfrm>
            <a:custGeom>
              <a:avLst/>
              <a:gdLst/>
              <a:ahLst/>
              <a:cxnLst/>
              <a:rect l="l" t="t" r="r" b="b"/>
              <a:pathLst>
                <a:path w="1068070" h="150495">
                  <a:moveTo>
                    <a:pt x="10676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1067699" y="0"/>
                  </a:lnTo>
                  <a:lnTo>
                    <a:pt x="1067699" y="150299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83124" y="3250624"/>
              <a:ext cx="1068070" cy="150495"/>
            </a:xfrm>
            <a:custGeom>
              <a:avLst/>
              <a:gdLst/>
              <a:ahLst/>
              <a:cxnLst/>
              <a:rect l="l" t="t" r="r" b="b"/>
              <a:pathLst>
                <a:path w="1068070" h="150495">
                  <a:moveTo>
                    <a:pt x="0" y="0"/>
                  </a:moveTo>
                  <a:lnTo>
                    <a:pt x="1067699" y="0"/>
                  </a:lnTo>
                  <a:lnTo>
                    <a:pt x="1067699" y="150299"/>
                  </a:lnTo>
                  <a:lnTo>
                    <a:pt x="0" y="15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50824" y="2687600"/>
              <a:ext cx="866775" cy="150495"/>
            </a:xfrm>
            <a:custGeom>
              <a:avLst/>
              <a:gdLst/>
              <a:ahLst/>
              <a:cxnLst/>
              <a:rect l="l" t="t" r="r" b="b"/>
              <a:pathLst>
                <a:path w="866775" h="150494">
                  <a:moveTo>
                    <a:pt x="8666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866699" y="0"/>
                  </a:lnTo>
                  <a:lnTo>
                    <a:pt x="866699" y="150299"/>
                  </a:lnTo>
                  <a:close/>
                </a:path>
              </a:pathLst>
            </a:custGeom>
            <a:solidFill>
              <a:srgbClr val="6C9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50824" y="2687600"/>
              <a:ext cx="866775" cy="150495"/>
            </a:xfrm>
            <a:custGeom>
              <a:avLst/>
              <a:gdLst/>
              <a:ahLst/>
              <a:cxnLst/>
              <a:rect l="l" t="t" r="r" b="b"/>
              <a:pathLst>
                <a:path w="866775" h="150494">
                  <a:moveTo>
                    <a:pt x="0" y="0"/>
                  </a:moveTo>
                  <a:lnTo>
                    <a:pt x="866699" y="0"/>
                  </a:lnTo>
                  <a:lnTo>
                    <a:pt x="866699" y="150299"/>
                  </a:lnTo>
                  <a:lnTo>
                    <a:pt x="0" y="15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03425" y="2257400"/>
              <a:ext cx="819150" cy="150495"/>
            </a:xfrm>
            <a:custGeom>
              <a:avLst/>
              <a:gdLst/>
              <a:ahLst/>
              <a:cxnLst/>
              <a:rect l="l" t="t" r="r" b="b"/>
              <a:pathLst>
                <a:path w="819150" h="150494">
                  <a:moveTo>
                    <a:pt x="8189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818999" y="0"/>
                  </a:lnTo>
                  <a:lnTo>
                    <a:pt x="818999" y="150299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83124" y="1211724"/>
              <a:ext cx="4239895" cy="2487295"/>
            </a:xfrm>
            <a:custGeom>
              <a:avLst/>
              <a:gdLst/>
              <a:ahLst/>
              <a:cxnLst/>
              <a:rect l="l" t="t" r="r" b="b"/>
              <a:pathLst>
                <a:path w="4239895" h="2487295">
                  <a:moveTo>
                    <a:pt x="3420299" y="1045674"/>
                  </a:moveTo>
                  <a:lnTo>
                    <a:pt x="4239299" y="1045674"/>
                  </a:lnTo>
                  <a:lnTo>
                    <a:pt x="4239299" y="1195974"/>
                  </a:lnTo>
                  <a:lnTo>
                    <a:pt x="3420299" y="1195974"/>
                  </a:lnTo>
                  <a:lnTo>
                    <a:pt x="3420299" y="1045674"/>
                  </a:lnTo>
                  <a:close/>
                </a:path>
                <a:path w="4239895" h="2487295">
                  <a:moveTo>
                    <a:pt x="0" y="0"/>
                  </a:moveTo>
                  <a:lnTo>
                    <a:pt x="0" y="2486699"/>
                  </a:lnTo>
                </a:path>
                <a:path w="4239895" h="2487295">
                  <a:moveTo>
                    <a:pt x="1067699" y="2031174"/>
                  </a:moveTo>
                  <a:lnTo>
                    <a:pt x="1071565" y="1683321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38958" y="28518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3" y="43397"/>
                  </a:moveTo>
                  <a:lnTo>
                    <a:pt x="0" y="43047"/>
                  </a:lnTo>
                  <a:lnTo>
                    <a:pt x="16211" y="0"/>
                  </a:lnTo>
                  <a:lnTo>
                    <a:pt x="31463" y="4339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38958" y="28518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3" y="43397"/>
                  </a:moveTo>
                  <a:lnTo>
                    <a:pt x="16211" y="0"/>
                  </a:lnTo>
                  <a:lnTo>
                    <a:pt x="0" y="43047"/>
                  </a:lnTo>
                  <a:lnTo>
                    <a:pt x="31463" y="43397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03425" y="1827199"/>
              <a:ext cx="4445" cy="347980"/>
            </a:xfrm>
            <a:custGeom>
              <a:avLst/>
              <a:gdLst/>
              <a:ahLst/>
              <a:cxnLst/>
              <a:rect l="l" t="t" r="r" b="b"/>
              <a:pathLst>
                <a:path w="4445" h="347980">
                  <a:moveTo>
                    <a:pt x="0" y="0"/>
                  </a:moveTo>
                  <a:lnTo>
                    <a:pt x="3865" y="347853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91558" y="2174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211" y="43397"/>
                  </a:moveTo>
                  <a:lnTo>
                    <a:pt x="0" y="349"/>
                  </a:lnTo>
                  <a:lnTo>
                    <a:pt x="31463" y="0"/>
                  </a:lnTo>
                  <a:lnTo>
                    <a:pt x="16211" y="4339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91558" y="2174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349"/>
                  </a:moveTo>
                  <a:lnTo>
                    <a:pt x="16211" y="43397"/>
                  </a:lnTo>
                  <a:lnTo>
                    <a:pt x="31463" y="0"/>
                  </a:lnTo>
                  <a:lnTo>
                    <a:pt x="0" y="34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17525" y="1676899"/>
              <a:ext cx="1485900" cy="150495"/>
            </a:xfrm>
            <a:custGeom>
              <a:avLst/>
              <a:gdLst/>
              <a:ahLst/>
              <a:cxnLst/>
              <a:rect l="l" t="t" r="r" b="b"/>
              <a:pathLst>
                <a:path w="1485900" h="150494">
                  <a:moveTo>
                    <a:pt x="1485899" y="150299"/>
                  </a:moveTo>
                  <a:lnTo>
                    <a:pt x="0" y="150299"/>
                  </a:lnTo>
                  <a:lnTo>
                    <a:pt x="0" y="0"/>
                  </a:lnTo>
                  <a:lnTo>
                    <a:pt x="1485899" y="0"/>
                  </a:lnTo>
                  <a:lnTo>
                    <a:pt x="1485899" y="150299"/>
                  </a:lnTo>
                  <a:close/>
                </a:path>
              </a:pathLst>
            </a:custGeom>
            <a:solidFill>
              <a:srgbClr val="6C9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17525" y="1676899"/>
              <a:ext cx="1485900" cy="150495"/>
            </a:xfrm>
            <a:custGeom>
              <a:avLst/>
              <a:gdLst/>
              <a:ahLst/>
              <a:cxnLst/>
              <a:rect l="l" t="t" r="r" b="b"/>
              <a:pathLst>
                <a:path w="1485900" h="150494">
                  <a:moveTo>
                    <a:pt x="0" y="0"/>
                  </a:moveTo>
                  <a:lnTo>
                    <a:pt x="1485899" y="0"/>
                  </a:lnTo>
                  <a:lnTo>
                    <a:pt x="1485899" y="150299"/>
                  </a:lnTo>
                  <a:lnTo>
                    <a:pt x="0" y="15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15650" y="2482775"/>
              <a:ext cx="7736840" cy="0"/>
            </a:xfrm>
            <a:custGeom>
              <a:avLst/>
              <a:gdLst/>
              <a:ahLst/>
              <a:cxnLst/>
              <a:rect l="l" t="t" r="r" b="b"/>
              <a:pathLst>
                <a:path w="7736840" h="0">
                  <a:moveTo>
                    <a:pt x="0" y="0"/>
                  </a:moveTo>
                  <a:lnTo>
                    <a:pt x="7736399" y="0"/>
                  </a:lnTo>
                </a:path>
              </a:pathLst>
            </a:custGeom>
            <a:ln w="9524">
              <a:solidFill>
                <a:srgbClr val="1A1A1A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17525" y="1885399"/>
              <a:ext cx="0" cy="880110"/>
            </a:xfrm>
            <a:custGeom>
              <a:avLst/>
              <a:gdLst/>
              <a:ahLst/>
              <a:cxnLst/>
              <a:rect l="l" t="t" r="r" b="b"/>
              <a:pathLst>
                <a:path w="0" h="880110">
                  <a:moveTo>
                    <a:pt x="0" y="879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01792" y="18421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01792" y="18421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02025" y="1186299"/>
              <a:ext cx="0" cy="2585085"/>
            </a:xfrm>
            <a:custGeom>
              <a:avLst/>
              <a:gdLst/>
              <a:ahLst/>
              <a:cxnLst/>
              <a:rect l="l" t="t" r="r" b="b"/>
              <a:pathLst>
                <a:path w="0" h="2585085">
                  <a:moveTo>
                    <a:pt x="0" y="0"/>
                  </a:moveTo>
                  <a:lnTo>
                    <a:pt x="0" y="2584499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970424" y="3764213"/>
            <a:ext cx="5194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1A1A1A"/>
                </a:solidFill>
                <a:latin typeface="Times New Roman"/>
                <a:cs typeface="Times New Roman"/>
              </a:rPr>
              <a:t>tiempo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865525" y="3213795"/>
            <a:ext cx="8343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USER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03600" y="2661345"/>
            <a:ext cx="9848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KERNEL</a:t>
            </a:r>
            <a:r>
              <a:rPr dirty="0" sz="1000" spc="-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445924" y="2922679"/>
            <a:ext cx="439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1A1A1A"/>
                </a:solidFill>
                <a:latin typeface="Times New Roman"/>
                <a:cs typeface="Times New Roman"/>
              </a:rPr>
              <a:t>syscall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452600" y="1894116"/>
            <a:ext cx="375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1A1A1A"/>
                </a:solidFill>
                <a:latin typeface="Times New Roman"/>
                <a:cs typeface="Times New Roman"/>
              </a:rPr>
              <a:t>sysret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456624" y="2092579"/>
            <a:ext cx="372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1A1A1A"/>
                </a:solidFill>
                <a:latin typeface="Times New Roman"/>
                <a:cs typeface="Times New Roman"/>
              </a:rPr>
              <a:t>swtch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771625" y="1650644"/>
            <a:ext cx="9848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KERNEL</a:t>
            </a:r>
            <a:r>
              <a:rPr dirty="0" sz="1000" spc="-6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814000" y="2203094"/>
            <a:ext cx="8343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A1A"/>
                </a:solidFill>
                <a:latin typeface="Arial MT"/>
                <a:cs typeface="Arial MT"/>
              </a:rPr>
              <a:t>USER</a:t>
            </a:r>
            <a:r>
              <a:rPr dirty="0" sz="1000" spc="-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A1A"/>
                </a:solidFill>
                <a:latin typeface="Arial MT"/>
                <a:cs typeface="Arial MT"/>
              </a:rPr>
              <a:t>SPACE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64975" y="2999537"/>
            <a:ext cx="8477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1A1A1A"/>
                </a:solidFill>
                <a:latin typeface="Arial MT"/>
                <a:cs typeface="Arial MT"/>
              </a:rPr>
              <a:t>PROCESO</a:t>
            </a:r>
            <a:r>
              <a:rPr dirty="0" sz="110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87975" y="1902287"/>
            <a:ext cx="85534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A1A1A"/>
                </a:solidFill>
                <a:latin typeface="Arial MT"/>
                <a:cs typeface="Arial MT"/>
              </a:rPr>
              <a:t>PROCESO</a:t>
            </a:r>
            <a:r>
              <a:rPr dirty="0" sz="110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1A1A1A"/>
                </a:solidFill>
                <a:latin typeface="Arial MT"/>
                <a:cs typeface="Arial MT"/>
              </a:rPr>
              <a:t>B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385508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Context</a:t>
            </a:r>
            <a:r>
              <a:rPr dirty="0" spc="-5"/>
              <a:t> </a:t>
            </a:r>
            <a:r>
              <a:rPr dirty="0"/>
              <a:t>Switch: </a:t>
            </a:r>
            <a:r>
              <a:rPr dirty="0" spc="50"/>
              <a:t>en</a:t>
            </a:r>
            <a:r>
              <a:rPr dirty="0" spc="-5"/>
              <a:t> </a:t>
            </a:r>
            <a:r>
              <a:rPr dirty="0" spc="75"/>
              <a:t>general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32531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Context</a:t>
            </a:r>
            <a:r>
              <a:rPr dirty="0" spc="-5"/>
              <a:t> </a:t>
            </a:r>
            <a:r>
              <a:rPr dirty="0"/>
              <a:t>Switch: </a:t>
            </a:r>
            <a:r>
              <a:rPr dirty="0" spc="50"/>
              <a:t>en</a:t>
            </a:r>
            <a:r>
              <a:rPr dirty="0" spc="-5"/>
              <a:t> </a:t>
            </a:r>
            <a:r>
              <a:rPr dirty="0" spc="-25"/>
              <a:t>xv6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8319" y="1577919"/>
            <a:ext cx="4828888" cy="26459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8374" y="1247595"/>
            <a:ext cx="29743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(sin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user-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space)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8374" y="2443620"/>
            <a:ext cx="28219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context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switch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xv6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context switch:</a:t>
            </a:r>
            <a:endParaRPr sz="1300">
              <a:latin typeface="Tahoma"/>
              <a:cs typeface="Tahoma"/>
            </a:endParaRPr>
          </a:p>
          <a:p>
            <a:pPr marL="469265" indent="-28575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endParaRPr sz="1300">
              <a:latin typeface="Tahoma"/>
              <a:cs typeface="Tahoma"/>
            </a:endParaRPr>
          </a:p>
          <a:p>
            <a:pPr marL="469265" indent="-28575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60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5">
                <a:solidFill>
                  <a:srgbClr val="595959"/>
                </a:solidFill>
                <a:latin typeface="Tahoma"/>
                <a:cs typeface="Tahoma"/>
              </a:rPr>
              <a:t>B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32531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Context</a:t>
            </a:r>
            <a:r>
              <a:rPr dirty="0" spc="-5"/>
              <a:t> </a:t>
            </a:r>
            <a:r>
              <a:rPr dirty="0"/>
              <a:t>Switch: </a:t>
            </a:r>
            <a:r>
              <a:rPr dirty="0" spc="50"/>
              <a:t>en</a:t>
            </a:r>
            <a:r>
              <a:rPr dirty="0" spc="-5"/>
              <a:t> </a:t>
            </a:r>
            <a:r>
              <a:rPr dirty="0" spc="-25"/>
              <a:t>xv6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8319" y="1577919"/>
            <a:ext cx="4828888" cy="26459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8374" y="1247595"/>
            <a:ext cx="275336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Switch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guarda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(registros)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(seguimos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kernel)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en:</a:t>
            </a:r>
            <a:endParaRPr sz="1300">
              <a:latin typeface="Tahoma"/>
              <a:cs typeface="Tahoma"/>
            </a:endParaRPr>
          </a:p>
          <a:p>
            <a:pPr marL="141605">
              <a:lnSpc>
                <a:spcPct val="100000"/>
              </a:lnSpc>
              <a:spcBef>
                <a:spcPts val="156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(struct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proc)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p-&gt;context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8374" y="2748721"/>
            <a:ext cx="271780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Switch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scheduler.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este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guarda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struct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endParaRPr sz="1300">
              <a:latin typeface="Tahoma"/>
              <a:cs typeface="Tahoma"/>
            </a:endParaRPr>
          </a:p>
          <a:p>
            <a:pPr marL="141605">
              <a:lnSpc>
                <a:spcPct val="100000"/>
              </a:lnSpc>
              <a:spcBef>
                <a:spcPts val="1560"/>
              </a:spcBef>
            </a:pP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(struct</a:t>
            </a:r>
            <a:r>
              <a:rPr dirty="0" sz="13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b="1">
                <a:solidFill>
                  <a:srgbClr val="595959"/>
                </a:solidFill>
                <a:latin typeface="Courier New"/>
                <a:cs typeface="Courier New"/>
              </a:rPr>
              <a:t>cpu)</a:t>
            </a:r>
            <a:r>
              <a:rPr dirty="0" sz="13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Courier New"/>
                <a:cs typeface="Courier New"/>
              </a:rPr>
              <a:t>c-&gt;context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32531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Context</a:t>
            </a:r>
            <a:r>
              <a:rPr dirty="0" spc="-5"/>
              <a:t> </a:t>
            </a:r>
            <a:r>
              <a:rPr dirty="0"/>
              <a:t>Switch: </a:t>
            </a:r>
            <a:r>
              <a:rPr dirty="0" spc="50"/>
              <a:t>en</a:t>
            </a:r>
            <a:r>
              <a:rPr dirty="0" spc="-5"/>
              <a:t> </a:t>
            </a:r>
            <a:r>
              <a:rPr dirty="0" spc="-25"/>
              <a:t>xv6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07412" y="1347874"/>
          <a:ext cx="824357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265"/>
                <a:gridCol w="2840355"/>
                <a:gridCol w="268986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Estado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CPU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Donde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se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guarda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User-Space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(struct</a:t>
                      </a:r>
                      <a:r>
                        <a:rPr dirty="0" sz="13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proc)</a:t>
                      </a:r>
                      <a:r>
                        <a:rPr dirty="0" sz="13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p-&gt;trapframe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 marR="281305" indent="-336550">
                        <a:lnSpc>
                          <a:spcPct val="100000"/>
                        </a:lnSpc>
                        <a:spcBef>
                          <a:spcPts val="615"/>
                        </a:spcBef>
                        <a:buChar char="●"/>
                        <a:tabLst>
                          <a:tab pos="542290" algn="l"/>
                        </a:tabLst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Mapeado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tambien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el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user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address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space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2290" indent="-335915">
                        <a:lnSpc>
                          <a:spcPct val="100000"/>
                        </a:lnSpc>
                        <a:buChar char="●"/>
                        <a:tabLst>
                          <a:tab pos="542290" algn="l"/>
                        </a:tabLst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Uno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por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proceso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contexto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proceso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(struct</a:t>
                      </a:r>
                      <a:r>
                        <a:rPr dirty="0" sz="13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proc)</a:t>
                      </a:r>
                      <a:r>
                        <a:rPr dirty="0" sz="13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p-&gt;context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 indent="-335915">
                        <a:lnSpc>
                          <a:spcPct val="100000"/>
                        </a:lnSpc>
                        <a:spcBef>
                          <a:spcPts val="615"/>
                        </a:spcBef>
                        <a:buChar char="●"/>
                        <a:tabLst>
                          <a:tab pos="542290" algn="l"/>
                        </a:tabLst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Uno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por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proceso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85725" marR="7664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Kernel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contexto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 del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scheduler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(struct</a:t>
                      </a:r>
                      <a:r>
                        <a:rPr dirty="0" sz="1300" spc="-25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0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cpu)</a:t>
                      </a:r>
                      <a:r>
                        <a:rPr dirty="0" sz="1300" spc="-2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c-&gt;context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 indent="-335915">
                        <a:lnSpc>
                          <a:spcPct val="100000"/>
                        </a:lnSpc>
                        <a:spcBef>
                          <a:spcPts val="615"/>
                        </a:spcBef>
                        <a:buChar char="●"/>
                        <a:tabLst>
                          <a:tab pos="542290" algn="l"/>
                        </a:tabLst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Uno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por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CPU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25190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35">
                <a:solidFill>
                  <a:srgbClr val="FFFFFF"/>
                </a:solidFill>
              </a:rPr>
              <a:t>Scheduling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913550" y="3201581"/>
            <a:ext cx="433578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Metricas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planificación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Trebuchet MS"/>
                <a:cs typeface="Trebuchet MS"/>
              </a:rPr>
              <a:t>In,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dirty="0" sz="18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(FIFO)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Job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(SJF)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Time-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to-Completion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(STCF)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Round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Robin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(RR)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475" y="1387771"/>
            <a:ext cx="7539990" cy="2854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spc="55">
                <a:latin typeface="Tahoma"/>
                <a:cs typeface="Tahoma"/>
              </a:rPr>
              <a:t>Más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proceso</a:t>
            </a:r>
            <a:r>
              <a:rPr dirty="0" sz="1600" spc="2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estaba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preparado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para</a:t>
            </a:r>
            <a:r>
              <a:rPr dirty="0" sz="1600" spc="2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ser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ejecutado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</a:t>
            </a:r>
            <a:r>
              <a:rPr dirty="0" sz="1600" spc="2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algún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determinado momento,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y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el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sistema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operativo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intercalaba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dicha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ejecución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según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la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circunstancia. </a:t>
            </a:r>
            <a:r>
              <a:rPr dirty="0" sz="1600">
                <a:latin typeface="Tahoma"/>
                <a:cs typeface="Tahoma"/>
              </a:rPr>
              <a:t>Haciendo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esto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mejoró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efectivamente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uso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la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CPU,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tal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mejora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la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eficiencia fue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particularmente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decisiva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en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esos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días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en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la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cual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una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computadora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costaba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cientos </a:t>
            </a:r>
            <a:r>
              <a:rPr dirty="0" sz="1600">
                <a:latin typeface="Tahoma"/>
                <a:cs typeface="Tahoma"/>
              </a:rPr>
              <a:t>de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miles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tal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vez</a:t>
            </a:r>
            <a:r>
              <a:rPr dirty="0" sz="1600" spc="-1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millones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</a:t>
            </a:r>
            <a:r>
              <a:rPr dirty="0" sz="1600" spc="-17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dólares.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600">
              <a:latin typeface="Tahoma"/>
              <a:cs typeface="Tahoma"/>
            </a:endParaRPr>
          </a:p>
          <a:p>
            <a:pPr algn="just" marL="12700" marR="9525">
              <a:lnSpc>
                <a:spcPct val="114999"/>
              </a:lnSpc>
            </a:pPr>
            <a:r>
              <a:rPr dirty="0" sz="1600">
                <a:latin typeface="Tahoma"/>
                <a:cs typeface="Tahoma"/>
              </a:rPr>
              <a:t>En</a:t>
            </a:r>
            <a:r>
              <a:rPr dirty="0" sz="1600" spc="2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esta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era,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múltiples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procesos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están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listos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para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ser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ejecutados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</a:t>
            </a:r>
            <a:r>
              <a:rPr dirty="0" sz="1600" spc="22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determinado </a:t>
            </a:r>
            <a:r>
              <a:rPr dirty="0" sz="1600">
                <a:latin typeface="Tahoma"/>
                <a:cs typeface="Tahoma"/>
              </a:rPr>
              <a:t>tiempo</a:t>
            </a:r>
            <a:r>
              <a:rPr dirty="0" sz="1600" spc="29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según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el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S.O.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lo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decidiese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en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base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ciertas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políticas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planificación</a:t>
            </a:r>
            <a:r>
              <a:rPr dirty="0" sz="1600" spc="310">
                <a:latin typeface="Tahoma"/>
                <a:cs typeface="Tahoma"/>
              </a:rPr>
              <a:t> </a:t>
            </a:r>
            <a:r>
              <a:rPr dirty="0" sz="1600" spc="-50">
                <a:latin typeface="Tahoma"/>
                <a:cs typeface="Tahoma"/>
              </a:rPr>
              <a:t>o </a:t>
            </a:r>
            <a:r>
              <a:rPr dirty="0" sz="1600" spc="-10">
                <a:latin typeface="Tahoma"/>
                <a:cs typeface="Tahoma"/>
              </a:rPr>
              <a:t>scheduling.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Multiprogramación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350" y="1416883"/>
            <a:ext cx="3630295" cy="2479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>
                <a:latin typeface="Tahoma"/>
                <a:cs typeface="Tahoma"/>
              </a:rPr>
              <a:t>Tiempo</a:t>
            </a:r>
            <a:r>
              <a:rPr dirty="0" sz="1400" spc="10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compartido</a:t>
            </a:r>
            <a:r>
              <a:rPr dirty="0" sz="1400" spc="1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se</a:t>
            </a:r>
            <a:r>
              <a:rPr dirty="0" sz="1400" spc="10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refiere</a:t>
            </a:r>
            <a:r>
              <a:rPr dirty="0" sz="1400" spc="1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</a:t>
            </a:r>
            <a:r>
              <a:rPr dirty="0" sz="1400" spc="1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compartir</a:t>
            </a:r>
            <a:r>
              <a:rPr dirty="0" sz="1400" spc="10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de </a:t>
            </a:r>
            <a:r>
              <a:rPr dirty="0" sz="1400">
                <a:latin typeface="Tahoma"/>
                <a:cs typeface="Tahoma"/>
              </a:rPr>
              <a:t>forma</a:t>
            </a:r>
            <a:r>
              <a:rPr dirty="0" sz="1400" spc="1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concurrente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un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recurso</a:t>
            </a:r>
            <a:r>
              <a:rPr dirty="0" sz="1400" spc="11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computacional </a:t>
            </a:r>
            <a:r>
              <a:rPr dirty="0" sz="1400">
                <a:latin typeface="Tahoma"/>
                <a:cs typeface="Tahoma"/>
              </a:rPr>
              <a:t>(tiempo</a:t>
            </a:r>
            <a:r>
              <a:rPr dirty="0" sz="1400" spc="2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ejecución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en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CPU,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uso</a:t>
            </a:r>
            <a:r>
              <a:rPr dirty="0" sz="1400" spc="2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29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la </a:t>
            </a:r>
            <a:r>
              <a:rPr dirty="0" sz="1400">
                <a:latin typeface="Tahoma"/>
                <a:cs typeface="Tahoma"/>
              </a:rPr>
              <a:t>memoria,</a:t>
            </a:r>
            <a:r>
              <a:rPr dirty="0" sz="1400" spc="4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etc.)</a:t>
            </a:r>
            <a:r>
              <a:rPr dirty="0" sz="1400" spc="4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entre</a:t>
            </a:r>
            <a:r>
              <a:rPr dirty="0" sz="1400" spc="4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muchos</a:t>
            </a:r>
            <a:r>
              <a:rPr dirty="0" sz="1400" spc="4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usuarios</a:t>
            </a:r>
            <a:r>
              <a:rPr dirty="0" sz="1400" spc="44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por </a:t>
            </a:r>
            <a:r>
              <a:rPr dirty="0" sz="1400">
                <a:latin typeface="Tahoma"/>
                <a:cs typeface="Tahoma"/>
              </a:rPr>
              <a:t>medio</a:t>
            </a:r>
            <a:r>
              <a:rPr dirty="0" sz="1400" spc="360">
                <a:latin typeface="Tahoma"/>
                <a:cs typeface="Tahoma"/>
              </a:rPr>
              <a:t>   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365">
                <a:latin typeface="Tahoma"/>
                <a:cs typeface="Tahoma"/>
              </a:rPr>
              <a:t>    </a:t>
            </a:r>
            <a:r>
              <a:rPr dirty="0" sz="1400">
                <a:latin typeface="Tahoma"/>
                <a:cs typeface="Tahoma"/>
              </a:rPr>
              <a:t>las</a:t>
            </a:r>
            <a:r>
              <a:rPr dirty="0" sz="1400" spc="365">
                <a:latin typeface="Tahoma"/>
                <a:cs typeface="Tahoma"/>
              </a:rPr>
              <a:t>    </a:t>
            </a:r>
            <a:r>
              <a:rPr dirty="0" sz="1400">
                <a:latin typeface="Tahoma"/>
                <a:cs typeface="Tahoma"/>
              </a:rPr>
              <a:t>tecnologías</a:t>
            </a:r>
            <a:r>
              <a:rPr dirty="0" sz="1400" spc="365">
                <a:latin typeface="Tahoma"/>
                <a:cs typeface="Tahoma"/>
              </a:rPr>
              <a:t>    </a:t>
            </a:r>
            <a:r>
              <a:rPr dirty="0" sz="1400" spc="-25">
                <a:latin typeface="Tahoma"/>
                <a:cs typeface="Tahoma"/>
              </a:rPr>
              <a:t>de </a:t>
            </a:r>
            <a:r>
              <a:rPr dirty="0" sz="1400">
                <a:latin typeface="Tahoma"/>
                <a:cs typeface="Tahoma"/>
              </a:rPr>
              <a:t>multiprogramación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>
                <a:latin typeface="Tahoma"/>
                <a:cs typeface="Tahoma"/>
              </a:rPr>
              <a:t>y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>
                <a:latin typeface="Tahoma"/>
                <a:cs typeface="Tahoma"/>
              </a:rPr>
              <a:t>inclusión</a:t>
            </a:r>
            <a:r>
              <a:rPr dirty="0" sz="1400" spc="235">
                <a:latin typeface="Tahoma"/>
                <a:cs typeface="Tahoma"/>
              </a:rPr>
              <a:t>   </a:t>
            </a:r>
            <a:r>
              <a:rPr dirty="0" sz="1400" spc="-25">
                <a:latin typeface="Tahoma"/>
                <a:cs typeface="Tahoma"/>
              </a:rPr>
              <a:t>de </a:t>
            </a:r>
            <a:r>
              <a:rPr dirty="0" sz="1400">
                <a:latin typeface="Tahoma"/>
                <a:cs typeface="Tahoma"/>
              </a:rPr>
              <a:t>interrupciones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reloj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por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parte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del</a:t>
            </a:r>
            <a:r>
              <a:rPr dirty="0" sz="1400" spc="14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sistema </a:t>
            </a:r>
            <a:r>
              <a:rPr dirty="0" sz="1400">
                <a:latin typeface="Tahoma"/>
                <a:cs typeface="Tahoma"/>
              </a:rPr>
              <a:t>operativo,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permitiendo a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este último acotar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el </a:t>
            </a:r>
            <a:r>
              <a:rPr dirty="0" sz="1400">
                <a:latin typeface="Tahoma"/>
                <a:cs typeface="Tahoma"/>
              </a:rPr>
              <a:t>tiempo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respuesta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del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computador</a:t>
            </a:r>
            <a:r>
              <a:rPr dirty="0" sz="1400" spc="-1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y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limitar </a:t>
            </a:r>
            <a:r>
              <a:rPr dirty="0" sz="1400">
                <a:latin typeface="Tahoma"/>
                <a:cs typeface="Tahoma"/>
              </a:rPr>
              <a:t>el</a:t>
            </a:r>
            <a:r>
              <a:rPr dirty="0" sz="1400" spc="-15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uso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100">
                <a:latin typeface="Tahoma"/>
                <a:cs typeface="Tahoma"/>
              </a:rPr>
              <a:t>CPU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por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parte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un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proceso</a:t>
            </a:r>
            <a:r>
              <a:rPr dirty="0" sz="1400" spc="-15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dado.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Time</a:t>
            </a:r>
            <a:r>
              <a:rPr dirty="0" spc="-120"/>
              <a:t> </a:t>
            </a:r>
            <a:r>
              <a:rPr dirty="0" spc="70"/>
              <a:t>Sharing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702" y="1070199"/>
            <a:ext cx="2817699" cy="37581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350" y="1449415"/>
            <a:ext cx="3627754" cy="2433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 spc="114">
                <a:latin typeface="Tahoma"/>
                <a:cs typeface="Tahoma"/>
              </a:rPr>
              <a:t>A</a:t>
            </a:r>
            <a:r>
              <a:rPr dirty="0" sz="1500" spc="3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medida</a:t>
            </a:r>
            <a:r>
              <a:rPr dirty="0" sz="1500" spc="3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que</a:t>
            </a:r>
            <a:r>
              <a:rPr dirty="0" sz="1500" spc="3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los</a:t>
            </a:r>
            <a:r>
              <a:rPr dirty="0" sz="1500" spc="3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tiempos</a:t>
            </a:r>
            <a:r>
              <a:rPr dirty="0" sz="1500" spc="3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de</a:t>
            </a:r>
            <a:r>
              <a:rPr dirty="0" sz="1500" spc="35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respuesta </a:t>
            </a:r>
            <a:r>
              <a:rPr dirty="0" sz="1500">
                <a:latin typeface="Tahoma"/>
                <a:cs typeface="Tahoma"/>
              </a:rPr>
              <a:t>entre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procesos</a:t>
            </a:r>
            <a:r>
              <a:rPr dirty="0" sz="1500" spc="-95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se</a:t>
            </a:r>
            <a:r>
              <a:rPr dirty="0" sz="1500" spc="-3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fueron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haciendo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cada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vez </a:t>
            </a:r>
            <a:r>
              <a:rPr dirty="0" sz="1500">
                <a:latin typeface="Tahoma"/>
                <a:cs typeface="Tahoma"/>
              </a:rPr>
              <a:t>más</a:t>
            </a:r>
            <a:r>
              <a:rPr dirty="0" sz="1500" spc="27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pequeños,</a:t>
            </a:r>
            <a:r>
              <a:rPr dirty="0" sz="1500" spc="2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más</a:t>
            </a:r>
            <a:r>
              <a:rPr dirty="0" sz="1500" spc="2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procesos</a:t>
            </a:r>
            <a:r>
              <a:rPr dirty="0" sz="1500" spc="2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podían</a:t>
            </a:r>
            <a:r>
              <a:rPr dirty="0" sz="1500" spc="27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ser </a:t>
            </a:r>
            <a:r>
              <a:rPr dirty="0" sz="1500" spc="-10">
                <a:latin typeface="Tahoma"/>
                <a:cs typeface="Tahoma"/>
              </a:rPr>
              <a:t>cargados</a:t>
            </a:r>
            <a:r>
              <a:rPr dirty="0" sz="1500" spc="-17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en</a:t>
            </a:r>
            <a:r>
              <a:rPr dirty="0" sz="1500" spc="-16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memoria</a:t>
            </a:r>
            <a:r>
              <a:rPr dirty="0" sz="1500" spc="-17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para</a:t>
            </a:r>
            <a:r>
              <a:rPr dirty="0" sz="1500" spc="-16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su</a:t>
            </a:r>
            <a:r>
              <a:rPr dirty="0" sz="1500" spc="-16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ejecución.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5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500">
                <a:latin typeface="Tahoma"/>
                <a:cs typeface="Tahoma"/>
              </a:rPr>
              <a:t>Una</a:t>
            </a:r>
            <a:r>
              <a:rPr dirty="0" sz="1500" spc="290">
                <a:latin typeface="Tahoma"/>
                <a:cs typeface="Tahoma"/>
              </a:rPr>
              <a:t>   </a:t>
            </a:r>
            <a:r>
              <a:rPr dirty="0" sz="1500">
                <a:latin typeface="Tahoma"/>
                <a:cs typeface="Tahoma"/>
              </a:rPr>
              <a:t>variante</a:t>
            </a:r>
            <a:r>
              <a:rPr dirty="0" sz="1500" spc="295">
                <a:latin typeface="Tahoma"/>
                <a:cs typeface="Tahoma"/>
              </a:rPr>
              <a:t>   </a:t>
            </a:r>
            <a:r>
              <a:rPr dirty="0" sz="1500">
                <a:latin typeface="Tahoma"/>
                <a:cs typeface="Tahoma"/>
              </a:rPr>
              <a:t>de</a:t>
            </a:r>
            <a:r>
              <a:rPr dirty="0" sz="1500" spc="290">
                <a:latin typeface="Tahoma"/>
                <a:cs typeface="Tahoma"/>
              </a:rPr>
              <a:t>   </a:t>
            </a:r>
            <a:r>
              <a:rPr dirty="0" sz="1500">
                <a:latin typeface="Tahoma"/>
                <a:cs typeface="Tahoma"/>
              </a:rPr>
              <a:t>la</a:t>
            </a:r>
            <a:r>
              <a:rPr dirty="0" sz="1500" spc="295">
                <a:latin typeface="Tahoma"/>
                <a:cs typeface="Tahoma"/>
              </a:rPr>
              <a:t>   </a:t>
            </a:r>
            <a:r>
              <a:rPr dirty="0" sz="1500">
                <a:latin typeface="Tahoma"/>
                <a:cs typeface="Tahoma"/>
              </a:rPr>
              <a:t>técnica</a:t>
            </a:r>
            <a:r>
              <a:rPr dirty="0" sz="1500" spc="290">
                <a:latin typeface="Tahoma"/>
                <a:cs typeface="Tahoma"/>
              </a:rPr>
              <a:t>   </a:t>
            </a:r>
            <a:r>
              <a:rPr dirty="0" sz="1500" spc="-50">
                <a:latin typeface="Tahoma"/>
                <a:cs typeface="Tahoma"/>
              </a:rPr>
              <a:t>de </a:t>
            </a:r>
            <a:r>
              <a:rPr dirty="0" sz="1500">
                <a:latin typeface="Tahoma"/>
                <a:cs typeface="Tahoma"/>
              </a:rPr>
              <a:t>multiprogramación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consistió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80">
                <a:latin typeface="Tahoma"/>
                <a:cs typeface="Tahoma"/>
              </a:rPr>
              <a:t>en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asignar</a:t>
            </a:r>
            <a:r>
              <a:rPr dirty="0" sz="1500" spc="-6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una </a:t>
            </a:r>
            <a:r>
              <a:rPr dirty="0" sz="1500">
                <a:latin typeface="Tahoma"/>
                <a:cs typeface="Tahoma"/>
              </a:rPr>
              <a:t>terminal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a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cada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usuario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en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línea.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Time</a:t>
            </a:r>
            <a:r>
              <a:rPr dirty="0" spc="-120"/>
              <a:t> </a:t>
            </a:r>
            <a:r>
              <a:rPr dirty="0" spc="70"/>
              <a:t>Sharing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702" y="1070199"/>
            <a:ext cx="2817699" cy="375812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350" y="1381584"/>
            <a:ext cx="3630295" cy="2479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 spc="-15">
                <a:latin typeface="Tahoma"/>
                <a:cs typeface="Tahoma"/>
              </a:rPr>
              <a:t>Teniendo</a:t>
            </a:r>
            <a:r>
              <a:rPr dirty="0" sz="1400" spc="2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en</a:t>
            </a:r>
            <a:r>
              <a:rPr dirty="0" sz="1400" spc="2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cuenta</a:t>
            </a:r>
            <a:r>
              <a:rPr dirty="0" sz="1400" spc="2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que</a:t>
            </a:r>
            <a:r>
              <a:rPr dirty="0" sz="1400" spc="23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los</a:t>
            </a:r>
            <a:r>
              <a:rPr dirty="0" sz="1400" spc="2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seres</a:t>
            </a:r>
            <a:r>
              <a:rPr dirty="0" sz="1400" spc="23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humanos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tienen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un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tiempo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respuesta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15">
                <a:latin typeface="Tahoma"/>
                <a:cs typeface="Tahoma"/>
              </a:rPr>
              <a:t>lento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(0.25</a:t>
            </a:r>
            <a:r>
              <a:rPr dirty="0" sz="1400" spc="-60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seg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para</a:t>
            </a:r>
            <a:r>
              <a:rPr dirty="0" sz="1400" spc="-100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estímulos</a:t>
            </a:r>
            <a:r>
              <a:rPr dirty="0" sz="1400" spc="-100">
                <a:latin typeface="Tahoma"/>
                <a:cs typeface="Tahoma"/>
              </a:rPr>
              <a:t> </a:t>
            </a:r>
            <a:r>
              <a:rPr dirty="0" sz="1400" spc="-15">
                <a:latin typeface="Tahoma"/>
                <a:cs typeface="Tahoma"/>
              </a:rPr>
              <a:t>visuales)</a:t>
            </a:r>
            <a:r>
              <a:rPr dirty="0" sz="1400" spc="-10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en</a:t>
            </a:r>
            <a:r>
              <a:rPr dirty="0" sz="1400" spc="-10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compa</a:t>
            </a:r>
            <a:r>
              <a:rPr dirty="0" sz="1400" spc="-30">
                <a:latin typeface="Tahoma"/>
                <a:cs typeface="Tahoma"/>
              </a:rPr>
              <a:t>r</a:t>
            </a:r>
            <a:r>
              <a:rPr dirty="0" sz="1400">
                <a:latin typeface="Tahoma"/>
                <a:cs typeface="Tahoma"/>
              </a:rPr>
              <a:t>ación</a:t>
            </a:r>
            <a:r>
              <a:rPr dirty="0" sz="1400" spc="-100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a</a:t>
            </a:r>
            <a:r>
              <a:rPr dirty="0" sz="1400" spc="-100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una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computadora</a:t>
            </a:r>
            <a:r>
              <a:rPr dirty="0" sz="1400" spc="415">
                <a:latin typeface="Tahoma"/>
                <a:cs typeface="Tahoma"/>
              </a:rPr>
              <a:t> </a:t>
            </a:r>
            <a:r>
              <a:rPr dirty="0" sz="1400" spc="-15">
                <a:latin typeface="Tahoma"/>
                <a:cs typeface="Tahoma"/>
              </a:rPr>
              <a:t>(operación</a:t>
            </a:r>
            <a:r>
              <a:rPr dirty="0" sz="1400" spc="41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en</a:t>
            </a:r>
            <a:r>
              <a:rPr dirty="0" sz="1400" spc="415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nanosegundos).</a:t>
            </a:r>
            <a:r>
              <a:rPr dirty="0" sz="1400" spc="-20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Debido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a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esta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diferencia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tiempos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y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a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que</a:t>
            </a:r>
            <a:r>
              <a:rPr dirty="0" sz="1400" spc="-13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no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todos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los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usuarios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necesitan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cpu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al</a:t>
            </a:r>
            <a:r>
              <a:rPr dirty="0" sz="1400" spc="-16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mismo</a:t>
            </a:r>
            <a:r>
              <a:rPr dirty="0" sz="1400" spc="-5">
                <a:latin typeface="Tahoma"/>
                <a:cs typeface="Tahoma"/>
              </a:rPr>
              <a:t> </a:t>
            </a:r>
            <a:r>
              <a:rPr dirty="0" sz="1400" spc="-15">
                <a:latin typeface="Tahoma"/>
                <a:cs typeface="Tahoma"/>
              </a:rPr>
              <a:t>tiempo,</a:t>
            </a:r>
            <a:r>
              <a:rPr dirty="0" sz="1400" spc="37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este</a:t>
            </a:r>
            <a:r>
              <a:rPr dirty="0" sz="1400" spc="37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sistema</a:t>
            </a:r>
            <a:r>
              <a:rPr dirty="0" sz="1400" spc="375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daba</a:t>
            </a:r>
            <a:r>
              <a:rPr dirty="0" sz="1400" spc="37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37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sensación</a:t>
            </a:r>
            <a:r>
              <a:rPr dirty="0" sz="1400" spc="37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de </a:t>
            </a:r>
            <a:r>
              <a:rPr dirty="0" sz="1400" spc="-10">
                <a:latin typeface="Tahoma"/>
                <a:cs typeface="Tahoma"/>
              </a:rPr>
              <a:t>asignar</a:t>
            </a:r>
            <a:r>
              <a:rPr dirty="0" sz="1400" spc="395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toda</a:t>
            </a:r>
            <a:r>
              <a:rPr dirty="0" sz="1400" spc="3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la</a:t>
            </a:r>
            <a:r>
              <a:rPr dirty="0" sz="1400" spc="3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computadora</a:t>
            </a:r>
            <a:r>
              <a:rPr dirty="0" sz="1400" spc="395">
                <a:latin typeface="Tahoma"/>
                <a:cs typeface="Tahoma"/>
              </a:rPr>
              <a:t> </a:t>
            </a:r>
            <a:r>
              <a:rPr dirty="0" sz="1400" spc="-30">
                <a:latin typeface="Tahoma"/>
                <a:cs typeface="Tahoma"/>
              </a:rPr>
              <a:t>a</a:t>
            </a:r>
            <a:r>
              <a:rPr dirty="0" sz="1400" spc="3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un</a:t>
            </a:r>
            <a:r>
              <a:rPr dirty="0" sz="1400" spc="395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usuario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determinado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 spc="30">
                <a:latin typeface="Tahoma"/>
                <a:cs typeface="Tahoma"/>
              </a:rPr>
              <a:t>Corbató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y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otros.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 spc="10">
                <a:latin typeface="Tahoma"/>
                <a:cs typeface="Tahoma"/>
              </a:rPr>
              <a:t>Este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concepto</a:t>
            </a:r>
            <a:r>
              <a:rPr dirty="0" sz="1400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fue</a:t>
            </a:r>
            <a:r>
              <a:rPr dirty="0" sz="1400" spc="-170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popularizado</a:t>
            </a:r>
            <a:r>
              <a:rPr dirty="0" sz="1400" spc="-170">
                <a:latin typeface="Tahoma"/>
                <a:cs typeface="Tahoma"/>
              </a:rPr>
              <a:t> </a:t>
            </a:r>
            <a:r>
              <a:rPr dirty="0" sz="1400" spc="20">
                <a:latin typeface="Tahoma"/>
                <a:cs typeface="Tahoma"/>
              </a:rPr>
              <a:t>por</a:t>
            </a:r>
            <a:r>
              <a:rPr dirty="0" sz="1400" spc="-170">
                <a:latin typeface="Tahoma"/>
                <a:cs typeface="Tahoma"/>
              </a:rPr>
              <a:t> </a:t>
            </a:r>
            <a:r>
              <a:rPr dirty="0" sz="1400" spc="5">
                <a:latin typeface="Tahoma"/>
                <a:cs typeface="Tahoma"/>
              </a:rPr>
              <a:t>MULTICS.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92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Time</a:t>
            </a:r>
            <a:r>
              <a:rPr dirty="0" spc="-120"/>
              <a:t> </a:t>
            </a:r>
            <a:r>
              <a:rPr dirty="0" spc="70"/>
              <a:t>Sharing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702" y="1070199"/>
            <a:ext cx="2817699" cy="37581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Planificación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644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Cuando</a:t>
            </a:r>
            <a:r>
              <a:rPr dirty="0" spc="-125"/>
              <a:t> </a:t>
            </a:r>
            <a:r>
              <a:rPr dirty="0"/>
              <a:t>un</a:t>
            </a:r>
            <a:r>
              <a:rPr dirty="0" spc="-125"/>
              <a:t> </a:t>
            </a:r>
            <a:r>
              <a:rPr dirty="0" spc="-10"/>
              <a:t>Sistema</a:t>
            </a:r>
            <a:r>
              <a:rPr dirty="0" spc="-120"/>
              <a:t> </a:t>
            </a:r>
            <a:r>
              <a:rPr dirty="0"/>
              <a:t>Operativo</a:t>
            </a:r>
            <a:r>
              <a:rPr dirty="0" spc="-125"/>
              <a:t> </a:t>
            </a:r>
            <a:r>
              <a:rPr dirty="0" spc="-25"/>
              <a:t>se</a:t>
            </a:r>
            <a:r>
              <a:rPr dirty="0" spc="-125"/>
              <a:t> </a:t>
            </a:r>
            <a:r>
              <a:rPr dirty="0"/>
              <a:t>dice</a:t>
            </a:r>
            <a:r>
              <a:rPr dirty="0" spc="-120"/>
              <a:t> </a:t>
            </a:r>
            <a:r>
              <a:rPr dirty="0"/>
              <a:t>que</a:t>
            </a:r>
            <a:r>
              <a:rPr dirty="0" spc="-125"/>
              <a:t> </a:t>
            </a:r>
            <a:r>
              <a:rPr dirty="0"/>
              <a:t>realiza</a:t>
            </a:r>
            <a:r>
              <a:rPr dirty="0" spc="-125"/>
              <a:t> </a:t>
            </a:r>
            <a:r>
              <a:rPr dirty="0"/>
              <a:t>multi-</a:t>
            </a:r>
            <a:r>
              <a:rPr dirty="0" spc="-10"/>
              <a:t>programación</a:t>
            </a:r>
            <a:r>
              <a:rPr dirty="0" spc="-120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 spc="-10"/>
              <a:t>varios </a:t>
            </a:r>
            <a:r>
              <a:rPr dirty="0"/>
              <a:t>procesos</a:t>
            </a:r>
            <a:r>
              <a:rPr dirty="0" spc="-160"/>
              <a:t> </a:t>
            </a:r>
            <a:r>
              <a:rPr dirty="0"/>
              <a:t>debe</a:t>
            </a:r>
            <a:r>
              <a:rPr dirty="0" spc="-155"/>
              <a:t> </a:t>
            </a:r>
            <a:r>
              <a:rPr dirty="0"/>
              <a:t>existir</a:t>
            </a:r>
            <a:r>
              <a:rPr dirty="0" spc="-155"/>
              <a:t> </a:t>
            </a:r>
            <a:r>
              <a:rPr dirty="0" spc="-10"/>
              <a:t>una</a:t>
            </a:r>
            <a:r>
              <a:rPr dirty="0" spc="-155"/>
              <a:t> </a:t>
            </a:r>
            <a:r>
              <a:rPr dirty="0"/>
              <a:t>entidad</a:t>
            </a:r>
            <a:r>
              <a:rPr dirty="0" spc="-155"/>
              <a:t> </a:t>
            </a:r>
            <a:r>
              <a:rPr dirty="0"/>
              <a:t>que</a:t>
            </a:r>
            <a:r>
              <a:rPr dirty="0" spc="-155"/>
              <a:t> </a:t>
            </a:r>
            <a:r>
              <a:rPr dirty="0" spc="-25"/>
              <a:t>se</a:t>
            </a:r>
            <a:r>
              <a:rPr dirty="0" spc="-155"/>
              <a:t> </a:t>
            </a:r>
            <a:r>
              <a:rPr dirty="0" spc="-10"/>
              <a:t>encargue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55"/>
              <a:t> </a:t>
            </a:r>
            <a:r>
              <a:rPr dirty="0"/>
              <a:t>coordinar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55"/>
              <a:t> </a:t>
            </a:r>
            <a:r>
              <a:rPr dirty="0"/>
              <a:t>forma</a:t>
            </a:r>
            <a:r>
              <a:rPr dirty="0" spc="-155"/>
              <a:t> </a:t>
            </a:r>
            <a:r>
              <a:rPr dirty="0"/>
              <a:t>en</a:t>
            </a:r>
            <a:r>
              <a:rPr dirty="0" spc="-155"/>
              <a:t> </a:t>
            </a:r>
            <a:r>
              <a:rPr dirty="0"/>
              <a:t>que</a:t>
            </a:r>
            <a:r>
              <a:rPr dirty="0" spc="-160"/>
              <a:t> </a:t>
            </a:r>
            <a:r>
              <a:rPr dirty="0" spc="-10"/>
              <a:t>estos </a:t>
            </a:r>
            <a:r>
              <a:rPr dirty="0" spc="-25"/>
              <a:t>se</a:t>
            </a:r>
            <a:r>
              <a:rPr dirty="0" spc="-175"/>
              <a:t> </a:t>
            </a:r>
            <a:r>
              <a:rPr dirty="0" spc="-30"/>
              <a:t>ejecutan,</a:t>
            </a:r>
            <a:r>
              <a:rPr dirty="0" spc="-175"/>
              <a:t> </a:t>
            </a:r>
            <a:r>
              <a:rPr dirty="0"/>
              <a:t>el</a:t>
            </a:r>
            <a:r>
              <a:rPr dirty="0" spc="-175"/>
              <a:t> </a:t>
            </a:r>
            <a:r>
              <a:rPr dirty="0"/>
              <a:t>momento</a:t>
            </a:r>
            <a:r>
              <a:rPr dirty="0" spc="-170"/>
              <a:t> </a:t>
            </a:r>
            <a:r>
              <a:rPr dirty="0"/>
              <a:t>en</a:t>
            </a:r>
            <a:r>
              <a:rPr dirty="0" spc="-175"/>
              <a:t> </a:t>
            </a:r>
            <a:r>
              <a:rPr dirty="0"/>
              <a:t>que</a:t>
            </a:r>
            <a:r>
              <a:rPr dirty="0" spc="-175"/>
              <a:t> </a:t>
            </a:r>
            <a:r>
              <a:rPr dirty="0"/>
              <a:t>estos</a:t>
            </a:r>
            <a:r>
              <a:rPr dirty="0" spc="-175"/>
              <a:t> </a:t>
            </a:r>
            <a:r>
              <a:rPr dirty="0" spc="-25"/>
              <a:t>se</a:t>
            </a:r>
            <a:r>
              <a:rPr dirty="0" spc="-170"/>
              <a:t> </a:t>
            </a:r>
            <a:r>
              <a:rPr dirty="0"/>
              <a:t>ejecutan</a:t>
            </a:r>
            <a:r>
              <a:rPr dirty="0" spc="-175"/>
              <a:t> </a:t>
            </a:r>
            <a:r>
              <a:rPr dirty="0"/>
              <a:t>y</a:t>
            </a:r>
            <a:r>
              <a:rPr dirty="0" spc="-175"/>
              <a:t> </a:t>
            </a:r>
            <a:r>
              <a:rPr dirty="0"/>
              <a:t>el</a:t>
            </a:r>
            <a:r>
              <a:rPr dirty="0" spc="-175"/>
              <a:t> </a:t>
            </a:r>
            <a:r>
              <a:rPr dirty="0"/>
              <a:t>momento</a:t>
            </a:r>
            <a:r>
              <a:rPr dirty="0" spc="-170"/>
              <a:t> </a:t>
            </a:r>
            <a:r>
              <a:rPr dirty="0"/>
              <a:t>en</a:t>
            </a:r>
            <a:r>
              <a:rPr dirty="0" spc="-175"/>
              <a:t> </a:t>
            </a:r>
            <a:r>
              <a:rPr dirty="0"/>
              <a:t>el</a:t>
            </a:r>
            <a:r>
              <a:rPr dirty="0" spc="-175"/>
              <a:t> </a:t>
            </a:r>
            <a:r>
              <a:rPr dirty="0"/>
              <a:t>cual</a:t>
            </a:r>
            <a:r>
              <a:rPr dirty="0" spc="-170"/>
              <a:t> </a:t>
            </a:r>
            <a:r>
              <a:rPr dirty="0" spc="-10"/>
              <a:t>paran</a:t>
            </a:r>
            <a:r>
              <a:rPr dirty="0" spc="-175"/>
              <a:t> </a:t>
            </a:r>
            <a:r>
              <a:rPr dirty="0" spc="-25"/>
              <a:t>de </a:t>
            </a:r>
            <a:r>
              <a:rPr dirty="0" spc="-20"/>
              <a:t>ejecutarse.</a:t>
            </a:r>
            <a:r>
              <a:rPr dirty="0" spc="-155"/>
              <a:t> </a:t>
            </a:r>
            <a:r>
              <a:rPr dirty="0"/>
              <a:t>En</a:t>
            </a:r>
            <a:r>
              <a:rPr dirty="0" spc="-150"/>
              <a:t> </a:t>
            </a:r>
            <a:r>
              <a:rPr dirty="0"/>
              <a:t>un</a:t>
            </a:r>
            <a:r>
              <a:rPr dirty="0" spc="-150"/>
              <a:t> </a:t>
            </a:r>
            <a:r>
              <a:rPr dirty="0"/>
              <a:t>sistema</a:t>
            </a:r>
            <a:r>
              <a:rPr dirty="0" spc="-150"/>
              <a:t> </a:t>
            </a:r>
            <a:r>
              <a:rPr dirty="0"/>
              <a:t>operativo</a:t>
            </a:r>
            <a:r>
              <a:rPr dirty="0" spc="-150"/>
              <a:t> </a:t>
            </a:r>
            <a:r>
              <a:rPr dirty="0"/>
              <a:t>esta</a:t>
            </a:r>
            <a:r>
              <a:rPr dirty="0" spc="-150"/>
              <a:t> </a:t>
            </a:r>
            <a:r>
              <a:rPr dirty="0"/>
              <a:t>tarea</a:t>
            </a:r>
            <a:r>
              <a:rPr dirty="0" spc="-150"/>
              <a:t> </a:t>
            </a:r>
            <a:r>
              <a:rPr dirty="0" spc="-25"/>
              <a:t>es</a:t>
            </a:r>
            <a:r>
              <a:rPr dirty="0" spc="-155"/>
              <a:t> </a:t>
            </a:r>
            <a:r>
              <a:rPr dirty="0"/>
              <a:t>realizada</a:t>
            </a:r>
            <a:r>
              <a:rPr dirty="0" spc="-150"/>
              <a:t> </a:t>
            </a:r>
            <a:r>
              <a:rPr dirty="0"/>
              <a:t>por</a:t>
            </a:r>
            <a:r>
              <a:rPr dirty="0" spc="-150"/>
              <a:t> </a:t>
            </a:r>
            <a:r>
              <a:rPr dirty="0"/>
              <a:t>el</a:t>
            </a:r>
            <a:r>
              <a:rPr dirty="0" spc="-160"/>
              <a:t> </a:t>
            </a:r>
            <a:r>
              <a:rPr dirty="0" spc="-95" b="1">
                <a:latin typeface="Tahoma"/>
                <a:cs typeface="Tahoma"/>
              </a:rPr>
              <a:t>Planificador</a:t>
            </a:r>
            <a:r>
              <a:rPr dirty="0" spc="-110" b="1">
                <a:latin typeface="Tahoma"/>
                <a:cs typeface="Tahoma"/>
              </a:rPr>
              <a:t> </a:t>
            </a:r>
            <a:r>
              <a:rPr dirty="0" spc="-50"/>
              <a:t>o </a:t>
            </a:r>
            <a:r>
              <a:rPr dirty="0" spc="-100"/>
              <a:t>S</a:t>
            </a:r>
            <a:r>
              <a:rPr dirty="0" spc="-100" b="1">
                <a:latin typeface="Tahoma"/>
                <a:cs typeface="Tahoma"/>
              </a:rPr>
              <a:t>cheduler </a:t>
            </a:r>
            <a:r>
              <a:rPr dirty="0"/>
              <a:t>que</a:t>
            </a:r>
            <a:r>
              <a:rPr dirty="0" spc="-135"/>
              <a:t> </a:t>
            </a:r>
            <a:r>
              <a:rPr dirty="0"/>
              <a:t>forma</a:t>
            </a:r>
            <a:r>
              <a:rPr dirty="0" spc="-135"/>
              <a:t> </a:t>
            </a:r>
            <a:r>
              <a:rPr dirty="0"/>
              <a:t>parte</a:t>
            </a:r>
            <a:r>
              <a:rPr dirty="0" spc="-135"/>
              <a:t> </a:t>
            </a:r>
            <a:r>
              <a:rPr dirty="0"/>
              <a:t>del</a:t>
            </a:r>
            <a:r>
              <a:rPr dirty="0" spc="-135"/>
              <a:t> </a:t>
            </a:r>
            <a:r>
              <a:rPr dirty="0"/>
              <a:t>Kernel</a:t>
            </a:r>
            <a:r>
              <a:rPr dirty="0" spc="-135"/>
              <a:t> </a:t>
            </a:r>
            <a:r>
              <a:rPr dirty="0"/>
              <a:t>del</a:t>
            </a:r>
            <a:r>
              <a:rPr dirty="0" spc="-135"/>
              <a:t> </a:t>
            </a:r>
            <a:r>
              <a:rPr dirty="0" spc="-10"/>
              <a:t>Sistema</a:t>
            </a:r>
            <a:r>
              <a:rPr dirty="0" spc="-135"/>
              <a:t> </a:t>
            </a:r>
            <a:r>
              <a:rPr dirty="0" spc="-10"/>
              <a:t>Operativo.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4536" y="3488300"/>
            <a:ext cx="1203717" cy="12649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62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Scheduling</a:t>
            </a:r>
            <a:r>
              <a:rPr dirty="0" spc="-20"/>
              <a:t> </a:t>
            </a:r>
            <a:r>
              <a:rPr dirty="0" spc="114"/>
              <a:t>o</a:t>
            </a:r>
            <a:r>
              <a:rPr dirty="0" spc="-20"/>
              <a:t> </a:t>
            </a:r>
            <a:r>
              <a:rPr dirty="0"/>
              <a:t>Planificación</a:t>
            </a:r>
            <a:r>
              <a:rPr dirty="0" spc="-15"/>
              <a:t> </a:t>
            </a:r>
            <a:r>
              <a:rPr dirty="0" spc="114"/>
              <a:t>de</a:t>
            </a:r>
            <a:r>
              <a:rPr dirty="0" spc="-20"/>
              <a:t> </a:t>
            </a:r>
            <a:r>
              <a:rPr dirty="0" spc="80"/>
              <a:t>Procesos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57314"/>
            <a:ext cx="7277100" cy="232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5920">
              <a:lnSpc>
                <a:spcPct val="114999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cosas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elige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cuál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ellas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primero?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9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900" spc="3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existir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algún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mecanismo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permita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determinar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cuanto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toca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período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otorga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denomina</a:t>
            </a:r>
            <a:r>
              <a:rPr dirty="0" sz="19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9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0" b="1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9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0" b="1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9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900" spc="-1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40" b="1">
                <a:solidFill>
                  <a:srgbClr val="595959"/>
                </a:solidFill>
                <a:latin typeface="Tahoma"/>
                <a:cs typeface="Tahoma"/>
              </a:rPr>
              <a:t>quantum</a:t>
            </a:r>
            <a:r>
              <a:rPr dirty="0" sz="1900" spc="-14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3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El</a:t>
            </a:r>
            <a:r>
              <a:rPr dirty="0" spc="-270"/>
              <a:t> </a:t>
            </a:r>
            <a:r>
              <a:rPr dirty="0" spc="85"/>
              <a:t>Workload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277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dirty="0" sz="1500" spc="-55" b="1">
                <a:latin typeface="Tahoma"/>
                <a:cs typeface="Tahoma"/>
              </a:rPr>
              <a:t>El</a:t>
            </a:r>
            <a:r>
              <a:rPr dirty="0" sz="1500" spc="-125" b="1">
                <a:latin typeface="Tahoma"/>
                <a:cs typeface="Tahoma"/>
              </a:rPr>
              <a:t> </a:t>
            </a:r>
            <a:r>
              <a:rPr dirty="0" sz="1500" spc="-70" b="1">
                <a:latin typeface="Tahoma"/>
                <a:cs typeface="Tahoma"/>
              </a:rPr>
              <a:t>Workload</a:t>
            </a:r>
            <a:r>
              <a:rPr dirty="0" sz="1500" spc="-120" b="1">
                <a:latin typeface="Tahoma"/>
                <a:cs typeface="Tahoma"/>
              </a:rPr>
              <a:t> </a:t>
            </a:r>
            <a:r>
              <a:rPr dirty="0" sz="1500" spc="-114" b="1">
                <a:latin typeface="Tahoma"/>
                <a:cs typeface="Tahoma"/>
              </a:rPr>
              <a:t>es</a:t>
            </a:r>
            <a:r>
              <a:rPr dirty="0" sz="1500" spc="-125" b="1">
                <a:latin typeface="Tahoma"/>
                <a:cs typeface="Tahoma"/>
              </a:rPr>
              <a:t> </a:t>
            </a:r>
            <a:r>
              <a:rPr dirty="0" sz="1500" spc="-120" b="1">
                <a:latin typeface="Tahoma"/>
                <a:cs typeface="Tahoma"/>
              </a:rPr>
              <a:t>carga</a:t>
            </a:r>
            <a:r>
              <a:rPr dirty="0" sz="1500" spc="-130" b="1">
                <a:latin typeface="Tahoma"/>
                <a:cs typeface="Tahoma"/>
              </a:rPr>
              <a:t> </a:t>
            </a:r>
            <a:r>
              <a:rPr dirty="0" sz="1500" spc="-100" b="1">
                <a:latin typeface="Tahoma"/>
                <a:cs typeface="Tahoma"/>
              </a:rPr>
              <a:t>de</a:t>
            </a:r>
            <a:r>
              <a:rPr dirty="0" sz="1500" spc="-125" b="1">
                <a:latin typeface="Tahoma"/>
                <a:cs typeface="Tahoma"/>
              </a:rPr>
              <a:t> </a:t>
            </a:r>
            <a:r>
              <a:rPr dirty="0" sz="1500" spc="-105" b="1">
                <a:latin typeface="Tahoma"/>
                <a:cs typeface="Tahoma"/>
              </a:rPr>
              <a:t>trabajo</a:t>
            </a:r>
            <a:r>
              <a:rPr dirty="0" sz="1500" spc="-130" b="1">
                <a:latin typeface="Tahoma"/>
                <a:cs typeface="Tahoma"/>
              </a:rPr>
              <a:t> </a:t>
            </a:r>
            <a:r>
              <a:rPr dirty="0" sz="1500" spc="-100" b="1">
                <a:latin typeface="Tahoma"/>
                <a:cs typeface="Tahoma"/>
              </a:rPr>
              <a:t>de</a:t>
            </a:r>
            <a:r>
              <a:rPr dirty="0" sz="1500" spc="-125" b="1">
                <a:latin typeface="Tahoma"/>
                <a:cs typeface="Tahoma"/>
              </a:rPr>
              <a:t> un</a:t>
            </a:r>
            <a:r>
              <a:rPr dirty="0" sz="1500" spc="-130" b="1">
                <a:latin typeface="Tahoma"/>
                <a:cs typeface="Tahoma"/>
              </a:rPr>
              <a:t> </a:t>
            </a:r>
            <a:r>
              <a:rPr dirty="0" sz="1500" spc="-95" b="1">
                <a:latin typeface="Tahoma"/>
                <a:cs typeface="Tahoma"/>
              </a:rPr>
              <a:t>proceso</a:t>
            </a:r>
            <a:r>
              <a:rPr dirty="0" sz="1500" spc="-130" b="1">
                <a:latin typeface="Tahoma"/>
                <a:cs typeface="Tahoma"/>
              </a:rPr>
              <a:t> </a:t>
            </a:r>
            <a:r>
              <a:rPr dirty="0" sz="1500" spc="-85" b="1">
                <a:latin typeface="Tahoma"/>
                <a:cs typeface="Tahoma"/>
              </a:rPr>
              <a:t>corriendo</a:t>
            </a:r>
            <a:r>
              <a:rPr dirty="0" sz="1500" spc="-125" b="1">
                <a:latin typeface="Tahoma"/>
                <a:cs typeface="Tahoma"/>
              </a:rPr>
              <a:t> </a:t>
            </a:r>
            <a:r>
              <a:rPr dirty="0" sz="1500" spc="-110" b="1">
                <a:latin typeface="Tahoma"/>
                <a:cs typeface="Tahoma"/>
              </a:rPr>
              <a:t>en</a:t>
            </a:r>
            <a:r>
              <a:rPr dirty="0" sz="1500" spc="-130" b="1">
                <a:latin typeface="Tahoma"/>
                <a:cs typeface="Tahoma"/>
              </a:rPr>
              <a:t> </a:t>
            </a:r>
            <a:r>
              <a:rPr dirty="0" sz="1500" spc="-75" b="1">
                <a:latin typeface="Tahoma"/>
                <a:cs typeface="Tahoma"/>
              </a:rPr>
              <a:t>el</a:t>
            </a:r>
            <a:r>
              <a:rPr dirty="0" sz="1500" spc="-120" b="1">
                <a:latin typeface="Tahoma"/>
                <a:cs typeface="Tahoma"/>
              </a:rPr>
              <a:t> </a:t>
            </a:r>
            <a:r>
              <a:rPr dirty="0" sz="1500" spc="-10" b="1">
                <a:latin typeface="Tahoma"/>
                <a:cs typeface="Tahoma"/>
              </a:rPr>
              <a:t>sistema.</a:t>
            </a:r>
            <a:endParaRPr sz="1500">
              <a:latin typeface="Tahoma"/>
              <a:cs typeface="Tahoma"/>
            </a:endParaRPr>
          </a:p>
          <a:p>
            <a:pPr marL="10795" marR="5080">
              <a:lnSpc>
                <a:spcPts val="1710"/>
              </a:lnSpc>
              <a:spcBef>
                <a:spcPts val="1760"/>
              </a:spcBef>
            </a:pPr>
            <a:r>
              <a:rPr dirty="0" sz="1500"/>
              <a:t>Determinar</a:t>
            </a:r>
            <a:r>
              <a:rPr dirty="0" sz="1500" spc="-114"/>
              <a:t> </a:t>
            </a:r>
            <a:r>
              <a:rPr dirty="0" sz="1500"/>
              <a:t>cómo</a:t>
            </a:r>
            <a:r>
              <a:rPr dirty="0" sz="1500" spc="-110"/>
              <a:t> </a:t>
            </a:r>
            <a:r>
              <a:rPr dirty="0" sz="1500" spc="-20"/>
              <a:t>se</a:t>
            </a:r>
            <a:r>
              <a:rPr dirty="0" sz="1500" spc="-110"/>
              <a:t> </a:t>
            </a:r>
            <a:r>
              <a:rPr dirty="0" sz="1500"/>
              <a:t>calcula</a:t>
            </a:r>
            <a:r>
              <a:rPr dirty="0" sz="1500" spc="-110"/>
              <a:t> </a:t>
            </a:r>
            <a:r>
              <a:rPr dirty="0" sz="1500"/>
              <a:t>el</a:t>
            </a:r>
            <a:r>
              <a:rPr dirty="0" sz="1500" spc="-110"/>
              <a:t> </a:t>
            </a:r>
            <a:r>
              <a:rPr dirty="0" sz="1500"/>
              <a:t>workload</a:t>
            </a:r>
            <a:r>
              <a:rPr dirty="0" sz="1500" spc="-110"/>
              <a:t> </a:t>
            </a:r>
            <a:r>
              <a:rPr dirty="0" sz="1500" spc="-20"/>
              <a:t>es</a:t>
            </a:r>
            <a:r>
              <a:rPr dirty="0" sz="1500" spc="-110"/>
              <a:t> </a:t>
            </a:r>
            <a:r>
              <a:rPr dirty="0" sz="1500"/>
              <a:t>fundamental</a:t>
            </a:r>
            <a:r>
              <a:rPr dirty="0" sz="1500" spc="-110"/>
              <a:t> </a:t>
            </a:r>
            <a:r>
              <a:rPr dirty="0" sz="1500" spc="-10"/>
              <a:t>para</a:t>
            </a:r>
            <a:r>
              <a:rPr dirty="0" sz="1500" spc="-110"/>
              <a:t> </a:t>
            </a:r>
            <a:r>
              <a:rPr dirty="0" sz="1500"/>
              <a:t>determinar</a:t>
            </a:r>
            <a:r>
              <a:rPr dirty="0" sz="1500" spc="-114"/>
              <a:t> </a:t>
            </a:r>
            <a:r>
              <a:rPr dirty="0" sz="1500"/>
              <a:t>partes</a:t>
            </a:r>
            <a:r>
              <a:rPr dirty="0" sz="1500" spc="-110"/>
              <a:t> </a:t>
            </a:r>
            <a:r>
              <a:rPr dirty="0" sz="1500"/>
              <a:t>de</a:t>
            </a:r>
            <a:r>
              <a:rPr dirty="0" sz="1500" spc="-110"/>
              <a:t> </a:t>
            </a:r>
            <a:r>
              <a:rPr dirty="0" sz="1500" spc="-25"/>
              <a:t>las </a:t>
            </a:r>
            <a:r>
              <a:rPr dirty="0" sz="1500"/>
              <a:t>políticas</a:t>
            </a:r>
            <a:r>
              <a:rPr dirty="0" sz="1500" spc="-145"/>
              <a:t> </a:t>
            </a:r>
            <a:r>
              <a:rPr dirty="0" sz="1500"/>
              <a:t>de</a:t>
            </a:r>
            <a:r>
              <a:rPr dirty="0" sz="1500" spc="-145"/>
              <a:t> </a:t>
            </a:r>
            <a:r>
              <a:rPr dirty="0" sz="1500"/>
              <a:t>planificación.</a:t>
            </a:r>
            <a:r>
              <a:rPr dirty="0" sz="1500" spc="-145"/>
              <a:t> </a:t>
            </a:r>
            <a:r>
              <a:rPr dirty="0" sz="1500"/>
              <a:t>Cuanto</a:t>
            </a:r>
            <a:r>
              <a:rPr dirty="0" sz="1500" spc="-140"/>
              <a:t> </a:t>
            </a:r>
            <a:r>
              <a:rPr dirty="0" sz="1500"/>
              <a:t>mejor</a:t>
            </a:r>
            <a:r>
              <a:rPr dirty="0" sz="1500" spc="-145"/>
              <a:t> </a:t>
            </a:r>
            <a:r>
              <a:rPr dirty="0" sz="1500" spc="-20"/>
              <a:t>es</a:t>
            </a:r>
            <a:r>
              <a:rPr dirty="0" sz="1500" spc="-145"/>
              <a:t> </a:t>
            </a:r>
            <a:r>
              <a:rPr dirty="0" sz="1500"/>
              <a:t>el</a:t>
            </a:r>
            <a:r>
              <a:rPr dirty="0" sz="1500" spc="-140"/>
              <a:t> </a:t>
            </a:r>
            <a:r>
              <a:rPr dirty="0" sz="1500" spc="-10"/>
              <a:t>cálculo,</a:t>
            </a:r>
            <a:r>
              <a:rPr dirty="0" sz="1500" spc="-145"/>
              <a:t> </a:t>
            </a:r>
            <a:r>
              <a:rPr dirty="0" sz="1500"/>
              <a:t>mejor</a:t>
            </a:r>
            <a:r>
              <a:rPr dirty="0" sz="1500" spc="-145"/>
              <a:t> </a:t>
            </a:r>
            <a:r>
              <a:rPr dirty="0" sz="1500" spc="-20"/>
              <a:t>es</a:t>
            </a:r>
            <a:r>
              <a:rPr dirty="0" sz="1500" spc="-145"/>
              <a:t> </a:t>
            </a:r>
            <a:r>
              <a:rPr dirty="0" sz="1500"/>
              <a:t>la</a:t>
            </a:r>
            <a:r>
              <a:rPr dirty="0" sz="1500" spc="-140"/>
              <a:t> </a:t>
            </a:r>
            <a:r>
              <a:rPr dirty="0" sz="1500"/>
              <a:t>política.</a:t>
            </a:r>
            <a:r>
              <a:rPr dirty="0" sz="1500" spc="-145"/>
              <a:t> </a:t>
            </a:r>
            <a:r>
              <a:rPr dirty="0" sz="1500" spc="-20"/>
              <a:t>Las</a:t>
            </a:r>
            <a:r>
              <a:rPr dirty="0" sz="1500" spc="-145"/>
              <a:t> </a:t>
            </a:r>
            <a:r>
              <a:rPr dirty="0" sz="1500" spc="-10"/>
              <a:t>suposiciones </a:t>
            </a:r>
            <a:r>
              <a:rPr dirty="0" sz="1500"/>
              <a:t>que</a:t>
            </a:r>
            <a:r>
              <a:rPr dirty="0" sz="1500" spc="-140"/>
              <a:t> </a:t>
            </a:r>
            <a:r>
              <a:rPr dirty="0" sz="1500" spc="-20"/>
              <a:t>se</a:t>
            </a:r>
            <a:r>
              <a:rPr dirty="0" sz="1500" spc="-140"/>
              <a:t> </a:t>
            </a:r>
            <a:r>
              <a:rPr dirty="0" sz="1500" spc="-10"/>
              <a:t>harán</a:t>
            </a:r>
            <a:r>
              <a:rPr dirty="0" sz="1500" spc="-140"/>
              <a:t> </a:t>
            </a:r>
            <a:r>
              <a:rPr dirty="0" sz="1500" spc="-10"/>
              <a:t>para</a:t>
            </a:r>
            <a:r>
              <a:rPr dirty="0" sz="1500" spc="-140"/>
              <a:t> </a:t>
            </a:r>
            <a:r>
              <a:rPr dirty="0" sz="1500"/>
              <a:t>el</a:t>
            </a:r>
            <a:r>
              <a:rPr dirty="0" sz="1500" spc="-140"/>
              <a:t> </a:t>
            </a:r>
            <a:r>
              <a:rPr dirty="0" sz="1500"/>
              <a:t>cálculo</a:t>
            </a:r>
            <a:r>
              <a:rPr dirty="0" sz="1500" spc="-140"/>
              <a:t> </a:t>
            </a:r>
            <a:r>
              <a:rPr dirty="0" sz="1500"/>
              <a:t>del</a:t>
            </a:r>
            <a:r>
              <a:rPr dirty="0" sz="1500" spc="-140"/>
              <a:t> </a:t>
            </a:r>
            <a:r>
              <a:rPr dirty="0" sz="1500"/>
              <a:t>workload</a:t>
            </a:r>
            <a:r>
              <a:rPr dirty="0" sz="1500" spc="-140"/>
              <a:t> </a:t>
            </a:r>
            <a:r>
              <a:rPr dirty="0" sz="1500" spc="-10"/>
              <a:t>son</a:t>
            </a:r>
            <a:r>
              <a:rPr dirty="0" sz="1500" spc="-140"/>
              <a:t> </a:t>
            </a:r>
            <a:r>
              <a:rPr dirty="0" sz="1500" spc="-35"/>
              <a:t>más</a:t>
            </a:r>
            <a:r>
              <a:rPr dirty="0" sz="1500" spc="-140"/>
              <a:t> </a:t>
            </a:r>
            <a:r>
              <a:rPr dirty="0" sz="1500"/>
              <a:t>que</a:t>
            </a:r>
            <a:r>
              <a:rPr dirty="0" sz="1500" spc="-140"/>
              <a:t> </a:t>
            </a:r>
            <a:r>
              <a:rPr dirty="0" sz="1500" spc="-10"/>
              <a:t>irreales.</a:t>
            </a:r>
            <a:endParaRPr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25" y="61137"/>
            <a:ext cx="452564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Una</a:t>
            </a:r>
            <a:r>
              <a:rPr dirty="0" spc="-130"/>
              <a:t> </a:t>
            </a:r>
            <a:r>
              <a:rPr dirty="0" spc="50"/>
              <a:t>clasificacion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30"/>
              <a:t> </a:t>
            </a:r>
            <a:r>
              <a:rPr dirty="0" spc="80"/>
              <a:t>schedulers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732099"/>
            <a:ext cx="7526020" cy="38341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20" b="1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2500" spc="-229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6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500" spc="-229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35" b="1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endParaRPr sz="2500">
              <a:latin typeface="Tahoma"/>
              <a:cs typeface="Tahoma"/>
            </a:endParaRPr>
          </a:p>
          <a:p>
            <a:pPr marL="469900" marR="122555" indent="-382270">
              <a:lnSpc>
                <a:spcPct val="114999"/>
              </a:lnSpc>
              <a:spcBef>
                <a:spcPts val="131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2000" spc="-145" b="1">
                <a:solidFill>
                  <a:srgbClr val="595959"/>
                </a:solidFill>
                <a:latin typeface="Tahoma"/>
                <a:cs typeface="Tahoma"/>
              </a:rPr>
              <a:t>Interactivo</a:t>
            </a:r>
            <a:r>
              <a:rPr dirty="0" sz="2000" spc="-14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necesita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tiempos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respuesta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bajos.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procesos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deben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recibir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atención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frecuentemente.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Round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Robin.</a:t>
            </a:r>
            <a:endParaRPr sz="20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560"/>
              </a:spcBef>
            </a:pPr>
            <a:r>
              <a:rPr dirty="0" sz="2000" spc="-85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texto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000">
              <a:latin typeface="Tahoma"/>
              <a:cs typeface="Tahoma"/>
            </a:endParaRPr>
          </a:p>
          <a:p>
            <a:pPr marL="469900" marR="5080" indent="-38227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000" spc="-90" b="1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20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5" b="1">
                <a:solidFill>
                  <a:srgbClr val="595959"/>
                </a:solidFill>
                <a:latin typeface="Tahoma"/>
                <a:cs typeface="Tahoma"/>
              </a:rPr>
              <a:t>lotes</a:t>
            </a:r>
            <a:r>
              <a:rPr dirty="0" sz="20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85" b="1">
                <a:solidFill>
                  <a:srgbClr val="595959"/>
                </a:solidFill>
                <a:latin typeface="Tahoma"/>
                <a:cs typeface="Tahoma"/>
              </a:rPr>
              <a:t>(batch)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: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tardar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completarse.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optimiza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total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respuesta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inmediata.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FIFO,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SJF.</a:t>
            </a:r>
            <a:endParaRPr sz="20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560"/>
              </a:spcBef>
            </a:pPr>
            <a:r>
              <a:rPr dirty="0" sz="2000" spc="-85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r>
              <a:rPr dirty="0" sz="20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Calcular</a:t>
            </a:r>
            <a:r>
              <a:rPr dirty="0" sz="20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liquidación</a:t>
            </a:r>
            <a:r>
              <a:rPr dirty="0" sz="20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sueldos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25" y="61137"/>
            <a:ext cx="452564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Una</a:t>
            </a:r>
            <a:r>
              <a:rPr dirty="0" spc="-130"/>
              <a:t> </a:t>
            </a:r>
            <a:r>
              <a:rPr dirty="0" spc="50"/>
              <a:t>clasificacion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30"/>
              <a:t> </a:t>
            </a:r>
            <a:r>
              <a:rPr dirty="0" spc="80"/>
              <a:t>schedulers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85925"/>
            <a:ext cx="7383780" cy="2675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45" b="1">
                <a:solidFill>
                  <a:srgbClr val="595959"/>
                </a:solidFill>
                <a:latin typeface="Tahoma"/>
                <a:cs typeface="Tahoma"/>
              </a:rPr>
              <a:t>Preemptivo</a:t>
            </a:r>
            <a:r>
              <a:rPr dirty="0" sz="2500" spc="-2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70" b="1">
                <a:solidFill>
                  <a:srgbClr val="595959"/>
                </a:solidFill>
                <a:latin typeface="Tahoma"/>
                <a:cs typeface="Tahoma"/>
              </a:rPr>
              <a:t>vs</a:t>
            </a:r>
            <a:r>
              <a:rPr dirty="0" sz="2500" spc="-2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95" b="1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500" spc="-2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40" b="1">
                <a:solidFill>
                  <a:srgbClr val="595959"/>
                </a:solidFill>
                <a:latin typeface="Tahoma"/>
                <a:cs typeface="Tahoma"/>
              </a:rPr>
              <a:t>Preemptivo</a:t>
            </a:r>
            <a:endParaRPr sz="2500">
              <a:latin typeface="Tahoma"/>
              <a:cs typeface="Tahoma"/>
            </a:endParaRPr>
          </a:p>
          <a:p>
            <a:pPr marL="469900" marR="5080" indent="-328295">
              <a:lnSpc>
                <a:spcPct val="114999"/>
              </a:lnSpc>
              <a:spcBef>
                <a:spcPts val="1310"/>
              </a:spcBef>
              <a:buSzPct val="65000"/>
              <a:buFont typeface="Arial MT"/>
              <a:buChar char="●"/>
              <a:tabLst>
                <a:tab pos="469900" algn="l"/>
              </a:tabLst>
            </a:pPr>
            <a:r>
              <a:rPr dirty="0" sz="2000" spc="-125" b="1">
                <a:solidFill>
                  <a:srgbClr val="595959"/>
                </a:solidFill>
                <a:latin typeface="Tahoma"/>
                <a:cs typeface="Tahoma"/>
              </a:rPr>
              <a:t>Preemptivo:</a:t>
            </a:r>
            <a:r>
              <a:rPr dirty="0" sz="20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interrumpir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darle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otro.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equidad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respuesta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rápida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(como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RR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STCF).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Clr>
                <a:srgbClr val="595959"/>
              </a:buClr>
              <a:buFont typeface="Arial MT"/>
              <a:buChar char="●"/>
            </a:pPr>
            <a:endParaRPr sz="2000">
              <a:latin typeface="Tahoma"/>
              <a:cs typeface="Tahoma"/>
            </a:endParaRPr>
          </a:p>
          <a:p>
            <a:pPr marL="469900" marR="847090" indent="-328295">
              <a:lnSpc>
                <a:spcPct val="114999"/>
              </a:lnSpc>
              <a:buSzPct val="65000"/>
              <a:buFont typeface="Arial MT"/>
              <a:buChar char="●"/>
              <a:tabLst>
                <a:tab pos="469900" algn="l"/>
              </a:tabLst>
            </a:pPr>
            <a:r>
              <a:rPr dirty="0" sz="2000" spc="-80" b="1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0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25" b="1">
                <a:solidFill>
                  <a:srgbClr val="595959"/>
                </a:solidFill>
                <a:latin typeface="Tahoma"/>
                <a:cs typeface="Tahoma"/>
              </a:rPr>
              <a:t>Preemptivo:</a:t>
            </a:r>
            <a:r>
              <a:rPr dirty="0" sz="20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5">
                <a:solidFill>
                  <a:srgbClr val="595959"/>
                </a:solidFill>
                <a:latin typeface="Tahoma"/>
                <a:cs typeface="Tahoma"/>
              </a:rPr>
              <a:t>empieza,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interrumpe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termina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(como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595959"/>
                </a:solidFill>
                <a:latin typeface="Tahoma"/>
                <a:cs typeface="Tahoma"/>
              </a:rPr>
              <a:t>FIFO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SJF).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53454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10"/>
              <a:t>Supuestos</a:t>
            </a:r>
            <a:r>
              <a:rPr dirty="0" spc="-175"/>
              <a:t> </a:t>
            </a:r>
            <a:r>
              <a:rPr dirty="0" spc="60"/>
              <a:t>y</a:t>
            </a:r>
            <a:r>
              <a:rPr dirty="0" spc="-170"/>
              <a:t> </a:t>
            </a:r>
            <a:r>
              <a:rPr dirty="0" spc="50"/>
              <a:t>simplificaciones</a:t>
            </a:r>
            <a:r>
              <a:rPr dirty="0" spc="-110"/>
              <a:t> </a:t>
            </a:r>
            <a:r>
              <a:rPr dirty="0" spc="-10"/>
              <a:t>iniciales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0450" y="866381"/>
            <a:ext cx="7045959" cy="29089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85"/>
              </a:spcBef>
            </a:pPr>
            <a:r>
              <a:rPr dirty="0" sz="1800" spc="6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fines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didácticos,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asumimos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siguientes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simplificaciones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nuestro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definir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primeras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políticas.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supuestos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realistas.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800">
              <a:latin typeface="Tahoma"/>
              <a:cs typeface="Tahoma"/>
            </a:endParaRPr>
          </a:p>
          <a:p>
            <a:pPr marL="926465" indent="-366395">
              <a:lnSpc>
                <a:spcPct val="100000"/>
              </a:lnSpc>
              <a:buFont typeface="Arial MT"/>
              <a:buChar char="●"/>
              <a:tabLst>
                <a:tab pos="9264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tiempo.</a:t>
            </a:r>
            <a:endParaRPr sz="1800">
              <a:latin typeface="Tahoma"/>
              <a:cs typeface="Tahoma"/>
            </a:endParaRPr>
          </a:p>
          <a:p>
            <a:pPr marL="926465" indent="-366395">
              <a:lnSpc>
                <a:spcPct val="100000"/>
              </a:lnSpc>
              <a:spcBef>
                <a:spcPts val="110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jobs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llegan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ejecutados.</a:t>
            </a:r>
            <a:endParaRPr sz="1800">
              <a:latin typeface="Tahoma"/>
              <a:cs typeface="Tahoma"/>
            </a:endParaRPr>
          </a:p>
          <a:p>
            <a:pPr marL="926465" indent="-366395">
              <a:lnSpc>
                <a:spcPct val="100000"/>
              </a:lnSpc>
              <a:spcBef>
                <a:spcPts val="105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empieza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job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sigue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completarse.</a:t>
            </a:r>
            <a:endParaRPr sz="1800">
              <a:latin typeface="Tahoma"/>
              <a:cs typeface="Tahoma"/>
            </a:endParaRPr>
          </a:p>
          <a:p>
            <a:pPr marL="926465" indent="-366395">
              <a:lnSpc>
                <a:spcPct val="100000"/>
              </a:lnSpc>
              <a:spcBef>
                <a:spcPts val="110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jobs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usan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únicamente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(no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realizan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I/O).</a:t>
            </a:r>
            <a:endParaRPr sz="1800">
              <a:latin typeface="Tahoma"/>
              <a:cs typeface="Tahoma"/>
            </a:endParaRPr>
          </a:p>
          <a:p>
            <a:pPr marL="926465" indent="-366395">
              <a:lnSpc>
                <a:spcPct val="100000"/>
              </a:lnSpc>
              <a:spcBef>
                <a:spcPts val="105"/>
              </a:spcBef>
              <a:buFont typeface="Arial MT"/>
              <a:buChar char="●"/>
              <a:tabLst>
                <a:tab pos="9264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(run-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time)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job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conocido.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Métricas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-10"/>
              <a:t>Planificación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20390"/>
            <a:ext cx="7534909" cy="119824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1830"/>
              </a:lnSpc>
              <a:spcBef>
                <a:spcPts val="23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algún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análisis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algún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métrica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estandarizada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comparar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distintas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políticas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scheduling.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Bajo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premisas,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ahora,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simple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utilizará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única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métrica llamada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 i="1">
                <a:solidFill>
                  <a:srgbClr val="595959"/>
                </a:solidFill>
                <a:latin typeface="Trebuchet MS"/>
                <a:cs typeface="Trebuchet MS"/>
              </a:rPr>
              <a:t>turnaround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time.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define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5" b="1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0" b="1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5" b="1" i="1">
                <a:solidFill>
                  <a:srgbClr val="595959"/>
                </a:solidFill>
                <a:latin typeface="Trebuchet MS"/>
                <a:cs typeface="Trebuchet MS"/>
              </a:rPr>
              <a:t>cual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0" b="1" i="1">
                <a:solidFill>
                  <a:srgbClr val="595959"/>
                </a:solidFill>
                <a:latin typeface="Trebuchet MS"/>
                <a:cs typeface="Trebuchet MS"/>
              </a:rPr>
              <a:t>proceso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0" b="1" i="1">
                <a:solidFill>
                  <a:srgbClr val="595959"/>
                </a:solidFill>
                <a:latin typeface="Trebuchet MS"/>
                <a:cs typeface="Trebuchet MS"/>
              </a:rPr>
              <a:t>se </a:t>
            </a:r>
            <a:r>
              <a:rPr dirty="0" sz="1600" spc="-80" b="1" i="1">
                <a:solidFill>
                  <a:srgbClr val="595959"/>
                </a:solidFill>
                <a:latin typeface="Trebuchet MS"/>
                <a:cs typeface="Trebuchet MS"/>
              </a:rPr>
              <a:t>completa </a:t>
            </a:r>
            <a:r>
              <a:rPr dirty="0" sz="1600" spc="-95" b="1" i="1">
                <a:solidFill>
                  <a:srgbClr val="595959"/>
                </a:solidFill>
                <a:latin typeface="Trebuchet MS"/>
                <a:cs typeface="Trebuchet MS"/>
              </a:rPr>
              <a:t>menos</a:t>
            </a:r>
            <a:r>
              <a:rPr dirty="0" sz="1600" spc="-15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5" b="1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600" spc="-15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0" b="1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600" spc="-15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5" b="1" i="1">
                <a:solidFill>
                  <a:srgbClr val="595959"/>
                </a:solidFill>
                <a:latin typeface="Trebuchet MS"/>
                <a:cs typeface="Trebuchet MS"/>
              </a:rPr>
              <a:t>arribo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5" b="1" i="1">
                <a:solidFill>
                  <a:srgbClr val="595959"/>
                </a:solidFill>
                <a:latin typeface="Trebuchet MS"/>
                <a:cs typeface="Trebuchet MS"/>
              </a:rPr>
              <a:t>al</a:t>
            </a:r>
            <a:r>
              <a:rPr dirty="0" sz="1600" spc="-15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" b="1" i="1">
                <a:solidFill>
                  <a:srgbClr val="595959"/>
                </a:solidFill>
                <a:latin typeface="Trebuchet MS"/>
                <a:cs typeface="Trebuchet MS"/>
              </a:rPr>
              <a:t>sistema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6411" y="2869034"/>
            <a:ext cx="6167520" cy="46644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77075" y="3720443"/>
            <a:ext cx="6278245" cy="68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Debido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(todos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jobs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llegan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tiempo)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dirty="0" baseline="-32679" sz="1275" spc="-15">
                <a:solidFill>
                  <a:srgbClr val="595959"/>
                </a:solidFill>
                <a:latin typeface="Tahoma"/>
                <a:cs typeface="Tahoma"/>
              </a:rPr>
              <a:t>arrival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=0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00">
              <a:latin typeface="Tahoma"/>
              <a:cs typeface="Tahoma"/>
            </a:endParaRPr>
          </a:p>
          <a:p>
            <a:pPr marL="1109980">
              <a:lnSpc>
                <a:spcPct val="100000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turnaround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métrica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mide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0" b="1">
                <a:solidFill>
                  <a:srgbClr val="595959"/>
                </a:solidFill>
                <a:latin typeface="Tahoma"/>
                <a:cs typeface="Tahoma"/>
              </a:rPr>
              <a:t>performance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/>
              <a:t>Políticas</a:t>
            </a:r>
            <a:r>
              <a:rPr dirty="0" spc="90"/>
              <a:t> </a:t>
            </a:r>
            <a:r>
              <a:rPr dirty="0" spc="114"/>
              <a:t>de</a:t>
            </a:r>
            <a:r>
              <a:rPr dirty="0" spc="95"/>
              <a:t> </a:t>
            </a:r>
            <a:r>
              <a:rPr dirty="0" spc="90"/>
              <a:t>Scheduling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9333" y="1330150"/>
            <a:ext cx="5984875" cy="26543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432434" indent="-419734">
              <a:lnSpc>
                <a:spcPct val="100000"/>
              </a:lnSpc>
              <a:spcBef>
                <a:spcPts val="550"/>
              </a:spcBef>
              <a:buFont typeface="Arial"/>
              <a:buChar char="●"/>
              <a:tabLst>
                <a:tab pos="432434" algn="l"/>
              </a:tabLst>
            </a:pPr>
            <a:r>
              <a:rPr dirty="0" sz="2500" spc="-10" b="1">
                <a:solidFill>
                  <a:srgbClr val="595959"/>
                </a:solidFill>
                <a:latin typeface="Tahoma"/>
                <a:cs typeface="Tahoma"/>
              </a:rPr>
              <a:t>Batch</a:t>
            </a:r>
            <a:endParaRPr sz="2500">
              <a:latin typeface="Tahoma"/>
              <a:cs typeface="Tahoma"/>
            </a:endParaRPr>
          </a:p>
          <a:p>
            <a:pPr lvl="1" marL="889635" indent="-419734">
              <a:lnSpc>
                <a:spcPct val="100000"/>
              </a:lnSpc>
              <a:spcBef>
                <a:spcPts val="450"/>
              </a:spcBef>
              <a:buFont typeface="Arial MT"/>
              <a:buChar char="○"/>
              <a:tabLst>
                <a:tab pos="889635" algn="l"/>
              </a:tabLst>
            </a:pPr>
            <a:r>
              <a:rPr dirty="0" sz="2500" spc="65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2500" spc="-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50">
                <a:solidFill>
                  <a:srgbClr val="595959"/>
                </a:solidFill>
                <a:latin typeface="Tahoma"/>
                <a:cs typeface="Tahoma"/>
              </a:rPr>
              <a:t>In,</a:t>
            </a:r>
            <a:r>
              <a:rPr dirty="0" sz="2500" spc="-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2500" spc="-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595959"/>
                </a:solidFill>
                <a:latin typeface="Tahoma"/>
                <a:cs typeface="Tahoma"/>
              </a:rPr>
              <a:t>Out</a:t>
            </a:r>
            <a:r>
              <a:rPr dirty="0" sz="2500" spc="-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595959"/>
                </a:solidFill>
                <a:latin typeface="Tahoma"/>
                <a:cs typeface="Tahoma"/>
              </a:rPr>
              <a:t>(FIFO)</a:t>
            </a:r>
            <a:endParaRPr sz="2500">
              <a:latin typeface="Tahoma"/>
              <a:cs typeface="Tahoma"/>
            </a:endParaRPr>
          </a:p>
          <a:p>
            <a:pPr lvl="1" marL="889635" indent="-419734">
              <a:lnSpc>
                <a:spcPct val="100000"/>
              </a:lnSpc>
              <a:spcBef>
                <a:spcPts val="450"/>
              </a:spcBef>
              <a:buFont typeface="Arial MT"/>
              <a:buChar char="○"/>
              <a:tabLst>
                <a:tab pos="889635" algn="l"/>
              </a:tabLst>
            </a:pP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Shortest</a:t>
            </a:r>
            <a:r>
              <a:rPr dirty="0" sz="25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Job</a:t>
            </a:r>
            <a:r>
              <a:rPr dirty="0" sz="25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25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595959"/>
                </a:solidFill>
                <a:latin typeface="Tahoma"/>
                <a:cs typeface="Tahoma"/>
              </a:rPr>
              <a:t>(SJF)</a:t>
            </a:r>
            <a:endParaRPr sz="2500">
              <a:latin typeface="Tahoma"/>
              <a:cs typeface="Tahoma"/>
            </a:endParaRPr>
          </a:p>
          <a:p>
            <a:pPr lvl="1" marL="889635" indent="-419734">
              <a:lnSpc>
                <a:spcPct val="100000"/>
              </a:lnSpc>
              <a:spcBef>
                <a:spcPts val="450"/>
              </a:spcBef>
              <a:buFont typeface="Arial MT"/>
              <a:buChar char="○"/>
              <a:tabLst>
                <a:tab pos="889635" algn="l"/>
              </a:tabLst>
            </a:pP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Shortest</a:t>
            </a:r>
            <a:r>
              <a:rPr dirty="0" sz="25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Time-to-Completion</a:t>
            </a:r>
            <a:r>
              <a:rPr dirty="0" sz="25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595959"/>
                </a:solidFill>
                <a:latin typeface="Tahoma"/>
                <a:cs typeface="Tahoma"/>
              </a:rPr>
              <a:t>(STCF)</a:t>
            </a:r>
            <a:endParaRPr sz="2500">
              <a:latin typeface="Tahoma"/>
              <a:cs typeface="Tahoma"/>
            </a:endParaRPr>
          </a:p>
          <a:p>
            <a:pPr marL="432434" indent="-419734">
              <a:lnSpc>
                <a:spcPct val="100000"/>
              </a:lnSpc>
              <a:spcBef>
                <a:spcPts val="450"/>
              </a:spcBef>
              <a:buFont typeface="Arial"/>
              <a:buChar char="●"/>
              <a:tabLst>
                <a:tab pos="432434" algn="l"/>
              </a:tabLst>
            </a:pPr>
            <a:r>
              <a:rPr dirty="0" sz="2500" spc="-80" b="1">
                <a:solidFill>
                  <a:srgbClr val="595959"/>
                </a:solidFill>
                <a:latin typeface="Tahoma"/>
                <a:cs typeface="Tahoma"/>
              </a:rPr>
              <a:t>Interactiva</a:t>
            </a:r>
            <a:endParaRPr sz="2500">
              <a:latin typeface="Tahoma"/>
              <a:cs typeface="Tahoma"/>
            </a:endParaRPr>
          </a:p>
          <a:p>
            <a:pPr lvl="1" marL="889635" indent="-419734">
              <a:lnSpc>
                <a:spcPct val="100000"/>
              </a:lnSpc>
              <a:spcBef>
                <a:spcPts val="450"/>
              </a:spcBef>
              <a:buFont typeface="Arial MT"/>
              <a:buChar char="○"/>
              <a:tabLst>
                <a:tab pos="889635" algn="l"/>
              </a:tabLst>
            </a:pP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Round</a:t>
            </a:r>
            <a:r>
              <a:rPr dirty="0" sz="25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Robin</a:t>
            </a:r>
            <a:r>
              <a:rPr dirty="0" sz="25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595959"/>
                </a:solidFill>
                <a:latin typeface="Tahoma"/>
                <a:cs typeface="Tahoma"/>
              </a:rPr>
              <a:t>(RR)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First</a:t>
            </a:r>
            <a:r>
              <a:rPr dirty="0" spc="-145"/>
              <a:t> </a:t>
            </a:r>
            <a:r>
              <a:rPr dirty="0" spc="-85"/>
              <a:t>In,</a:t>
            </a:r>
            <a:r>
              <a:rPr dirty="0" spc="-135"/>
              <a:t> </a:t>
            </a:r>
            <a:r>
              <a:rPr dirty="0"/>
              <a:t>First</a:t>
            </a:r>
            <a:r>
              <a:rPr dirty="0" spc="-140"/>
              <a:t> </a:t>
            </a:r>
            <a:r>
              <a:rPr dirty="0" spc="70"/>
              <a:t>Out</a:t>
            </a:r>
            <a:r>
              <a:rPr dirty="0" spc="-135"/>
              <a:t> </a:t>
            </a:r>
            <a:r>
              <a:rPr dirty="0" spc="-10"/>
              <a:t>(FIFO)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8075" y="1243082"/>
            <a:ext cx="7356475" cy="2691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algoritmo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básico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implementar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planificaciones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5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595959"/>
                </a:solidFill>
                <a:latin typeface="Tahoma"/>
                <a:cs typeface="Tahoma"/>
              </a:rPr>
              <a:t>Out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Fist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Come,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Served.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Ventajas: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simple.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fácil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implementar.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Funciona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bárbaro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suposiciones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iniciales.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First</a:t>
            </a:r>
            <a:r>
              <a:rPr dirty="0" spc="-145"/>
              <a:t> </a:t>
            </a:r>
            <a:r>
              <a:rPr dirty="0" spc="-85"/>
              <a:t>In,</a:t>
            </a:r>
            <a:r>
              <a:rPr dirty="0" spc="-135"/>
              <a:t> </a:t>
            </a:r>
            <a:r>
              <a:rPr dirty="0"/>
              <a:t>First</a:t>
            </a:r>
            <a:r>
              <a:rPr dirty="0" spc="-140"/>
              <a:t> </a:t>
            </a:r>
            <a:r>
              <a:rPr dirty="0" spc="70"/>
              <a:t>Out</a:t>
            </a:r>
            <a:r>
              <a:rPr dirty="0" spc="-135"/>
              <a:t> </a:t>
            </a:r>
            <a:r>
              <a:rPr dirty="0" spc="-10"/>
              <a:t>(FIFO)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211359"/>
            <a:ext cx="472694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45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tres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A,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100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13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45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Tarrival=0.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0675" y="3411406"/>
            <a:ext cx="7383145" cy="119888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1689"/>
              </a:lnSpc>
              <a:spcBef>
                <a:spcPts val="225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45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bien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llegan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45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45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llegaron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5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insignificante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retraso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5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tal</a:t>
            </a:r>
            <a:r>
              <a:rPr dirty="0" sz="145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llegó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A,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100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C.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40">
                <a:solidFill>
                  <a:srgbClr val="595959"/>
                </a:solidFill>
                <a:latin typeface="Tahoma"/>
                <a:cs typeface="Tahoma"/>
              </a:rPr>
              <a:t>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i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asume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tardan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70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segundos</a:t>
            </a:r>
            <a:r>
              <a:rPr dirty="0" sz="145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5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ejecutarse…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¿cuánto</a:t>
            </a:r>
            <a:r>
              <a:rPr dirty="0" sz="145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5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5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595959"/>
                </a:solidFill>
                <a:latin typeface="Tahoma"/>
                <a:cs typeface="Tahoma"/>
              </a:rPr>
              <a:t>Taround?</a:t>
            </a:r>
            <a:endParaRPr sz="1450">
              <a:latin typeface="Tahoma"/>
              <a:cs typeface="Tahoma"/>
            </a:endParaRPr>
          </a:p>
          <a:p>
            <a:pPr algn="ctr" marL="160655">
              <a:lnSpc>
                <a:spcPct val="100000"/>
              </a:lnSpc>
              <a:spcBef>
                <a:spcPts val="1145"/>
              </a:spcBef>
            </a:pPr>
            <a:r>
              <a:rPr dirty="0" sz="1450" spc="-30">
                <a:solidFill>
                  <a:srgbClr val="595959"/>
                </a:solidFill>
                <a:latin typeface="Tahoma"/>
                <a:cs typeface="Tahoma"/>
              </a:rPr>
              <a:t>(10+20+30)/3=</a:t>
            </a:r>
            <a:r>
              <a:rPr dirty="0" sz="145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50" spc="45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725" y="1581475"/>
            <a:ext cx="3733799" cy="153352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/>
              <a:t>First</a:t>
            </a:r>
            <a:r>
              <a:rPr dirty="0" spc="-145"/>
              <a:t> </a:t>
            </a:r>
            <a:r>
              <a:rPr dirty="0" spc="-85"/>
              <a:t>In,</a:t>
            </a:r>
            <a:r>
              <a:rPr dirty="0" spc="-135"/>
              <a:t> </a:t>
            </a:r>
            <a:r>
              <a:rPr dirty="0"/>
              <a:t>First</a:t>
            </a:r>
            <a:r>
              <a:rPr dirty="0" spc="-140"/>
              <a:t> </a:t>
            </a:r>
            <a:r>
              <a:rPr dirty="0" spc="70"/>
              <a:t>Out</a:t>
            </a:r>
            <a:r>
              <a:rPr dirty="0" spc="-135"/>
              <a:t> </a:t>
            </a:r>
            <a:r>
              <a:rPr dirty="0" spc="-10"/>
              <a:t>(FIFO)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218271"/>
            <a:ext cx="7237095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Ahora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relajemos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suposición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asume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duran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tiempo.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Ahora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dura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100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segundos.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599" y="2145475"/>
            <a:ext cx="3733799" cy="14573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17775" y="3772472"/>
            <a:ext cx="4810760" cy="702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¿Cuánto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Turnaround?</a:t>
            </a:r>
            <a:endParaRPr sz="1600">
              <a:latin typeface="Tahoma"/>
              <a:cs typeface="Tahoma"/>
            </a:endParaRPr>
          </a:p>
          <a:p>
            <a:pPr marL="2713990">
              <a:lnSpc>
                <a:spcPct val="100000"/>
              </a:lnSpc>
              <a:spcBef>
                <a:spcPts val="1485"/>
              </a:spcBef>
            </a:pP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(100+110+120)/3=110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First</a:t>
            </a:r>
            <a:r>
              <a:rPr dirty="0" spc="-145"/>
              <a:t> </a:t>
            </a:r>
            <a:r>
              <a:rPr dirty="0" spc="-85"/>
              <a:t>In,</a:t>
            </a:r>
            <a:r>
              <a:rPr dirty="0" spc="-135"/>
              <a:t> </a:t>
            </a:r>
            <a:r>
              <a:rPr dirty="0"/>
              <a:t>First</a:t>
            </a:r>
            <a:r>
              <a:rPr dirty="0" spc="-140"/>
              <a:t> </a:t>
            </a:r>
            <a:r>
              <a:rPr dirty="0" spc="70"/>
              <a:t>Out</a:t>
            </a:r>
            <a:r>
              <a:rPr dirty="0" spc="-135"/>
              <a:t> </a:t>
            </a:r>
            <a:r>
              <a:rPr dirty="0" spc="-10"/>
              <a:t>(FIFO)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78425" y="2334325"/>
            <a:ext cx="19589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595959"/>
                </a:solidFill>
                <a:latin typeface="Tahoma"/>
                <a:cs typeface="Tahoma"/>
              </a:rPr>
              <a:t>Convoy</a:t>
            </a:r>
            <a:r>
              <a:rPr dirty="0" sz="2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595959"/>
                </a:solidFill>
                <a:latin typeface="Tahoma"/>
                <a:cs typeface="Tahoma"/>
              </a:rPr>
              <a:t>effect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9975" y="1353062"/>
            <a:ext cx="4774149" cy="31819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Shortest</a:t>
            </a:r>
            <a:r>
              <a:rPr dirty="0" spc="-195"/>
              <a:t> </a:t>
            </a:r>
            <a:r>
              <a:rPr dirty="0" spc="50"/>
              <a:t>Job</a:t>
            </a:r>
            <a:r>
              <a:rPr dirty="0" spc="-145"/>
              <a:t> </a:t>
            </a:r>
            <a:r>
              <a:rPr dirty="0"/>
              <a:t>First</a:t>
            </a:r>
            <a:r>
              <a:rPr dirty="0" spc="-135"/>
              <a:t> </a:t>
            </a:r>
            <a:r>
              <a:rPr dirty="0" spc="-10"/>
              <a:t>(SJF)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155214"/>
            <a:ext cx="7454265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resolver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problema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presenta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FIFO,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modifica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ejecute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duración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mínima,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finalizado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proceso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duración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mínima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así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sucesivamente.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719" y="2280425"/>
            <a:ext cx="3206971" cy="130713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61775" y="3931215"/>
            <a:ext cx="7376159" cy="966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caso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arriba,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mejora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turnaround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sencillo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hecho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ejecutar </a:t>
            </a:r>
            <a:r>
              <a:rPr dirty="0" sz="1500" spc="-35">
                <a:solidFill>
                  <a:srgbClr val="595959"/>
                </a:solidFill>
                <a:latin typeface="Tahoma"/>
                <a:cs typeface="Tahoma"/>
              </a:rPr>
              <a:t>B,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25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14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5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5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orden:</a:t>
            </a:r>
            <a:endParaRPr sz="1500">
              <a:latin typeface="Tahoma"/>
              <a:cs typeface="Tahoma"/>
            </a:endParaRPr>
          </a:p>
          <a:p>
            <a:pPr algn="ctr" marL="7620">
              <a:lnSpc>
                <a:spcPct val="100000"/>
              </a:lnSpc>
              <a:spcBef>
                <a:spcPts val="1470"/>
              </a:spcBef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(10+20+120)/3=50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Shortest</a:t>
            </a:r>
            <a:r>
              <a:rPr dirty="0" spc="-195"/>
              <a:t> </a:t>
            </a:r>
            <a:r>
              <a:rPr dirty="0" spc="50"/>
              <a:t>Job</a:t>
            </a:r>
            <a:r>
              <a:rPr dirty="0" spc="-145"/>
              <a:t> </a:t>
            </a:r>
            <a:r>
              <a:rPr dirty="0"/>
              <a:t>First</a:t>
            </a:r>
            <a:r>
              <a:rPr dirty="0" spc="-135"/>
              <a:t> </a:t>
            </a:r>
            <a:r>
              <a:rPr dirty="0" spc="-10"/>
              <a:t>(SJF)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131689"/>
            <a:ext cx="7470775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Utilizando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SJF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obtuvo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significativa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mejora…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suposiciones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iniciales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muy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poco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realistas.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relaja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suposición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2,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llegan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tiempo,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14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segundos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llegan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75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C.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sería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cálculo,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595959"/>
                </a:solidFill>
                <a:latin typeface="Tahoma"/>
                <a:cs typeface="Tahoma"/>
              </a:rPr>
              <a:t>ahora?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solidFill>
                  <a:srgbClr val="595959"/>
                </a:solidFill>
                <a:latin typeface="Tahoma"/>
                <a:cs typeface="Tahoma"/>
              </a:rPr>
              <a:t>_t_=10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seg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0225" y="2427400"/>
            <a:ext cx="3809999" cy="161924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56400" y="4373155"/>
            <a:ext cx="29032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(100+110−10+120−10)/3=103.33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Shortest</a:t>
            </a:r>
            <a:r>
              <a:rPr dirty="0" spc="-175"/>
              <a:t> </a:t>
            </a:r>
            <a:r>
              <a:rPr dirty="0" spc="50"/>
              <a:t>Time-</a:t>
            </a:r>
            <a:r>
              <a:rPr dirty="0" spc="90"/>
              <a:t>to-</a:t>
            </a:r>
            <a:r>
              <a:rPr dirty="0" spc="75"/>
              <a:t>Completion</a:t>
            </a:r>
            <a:r>
              <a:rPr dirty="0" spc="-105"/>
              <a:t> </a:t>
            </a:r>
            <a:r>
              <a:rPr dirty="0" spc="-10"/>
              <a:t>(STCF)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71259"/>
            <a:ext cx="7414895" cy="1252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solucionar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problema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necesita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relajar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suposición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(los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tienen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ejecutarse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595959"/>
                </a:solidFill>
                <a:latin typeface="Tahoma"/>
                <a:cs typeface="Tahoma"/>
              </a:rPr>
              <a:t>final).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idea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adelantarse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determinar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ejecutado.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14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llegan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puede </a:t>
            </a:r>
            <a:r>
              <a:rPr dirty="0" sz="1400" spc="-100" b="1">
                <a:solidFill>
                  <a:srgbClr val="595959"/>
                </a:solidFill>
                <a:latin typeface="Tahoma"/>
                <a:cs typeface="Tahoma"/>
              </a:rPr>
              <a:t>desalojar </a:t>
            </a:r>
            <a:r>
              <a:rPr dirty="0" sz="1400" spc="-130" b="1">
                <a:solidFill>
                  <a:srgbClr val="595959"/>
                </a:solidFill>
                <a:latin typeface="Tahoma"/>
                <a:cs typeface="Tahoma"/>
              </a:rPr>
              <a:t>(preempt)</a:t>
            </a:r>
            <a:r>
              <a:rPr dirty="0" sz="14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10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decidir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ejecute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luego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retomar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A.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0675" y="4373538"/>
            <a:ext cx="43395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caso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anterior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SFJ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non-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preemptive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775" y="2615262"/>
            <a:ext cx="3676649" cy="166687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2875" y="1206271"/>
            <a:ext cx="7487284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job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sistema,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determina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cuál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jobs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(incluyendo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recientemente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arribado)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falta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para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 b="1">
                <a:solidFill>
                  <a:srgbClr val="595959"/>
                </a:solidFill>
                <a:latin typeface="Tahoma"/>
                <a:cs typeface="Tahoma"/>
              </a:rPr>
              <a:t>terminar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,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elige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dicho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proceso,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desalojando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actual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Shortest</a:t>
            </a:r>
            <a:r>
              <a:rPr dirty="0" spc="-175"/>
              <a:t> </a:t>
            </a:r>
            <a:r>
              <a:rPr dirty="0" spc="50"/>
              <a:t>Time-</a:t>
            </a:r>
            <a:r>
              <a:rPr dirty="0" spc="90"/>
              <a:t>to-</a:t>
            </a:r>
            <a:r>
              <a:rPr dirty="0" spc="75"/>
              <a:t>Completion</a:t>
            </a:r>
            <a:r>
              <a:rPr dirty="0" spc="-105"/>
              <a:t> </a:t>
            </a:r>
            <a:r>
              <a:rPr dirty="0" spc="-10"/>
              <a:t>(STCF)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775" y="2957162"/>
            <a:ext cx="3676649" cy="166687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Shortest</a:t>
            </a:r>
            <a:r>
              <a:rPr dirty="0" spc="-175"/>
              <a:t> </a:t>
            </a:r>
            <a:r>
              <a:rPr dirty="0" spc="50"/>
              <a:t>Time-</a:t>
            </a:r>
            <a:r>
              <a:rPr dirty="0" spc="90"/>
              <a:t>to-</a:t>
            </a:r>
            <a:r>
              <a:rPr dirty="0" spc="75"/>
              <a:t>Completion</a:t>
            </a:r>
            <a:r>
              <a:rPr dirty="0" spc="-105"/>
              <a:t> </a:t>
            </a:r>
            <a:r>
              <a:rPr dirty="0" spc="-10"/>
              <a:t>(STCF)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3496173"/>
            <a:ext cx="5371465" cy="80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cálculo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turnaround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sería</a:t>
            </a:r>
            <a:endParaRPr sz="1900">
              <a:latin typeface="Tahoma"/>
              <a:cs typeface="Tahoma"/>
            </a:endParaRPr>
          </a:p>
          <a:p>
            <a:pPr marL="2184400">
              <a:lnSpc>
                <a:spcPct val="100000"/>
              </a:lnSpc>
              <a:spcBef>
                <a:spcPts val="1540"/>
              </a:spcBef>
            </a:pPr>
            <a:r>
              <a:rPr dirty="0" sz="1900" spc="-50">
                <a:solidFill>
                  <a:srgbClr val="595959"/>
                </a:solidFill>
                <a:latin typeface="Tahoma"/>
                <a:cs typeface="Tahoma"/>
              </a:rPr>
              <a:t>(120−0+20−10+30−10)/3=50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775" y="1485287"/>
            <a:ext cx="3676649" cy="166687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Una</a:t>
            </a:r>
            <a:r>
              <a:rPr dirty="0" spc="-130"/>
              <a:t> </a:t>
            </a:r>
            <a:r>
              <a:rPr dirty="0" spc="60"/>
              <a:t>nueva</a:t>
            </a:r>
            <a:r>
              <a:rPr dirty="0" spc="-125"/>
              <a:t> </a:t>
            </a:r>
            <a:r>
              <a:rPr dirty="0"/>
              <a:t>métrica:</a:t>
            </a:r>
            <a:r>
              <a:rPr dirty="0" spc="-195"/>
              <a:t> </a:t>
            </a:r>
            <a:r>
              <a:rPr dirty="0" spc="80"/>
              <a:t>Tiempo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80"/>
              <a:t>Respuesta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59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700"/>
              <a:t>El</a:t>
            </a:r>
            <a:r>
              <a:rPr dirty="0" sz="1700" spc="-185"/>
              <a:t> </a:t>
            </a:r>
            <a:r>
              <a:rPr dirty="0" sz="1700"/>
              <a:t>tiempo</a:t>
            </a:r>
            <a:r>
              <a:rPr dirty="0" sz="1700" spc="-180"/>
              <a:t> </a:t>
            </a:r>
            <a:r>
              <a:rPr dirty="0" sz="1700"/>
              <a:t>de</a:t>
            </a:r>
            <a:r>
              <a:rPr dirty="0" sz="1700" spc="-180"/>
              <a:t> </a:t>
            </a:r>
            <a:r>
              <a:rPr dirty="0" sz="1700"/>
              <a:t>respuesta</a:t>
            </a:r>
            <a:r>
              <a:rPr dirty="0" sz="1700" spc="-180"/>
              <a:t> </a:t>
            </a:r>
            <a:r>
              <a:rPr dirty="0" sz="1700" spc="-85"/>
              <a:t>(o</a:t>
            </a:r>
            <a:r>
              <a:rPr dirty="0" sz="1700" spc="-180"/>
              <a:t> </a:t>
            </a:r>
            <a:r>
              <a:rPr dirty="0" sz="1700"/>
              <a:t>response</a:t>
            </a:r>
            <a:r>
              <a:rPr dirty="0" sz="1700" spc="-180"/>
              <a:t> </a:t>
            </a:r>
            <a:r>
              <a:rPr dirty="0" sz="1700" spc="-30"/>
              <a:t>time)</a:t>
            </a:r>
            <a:r>
              <a:rPr dirty="0" sz="1700" spc="-180"/>
              <a:t> </a:t>
            </a:r>
            <a:r>
              <a:rPr dirty="0" sz="1700" spc="-10"/>
              <a:t>surge</a:t>
            </a:r>
            <a:r>
              <a:rPr dirty="0" sz="1700" spc="-180"/>
              <a:t> </a:t>
            </a:r>
            <a:r>
              <a:rPr dirty="0" sz="1700"/>
              <a:t>con</a:t>
            </a:r>
            <a:r>
              <a:rPr dirty="0" sz="1700" spc="-180"/>
              <a:t> </a:t>
            </a:r>
            <a:r>
              <a:rPr dirty="0" sz="1700"/>
              <a:t>el</a:t>
            </a:r>
            <a:r>
              <a:rPr dirty="0" sz="1700" spc="-180"/>
              <a:t> </a:t>
            </a:r>
            <a:r>
              <a:rPr dirty="0" sz="1700"/>
              <a:t>advenimiento</a:t>
            </a:r>
            <a:r>
              <a:rPr dirty="0" sz="1700" spc="-180"/>
              <a:t> </a:t>
            </a:r>
            <a:r>
              <a:rPr dirty="0" sz="1700" spc="-25"/>
              <a:t>del</a:t>
            </a:r>
            <a:endParaRPr sz="1700"/>
          </a:p>
          <a:p>
            <a:pPr marL="12700" marR="5080">
              <a:lnSpc>
                <a:spcPct val="114999"/>
              </a:lnSpc>
            </a:pPr>
            <a:r>
              <a:rPr dirty="0" sz="1700"/>
              <a:t>time-sharing</a:t>
            </a:r>
            <a:r>
              <a:rPr dirty="0" sz="1700" spc="-190"/>
              <a:t> </a:t>
            </a:r>
            <a:r>
              <a:rPr dirty="0" sz="1700" spc="-10"/>
              <a:t>ya</a:t>
            </a:r>
            <a:r>
              <a:rPr dirty="0" sz="1700" spc="-185"/>
              <a:t> </a:t>
            </a:r>
            <a:r>
              <a:rPr dirty="0" sz="1700" spc="-10"/>
              <a:t>que</a:t>
            </a:r>
            <a:r>
              <a:rPr dirty="0" sz="1700" spc="-190"/>
              <a:t> </a:t>
            </a:r>
            <a:r>
              <a:rPr dirty="0" sz="1700"/>
              <a:t>los</a:t>
            </a:r>
            <a:r>
              <a:rPr dirty="0" sz="1700" spc="-185"/>
              <a:t> </a:t>
            </a:r>
            <a:r>
              <a:rPr dirty="0" sz="1700"/>
              <a:t>usuarios</a:t>
            </a:r>
            <a:r>
              <a:rPr dirty="0" sz="1700" spc="-185"/>
              <a:t> </a:t>
            </a:r>
            <a:r>
              <a:rPr dirty="0" sz="1700" spc="-30"/>
              <a:t>se</a:t>
            </a:r>
            <a:r>
              <a:rPr dirty="0" sz="1700" spc="-190"/>
              <a:t> </a:t>
            </a:r>
            <a:r>
              <a:rPr dirty="0" sz="1700"/>
              <a:t>sientan</a:t>
            </a:r>
            <a:r>
              <a:rPr dirty="0" sz="1700" spc="-185"/>
              <a:t> </a:t>
            </a:r>
            <a:r>
              <a:rPr dirty="0" sz="1700" spc="-10"/>
              <a:t>en</a:t>
            </a:r>
            <a:r>
              <a:rPr dirty="0" sz="1700" spc="-185"/>
              <a:t> </a:t>
            </a:r>
            <a:r>
              <a:rPr dirty="0" sz="1700" spc="-25"/>
              <a:t>una</a:t>
            </a:r>
            <a:r>
              <a:rPr dirty="0" sz="1700" spc="-190"/>
              <a:t> </a:t>
            </a:r>
            <a:r>
              <a:rPr dirty="0" sz="1700"/>
              <a:t>terminal</a:t>
            </a:r>
            <a:r>
              <a:rPr dirty="0" sz="1700" spc="-185"/>
              <a:t> </a:t>
            </a:r>
            <a:r>
              <a:rPr dirty="0" sz="1700"/>
              <a:t>de</a:t>
            </a:r>
            <a:r>
              <a:rPr dirty="0" sz="1700" spc="-185"/>
              <a:t> </a:t>
            </a:r>
            <a:r>
              <a:rPr dirty="0" sz="1700" spc="-25"/>
              <a:t>una</a:t>
            </a:r>
            <a:r>
              <a:rPr dirty="0" sz="1700" spc="-190"/>
              <a:t> </a:t>
            </a:r>
            <a:r>
              <a:rPr dirty="0" sz="1700" spc="-10"/>
              <a:t>computadora </a:t>
            </a:r>
            <a:r>
              <a:rPr dirty="0" sz="1700"/>
              <a:t>y</a:t>
            </a:r>
            <a:r>
              <a:rPr dirty="0" sz="1700" spc="-175"/>
              <a:t> </a:t>
            </a:r>
            <a:r>
              <a:rPr dirty="0" sz="1700"/>
              <a:t>pretenden</a:t>
            </a:r>
            <a:r>
              <a:rPr dirty="0" sz="1700" spc="-170"/>
              <a:t> </a:t>
            </a:r>
            <a:r>
              <a:rPr dirty="0" sz="1700" spc="-25"/>
              <a:t>una</a:t>
            </a:r>
            <a:r>
              <a:rPr dirty="0" sz="1700" spc="-170"/>
              <a:t> </a:t>
            </a:r>
            <a:r>
              <a:rPr dirty="0" sz="1700"/>
              <a:t>interacción</a:t>
            </a:r>
            <a:r>
              <a:rPr dirty="0" sz="1700" spc="-170"/>
              <a:t> </a:t>
            </a:r>
            <a:r>
              <a:rPr dirty="0" sz="1700"/>
              <a:t>con</a:t>
            </a:r>
            <a:r>
              <a:rPr dirty="0" sz="1700" spc="-170"/>
              <a:t> </a:t>
            </a:r>
            <a:r>
              <a:rPr dirty="0" sz="1700" spc="-10"/>
              <a:t>rapidez.</a:t>
            </a:r>
            <a:r>
              <a:rPr dirty="0" sz="1700" spc="-170"/>
              <a:t> </a:t>
            </a:r>
            <a:r>
              <a:rPr dirty="0" sz="1700" spc="50"/>
              <a:t>Por</a:t>
            </a:r>
            <a:r>
              <a:rPr dirty="0" sz="1700" spc="-170"/>
              <a:t> </a:t>
            </a:r>
            <a:r>
              <a:rPr dirty="0" sz="1700" spc="-10"/>
              <a:t>eso</a:t>
            </a:r>
            <a:r>
              <a:rPr dirty="0" sz="1700" spc="-170"/>
              <a:t> </a:t>
            </a:r>
            <a:r>
              <a:rPr dirty="0" sz="1700" spc="-10"/>
              <a:t>nace</a:t>
            </a:r>
            <a:r>
              <a:rPr dirty="0" sz="1700" spc="-175"/>
              <a:t> </a:t>
            </a:r>
            <a:r>
              <a:rPr dirty="0" sz="1700"/>
              <a:t>el</a:t>
            </a:r>
            <a:r>
              <a:rPr dirty="0" sz="1700" spc="-170"/>
              <a:t> </a:t>
            </a:r>
            <a:r>
              <a:rPr dirty="0" sz="1700"/>
              <a:t>response</a:t>
            </a:r>
            <a:r>
              <a:rPr dirty="0" sz="1700" spc="-170"/>
              <a:t> </a:t>
            </a:r>
            <a:r>
              <a:rPr dirty="0" sz="1700"/>
              <a:t>time</a:t>
            </a:r>
            <a:r>
              <a:rPr dirty="0" sz="1700" spc="-170"/>
              <a:t> </a:t>
            </a:r>
            <a:r>
              <a:rPr dirty="0" sz="1700" spc="-20"/>
              <a:t>como </a:t>
            </a:r>
            <a:r>
              <a:rPr dirty="0" sz="1700" spc="-10"/>
              <a:t>métrica:</a:t>
            </a:r>
            <a:endParaRPr sz="17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601" y="3137092"/>
            <a:ext cx="4527974" cy="34831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105"/>
              <a:t>Una</a:t>
            </a:r>
            <a:r>
              <a:rPr dirty="0" spc="-130"/>
              <a:t> </a:t>
            </a:r>
            <a:r>
              <a:rPr dirty="0" spc="60"/>
              <a:t>nueva</a:t>
            </a:r>
            <a:r>
              <a:rPr dirty="0" spc="-125"/>
              <a:t> </a:t>
            </a:r>
            <a:r>
              <a:rPr dirty="0"/>
              <a:t>métrica:</a:t>
            </a:r>
            <a:r>
              <a:rPr dirty="0" spc="-195"/>
              <a:t> </a:t>
            </a:r>
            <a:r>
              <a:rPr dirty="0" spc="80"/>
              <a:t>Tiempo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80"/>
              <a:t>Respuesta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7075" y="1476102"/>
            <a:ext cx="6157595" cy="6216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dirty="0" baseline="-32828" sz="1650">
                <a:solidFill>
                  <a:srgbClr val="595959"/>
                </a:solidFill>
                <a:latin typeface="Tahoma"/>
                <a:cs typeface="Tahoma"/>
              </a:rPr>
              <a:t>response</a:t>
            </a:r>
            <a:r>
              <a:rPr dirty="0" baseline="-32828" sz="1650" spc="52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0.</a:t>
            </a: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dirty="0" baseline="-32828" sz="1650">
                <a:solidFill>
                  <a:srgbClr val="595959"/>
                </a:solidFill>
                <a:latin typeface="Tahoma"/>
                <a:cs typeface="Tahoma"/>
              </a:rPr>
              <a:t>response</a:t>
            </a:r>
            <a:r>
              <a:rPr dirty="0" baseline="-32828" sz="1650" spc="37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90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es…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0…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tarda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(10-10)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7075" y="2191810"/>
            <a:ext cx="9994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1241" sz="25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baseline="21241" sz="2550" spc="-187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baseline="21241" sz="2550" spc="-15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response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74075" y="2110847"/>
            <a:ext cx="57861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3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es…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10…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termina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(20-10)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4375" y="3263753"/>
            <a:ext cx="7271384" cy="121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94665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promedio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</a:t>
            </a:r>
            <a:r>
              <a:rPr dirty="0" baseline="-32828" sz="1650" spc="-15">
                <a:solidFill>
                  <a:srgbClr val="595959"/>
                </a:solidFill>
                <a:latin typeface="Tahoma"/>
                <a:cs typeface="Tahoma"/>
              </a:rPr>
              <a:t>response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3.33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seg.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700">
              <a:latin typeface="Tahoma"/>
              <a:cs typeface="Tahoma"/>
            </a:endParaRPr>
          </a:p>
          <a:p>
            <a:pPr marL="375920">
              <a:lnSpc>
                <a:spcPct val="100000"/>
              </a:lnSpc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escribir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tenga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noción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respuesta?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5975" y="2463487"/>
            <a:ext cx="3676649" cy="166687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Round</a:t>
            </a:r>
            <a:r>
              <a:rPr dirty="0" spc="-125"/>
              <a:t> </a:t>
            </a:r>
            <a:r>
              <a:rPr dirty="0" spc="50"/>
              <a:t>Robin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189901"/>
            <a:ext cx="7279005" cy="11753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245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idea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algoritmo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bastante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simple,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período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(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)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transcurrido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período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otro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proceso,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así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sucesivamente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cambiando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ejecución.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Tambien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llama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time-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slicing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5201" y="2605278"/>
            <a:ext cx="4789220" cy="183828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Round</a:t>
            </a:r>
            <a:r>
              <a:rPr dirty="0" spc="-125"/>
              <a:t> </a:t>
            </a:r>
            <a:r>
              <a:rPr dirty="0" spc="50"/>
              <a:t>Robin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231763"/>
            <a:ext cx="7007859" cy="10331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time-slice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multiplo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interrupt.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Ejemplo.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interrupt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ms,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podrá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10ms,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20ms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n*10ms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3851" y="2303728"/>
            <a:ext cx="4789220" cy="183828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95375" y="4218489"/>
            <a:ext cx="14598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Response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time: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81750" y="4668830"/>
            <a:ext cx="15709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(0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6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6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2)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6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Round</a:t>
            </a:r>
            <a:r>
              <a:rPr dirty="0" spc="-125"/>
              <a:t> </a:t>
            </a:r>
            <a:r>
              <a:rPr dirty="0" spc="50"/>
              <a:t>Robin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222021"/>
            <a:ext cx="7541259" cy="3006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importante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elección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buen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slice,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tiene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amortizar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resulte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responda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más.</a:t>
            </a:r>
            <a:endParaRPr sz="1600">
              <a:latin typeface="Tahoma"/>
              <a:cs typeface="Tahoma"/>
            </a:endParaRPr>
          </a:p>
          <a:p>
            <a:pPr marL="12700" marR="259079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seteado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slice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seteado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ms,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10%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estará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utilizando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contexto.</a:t>
            </a:r>
            <a:endParaRPr sz="1600">
              <a:latin typeface="Tahoma"/>
              <a:cs typeface="Tahoma"/>
            </a:endParaRPr>
          </a:p>
          <a:p>
            <a:pPr marL="12700" marR="29209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embargo,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setea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100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ms,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1%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será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dedicado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contexto.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Pregunta: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¿Qué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colación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métrica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turnaround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?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94037" y="1259187"/>
          <a:ext cx="8832215" cy="279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2505"/>
                <a:gridCol w="1042034"/>
                <a:gridCol w="1327150"/>
                <a:gridCol w="2760344"/>
                <a:gridCol w="2625090"/>
              </a:tblGrid>
              <a:tr h="601345">
                <a:tc>
                  <a:txBody>
                    <a:bodyPr/>
                    <a:lstStyle/>
                    <a:p>
                      <a:pPr marL="441959" marR="123189" indent="-311150">
                        <a:lnSpc>
                          <a:spcPts val="165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Algoritm 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 marR="182245" indent="16510">
                        <a:lnSpc>
                          <a:spcPts val="1650"/>
                        </a:lnSpc>
                        <a:spcBef>
                          <a:spcPts val="70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Tipo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sistema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4"/>
                        </a:lnSpc>
                        <a:spcBef>
                          <a:spcPts val="6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¿Preemptivo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664"/>
                        </a:lnSpc>
                      </a:pPr>
                      <a:r>
                        <a:rPr dirty="0" sz="1400" spc="-50" b="1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275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Tiempo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respuesta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9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Turnaround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Time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FIFO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Batch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No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Malo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(puede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ser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alto)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(puede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ser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malo)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SJF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Batch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No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Malo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(espera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inicial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larga)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789305" indent="270510">
                        <a:lnSpc>
                          <a:spcPts val="1650"/>
                        </a:lnSpc>
                        <a:spcBef>
                          <a:spcPts val="69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Excelente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(mínimo promedio)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8826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0">
                          <a:latin typeface="Arial MT"/>
                          <a:cs typeface="Arial MT"/>
                        </a:rPr>
                        <a:t>STCF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Batch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Sí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8795" indent="270510">
                        <a:lnSpc>
                          <a:spcPts val="1650"/>
                        </a:lnSpc>
                        <a:spcBef>
                          <a:spcPts val="70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Bueno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(procesos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cortos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responden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rápido)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Muy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bueno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(casi</a:t>
                      </a:r>
                      <a:r>
                        <a:rPr dirty="0" sz="1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óptimo)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601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RR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Interactivo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Sí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82880" indent="270510">
                        <a:lnSpc>
                          <a:spcPts val="1650"/>
                        </a:lnSpc>
                        <a:spcBef>
                          <a:spcPts val="70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Excelente</a:t>
                      </a:r>
                      <a:r>
                        <a:rPr dirty="0" sz="14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(respuesta</a:t>
                      </a:r>
                      <a:r>
                        <a:rPr dirty="0" sz="1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rápida inicial)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85115" indent="270510">
                        <a:lnSpc>
                          <a:spcPts val="1650"/>
                        </a:lnSpc>
                        <a:spcBef>
                          <a:spcPts val="70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Regular</a:t>
                      </a:r>
                      <a:r>
                        <a:rPr dirty="0" sz="1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(turnaround</a:t>
                      </a:r>
                      <a:r>
                        <a:rPr dirty="0" sz="1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25">
                          <a:latin typeface="Arial MT"/>
                          <a:cs typeface="Arial MT"/>
                        </a:rPr>
                        <a:t>más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alto)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050" y="1957453"/>
            <a:ext cx="221258" cy="20824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925" y="1957453"/>
            <a:ext cx="221258" cy="20824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5900" y="1957453"/>
            <a:ext cx="221258" cy="20824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050" y="2349853"/>
            <a:ext cx="221258" cy="20824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925" y="2349853"/>
            <a:ext cx="221258" cy="20824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5900" y="2349853"/>
            <a:ext cx="221258" cy="20824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9050" y="2951804"/>
            <a:ext cx="221258" cy="20824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5925" y="2951804"/>
            <a:ext cx="221258" cy="20824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5900" y="2951804"/>
            <a:ext cx="221258" cy="20824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9050" y="3553754"/>
            <a:ext cx="221258" cy="20824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45925" y="3553754"/>
            <a:ext cx="221258" cy="208243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5900" y="3553754"/>
            <a:ext cx="221258" cy="20824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89560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10"/>
              <a:t>Round-</a:t>
            </a:r>
            <a:r>
              <a:rPr dirty="0" spc="50"/>
              <a:t>Robin</a:t>
            </a:r>
            <a:r>
              <a:rPr dirty="0" spc="-114"/>
              <a:t> </a:t>
            </a:r>
            <a:r>
              <a:rPr dirty="0" spc="50"/>
              <a:t>en</a:t>
            </a:r>
            <a:r>
              <a:rPr dirty="0" spc="-114"/>
              <a:t> </a:t>
            </a:r>
            <a:r>
              <a:rPr dirty="0" spc="-25"/>
              <a:t>xv6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29450" y="654775"/>
            <a:ext cx="7689215" cy="4330065"/>
          </a:xfrm>
          <a:custGeom>
            <a:avLst/>
            <a:gdLst/>
            <a:ahLst/>
            <a:cxnLst/>
            <a:rect l="l" t="t" r="r" b="b"/>
            <a:pathLst>
              <a:path w="7689215" h="4330065">
                <a:moveTo>
                  <a:pt x="0" y="0"/>
                </a:moveTo>
                <a:lnTo>
                  <a:pt x="7688699" y="0"/>
                </a:lnTo>
                <a:lnTo>
                  <a:pt x="7688699" y="4329599"/>
                </a:lnTo>
                <a:lnTo>
                  <a:pt x="0" y="43295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89165" y="714109"/>
            <a:ext cx="3759835" cy="4169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c-&gt;proc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0;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200" spc="-10" b="1">
                <a:solidFill>
                  <a:srgbClr val="595959"/>
                </a:solidFill>
                <a:latin typeface="Courier New"/>
                <a:cs typeface="Courier New"/>
              </a:rPr>
              <a:t>for(;;){</a:t>
            </a:r>
            <a:endParaRPr sz="1200">
              <a:latin typeface="Courier New"/>
              <a:cs typeface="Courier New"/>
            </a:endParaRPr>
          </a:p>
          <a:p>
            <a:pPr marL="199390">
              <a:lnSpc>
                <a:spcPct val="100000"/>
              </a:lnSpc>
              <a:spcBef>
                <a:spcPts val="1155"/>
              </a:spcBef>
            </a:pP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found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0;</a:t>
            </a:r>
            <a:endParaRPr sz="1200">
              <a:latin typeface="Courier New"/>
              <a:cs typeface="Courier New"/>
            </a:endParaRPr>
          </a:p>
          <a:p>
            <a:pPr marL="386080" marR="5080" indent="-186690">
              <a:lnSpc>
                <a:spcPct val="180300"/>
              </a:lnSpc>
            </a:pP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for(p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proc;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p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&amp;proc[NPROC];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p++)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595959"/>
                </a:solidFill>
                <a:latin typeface="Courier New"/>
                <a:cs typeface="Courier New"/>
              </a:rPr>
              <a:t>{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if(p-&gt;state</a:t>
            </a:r>
            <a:r>
              <a:rPr dirty="0" sz="1200" spc="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==</a:t>
            </a:r>
            <a:r>
              <a:rPr dirty="0" sz="1200" spc="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RUNNABLE)</a:t>
            </a:r>
            <a:r>
              <a:rPr dirty="0" sz="1200" spc="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572770" marR="1405255">
              <a:lnSpc>
                <a:spcPct val="180300"/>
              </a:lnSpc>
            </a:pP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p-&gt;state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595959"/>
                </a:solidFill>
                <a:latin typeface="Courier New"/>
                <a:cs typeface="Courier New"/>
              </a:rPr>
              <a:t>RUNNING;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c-&gt;proc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p;</a:t>
            </a:r>
            <a:endParaRPr sz="1200">
              <a:latin typeface="Courier New"/>
              <a:cs typeface="Courier New"/>
            </a:endParaRPr>
          </a:p>
          <a:p>
            <a:pPr marL="572770" marR="191770">
              <a:lnSpc>
                <a:spcPct val="180300"/>
              </a:lnSpc>
            </a:pP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swtch(&amp;c-&gt;context,</a:t>
            </a:r>
            <a:r>
              <a:rPr dirty="0" sz="1200" spc="6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&amp;p-</a:t>
            </a:r>
            <a:r>
              <a:rPr dirty="0" sz="1200" spc="-10" b="1">
                <a:solidFill>
                  <a:srgbClr val="595959"/>
                </a:solidFill>
                <a:latin typeface="Courier New"/>
                <a:cs typeface="Courier New"/>
              </a:rPr>
              <a:t>&gt;context);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c-&gt;proc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0;</a:t>
            </a:r>
            <a:endParaRPr sz="1200">
              <a:latin typeface="Courier New"/>
              <a:cs typeface="Courier New"/>
            </a:endParaRPr>
          </a:p>
          <a:p>
            <a:pPr marL="572770">
              <a:lnSpc>
                <a:spcPct val="100000"/>
              </a:lnSpc>
              <a:spcBef>
                <a:spcPts val="1160"/>
              </a:spcBef>
            </a:pP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found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200" spc="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Courier New"/>
                <a:cs typeface="Courier New"/>
              </a:rPr>
              <a:t>1;</a:t>
            </a:r>
            <a:endParaRPr sz="1200">
              <a:latin typeface="Courier New"/>
              <a:cs typeface="Courier New"/>
            </a:endParaRPr>
          </a:p>
          <a:p>
            <a:pPr marL="386080">
              <a:lnSpc>
                <a:spcPct val="100000"/>
              </a:lnSpc>
              <a:spcBef>
                <a:spcPts val="1155"/>
              </a:spcBef>
            </a:pPr>
            <a:r>
              <a:rPr dirty="0" sz="12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99390">
              <a:lnSpc>
                <a:spcPct val="100000"/>
              </a:lnSpc>
              <a:spcBef>
                <a:spcPts val="1155"/>
              </a:spcBef>
            </a:pPr>
            <a:r>
              <a:rPr dirty="0" sz="12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2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324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Considerando</a:t>
            </a:r>
            <a:r>
              <a:rPr dirty="0" spc="-120"/>
              <a:t> </a:t>
            </a:r>
            <a:r>
              <a:rPr dirty="0" spc="70"/>
              <a:t>el</a:t>
            </a:r>
            <a:r>
              <a:rPr dirty="0" spc="-180"/>
              <a:t> </a:t>
            </a:r>
            <a:r>
              <a:rPr dirty="0" spc="250"/>
              <a:t>I/O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70850" y="1247606"/>
            <a:ext cx="698309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6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70">
                <a:solidFill>
                  <a:srgbClr val="595959"/>
                </a:solidFill>
                <a:latin typeface="Tahoma"/>
                <a:cs typeface="Tahoma"/>
              </a:rPr>
              <a:t>(un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thread)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haciendo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21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cosas:</a:t>
            </a:r>
            <a:endParaRPr sz="2100">
              <a:latin typeface="Tahoma"/>
              <a:cs typeface="Tahoma"/>
            </a:endParaRPr>
          </a:p>
          <a:p>
            <a:pPr marL="469265" indent="-32067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Usando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endParaRPr sz="2100">
              <a:latin typeface="Tahoma"/>
              <a:cs typeface="Tahoma"/>
            </a:endParaRPr>
          </a:p>
          <a:p>
            <a:pPr marL="469265" indent="-32067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1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21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1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21695" y="3436106"/>
            <a:ext cx="725043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6340" marR="5080" indent="-1184275">
              <a:lnSpc>
                <a:spcPct val="100000"/>
              </a:lnSpc>
              <a:spcBef>
                <a:spcPts val="100"/>
              </a:spcBef>
            </a:pPr>
            <a:r>
              <a:rPr dirty="0" sz="2100" spc="-120" b="1">
                <a:solidFill>
                  <a:srgbClr val="595959"/>
                </a:solidFill>
                <a:latin typeface="Tahoma"/>
                <a:cs typeface="Tahoma"/>
              </a:rPr>
              <a:t>Objetivo:</a:t>
            </a:r>
            <a:r>
              <a:rPr dirty="0" sz="21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50" b="1">
                <a:solidFill>
                  <a:srgbClr val="595959"/>
                </a:solidFill>
                <a:latin typeface="Tahoma"/>
                <a:cs typeface="Tahoma"/>
              </a:rPr>
              <a:t>queremos</a:t>
            </a:r>
            <a:r>
              <a:rPr dirty="0" sz="21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55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1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45" b="1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2100" spc="-175" b="1">
                <a:solidFill>
                  <a:srgbClr val="595959"/>
                </a:solidFill>
                <a:latin typeface="Tahoma"/>
                <a:cs typeface="Tahoma"/>
              </a:rPr>
              <a:t> haya </a:t>
            </a:r>
            <a:r>
              <a:rPr dirty="0" sz="2100" spc="-155" b="1">
                <a:solidFill>
                  <a:srgbClr val="595959"/>
                </a:solidFill>
                <a:latin typeface="Tahoma"/>
                <a:cs typeface="Tahoma"/>
              </a:rPr>
              <a:t>alguien</a:t>
            </a:r>
            <a:r>
              <a:rPr dirty="0" sz="21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65" b="1">
                <a:solidFill>
                  <a:srgbClr val="595959"/>
                </a:solidFill>
                <a:latin typeface="Tahoma"/>
                <a:cs typeface="Tahoma"/>
              </a:rPr>
              <a:t>usando</a:t>
            </a:r>
            <a:r>
              <a:rPr dirty="0" sz="21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10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1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0" b="1">
                <a:solidFill>
                  <a:srgbClr val="595959"/>
                </a:solidFill>
                <a:latin typeface="Tahoma"/>
                <a:cs typeface="Tahoma"/>
              </a:rPr>
              <a:t>CPU. </a:t>
            </a:r>
            <a:r>
              <a:rPr dirty="0" sz="2100" spc="-145" b="1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2100" spc="-160" b="1">
                <a:solidFill>
                  <a:srgbClr val="595959"/>
                </a:solidFill>
                <a:latin typeface="Tahoma"/>
                <a:cs typeface="Tahoma"/>
              </a:rPr>
              <a:t> no,</a:t>
            </a:r>
            <a:r>
              <a:rPr dirty="0" sz="21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60" b="1">
                <a:solidFill>
                  <a:srgbClr val="595959"/>
                </a:solidFill>
                <a:latin typeface="Tahoma"/>
                <a:cs typeface="Tahoma"/>
              </a:rPr>
              <a:t>estamos</a:t>
            </a:r>
            <a:r>
              <a:rPr dirty="0" sz="21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40" b="1">
                <a:solidFill>
                  <a:srgbClr val="595959"/>
                </a:solidFill>
                <a:latin typeface="Tahoma"/>
                <a:cs typeface="Tahoma"/>
              </a:rPr>
              <a:t>desperidicando</a:t>
            </a:r>
            <a:r>
              <a:rPr dirty="0" sz="21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 b="1">
                <a:solidFill>
                  <a:srgbClr val="595959"/>
                </a:solidFill>
                <a:latin typeface="Tahoma"/>
                <a:cs typeface="Tahoma"/>
              </a:rPr>
              <a:t>hardware!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475" y="37437"/>
            <a:ext cx="2932430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80" b="1">
                <a:solidFill>
                  <a:srgbClr val="1A1A1A"/>
                </a:solidFill>
                <a:latin typeface="Trebuchet MS"/>
                <a:cs typeface="Trebuchet MS"/>
              </a:rPr>
              <a:t>Considerando</a:t>
            </a:r>
            <a:r>
              <a:rPr dirty="0" sz="2300" spc="-12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70" b="1">
                <a:solidFill>
                  <a:srgbClr val="1A1A1A"/>
                </a:solidFill>
                <a:latin typeface="Trebuchet MS"/>
                <a:cs typeface="Trebuchet MS"/>
              </a:rPr>
              <a:t>el</a:t>
            </a:r>
            <a:r>
              <a:rPr dirty="0" sz="2300" spc="-18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250" b="1">
                <a:solidFill>
                  <a:srgbClr val="1A1A1A"/>
                </a:solidFill>
                <a:latin typeface="Trebuchet MS"/>
                <a:cs typeface="Trebuchet MS"/>
              </a:rPr>
              <a:t>I/O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70850" y="836819"/>
            <a:ext cx="722312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100" spc="105">
                <a:solidFill>
                  <a:srgbClr val="595959"/>
                </a:solidFill>
                <a:latin typeface="Tahoma"/>
                <a:cs typeface="Tahoma"/>
              </a:rPr>
              <a:t>Mal</a:t>
            </a:r>
            <a:r>
              <a:rPr dirty="0" sz="21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2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595959"/>
                </a:solidFill>
                <a:latin typeface="Tahoma"/>
                <a:cs typeface="Tahoma"/>
              </a:rPr>
              <a:t>CPU;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desperdiciamos</a:t>
            </a:r>
            <a:r>
              <a:rPr dirty="0" sz="21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recursos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perdemos</a:t>
            </a:r>
            <a:r>
              <a:rPr dirty="0" sz="21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tiempo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100" spc="-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multitasking!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507" y="2034852"/>
            <a:ext cx="4429523" cy="227011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324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Considerando</a:t>
            </a:r>
            <a:r>
              <a:rPr dirty="0" spc="-120"/>
              <a:t> </a:t>
            </a:r>
            <a:r>
              <a:rPr dirty="0" spc="70"/>
              <a:t>el</a:t>
            </a:r>
            <a:r>
              <a:rPr dirty="0" spc="-180"/>
              <a:t> </a:t>
            </a:r>
            <a:r>
              <a:rPr dirty="0" spc="250"/>
              <a:t>I/O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3075" y="617519"/>
            <a:ext cx="684847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1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estrategia</a:t>
            </a:r>
            <a:r>
              <a:rPr dirty="0" sz="21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mejor</a:t>
            </a:r>
            <a:endParaRPr sz="2100">
              <a:latin typeface="Tahoma"/>
              <a:cs typeface="Tahoma"/>
            </a:endParaRPr>
          </a:p>
          <a:p>
            <a:pPr marL="469900" marR="5080">
              <a:lnSpc>
                <a:spcPct val="100000"/>
              </a:lnSpc>
              <a:spcBef>
                <a:spcPts val="2520"/>
              </a:spcBef>
            </a:pPr>
            <a:r>
              <a:rPr dirty="0" sz="2100" spc="-145" b="1">
                <a:solidFill>
                  <a:srgbClr val="595959"/>
                </a:solidFill>
                <a:latin typeface="Tahoma"/>
                <a:cs typeface="Tahoma"/>
              </a:rPr>
              <a:t>Superponer</a:t>
            </a:r>
            <a:r>
              <a:rPr dirty="0" sz="21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90" b="1">
                <a:solidFill>
                  <a:srgbClr val="595959"/>
                </a:solidFill>
                <a:latin typeface="Tahoma"/>
                <a:cs typeface="Tahoma"/>
              </a:rPr>
              <a:t>(overlap)</a:t>
            </a:r>
            <a:r>
              <a:rPr dirty="0" sz="2100" spc="-19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85">
                <a:solidFill>
                  <a:srgbClr val="595959"/>
                </a:solidFill>
                <a:latin typeface="Tahoma"/>
                <a:cs typeface="Tahoma"/>
              </a:rPr>
              <a:t>I/O,</a:t>
            </a:r>
            <a:r>
              <a:rPr dirty="0" sz="21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ejecutar </a:t>
            </a:r>
            <a:r>
              <a:rPr dirty="0" sz="21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2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151" y="2189969"/>
            <a:ext cx="5085832" cy="220211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0424" y="1102938"/>
            <a:ext cx="7453630" cy="2999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pensar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clases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programas: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700">
              <a:latin typeface="Tahoma"/>
              <a:cs typeface="Tahoma"/>
            </a:endParaRPr>
          </a:p>
          <a:p>
            <a:pPr marL="469900" marR="5080" indent="-35941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 spc="-30" b="1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intensive: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Usan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mucho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capacidades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cálculo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calculo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matrices,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aplicaciones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gráficas,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entrenamiento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redes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neuronales.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 marL="469900" marR="954405" indent="-35941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 spc="-215" b="1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intensive: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Usan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mucho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salida,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dedica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principalmente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gestionar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file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server,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reproductor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video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aceleración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video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GPU.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935263"/>
            <a:ext cx="7402195" cy="349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15" b="1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7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intensive:</a:t>
            </a:r>
            <a:endParaRPr sz="1700">
              <a:latin typeface="Tahoma"/>
              <a:cs typeface="Tahoma"/>
            </a:endParaRPr>
          </a:p>
          <a:p>
            <a:pPr marL="469900" marR="16510" indent="-359410">
              <a:lnSpc>
                <a:spcPct val="105000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tenemos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cuidado,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intensive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desperdiciando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salida.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 marL="469900" marR="574675" indent="-35941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Solucion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muchos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intensive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simultáneamente.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Ocupar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máximo!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 marL="469900" marR="5080" indent="-35941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Notar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solución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funciona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caso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muchos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CPU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intensive.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tenemos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100%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agregar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simplemente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hará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siga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100%.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935263"/>
            <a:ext cx="7394575" cy="2613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0" b="1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intensive: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spcBef>
                <a:spcPts val="130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700" spc="8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escapatoria,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necesita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700">
              <a:latin typeface="Tahoma"/>
              <a:cs typeface="Tahoma"/>
            </a:endParaRPr>
          </a:p>
          <a:p>
            <a:pPr marL="469900" marR="5080" indent="-35941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competir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siendo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desalojados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cuando.</a:t>
            </a:r>
            <a:endParaRPr sz="1700">
              <a:latin typeface="Tahoma"/>
              <a:cs typeface="Tahoma"/>
            </a:endParaRPr>
          </a:p>
          <a:p>
            <a:pPr marL="469900" marR="244475" indent="-35941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actualidad,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casi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aplicaciones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intensive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alguna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aceleración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hardware,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>
                <a:solidFill>
                  <a:srgbClr val="595959"/>
                </a:solidFill>
                <a:latin typeface="Tahoma"/>
                <a:cs typeface="Tahoma"/>
              </a:rPr>
              <a:t>es,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endParaRPr sz="17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co-procesadores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(eg.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GPU)</a:t>
            </a:r>
            <a:endParaRPr sz="1700">
              <a:latin typeface="Tahoma"/>
              <a:cs typeface="Tahoma"/>
            </a:endParaRPr>
          </a:p>
          <a:p>
            <a:pPr marL="469900" marR="311150" indent="-359410">
              <a:lnSpc>
                <a:spcPct val="1050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 spc="8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delegar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cálculo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coprocesador,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aplicación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transforma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I/O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intensive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(o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mas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bien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5">
                <a:solidFill>
                  <a:srgbClr val="595959"/>
                </a:solidFill>
                <a:latin typeface="Tahoma"/>
                <a:cs typeface="Tahoma"/>
              </a:rPr>
              <a:t>GPU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intensive)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00" y="1132024"/>
            <a:ext cx="4327199" cy="28794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950600" y="992787"/>
            <a:ext cx="3879215" cy="301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GPUs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inicialmente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usados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aplicaciones </a:t>
            </a:r>
            <a:r>
              <a:rPr dirty="0" sz="1400">
                <a:latin typeface="Arial MT"/>
                <a:cs typeface="Arial MT"/>
              </a:rPr>
              <a:t>graficas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generalizaron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implementar </a:t>
            </a:r>
            <a:r>
              <a:rPr dirty="0" sz="1400">
                <a:latin typeface="Arial MT"/>
                <a:cs typeface="Arial MT"/>
              </a:rPr>
              <a:t>algoritmos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facilmente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paralelizables.</a:t>
            </a:r>
            <a:endParaRPr sz="1400">
              <a:latin typeface="Arial MT"/>
              <a:cs typeface="Arial MT"/>
            </a:endParaRPr>
          </a:p>
          <a:p>
            <a:pPr marL="12700" marR="3683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llama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10" b="1">
                <a:latin typeface="Arial"/>
                <a:cs typeface="Arial"/>
              </a:rPr>
              <a:t>General-</a:t>
            </a:r>
            <a:r>
              <a:rPr dirty="0" sz="1400" b="1">
                <a:latin typeface="Arial"/>
                <a:cs typeface="Arial"/>
              </a:rPr>
              <a:t>purpose</a:t>
            </a:r>
            <a:r>
              <a:rPr dirty="0" sz="1400" spc="-10" b="1">
                <a:latin typeface="Arial"/>
                <a:cs typeface="Arial"/>
              </a:rPr>
              <a:t> computing </a:t>
            </a: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graphics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processing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units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(GPGPU).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12700" marR="29337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actualidad,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GPU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centrales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25">
                <a:latin typeface="Arial MT"/>
                <a:cs typeface="Arial MT"/>
              </a:rPr>
              <a:t> el </a:t>
            </a:r>
            <a:r>
              <a:rPr dirty="0" sz="1400">
                <a:latin typeface="Arial MT"/>
                <a:cs typeface="Arial MT"/>
              </a:rPr>
              <a:t>entrenamiento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neuronales.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 MT"/>
              <a:cs typeface="Arial MT"/>
            </a:endParaRPr>
          </a:p>
          <a:p>
            <a:pPr marL="12700" marR="22479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El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GPU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transforma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co-procesador </a:t>
            </a:r>
            <a:r>
              <a:rPr dirty="0" sz="1400" b="1">
                <a:latin typeface="Arial"/>
                <a:cs typeface="Arial"/>
              </a:rPr>
              <a:t>del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CPU.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12700" marR="173990">
              <a:lnSpc>
                <a:spcPct val="100000"/>
              </a:lnSpc>
            </a:pPr>
            <a:r>
              <a:rPr dirty="0" sz="1400">
                <a:latin typeface="Arial MT"/>
                <a:cs typeface="Arial MT"/>
              </a:rPr>
              <a:t>Libera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CPU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cálculos,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transforma</a:t>
            </a:r>
            <a:r>
              <a:rPr dirty="0" sz="1400" spc="-25" b="1">
                <a:latin typeface="Arial"/>
                <a:cs typeface="Arial"/>
              </a:rPr>
              <a:t> al </a:t>
            </a:r>
            <a:r>
              <a:rPr dirty="0" sz="1400" b="1">
                <a:latin typeface="Arial"/>
                <a:cs typeface="Arial"/>
              </a:rPr>
              <a:t>proceso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proceso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I/O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intensive.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675" y="938314"/>
            <a:ext cx="7461884" cy="3423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Estrategias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15" b="1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Intensive</a:t>
            </a:r>
            <a:endParaRPr sz="1700">
              <a:latin typeface="Tahoma"/>
              <a:cs typeface="Tahoma"/>
            </a:endParaRPr>
          </a:p>
          <a:p>
            <a:pPr marL="12700" marR="76200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Asumiendo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calendarización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perfecta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20%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sólo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cómputo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80%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salida,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5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acomodar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100%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700" spc="-80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15" b="1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mucho </a:t>
            </a:r>
            <a:r>
              <a:rPr dirty="0" sz="1700" spc="-160" b="1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lento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instrucciones.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Siendo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poco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realista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supone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E/S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bloqueantes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0">
                <a:solidFill>
                  <a:srgbClr val="595959"/>
                </a:solidFill>
                <a:latin typeface="Tahoma"/>
                <a:cs typeface="Tahoma"/>
              </a:rPr>
              <a:t>(una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operación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lectura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tarda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miliseg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registro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tarda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1-2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nanoseg),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decir,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procesamiento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haya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realizado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E/S.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6525" y="572737"/>
            <a:ext cx="7682865" cy="409829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algn="just" marL="76200">
              <a:lnSpc>
                <a:spcPct val="100000"/>
              </a:lnSpc>
              <a:spcBef>
                <a:spcPts val="1200"/>
              </a:spcBef>
            </a:pP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Cálculo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5" b="1">
                <a:solidFill>
                  <a:srgbClr val="595959"/>
                </a:solidFill>
                <a:latin typeface="Tahoma"/>
                <a:cs typeface="Tahoma"/>
              </a:rPr>
              <a:t>probabilístico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5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endParaRPr sz="1700">
              <a:latin typeface="Tahoma"/>
              <a:cs typeface="Tahoma"/>
            </a:endParaRPr>
          </a:p>
          <a:p>
            <a:pPr algn="just" marL="76200" marR="77470">
              <a:lnSpc>
                <a:spcPts val="1939"/>
              </a:lnSpc>
              <a:spcBef>
                <a:spcPts val="125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supone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permanece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fracción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bloqueado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">
                <a:solidFill>
                  <a:srgbClr val="595959"/>
                </a:solidFill>
                <a:latin typeface="Tahoma"/>
                <a:cs typeface="Tahoma"/>
              </a:rPr>
              <a:t>espera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E/S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probabilidad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instante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 este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bloqueado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0">
                <a:solidFill>
                  <a:srgbClr val="595959"/>
                </a:solidFill>
                <a:latin typeface="Tahoma"/>
                <a:cs typeface="Tahoma"/>
              </a:rPr>
              <a:t>p.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Ejemplo.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>
                <a:solidFill>
                  <a:srgbClr val="595959"/>
                </a:solidFill>
                <a:latin typeface="Tahoma"/>
                <a:cs typeface="Tahoma"/>
              </a:rPr>
              <a:t>80%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3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bloqueado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E/S,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probabilidad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instante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700" spc="3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bloqueado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">
                <a:solidFill>
                  <a:srgbClr val="595959"/>
                </a:solidFill>
                <a:latin typeface="Tahoma"/>
                <a:cs typeface="Tahoma"/>
              </a:rPr>
              <a:t>será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5">
                <a:solidFill>
                  <a:srgbClr val="595959"/>
                </a:solidFill>
                <a:latin typeface="Tahoma"/>
                <a:cs typeface="Tahoma"/>
              </a:rPr>
              <a:t>0.8.</a:t>
            </a:r>
            <a:endParaRPr sz="1700">
              <a:latin typeface="Tahoma"/>
              <a:cs typeface="Tahoma"/>
            </a:endParaRPr>
          </a:p>
          <a:p>
            <a:pPr algn="just" marL="76200" marR="77470">
              <a:lnSpc>
                <a:spcPts val="1939"/>
              </a:lnSpc>
              <a:spcBef>
                <a:spcPts val="1215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3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tenemos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</a:t>
            </a:r>
            <a:r>
              <a:rPr dirty="0" sz="1700" spc="3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idénticos,</a:t>
            </a:r>
            <a:r>
              <a:rPr dirty="0" sz="1700" spc="3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probabilidad</a:t>
            </a:r>
            <a:r>
              <a:rPr dirty="0" sz="1700" spc="3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3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3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ellos</a:t>
            </a:r>
            <a:r>
              <a:rPr dirty="0" sz="1700" spc="3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estén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bloqueados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simultáneamente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p</a:t>
            </a:r>
            <a:r>
              <a:rPr dirty="0" baseline="32828" sz="1650" spc="-52">
                <a:solidFill>
                  <a:srgbClr val="595959"/>
                </a:solidFill>
                <a:latin typeface="Tahoma"/>
                <a:cs typeface="Tahoma"/>
              </a:rPr>
              <a:t>n</a:t>
            </a:r>
            <a:endParaRPr baseline="32828" sz="1650">
              <a:latin typeface="Tahoma"/>
              <a:cs typeface="Tahoma"/>
            </a:endParaRPr>
          </a:p>
          <a:p>
            <a:pPr algn="just" marL="76200" marR="81280">
              <a:lnSpc>
                <a:spcPts val="1939"/>
              </a:lnSpc>
              <a:spcBef>
                <a:spcPts val="121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Reciprocamente,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probabilidad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exista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no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bloqueado,</a:t>
            </a:r>
            <a:r>
              <a:rPr dirty="0" sz="1700" spc="305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tanto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ejecutable</a:t>
            </a:r>
            <a:r>
              <a:rPr dirty="0" sz="1700" spc="310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305">
                <a:solidFill>
                  <a:srgbClr val="595959"/>
                </a:solidFill>
                <a:latin typeface="Tahoma"/>
                <a:cs typeface="Tahoma"/>
              </a:rPr>
              <a:t>     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1−p</a:t>
            </a:r>
            <a:r>
              <a:rPr dirty="0" baseline="32828" sz="1650" spc="-150">
                <a:solidFill>
                  <a:srgbClr val="595959"/>
                </a:solidFill>
                <a:latin typeface="Tahoma"/>
                <a:cs typeface="Tahoma"/>
              </a:rPr>
              <a:t>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fórmula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conocida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 b="1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1700">
              <a:latin typeface="Tahoma"/>
              <a:cs typeface="Tahoma"/>
            </a:endParaRPr>
          </a:p>
          <a:p>
            <a:pPr algn="ctr" marR="5715">
              <a:lnSpc>
                <a:spcPct val="100000"/>
              </a:lnSpc>
            </a:pPr>
            <a:r>
              <a:rPr dirty="0" sz="1700" spc="-85" b="1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5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0" b="1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1−p</a:t>
            </a:r>
            <a:r>
              <a:rPr dirty="0" baseline="32828" sz="1650" spc="-30">
                <a:solidFill>
                  <a:srgbClr val="595959"/>
                </a:solidFill>
                <a:latin typeface="Tahoma"/>
                <a:cs typeface="Tahoma"/>
              </a:rPr>
              <a:t>n</a:t>
            </a:r>
            <a:endParaRPr baseline="32828"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1675" y="1038495"/>
            <a:ext cx="7636509" cy="314706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63500" marR="53975">
              <a:lnSpc>
                <a:spcPts val="1839"/>
              </a:lnSpc>
              <a:spcBef>
                <a:spcPts val="430"/>
              </a:spcBef>
            </a:pP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invierte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80%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E/S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0.8</a:t>
            </a:r>
            <a:endParaRPr sz="1800">
              <a:latin typeface="Tahoma"/>
              <a:cs typeface="Tahoma"/>
            </a:endParaRPr>
          </a:p>
          <a:p>
            <a:pPr algn="just" marL="63500">
              <a:lnSpc>
                <a:spcPts val="1835"/>
              </a:lnSpc>
            </a:pPr>
            <a:r>
              <a:rPr dirty="0" sz="1800" spc="-28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0.2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0" b="1">
                <a:solidFill>
                  <a:srgbClr val="595959"/>
                </a:solidFill>
                <a:latin typeface="Tahoma"/>
                <a:cs typeface="Tahoma"/>
              </a:rPr>
              <a:t>20%</a:t>
            </a:r>
            <a:r>
              <a:rPr dirty="0" sz="1800" spc="-30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ahoma"/>
              <a:cs typeface="Tahoma"/>
            </a:endParaRPr>
          </a:p>
          <a:p>
            <a:pPr algn="just" marL="63500" marR="55880">
              <a:lnSpc>
                <a:spcPts val="1839"/>
              </a:lnSpc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Ahora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bien,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propiedad,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grado</a:t>
            </a:r>
            <a:r>
              <a:rPr dirty="0" sz="1800" spc="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1−0.8</a:t>
            </a:r>
            <a:r>
              <a:rPr dirty="0" baseline="32407" sz="1800" spc="-104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0.488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decir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80" b="1">
                <a:solidFill>
                  <a:srgbClr val="595959"/>
                </a:solidFill>
                <a:latin typeface="Tahoma"/>
                <a:cs typeface="Tahoma"/>
              </a:rPr>
              <a:t>49%</a:t>
            </a:r>
            <a:r>
              <a:rPr dirty="0" sz="1800" spc="2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ocupación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1800">
              <a:latin typeface="Tahoma"/>
              <a:cs typeface="Tahoma"/>
            </a:endParaRPr>
          </a:p>
          <a:p>
            <a:pPr algn="just" marL="63500" marR="47625">
              <a:lnSpc>
                <a:spcPts val="1839"/>
              </a:lnSpc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supone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800" spc="2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procesos,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fórmula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cambia</a:t>
            </a:r>
            <a:r>
              <a:rPr dirty="0" sz="18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1−0.8</a:t>
            </a:r>
            <a:r>
              <a:rPr dirty="0" baseline="32407" sz="1800" spc="-67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=0.89</a:t>
            </a:r>
            <a:r>
              <a:rPr dirty="0" sz="18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25" b="1">
                <a:solidFill>
                  <a:srgbClr val="595959"/>
                </a:solidFill>
                <a:latin typeface="Tahoma"/>
                <a:cs typeface="Tahoma"/>
              </a:rPr>
              <a:t>89%</a:t>
            </a:r>
            <a:r>
              <a:rPr dirty="0" sz="1800" spc="2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utilización,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aquí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ve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IMPORTANCIA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Multiprogramación.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298767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Utilización</a:t>
            </a:r>
            <a:r>
              <a:rPr dirty="0" spc="-45"/>
              <a:t> </a:t>
            </a:r>
            <a:r>
              <a:rPr dirty="0" spc="114"/>
              <a:t>de</a:t>
            </a:r>
            <a:r>
              <a:rPr dirty="0" spc="-40"/>
              <a:t> </a:t>
            </a:r>
            <a:r>
              <a:rPr dirty="0" spc="85"/>
              <a:t>la</a:t>
            </a:r>
            <a:r>
              <a:rPr dirty="0" spc="-40"/>
              <a:t> </a:t>
            </a:r>
            <a:r>
              <a:rPr dirty="0" spc="130"/>
              <a:t>CPU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807" y="707307"/>
            <a:ext cx="5249701" cy="418454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63455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00">
                <a:solidFill>
                  <a:srgbClr val="FFFFFF"/>
                </a:solidFill>
              </a:rPr>
              <a:t>Multi-</a:t>
            </a:r>
            <a:r>
              <a:rPr dirty="0" sz="3600">
                <a:solidFill>
                  <a:srgbClr val="FFFFFF"/>
                </a:solidFill>
              </a:rPr>
              <a:t>Level</a:t>
            </a:r>
            <a:r>
              <a:rPr dirty="0" sz="3600" spc="-225">
                <a:solidFill>
                  <a:srgbClr val="FFFFFF"/>
                </a:solidFill>
              </a:rPr>
              <a:t> </a:t>
            </a:r>
            <a:r>
              <a:rPr dirty="0" sz="3600" spc="90">
                <a:solidFill>
                  <a:srgbClr val="FFFFFF"/>
                </a:solidFill>
              </a:rPr>
              <a:t>Feedback</a:t>
            </a:r>
            <a:r>
              <a:rPr dirty="0" sz="3600" spc="-114">
                <a:solidFill>
                  <a:srgbClr val="FFFFFF"/>
                </a:solidFill>
              </a:rPr>
              <a:t> </a:t>
            </a:r>
            <a:r>
              <a:rPr dirty="0" sz="3600" spc="75">
                <a:solidFill>
                  <a:srgbClr val="FFFFFF"/>
                </a:solidFill>
              </a:rPr>
              <a:t>Queue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913550" y="3201581"/>
            <a:ext cx="30492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Problemas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resuelve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Algoritmo</a:t>
            </a:r>
            <a:r>
              <a:rPr dirty="0" sz="1800" spc="3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Trebuchet MS"/>
                <a:cs typeface="Trebuchet MS"/>
              </a:rPr>
              <a:t>MLFQ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/>
              <a:t>Planificación</a:t>
            </a:r>
            <a:r>
              <a:rPr dirty="0" spc="-25"/>
              <a:t> </a:t>
            </a:r>
            <a:r>
              <a:rPr dirty="0" spc="50"/>
              <a:t>en</a:t>
            </a:r>
            <a:r>
              <a:rPr dirty="0" spc="-25"/>
              <a:t> </a:t>
            </a:r>
            <a:r>
              <a:rPr dirty="0" spc="85"/>
              <a:t>la</a:t>
            </a:r>
            <a:r>
              <a:rPr dirty="0" spc="-120"/>
              <a:t> </a:t>
            </a:r>
            <a:r>
              <a:rPr dirty="0" spc="80"/>
              <a:t>Vida</a:t>
            </a:r>
            <a:r>
              <a:rPr dirty="0" spc="-25"/>
              <a:t> </a:t>
            </a:r>
            <a:r>
              <a:rPr dirty="0" spc="70"/>
              <a:t>Real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08501"/>
            <a:ext cx="7258050" cy="2423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¿Qué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debería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proporcionar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marco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trabajo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básico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permita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pensar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políticas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planificaciones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?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¿Cuáles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deberían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suposiciones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cuenta?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¿Cuáles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métricas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importantes?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Multi</a:t>
            </a:r>
            <a:r>
              <a:rPr dirty="0" spc="-125"/>
              <a:t> </a:t>
            </a:r>
            <a:r>
              <a:rPr dirty="0" spc="55"/>
              <a:t>Level</a:t>
            </a:r>
            <a:r>
              <a:rPr dirty="0" spc="-190"/>
              <a:t> </a:t>
            </a:r>
            <a:r>
              <a:rPr dirty="0" spc="80"/>
              <a:t>Feedback</a:t>
            </a:r>
            <a:r>
              <a:rPr dirty="0" spc="-120"/>
              <a:t> </a:t>
            </a:r>
            <a:r>
              <a:rPr dirty="0" spc="70"/>
              <a:t>Queue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08501"/>
            <a:ext cx="7419340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técnica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Multi-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Level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Feedbak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descripta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inicialmente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años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60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conocido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Compatible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Time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Sharing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CTSS.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trabajo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realizado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MULTICS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llevó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creador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ganara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Turing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Award.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700">
              <a:latin typeface="Tahoma"/>
              <a:cs typeface="Tahoma"/>
            </a:endParaRPr>
          </a:p>
          <a:p>
            <a:pPr marL="12700" marR="593090">
              <a:lnSpc>
                <a:spcPct val="114999"/>
              </a:lnSpc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refinado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paso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llegar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implementaciones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encuentran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hoy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moderno.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Multi</a:t>
            </a:r>
            <a:r>
              <a:rPr dirty="0" spc="-125"/>
              <a:t> </a:t>
            </a:r>
            <a:r>
              <a:rPr dirty="0" spc="55"/>
              <a:t>Level</a:t>
            </a:r>
            <a:r>
              <a:rPr dirty="0" spc="-190"/>
              <a:t> </a:t>
            </a:r>
            <a:r>
              <a:rPr dirty="0" spc="80"/>
              <a:t>Feedback</a:t>
            </a:r>
            <a:r>
              <a:rPr dirty="0" spc="-120"/>
              <a:t> </a:t>
            </a:r>
            <a:r>
              <a:rPr dirty="0" spc="70"/>
              <a:t>Queue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700" spc="100"/>
              <a:t>MLQF</a:t>
            </a:r>
            <a:r>
              <a:rPr dirty="0" sz="1700" spc="-160"/>
              <a:t> </a:t>
            </a:r>
            <a:r>
              <a:rPr dirty="0" sz="1700"/>
              <a:t>intenta</a:t>
            </a:r>
            <a:r>
              <a:rPr dirty="0" sz="1700" spc="-150"/>
              <a:t> </a:t>
            </a:r>
            <a:r>
              <a:rPr dirty="0" sz="1700"/>
              <a:t>atacar</a:t>
            </a:r>
            <a:r>
              <a:rPr dirty="0" sz="1700" spc="-150"/>
              <a:t> </a:t>
            </a:r>
            <a:r>
              <a:rPr dirty="0" sz="1700"/>
              <a:t>principalmente</a:t>
            </a:r>
            <a:r>
              <a:rPr dirty="0" sz="1700" spc="-150"/>
              <a:t> </a:t>
            </a:r>
            <a:r>
              <a:rPr dirty="0" sz="1700" spc="55"/>
              <a:t>2</a:t>
            </a:r>
            <a:r>
              <a:rPr dirty="0" sz="1700" spc="-145"/>
              <a:t> </a:t>
            </a:r>
            <a:r>
              <a:rPr dirty="0" sz="1700" spc="-10"/>
              <a:t>problemas:</a:t>
            </a:r>
            <a:endParaRPr sz="1700"/>
          </a:p>
          <a:p>
            <a:pPr marL="469900" marR="5080" indent="-359410">
              <a:lnSpc>
                <a:spcPts val="1939"/>
              </a:lnSpc>
              <a:spcBef>
                <a:spcPts val="1245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700" spc="-10"/>
              <a:t>Intenta</a:t>
            </a:r>
            <a:r>
              <a:rPr dirty="0" sz="1700" spc="-160"/>
              <a:t> </a:t>
            </a:r>
            <a:r>
              <a:rPr dirty="0" sz="1700"/>
              <a:t>optimizar</a:t>
            </a:r>
            <a:r>
              <a:rPr dirty="0" sz="1700" spc="-155"/>
              <a:t> </a:t>
            </a:r>
            <a:r>
              <a:rPr dirty="0" sz="1700"/>
              <a:t>el</a:t>
            </a:r>
            <a:r>
              <a:rPr dirty="0" sz="1700" spc="-165"/>
              <a:t> </a:t>
            </a:r>
            <a:r>
              <a:rPr dirty="0" sz="1700" spc="-105" b="1">
                <a:latin typeface="Tahoma"/>
                <a:cs typeface="Tahoma"/>
              </a:rPr>
              <a:t>turnaround</a:t>
            </a:r>
            <a:r>
              <a:rPr dirty="0" sz="1700" spc="-120" b="1">
                <a:latin typeface="Tahoma"/>
                <a:cs typeface="Tahoma"/>
              </a:rPr>
              <a:t> </a:t>
            </a:r>
            <a:r>
              <a:rPr dirty="0" sz="1700" spc="-125" b="1">
                <a:latin typeface="Tahoma"/>
                <a:cs typeface="Tahoma"/>
              </a:rPr>
              <a:t>time</a:t>
            </a:r>
            <a:r>
              <a:rPr dirty="0" sz="1700" spc="-125"/>
              <a:t>,</a:t>
            </a:r>
            <a:r>
              <a:rPr dirty="0" sz="1700" spc="-160"/>
              <a:t> </a:t>
            </a:r>
            <a:r>
              <a:rPr dirty="0" sz="1700"/>
              <a:t>lo</a:t>
            </a:r>
            <a:r>
              <a:rPr dirty="0" sz="1700" spc="-155"/>
              <a:t> </a:t>
            </a:r>
            <a:r>
              <a:rPr dirty="0" sz="1700"/>
              <a:t>cual</a:t>
            </a:r>
            <a:r>
              <a:rPr dirty="0" sz="1700" spc="-160"/>
              <a:t> </a:t>
            </a:r>
            <a:r>
              <a:rPr dirty="0" sz="1700" spc="-30"/>
              <a:t>se</a:t>
            </a:r>
            <a:r>
              <a:rPr dirty="0" sz="1700" spc="-155"/>
              <a:t> </a:t>
            </a:r>
            <a:r>
              <a:rPr dirty="0" sz="1700" spc="-10"/>
              <a:t>logra</a:t>
            </a:r>
            <a:r>
              <a:rPr dirty="0" sz="1700" spc="-160"/>
              <a:t> </a:t>
            </a:r>
            <a:r>
              <a:rPr dirty="0" sz="1700"/>
              <a:t>ejecutando</a:t>
            </a:r>
            <a:r>
              <a:rPr dirty="0" sz="1700" spc="-155"/>
              <a:t> </a:t>
            </a:r>
            <a:r>
              <a:rPr dirty="0" sz="1700" spc="-10"/>
              <a:t>primero </a:t>
            </a:r>
            <a:r>
              <a:rPr dirty="0" sz="1700"/>
              <a:t>los</a:t>
            </a:r>
            <a:r>
              <a:rPr dirty="0" sz="1700" spc="-185"/>
              <a:t> </a:t>
            </a:r>
            <a:r>
              <a:rPr dirty="0" sz="1700"/>
              <a:t>trabajos</a:t>
            </a:r>
            <a:r>
              <a:rPr dirty="0" sz="1700" spc="-185"/>
              <a:t> </a:t>
            </a:r>
            <a:r>
              <a:rPr dirty="0" sz="1700" spc="-40"/>
              <a:t>más</a:t>
            </a:r>
            <a:r>
              <a:rPr dirty="0" sz="1700" spc="-180"/>
              <a:t> </a:t>
            </a:r>
            <a:r>
              <a:rPr dirty="0" sz="1700" spc="-10"/>
              <a:t>cortos;</a:t>
            </a:r>
            <a:r>
              <a:rPr dirty="0" sz="1700" spc="-185"/>
              <a:t> </a:t>
            </a:r>
            <a:r>
              <a:rPr dirty="0" sz="1700" spc="-10"/>
              <a:t>desafortunadamente,</a:t>
            </a:r>
            <a:r>
              <a:rPr dirty="0" sz="1700" spc="-185"/>
              <a:t> </a:t>
            </a:r>
            <a:r>
              <a:rPr dirty="0" sz="1700"/>
              <a:t>el</a:t>
            </a:r>
            <a:r>
              <a:rPr dirty="0" sz="1700" spc="-180"/>
              <a:t> </a:t>
            </a:r>
            <a:r>
              <a:rPr dirty="0" sz="1700"/>
              <a:t>sistema</a:t>
            </a:r>
            <a:r>
              <a:rPr dirty="0" sz="1700" spc="-185"/>
              <a:t> </a:t>
            </a:r>
            <a:r>
              <a:rPr dirty="0" sz="1700" spc="-10"/>
              <a:t>operativo generalmente</a:t>
            </a:r>
            <a:r>
              <a:rPr dirty="0" sz="1700" spc="-175"/>
              <a:t> </a:t>
            </a:r>
            <a:r>
              <a:rPr dirty="0" sz="1700"/>
              <a:t>no</a:t>
            </a:r>
            <a:r>
              <a:rPr dirty="0" sz="1700" spc="-175"/>
              <a:t> </a:t>
            </a:r>
            <a:r>
              <a:rPr dirty="0" sz="1700" spc="-25"/>
              <a:t>sabe</a:t>
            </a:r>
            <a:r>
              <a:rPr dirty="0" sz="1700" spc="-175"/>
              <a:t> </a:t>
            </a:r>
            <a:r>
              <a:rPr dirty="0" sz="1700"/>
              <a:t>cuánto</a:t>
            </a:r>
            <a:r>
              <a:rPr dirty="0" sz="1700" spc="-170"/>
              <a:t> </a:t>
            </a:r>
            <a:r>
              <a:rPr dirty="0" sz="1700"/>
              <a:t>tiempo</a:t>
            </a:r>
            <a:r>
              <a:rPr dirty="0" sz="1700" spc="-175"/>
              <a:t> </a:t>
            </a:r>
            <a:r>
              <a:rPr dirty="0" sz="1700" spc="-10"/>
              <a:t>va</a:t>
            </a:r>
            <a:r>
              <a:rPr dirty="0" sz="1700" spc="-175"/>
              <a:t> </a:t>
            </a:r>
            <a:r>
              <a:rPr dirty="0" sz="1700" spc="-35"/>
              <a:t>a</a:t>
            </a:r>
            <a:r>
              <a:rPr dirty="0" sz="1700" spc="-170"/>
              <a:t> </a:t>
            </a:r>
            <a:r>
              <a:rPr dirty="0" sz="1700"/>
              <a:t>durar</a:t>
            </a:r>
            <a:r>
              <a:rPr dirty="0" sz="1700" spc="-175"/>
              <a:t> </a:t>
            </a:r>
            <a:r>
              <a:rPr dirty="0" sz="1700" spc="-10"/>
              <a:t>un</a:t>
            </a:r>
            <a:r>
              <a:rPr dirty="0" sz="1700" spc="-175"/>
              <a:t> </a:t>
            </a:r>
            <a:r>
              <a:rPr dirty="0" sz="1700" spc="-25"/>
              <a:t>trabajo,</a:t>
            </a:r>
            <a:r>
              <a:rPr dirty="0" sz="1700" spc="-175"/>
              <a:t> </a:t>
            </a:r>
            <a:r>
              <a:rPr dirty="0" sz="1700"/>
              <a:t>precisamente</a:t>
            </a:r>
            <a:r>
              <a:rPr dirty="0" sz="1700" spc="-170"/>
              <a:t> </a:t>
            </a:r>
            <a:r>
              <a:rPr dirty="0" sz="1700" spc="-25"/>
              <a:t>el </a:t>
            </a:r>
            <a:r>
              <a:rPr dirty="0" sz="1700"/>
              <a:t>conocimiento</a:t>
            </a:r>
            <a:r>
              <a:rPr dirty="0" sz="1700" spc="-140"/>
              <a:t> </a:t>
            </a:r>
            <a:r>
              <a:rPr dirty="0" sz="1700" spc="-10"/>
              <a:t>que</a:t>
            </a:r>
            <a:r>
              <a:rPr dirty="0" sz="1700" spc="-140"/>
              <a:t> </a:t>
            </a:r>
            <a:r>
              <a:rPr dirty="0" sz="1700"/>
              <a:t>requieren</a:t>
            </a:r>
            <a:r>
              <a:rPr dirty="0" sz="1700" spc="-140"/>
              <a:t> </a:t>
            </a:r>
            <a:r>
              <a:rPr dirty="0" sz="1700"/>
              <a:t>algoritmos</a:t>
            </a:r>
            <a:r>
              <a:rPr dirty="0" sz="1700" spc="-140"/>
              <a:t> </a:t>
            </a:r>
            <a:r>
              <a:rPr dirty="0" sz="1700"/>
              <a:t>como</a:t>
            </a:r>
            <a:r>
              <a:rPr dirty="0" sz="1700" spc="-140"/>
              <a:t> </a:t>
            </a:r>
            <a:r>
              <a:rPr dirty="0" sz="1700"/>
              <a:t>SJF</a:t>
            </a:r>
            <a:r>
              <a:rPr dirty="0" sz="1700" spc="-135"/>
              <a:t> </a:t>
            </a:r>
            <a:r>
              <a:rPr dirty="0" sz="1700"/>
              <a:t>(Primero</a:t>
            </a:r>
            <a:r>
              <a:rPr dirty="0" sz="1700" spc="-140"/>
              <a:t> </a:t>
            </a:r>
            <a:r>
              <a:rPr dirty="0" sz="1700"/>
              <a:t>el</a:t>
            </a:r>
            <a:r>
              <a:rPr dirty="0" sz="1700" spc="-140"/>
              <a:t> </a:t>
            </a:r>
            <a:r>
              <a:rPr dirty="0" sz="1700" spc="-35"/>
              <a:t>Trabajo</a:t>
            </a:r>
            <a:r>
              <a:rPr dirty="0" sz="1700" spc="-140"/>
              <a:t> </a:t>
            </a:r>
            <a:r>
              <a:rPr dirty="0" sz="1700" spc="30"/>
              <a:t>Más </a:t>
            </a:r>
            <a:r>
              <a:rPr dirty="0" sz="1700"/>
              <a:t>Corto)</a:t>
            </a:r>
            <a:r>
              <a:rPr dirty="0" sz="1700" spc="-150"/>
              <a:t> </a:t>
            </a:r>
            <a:r>
              <a:rPr dirty="0" sz="1700"/>
              <a:t>o</a:t>
            </a:r>
            <a:r>
              <a:rPr dirty="0" sz="1700" spc="-150"/>
              <a:t> </a:t>
            </a:r>
            <a:r>
              <a:rPr dirty="0" sz="1700"/>
              <a:t>STCF</a:t>
            </a:r>
            <a:r>
              <a:rPr dirty="0" sz="1700" spc="-145"/>
              <a:t> </a:t>
            </a:r>
            <a:r>
              <a:rPr dirty="0" sz="1700"/>
              <a:t>(Primero</a:t>
            </a:r>
            <a:r>
              <a:rPr dirty="0" sz="1700" spc="-150"/>
              <a:t> </a:t>
            </a:r>
            <a:r>
              <a:rPr dirty="0" sz="1700"/>
              <a:t>el</a:t>
            </a:r>
            <a:r>
              <a:rPr dirty="0" sz="1700" spc="-150"/>
              <a:t> </a:t>
            </a:r>
            <a:r>
              <a:rPr dirty="0" sz="1700" spc="-35"/>
              <a:t>Trabajo</a:t>
            </a:r>
            <a:r>
              <a:rPr dirty="0" sz="1700" spc="-145"/>
              <a:t> </a:t>
            </a:r>
            <a:r>
              <a:rPr dirty="0" sz="1700" spc="55"/>
              <a:t>Más</a:t>
            </a:r>
            <a:r>
              <a:rPr dirty="0" sz="1700" spc="-150"/>
              <a:t> </a:t>
            </a:r>
            <a:r>
              <a:rPr dirty="0" sz="1700" spc="60"/>
              <a:t>Corto</a:t>
            </a:r>
            <a:r>
              <a:rPr dirty="0" sz="1700" spc="-145"/>
              <a:t> </a:t>
            </a:r>
            <a:r>
              <a:rPr dirty="0" sz="1700"/>
              <a:t>con</a:t>
            </a:r>
            <a:r>
              <a:rPr dirty="0" sz="1700" spc="-150"/>
              <a:t> </a:t>
            </a:r>
            <a:r>
              <a:rPr dirty="0" sz="1700" spc="-10"/>
              <a:t>Expiración).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/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595959"/>
              </a:buClr>
              <a:buFont typeface="Arial MT"/>
              <a:buChar char="●"/>
            </a:pPr>
            <a:endParaRPr sz="1700"/>
          </a:p>
          <a:p>
            <a:pPr marL="469900" marR="53975" indent="-359410">
              <a:lnSpc>
                <a:spcPts val="193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 spc="114"/>
              <a:t>MLFQ</a:t>
            </a:r>
            <a:r>
              <a:rPr dirty="0" sz="1700" spc="-180"/>
              <a:t> </a:t>
            </a:r>
            <a:r>
              <a:rPr dirty="0" sz="1700"/>
              <a:t>intenta</a:t>
            </a:r>
            <a:r>
              <a:rPr dirty="0" sz="1700" spc="-175"/>
              <a:t> </a:t>
            </a:r>
            <a:r>
              <a:rPr dirty="0" sz="1700" spc="-10"/>
              <a:t>que</a:t>
            </a:r>
            <a:r>
              <a:rPr dirty="0" sz="1700" spc="-180"/>
              <a:t> </a:t>
            </a:r>
            <a:r>
              <a:rPr dirty="0" sz="1700"/>
              <a:t>el</a:t>
            </a:r>
            <a:r>
              <a:rPr dirty="0" sz="1700" spc="-175"/>
              <a:t> </a:t>
            </a:r>
            <a:r>
              <a:rPr dirty="0" sz="1700"/>
              <a:t>sistema</a:t>
            </a:r>
            <a:r>
              <a:rPr dirty="0" sz="1700" spc="-175"/>
              <a:t> </a:t>
            </a:r>
            <a:r>
              <a:rPr dirty="0" sz="1700" spc="-35"/>
              <a:t>sea</a:t>
            </a:r>
            <a:r>
              <a:rPr dirty="0" sz="1700" spc="-180"/>
              <a:t> </a:t>
            </a:r>
            <a:r>
              <a:rPr dirty="0" sz="1700"/>
              <a:t>responsivo</a:t>
            </a:r>
            <a:r>
              <a:rPr dirty="0" sz="1700" spc="-175"/>
              <a:t> </a:t>
            </a:r>
            <a:r>
              <a:rPr dirty="0" sz="1700" spc="-35"/>
              <a:t>a</a:t>
            </a:r>
            <a:r>
              <a:rPr dirty="0" sz="1700" spc="-175"/>
              <a:t> </a:t>
            </a:r>
            <a:r>
              <a:rPr dirty="0" sz="1700"/>
              <a:t>los</a:t>
            </a:r>
            <a:r>
              <a:rPr dirty="0" sz="1700" spc="-180"/>
              <a:t> </a:t>
            </a:r>
            <a:r>
              <a:rPr dirty="0" sz="1700"/>
              <a:t>usuarios</a:t>
            </a:r>
            <a:r>
              <a:rPr dirty="0" sz="1700" spc="-175"/>
              <a:t> </a:t>
            </a:r>
            <a:r>
              <a:rPr dirty="0" sz="1700" spc="-10"/>
              <a:t>interactivos, </a:t>
            </a:r>
            <a:r>
              <a:rPr dirty="0" sz="1700"/>
              <a:t>minimizando</a:t>
            </a:r>
            <a:r>
              <a:rPr dirty="0" sz="1700" spc="-160"/>
              <a:t> </a:t>
            </a:r>
            <a:r>
              <a:rPr dirty="0" sz="1700"/>
              <a:t>el</a:t>
            </a:r>
            <a:r>
              <a:rPr dirty="0" sz="1700" spc="-165"/>
              <a:t> </a:t>
            </a:r>
            <a:r>
              <a:rPr dirty="0" sz="1700" spc="-120" b="1">
                <a:latin typeface="Tahoma"/>
                <a:cs typeface="Tahoma"/>
              </a:rPr>
              <a:t>response</a:t>
            </a:r>
            <a:r>
              <a:rPr dirty="0" sz="1700" spc="-130" b="1">
                <a:latin typeface="Tahoma"/>
                <a:cs typeface="Tahoma"/>
              </a:rPr>
              <a:t> time</a:t>
            </a:r>
            <a:r>
              <a:rPr dirty="0" sz="1700" spc="-130"/>
              <a:t>;</a:t>
            </a:r>
            <a:r>
              <a:rPr dirty="0" sz="1700" spc="-155"/>
              <a:t> </a:t>
            </a:r>
            <a:r>
              <a:rPr dirty="0" sz="1700"/>
              <a:t>sin</a:t>
            </a:r>
            <a:r>
              <a:rPr dirty="0" sz="1700" spc="-160"/>
              <a:t> </a:t>
            </a:r>
            <a:r>
              <a:rPr dirty="0" sz="1700" spc="-35"/>
              <a:t>embargo,</a:t>
            </a:r>
            <a:r>
              <a:rPr dirty="0" sz="1700" spc="-155"/>
              <a:t> </a:t>
            </a:r>
            <a:r>
              <a:rPr dirty="0" sz="1700"/>
              <a:t>algoritmos</a:t>
            </a:r>
            <a:r>
              <a:rPr dirty="0" sz="1700" spc="-160"/>
              <a:t> </a:t>
            </a:r>
            <a:r>
              <a:rPr dirty="0" sz="1700"/>
              <a:t>como</a:t>
            </a:r>
            <a:r>
              <a:rPr dirty="0" sz="1700" spc="-155"/>
              <a:t> </a:t>
            </a:r>
            <a:r>
              <a:rPr dirty="0" sz="1700"/>
              <a:t>Round</a:t>
            </a:r>
            <a:r>
              <a:rPr dirty="0" sz="1700" spc="-160"/>
              <a:t> </a:t>
            </a:r>
            <a:r>
              <a:rPr dirty="0" sz="1700" spc="-10"/>
              <a:t>Robin </a:t>
            </a:r>
            <a:r>
              <a:rPr dirty="0" sz="1700"/>
              <a:t>reducen</a:t>
            </a:r>
            <a:r>
              <a:rPr dirty="0" sz="1700" spc="-145"/>
              <a:t> </a:t>
            </a:r>
            <a:r>
              <a:rPr dirty="0" sz="1700"/>
              <a:t>el</a:t>
            </a:r>
            <a:r>
              <a:rPr dirty="0" sz="1700" spc="-140"/>
              <a:t> </a:t>
            </a:r>
            <a:r>
              <a:rPr dirty="0" sz="1700"/>
              <a:t>response</a:t>
            </a:r>
            <a:r>
              <a:rPr dirty="0" sz="1700" spc="-140"/>
              <a:t> </a:t>
            </a:r>
            <a:r>
              <a:rPr dirty="0" sz="1700" spc="-25"/>
              <a:t>time,</a:t>
            </a:r>
            <a:r>
              <a:rPr dirty="0" sz="1700" spc="-140"/>
              <a:t> </a:t>
            </a:r>
            <a:r>
              <a:rPr dirty="0" sz="1700"/>
              <a:t>pero</a:t>
            </a:r>
            <a:r>
              <a:rPr dirty="0" sz="1700" spc="-140"/>
              <a:t> </a:t>
            </a:r>
            <a:r>
              <a:rPr dirty="0" sz="1700" spc="-10"/>
              <a:t>son</a:t>
            </a:r>
            <a:r>
              <a:rPr dirty="0" sz="1700" spc="-140"/>
              <a:t> </a:t>
            </a:r>
            <a:r>
              <a:rPr dirty="0" sz="1700"/>
              <a:t>terribles</a:t>
            </a:r>
            <a:r>
              <a:rPr dirty="0" sz="1700" spc="-140"/>
              <a:t> </a:t>
            </a:r>
            <a:r>
              <a:rPr dirty="0" sz="1700" spc="-10"/>
              <a:t>para</a:t>
            </a:r>
            <a:r>
              <a:rPr dirty="0" sz="1700" spc="-140"/>
              <a:t> </a:t>
            </a:r>
            <a:r>
              <a:rPr dirty="0" sz="1700"/>
              <a:t>el</a:t>
            </a:r>
            <a:r>
              <a:rPr dirty="0" sz="1700" spc="-145"/>
              <a:t> </a:t>
            </a:r>
            <a:r>
              <a:rPr dirty="0" sz="1700"/>
              <a:t>turnaround</a:t>
            </a:r>
            <a:r>
              <a:rPr dirty="0" sz="1700" spc="-140"/>
              <a:t> </a:t>
            </a:r>
            <a:r>
              <a:rPr dirty="0" sz="1700" spc="-10"/>
              <a:t>time.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Multi</a:t>
            </a:r>
            <a:r>
              <a:rPr dirty="0" spc="-125"/>
              <a:t> </a:t>
            </a:r>
            <a:r>
              <a:rPr dirty="0" spc="55"/>
              <a:t>Level</a:t>
            </a:r>
            <a:r>
              <a:rPr dirty="0" spc="-190"/>
              <a:t> </a:t>
            </a:r>
            <a:r>
              <a:rPr dirty="0" spc="80"/>
              <a:t>Feedback</a:t>
            </a:r>
            <a:r>
              <a:rPr dirty="0" spc="-120"/>
              <a:t> </a:t>
            </a:r>
            <a:r>
              <a:rPr dirty="0" spc="70"/>
              <a:t>Queue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262255"/>
            <a:ext cx="7418070" cy="315531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Entonces:</a:t>
            </a:r>
            <a:endParaRPr sz="1700">
              <a:latin typeface="Tahoma"/>
              <a:cs typeface="Tahoma"/>
            </a:endParaRPr>
          </a:p>
          <a:p>
            <a:pPr algn="just" marL="469900" marR="5080" indent="-359410">
              <a:lnSpc>
                <a:spcPts val="1939"/>
              </a:lnSpc>
              <a:spcBef>
                <a:spcPts val="1245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lograr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objetivos</a:t>
            </a:r>
            <a:r>
              <a:rPr dirty="0" sz="17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si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generalmente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sabe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priori?.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conocimiento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acabado?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Clr>
                <a:srgbClr val="595959"/>
              </a:buClr>
              <a:buFont typeface="Arial MT"/>
              <a:buChar char="●"/>
            </a:pPr>
            <a:endParaRPr sz="1700">
              <a:latin typeface="Tahoma"/>
              <a:cs typeface="Tahoma"/>
            </a:endParaRPr>
          </a:p>
          <a:p>
            <a:pPr algn="just" marL="469900" marR="110489" indent="-359410">
              <a:lnSpc>
                <a:spcPts val="193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construye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minimice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respuesta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interactivas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minimice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2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timearound</a:t>
            </a:r>
            <a:r>
              <a:rPr dirty="0" sz="1700" spc="-1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700" spc="-1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conocimiento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35">
                <a:solidFill>
                  <a:srgbClr val="595959"/>
                </a:solidFill>
                <a:latin typeface="Tahoma"/>
                <a:cs typeface="Tahoma"/>
              </a:rPr>
              <a:t>priori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cuanto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dura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tarea?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54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/>
              <a:t>MLQF:</a:t>
            </a:r>
            <a:r>
              <a:rPr dirty="0" spc="-75"/>
              <a:t> </a:t>
            </a:r>
            <a:r>
              <a:rPr dirty="0" spc="114"/>
              <a:t>Las</a:t>
            </a:r>
            <a:r>
              <a:rPr dirty="0" spc="-70"/>
              <a:t> </a:t>
            </a:r>
            <a:r>
              <a:rPr dirty="0" spc="105"/>
              <a:t>reglas</a:t>
            </a:r>
            <a:r>
              <a:rPr dirty="0" spc="-70"/>
              <a:t> </a:t>
            </a:r>
            <a:r>
              <a:rPr dirty="0" spc="95"/>
              <a:t>básicas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6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pc="110"/>
              <a:t>MLFQ</a:t>
            </a:r>
            <a:r>
              <a:rPr dirty="0" spc="-160"/>
              <a:t> </a:t>
            </a:r>
            <a:r>
              <a:rPr dirty="0"/>
              <a:t>tiene</a:t>
            </a:r>
            <a:r>
              <a:rPr dirty="0" spc="-160"/>
              <a:t> </a:t>
            </a:r>
            <a:r>
              <a:rPr dirty="0"/>
              <a:t>un</a:t>
            </a:r>
            <a:r>
              <a:rPr dirty="0" spc="-160"/>
              <a:t> </a:t>
            </a:r>
            <a:r>
              <a:rPr dirty="0"/>
              <a:t>conjunto</a:t>
            </a:r>
            <a:r>
              <a:rPr dirty="0" spc="-160"/>
              <a:t> </a:t>
            </a:r>
            <a:r>
              <a:rPr dirty="0"/>
              <a:t>de</a:t>
            </a:r>
            <a:r>
              <a:rPr dirty="0" spc="-160"/>
              <a:t> </a:t>
            </a:r>
            <a:r>
              <a:rPr dirty="0"/>
              <a:t>distintas</a:t>
            </a:r>
            <a:r>
              <a:rPr dirty="0" spc="-160"/>
              <a:t> </a:t>
            </a:r>
            <a:r>
              <a:rPr dirty="0" spc="-35"/>
              <a:t>colas,</a:t>
            </a:r>
            <a:r>
              <a:rPr dirty="0" spc="-155"/>
              <a:t> </a:t>
            </a:r>
            <a:r>
              <a:rPr dirty="0" spc="-25"/>
              <a:t>cada</a:t>
            </a:r>
            <a:r>
              <a:rPr dirty="0" spc="-160"/>
              <a:t> </a:t>
            </a:r>
            <a:r>
              <a:rPr dirty="0" spc="-10"/>
              <a:t>una</a:t>
            </a:r>
            <a:r>
              <a:rPr dirty="0" spc="-160"/>
              <a:t> </a:t>
            </a:r>
            <a:r>
              <a:rPr dirty="0"/>
              <a:t>de</a:t>
            </a:r>
            <a:r>
              <a:rPr dirty="0" spc="-160"/>
              <a:t> </a:t>
            </a:r>
            <a:r>
              <a:rPr dirty="0" spc="-10"/>
              <a:t>estas</a:t>
            </a:r>
            <a:r>
              <a:rPr dirty="0" spc="-160"/>
              <a:t> </a:t>
            </a:r>
            <a:r>
              <a:rPr dirty="0"/>
              <a:t>colas</a:t>
            </a:r>
            <a:r>
              <a:rPr dirty="0" spc="-160"/>
              <a:t> </a:t>
            </a:r>
            <a:r>
              <a:rPr dirty="0"/>
              <a:t>tiene</a:t>
            </a:r>
            <a:r>
              <a:rPr dirty="0" spc="-155"/>
              <a:t> </a:t>
            </a:r>
            <a:r>
              <a:rPr dirty="0" spc="-25"/>
              <a:t>asignado</a:t>
            </a:r>
            <a:r>
              <a:rPr dirty="0" spc="-160"/>
              <a:t> </a:t>
            </a:r>
            <a:r>
              <a:rPr dirty="0" spc="-25"/>
              <a:t>un </a:t>
            </a:r>
            <a:r>
              <a:rPr dirty="0"/>
              <a:t>nivel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 spc="-10"/>
              <a:t>prioridad.</a:t>
            </a:r>
          </a:p>
          <a:p>
            <a:pPr marL="12700" marR="250190">
              <a:lnSpc>
                <a:spcPct val="114999"/>
              </a:lnSpc>
              <a:spcBef>
                <a:spcPts val="1200"/>
              </a:spcBef>
            </a:pPr>
            <a:r>
              <a:rPr dirty="0"/>
              <a:t>En</a:t>
            </a:r>
            <a:r>
              <a:rPr dirty="0" spc="-165"/>
              <a:t> </a:t>
            </a:r>
            <a:r>
              <a:rPr dirty="0"/>
              <a:t>un</a:t>
            </a:r>
            <a:r>
              <a:rPr dirty="0" spc="-165"/>
              <a:t> </a:t>
            </a:r>
            <a:r>
              <a:rPr dirty="0"/>
              <a:t>determinado</a:t>
            </a:r>
            <a:r>
              <a:rPr dirty="0" spc="-165"/>
              <a:t> </a:t>
            </a:r>
            <a:r>
              <a:rPr dirty="0" spc="-25"/>
              <a:t>tiempo,</a:t>
            </a:r>
            <a:r>
              <a:rPr dirty="0" spc="-165"/>
              <a:t> </a:t>
            </a:r>
            <a:r>
              <a:rPr dirty="0" spc="-10"/>
              <a:t>una</a:t>
            </a:r>
            <a:r>
              <a:rPr dirty="0" spc="-160"/>
              <a:t> </a:t>
            </a:r>
            <a:r>
              <a:rPr dirty="0"/>
              <a:t>tarea</a:t>
            </a:r>
            <a:r>
              <a:rPr dirty="0" spc="-165"/>
              <a:t> </a:t>
            </a:r>
            <a:r>
              <a:rPr dirty="0"/>
              <a:t>que</a:t>
            </a:r>
            <a:r>
              <a:rPr dirty="0" spc="-165"/>
              <a:t> </a:t>
            </a:r>
            <a:r>
              <a:rPr dirty="0"/>
              <a:t>está</a:t>
            </a:r>
            <a:r>
              <a:rPr dirty="0" spc="-165"/>
              <a:t> </a:t>
            </a:r>
            <a:r>
              <a:rPr dirty="0"/>
              <a:t>lista</a:t>
            </a:r>
            <a:r>
              <a:rPr dirty="0" spc="-165"/>
              <a:t> </a:t>
            </a:r>
            <a:r>
              <a:rPr dirty="0" spc="-20"/>
              <a:t>para</a:t>
            </a:r>
            <a:r>
              <a:rPr dirty="0" spc="-160"/>
              <a:t> </a:t>
            </a:r>
            <a:r>
              <a:rPr dirty="0"/>
              <a:t>ser</a:t>
            </a:r>
            <a:r>
              <a:rPr dirty="0" spc="-165"/>
              <a:t> </a:t>
            </a:r>
            <a:r>
              <a:rPr dirty="0" spc="-10"/>
              <a:t>ejecutada</a:t>
            </a:r>
            <a:r>
              <a:rPr dirty="0" spc="-165"/>
              <a:t> </a:t>
            </a:r>
            <a:r>
              <a:rPr dirty="0"/>
              <a:t>está</a:t>
            </a:r>
            <a:r>
              <a:rPr dirty="0" spc="-165"/>
              <a:t> </a:t>
            </a:r>
            <a:r>
              <a:rPr dirty="0"/>
              <a:t>en</a:t>
            </a:r>
            <a:r>
              <a:rPr dirty="0" spc="-165"/>
              <a:t> </a:t>
            </a:r>
            <a:r>
              <a:rPr dirty="0" spc="-25"/>
              <a:t>una </a:t>
            </a:r>
            <a:r>
              <a:rPr dirty="0"/>
              <a:t>única</a:t>
            </a:r>
            <a:r>
              <a:rPr dirty="0" spc="-130"/>
              <a:t> </a:t>
            </a:r>
            <a:r>
              <a:rPr dirty="0" spc="-35"/>
              <a:t>cola.</a:t>
            </a:r>
            <a:r>
              <a:rPr dirty="0" spc="-130"/>
              <a:t> </a:t>
            </a:r>
            <a:r>
              <a:rPr dirty="0" spc="110"/>
              <a:t>MLFQ</a:t>
            </a:r>
            <a:r>
              <a:rPr dirty="0" spc="-130"/>
              <a:t> </a:t>
            </a:r>
            <a:r>
              <a:rPr dirty="0" spc="-25"/>
              <a:t>usa</a:t>
            </a:r>
            <a:r>
              <a:rPr dirty="0" spc="-125"/>
              <a:t> </a:t>
            </a:r>
            <a:r>
              <a:rPr dirty="0"/>
              <a:t>las</a:t>
            </a:r>
            <a:r>
              <a:rPr dirty="0" spc="-130"/>
              <a:t> </a:t>
            </a:r>
            <a:r>
              <a:rPr dirty="0"/>
              <a:t>prioridades</a:t>
            </a:r>
            <a:r>
              <a:rPr dirty="0" spc="-130"/>
              <a:t> </a:t>
            </a:r>
            <a:r>
              <a:rPr dirty="0" spc="-20"/>
              <a:t>para</a:t>
            </a:r>
            <a:r>
              <a:rPr dirty="0" spc="-130"/>
              <a:t> </a:t>
            </a:r>
            <a:r>
              <a:rPr dirty="0"/>
              <a:t>decidir</a:t>
            </a:r>
            <a:r>
              <a:rPr dirty="0" spc="-130"/>
              <a:t> </a:t>
            </a:r>
            <a:r>
              <a:rPr dirty="0"/>
              <a:t>cual</a:t>
            </a:r>
            <a:r>
              <a:rPr dirty="0" spc="-125"/>
              <a:t> </a:t>
            </a:r>
            <a:r>
              <a:rPr dirty="0"/>
              <a:t>tarea</a:t>
            </a:r>
            <a:r>
              <a:rPr dirty="0" spc="-130"/>
              <a:t> </a:t>
            </a:r>
            <a:r>
              <a:rPr dirty="0"/>
              <a:t>debería</a:t>
            </a:r>
            <a:r>
              <a:rPr dirty="0" spc="-130"/>
              <a:t> </a:t>
            </a:r>
            <a:r>
              <a:rPr dirty="0"/>
              <a:t>correr</a:t>
            </a:r>
            <a:r>
              <a:rPr dirty="0" spc="-130"/>
              <a:t> </a:t>
            </a:r>
            <a:r>
              <a:rPr dirty="0"/>
              <a:t>en</a:t>
            </a:r>
            <a:r>
              <a:rPr dirty="0" spc="-125"/>
              <a:t> </a:t>
            </a:r>
            <a:r>
              <a:rPr dirty="0" spc="-25"/>
              <a:t>un </a:t>
            </a:r>
            <a:r>
              <a:rPr dirty="0"/>
              <a:t>determinado</a:t>
            </a:r>
            <a:r>
              <a:rPr dirty="0" spc="-155"/>
              <a:t> </a:t>
            </a:r>
            <a:r>
              <a:rPr dirty="0"/>
              <a:t>tiempo</a:t>
            </a:r>
            <a:r>
              <a:rPr dirty="0" spc="-155"/>
              <a:t> </a:t>
            </a:r>
            <a:r>
              <a:rPr dirty="0" spc="-25"/>
              <a:t>t0: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50"/>
              <a:t> </a:t>
            </a:r>
            <a:r>
              <a:rPr dirty="0"/>
              <a:t>tarea</a:t>
            </a:r>
            <a:r>
              <a:rPr dirty="0" spc="-155"/>
              <a:t> </a:t>
            </a:r>
            <a:r>
              <a:rPr dirty="0"/>
              <a:t>con</a:t>
            </a:r>
            <a:r>
              <a:rPr dirty="0" spc="-155"/>
              <a:t> </a:t>
            </a:r>
            <a:r>
              <a:rPr dirty="0" spc="-10"/>
              <a:t>mayor</a:t>
            </a:r>
            <a:r>
              <a:rPr dirty="0" spc="-155"/>
              <a:t> </a:t>
            </a:r>
            <a:r>
              <a:rPr dirty="0"/>
              <a:t>prioridad</a:t>
            </a:r>
            <a:r>
              <a:rPr dirty="0" spc="-150"/>
              <a:t> </a:t>
            </a:r>
            <a:r>
              <a:rPr dirty="0"/>
              <a:t>o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55"/>
              <a:t> </a:t>
            </a:r>
            <a:r>
              <a:rPr dirty="0"/>
              <a:t>tarea</a:t>
            </a:r>
            <a:r>
              <a:rPr dirty="0" spc="-155"/>
              <a:t> </a:t>
            </a:r>
            <a:r>
              <a:rPr dirty="0"/>
              <a:t>en</a:t>
            </a:r>
            <a:r>
              <a:rPr dirty="0" spc="-150"/>
              <a:t> </a:t>
            </a:r>
            <a:r>
              <a:rPr dirty="0"/>
              <a:t>la</a:t>
            </a:r>
            <a:r>
              <a:rPr dirty="0" spc="-155"/>
              <a:t> </a:t>
            </a:r>
            <a:r>
              <a:rPr dirty="0"/>
              <a:t>cola</a:t>
            </a:r>
            <a:r>
              <a:rPr dirty="0" spc="-155"/>
              <a:t> </a:t>
            </a:r>
            <a:r>
              <a:rPr dirty="0" spc="-35"/>
              <a:t>mas</a:t>
            </a:r>
            <a:r>
              <a:rPr dirty="0" spc="-155"/>
              <a:t> </a:t>
            </a:r>
            <a:r>
              <a:rPr dirty="0" spc="-20"/>
              <a:t>alta </a:t>
            </a:r>
            <a:r>
              <a:rPr dirty="0" spc="-10"/>
              <a:t>sera</a:t>
            </a:r>
            <a:r>
              <a:rPr dirty="0" spc="-175"/>
              <a:t> </a:t>
            </a:r>
            <a:r>
              <a:rPr dirty="0"/>
              <a:t>elegida</a:t>
            </a:r>
            <a:r>
              <a:rPr dirty="0" spc="-170"/>
              <a:t> </a:t>
            </a:r>
            <a:r>
              <a:rPr dirty="0" spc="-20"/>
              <a:t>para</a:t>
            </a:r>
            <a:r>
              <a:rPr dirty="0" spc="-175"/>
              <a:t> </a:t>
            </a:r>
            <a:r>
              <a:rPr dirty="0"/>
              <a:t>ser</a:t>
            </a:r>
            <a:r>
              <a:rPr dirty="0" spc="-170"/>
              <a:t> </a:t>
            </a:r>
            <a:r>
              <a:rPr dirty="0" spc="-10"/>
              <a:t>ejecutada.</a:t>
            </a:r>
          </a:p>
          <a:p>
            <a:pPr marL="12700" marR="594995">
              <a:lnSpc>
                <a:spcPct val="114999"/>
              </a:lnSpc>
              <a:spcBef>
                <a:spcPts val="1200"/>
              </a:spcBef>
            </a:pPr>
            <a:r>
              <a:rPr dirty="0"/>
              <a:t>Dado</a:t>
            </a:r>
            <a:r>
              <a:rPr dirty="0" spc="-155"/>
              <a:t> </a:t>
            </a:r>
            <a:r>
              <a:rPr dirty="0"/>
              <a:t>el</a:t>
            </a:r>
            <a:r>
              <a:rPr dirty="0" spc="-150"/>
              <a:t> </a:t>
            </a:r>
            <a:r>
              <a:rPr dirty="0" spc="-10"/>
              <a:t>caso</a:t>
            </a:r>
            <a:r>
              <a:rPr dirty="0" spc="-150"/>
              <a:t> </a:t>
            </a:r>
            <a:r>
              <a:rPr dirty="0"/>
              <a:t>que</a:t>
            </a:r>
            <a:r>
              <a:rPr dirty="0" spc="-150"/>
              <a:t> </a:t>
            </a:r>
            <a:r>
              <a:rPr dirty="0"/>
              <a:t>existan</a:t>
            </a:r>
            <a:r>
              <a:rPr dirty="0" spc="-155"/>
              <a:t> </a:t>
            </a:r>
            <a:r>
              <a:rPr dirty="0" spc="-35"/>
              <a:t>más</a:t>
            </a:r>
            <a:r>
              <a:rPr dirty="0" spc="-150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 spc="-10"/>
              <a:t>una</a:t>
            </a:r>
            <a:r>
              <a:rPr dirty="0" spc="-150"/>
              <a:t> </a:t>
            </a:r>
            <a:r>
              <a:rPr dirty="0"/>
              <a:t>tarea</a:t>
            </a:r>
            <a:r>
              <a:rPr dirty="0" spc="-155"/>
              <a:t> </a:t>
            </a:r>
            <a:r>
              <a:rPr dirty="0"/>
              <a:t>con</a:t>
            </a:r>
            <a:r>
              <a:rPr dirty="0" spc="-150"/>
              <a:t> </a:t>
            </a:r>
            <a:r>
              <a:rPr dirty="0"/>
              <a:t>la</a:t>
            </a:r>
            <a:r>
              <a:rPr dirty="0" spc="-150"/>
              <a:t> </a:t>
            </a:r>
            <a:r>
              <a:rPr dirty="0" spc="-25"/>
              <a:t>misma</a:t>
            </a:r>
            <a:r>
              <a:rPr dirty="0" spc="-150"/>
              <a:t> </a:t>
            </a:r>
            <a:r>
              <a:rPr dirty="0"/>
              <a:t>prioridad</a:t>
            </a:r>
            <a:r>
              <a:rPr dirty="0" spc="-150"/>
              <a:t> </a:t>
            </a:r>
            <a:r>
              <a:rPr dirty="0"/>
              <a:t>entonces</a:t>
            </a:r>
            <a:r>
              <a:rPr dirty="0" spc="-155"/>
              <a:t> </a:t>
            </a:r>
            <a:r>
              <a:rPr dirty="0" spc="-25"/>
              <a:t>se </a:t>
            </a:r>
            <a:r>
              <a:rPr dirty="0"/>
              <a:t>utilizará</a:t>
            </a:r>
            <a:r>
              <a:rPr dirty="0" spc="-130"/>
              <a:t> </a:t>
            </a:r>
            <a:r>
              <a:rPr dirty="0"/>
              <a:t>el</a:t>
            </a:r>
            <a:r>
              <a:rPr dirty="0" spc="-130"/>
              <a:t> </a:t>
            </a:r>
            <a:r>
              <a:rPr dirty="0"/>
              <a:t>algoritmo</a:t>
            </a:r>
            <a:r>
              <a:rPr dirty="0" spc="-130"/>
              <a:t> </a:t>
            </a:r>
            <a:r>
              <a:rPr dirty="0"/>
              <a:t>de</a:t>
            </a:r>
            <a:r>
              <a:rPr dirty="0" spc="-125"/>
              <a:t> </a:t>
            </a:r>
            <a:r>
              <a:rPr dirty="0"/>
              <a:t>Round</a:t>
            </a:r>
            <a:r>
              <a:rPr dirty="0" spc="-130"/>
              <a:t> </a:t>
            </a:r>
            <a:r>
              <a:rPr dirty="0"/>
              <a:t>Robin</a:t>
            </a:r>
            <a:r>
              <a:rPr dirty="0" spc="-130"/>
              <a:t> </a:t>
            </a:r>
            <a:r>
              <a:rPr dirty="0" spc="-20"/>
              <a:t>para</a:t>
            </a:r>
            <a:r>
              <a:rPr dirty="0" spc="-125"/>
              <a:t> </a:t>
            </a:r>
            <a:r>
              <a:rPr dirty="0"/>
              <a:t>planificar</a:t>
            </a:r>
            <a:r>
              <a:rPr dirty="0" spc="-130"/>
              <a:t> </a:t>
            </a:r>
            <a:r>
              <a:rPr dirty="0" spc="-10"/>
              <a:t>estas</a:t>
            </a:r>
            <a:r>
              <a:rPr dirty="0" spc="-130"/>
              <a:t> </a:t>
            </a:r>
            <a:r>
              <a:rPr dirty="0"/>
              <a:t>tareas</a:t>
            </a:r>
            <a:r>
              <a:rPr dirty="0" spc="-125"/>
              <a:t> </a:t>
            </a:r>
            <a:r>
              <a:rPr dirty="0"/>
              <a:t>entre</a:t>
            </a:r>
            <a:r>
              <a:rPr dirty="0" spc="-130"/>
              <a:t> </a:t>
            </a:r>
            <a:r>
              <a:rPr dirty="0" spc="-10"/>
              <a:t>ellas.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3675" y="1114137"/>
            <a:ext cx="3581399" cy="3724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0"/>
              </a:spcBef>
            </a:pPr>
            <a:r>
              <a:rPr dirty="0"/>
              <a:t>MLQF:</a:t>
            </a:r>
            <a:r>
              <a:rPr dirty="0" spc="-75"/>
              <a:t> </a:t>
            </a:r>
            <a:r>
              <a:rPr dirty="0" spc="114"/>
              <a:t>Las</a:t>
            </a:r>
            <a:r>
              <a:rPr dirty="0" spc="-70"/>
              <a:t> </a:t>
            </a:r>
            <a:r>
              <a:rPr dirty="0" spc="105"/>
              <a:t>reglas</a:t>
            </a:r>
            <a:r>
              <a:rPr dirty="0" spc="-70"/>
              <a:t> </a:t>
            </a:r>
            <a:r>
              <a:rPr dirty="0" spc="95"/>
              <a:t>básicas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MLQF:</a:t>
            </a:r>
            <a:r>
              <a:rPr dirty="0" spc="-75"/>
              <a:t> </a:t>
            </a:r>
            <a:r>
              <a:rPr dirty="0" spc="114"/>
              <a:t>Las</a:t>
            </a:r>
            <a:r>
              <a:rPr dirty="0" spc="-70"/>
              <a:t> </a:t>
            </a:r>
            <a:r>
              <a:rPr dirty="0" spc="105"/>
              <a:t>reglas</a:t>
            </a:r>
            <a:r>
              <a:rPr dirty="0" spc="-70"/>
              <a:t> </a:t>
            </a:r>
            <a:r>
              <a:rPr dirty="0" spc="95"/>
              <a:t>básicas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88016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Las</a:t>
            </a:r>
            <a:r>
              <a:rPr dirty="0" spc="-190"/>
              <a:t> </a:t>
            </a:r>
            <a:r>
              <a:rPr dirty="0" spc="50"/>
              <a:t>2</a:t>
            </a:r>
            <a:r>
              <a:rPr dirty="0" spc="-190"/>
              <a:t> </a:t>
            </a:r>
            <a:r>
              <a:rPr dirty="0"/>
              <a:t>reglas</a:t>
            </a:r>
            <a:r>
              <a:rPr dirty="0" spc="-190"/>
              <a:t> </a:t>
            </a:r>
            <a:r>
              <a:rPr dirty="0" spc="-10"/>
              <a:t>básicas</a:t>
            </a:r>
            <a:r>
              <a:rPr dirty="0" spc="-190"/>
              <a:t> </a:t>
            </a:r>
            <a:r>
              <a:rPr dirty="0"/>
              <a:t>de</a:t>
            </a:r>
            <a:r>
              <a:rPr dirty="0" spc="-190"/>
              <a:t> </a:t>
            </a:r>
            <a:r>
              <a:rPr dirty="0" spc="40"/>
              <a:t>MLFQ:</a:t>
            </a:r>
          </a:p>
          <a:p>
            <a:pPr marL="467995">
              <a:lnSpc>
                <a:spcPct val="100000"/>
              </a:lnSpc>
              <a:spcBef>
                <a:spcPts val="1485"/>
              </a:spcBef>
            </a:pPr>
            <a:r>
              <a:rPr dirty="0" spc="-60" b="1">
                <a:latin typeface="Tahoma"/>
                <a:cs typeface="Tahoma"/>
              </a:rPr>
              <a:t>REGLA</a:t>
            </a:r>
            <a:r>
              <a:rPr dirty="0" spc="-125" b="1">
                <a:latin typeface="Tahoma"/>
                <a:cs typeface="Tahoma"/>
              </a:rPr>
              <a:t> </a:t>
            </a:r>
            <a:r>
              <a:rPr dirty="0" spc="-145" b="1">
                <a:latin typeface="Tahoma"/>
                <a:cs typeface="Tahoma"/>
              </a:rPr>
              <a:t>1</a:t>
            </a:r>
            <a:r>
              <a:rPr dirty="0" spc="-145"/>
              <a:t>:</a:t>
            </a:r>
            <a:r>
              <a:rPr dirty="0" spc="-160"/>
              <a:t> </a:t>
            </a:r>
            <a:r>
              <a:rPr dirty="0"/>
              <a:t>si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60"/>
              <a:t> </a:t>
            </a:r>
            <a:r>
              <a:rPr dirty="0"/>
              <a:t>prioridad</a:t>
            </a:r>
            <a:r>
              <a:rPr dirty="0" spc="-160"/>
              <a:t> </a:t>
            </a:r>
            <a:r>
              <a:rPr dirty="0" spc="-60"/>
              <a:t>(A)</a:t>
            </a:r>
            <a:r>
              <a:rPr dirty="0" spc="-155"/>
              <a:t> </a:t>
            </a:r>
            <a:r>
              <a:rPr dirty="0" spc="-25"/>
              <a:t>es</a:t>
            </a:r>
            <a:r>
              <a:rPr dirty="0" spc="-160"/>
              <a:t> </a:t>
            </a:r>
            <a:r>
              <a:rPr dirty="0" spc="-10"/>
              <a:t>mayor</a:t>
            </a:r>
            <a:r>
              <a:rPr dirty="0" spc="-160"/>
              <a:t> </a:t>
            </a:r>
            <a:r>
              <a:rPr dirty="0"/>
              <a:t>que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60"/>
              <a:t> </a:t>
            </a:r>
            <a:r>
              <a:rPr dirty="0"/>
              <a:t>prioridad</a:t>
            </a:r>
            <a:r>
              <a:rPr dirty="0" spc="-160"/>
              <a:t> </a:t>
            </a:r>
            <a:r>
              <a:rPr dirty="0"/>
              <a:t>de</a:t>
            </a:r>
            <a:r>
              <a:rPr dirty="0" spc="-155"/>
              <a:t> </a:t>
            </a:r>
            <a:r>
              <a:rPr dirty="0" spc="-85"/>
              <a:t>(B),</a:t>
            </a:r>
            <a:r>
              <a:rPr dirty="0" spc="-160"/>
              <a:t> </a:t>
            </a:r>
            <a:r>
              <a:rPr dirty="0" spc="-60"/>
              <a:t>(A)</a:t>
            </a:r>
            <a:r>
              <a:rPr dirty="0" spc="-160"/>
              <a:t> </a:t>
            </a:r>
            <a:r>
              <a:rPr dirty="0" spc="-25"/>
              <a:t>se</a:t>
            </a:r>
            <a:r>
              <a:rPr dirty="0" spc="-155"/>
              <a:t> </a:t>
            </a:r>
            <a:r>
              <a:rPr dirty="0"/>
              <a:t>ejecuta</a:t>
            </a:r>
            <a:r>
              <a:rPr dirty="0" spc="-160"/>
              <a:t> </a:t>
            </a:r>
            <a:r>
              <a:rPr dirty="0"/>
              <a:t>y</a:t>
            </a:r>
            <a:r>
              <a:rPr dirty="0" spc="-155"/>
              <a:t> </a:t>
            </a:r>
            <a:r>
              <a:rPr dirty="0" spc="-25"/>
              <a:t>(B)</a:t>
            </a:r>
          </a:p>
          <a:p>
            <a:pPr marL="10795">
              <a:lnSpc>
                <a:spcPct val="100000"/>
              </a:lnSpc>
              <a:spcBef>
                <a:spcPts val="290"/>
              </a:spcBef>
            </a:pPr>
            <a:r>
              <a:rPr dirty="0" spc="-25"/>
              <a:t>no.</a:t>
            </a:r>
          </a:p>
          <a:p>
            <a:pPr marL="10795" marR="105410" indent="457200">
              <a:lnSpc>
                <a:spcPct val="114999"/>
              </a:lnSpc>
              <a:spcBef>
                <a:spcPts val="1200"/>
              </a:spcBef>
            </a:pPr>
            <a:r>
              <a:rPr dirty="0" spc="-60" b="1">
                <a:latin typeface="Tahoma"/>
                <a:cs typeface="Tahoma"/>
              </a:rPr>
              <a:t>REGLA</a:t>
            </a:r>
            <a:r>
              <a:rPr dirty="0" spc="-125" b="1">
                <a:latin typeface="Tahoma"/>
                <a:cs typeface="Tahoma"/>
              </a:rPr>
              <a:t> </a:t>
            </a:r>
            <a:r>
              <a:rPr dirty="0" spc="-145" b="1">
                <a:latin typeface="Tahoma"/>
                <a:cs typeface="Tahoma"/>
              </a:rPr>
              <a:t>2</a:t>
            </a:r>
            <a:r>
              <a:rPr dirty="0" spc="-145"/>
              <a:t>:</a:t>
            </a:r>
            <a:r>
              <a:rPr dirty="0" spc="-155"/>
              <a:t> </a:t>
            </a:r>
            <a:r>
              <a:rPr dirty="0"/>
              <a:t>si</a:t>
            </a:r>
            <a:r>
              <a:rPr dirty="0" spc="-160"/>
              <a:t> </a:t>
            </a:r>
            <a:r>
              <a:rPr dirty="0"/>
              <a:t>la</a:t>
            </a:r>
            <a:r>
              <a:rPr dirty="0" spc="-160"/>
              <a:t> </a:t>
            </a:r>
            <a:r>
              <a:rPr dirty="0"/>
              <a:t>prioridad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60"/>
              <a:t> </a:t>
            </a:r>
            <a:r>
              <a:rPr dirty="0" spc="-60"/>
              <a:t>(A)</a:t>
            </a:r>
            <a:r>
              <a:rPr dirty="0" spc="-160"/>
              <a:t> </a:t>
            </a:r>
            <a:r>
              <a:rPr dirty="0" spc="-25"/>
              <a:t>es</a:t>
            </a:r>
            <a:r>
              <a:rPr dirty="0" spc="-155"/>
              <a:t> </a:t>
            </a:r>
            <a:r>
              <a:rPr dirty="0"/>
              <a:t>igual</a:t>
            </a:r>
            <a:r>
              <a:rPr dirty="0" spc="-160"/>
              <a:t> </a:t>
            </a:r>
            <a:r>
              <a:rPr dirty="0" spc="-40"/>
              <a:t>a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60"/>
              <a:t> </a:t>
            </a:r>
            <a:r>
              <a:rPr dirty="0"/>
              <a:t>prioridad</a:t>
            </a:r>
            <a:r>
              <a:rPr dirty="0" spc="-160"/>
              <a:t> </a:t>
            </a:r>
            <a:r>
              <a:rPr dirty="0"/>
              <a:t>de</a:t>
            </a:r>
            <a:r>
              <a:rPr dirty="0" spc="-155"/>
              <a:t> </a:t>
            </a:r>
            <a:r>
              <a:rPr dirty="0" spc="-85"/>
              <a:t>(B),</a:t>
            </a:r>
            <a:r>
              <a:rPr dirty="0" spc="-160"/>
              <a:t> </a:t>
            </a:r>
            <a:r>
              <a:rPr dirty="0" spc="-60"/>
              <a:t>(A)</a:t>
            </a:r>
            <a:r>
              <a:rPr dirty="0" spc="-155"/>
              <a:t> </a:t>
            </a:r>
            <a:r>
              <a:rPr dirty="0"/>
              <a:t>y</a:t>
            </a:r>
            <a:r>
              <a:rPr dirty="0" spc="-160"/>
              <a:t> </a:t>
            </a:r>
            <a:r>
              <a:rPr dirty="0" spc="-45"/>
              <a:t>(B)se</a:t>
            </a:r>
            <a:r>
              <a:rPr dirty="0" spc="-160"/>
              <a:t> </a:t>
            </a:r>
            <a:r>
              <a:rPr dirty="0" spc="-10"/>
              <a:t>ejecutan </a:t>
            </a:r>
            <a:r>
              <a:rPr dirty="0"/>
              <a:t>en</a:t>
            </a:r>
            <a:r>
              <a:rPr dirty="0" spc="-195"/>
              <a:t> </a:t>
            </a:r>
            <a:r>
              <a:rPr dirty="0"/>
              <a:t>Round-</a:t>
            </a:r>
            <a:r>
              <a:rPr dirty="0" spc="-10"/>
              <a:t>Robin.</a:t>
            </a:r>
          </a:p>
          <a:p>
            <a:pPr marL="10795" marR="5080">
              <a:lnSpc>
                <a:spcPct val="114999"/>
              </a:lnSpc>
              <a:spcBef>
                <a:spcPts val="1200"/>
              </a:spcBef>
            </a:pPr>
            <a:r>
              <a:rPr dirty="0" spc="-10"/>
              <a:t>La</a:t>
            </a:r>
            <a:r>
              <a:rPr dirty="0" spc="-160"/>
              <a:t> </a:t>
            </a:r>
            <a:r>
              <a:rPr dirty="0" spc="-10"/>
              <a:t>clave</a:t>
            </a:r>
            <a:r>
              <a:rPr dirty="0" spc="-155"/>
              <a:t> </a:t>
            </a:r>
            <a:r>
              <a:rPr dirty="0" spc="-20"/>
              <a:t>para</a:t>
            </a:r>
            <a:r>
              <a:rPr dirty="0" spc="-155"/>
              <a:t> </a:t>
            </a:r>
            <a:r>
              <a:rPr dirty="0"/>
              <a:t>la</a:t>
            </a:r>
            <a:r>
              <a:rPr dirty="0" spc="-155"/>
              <a:t> </a:t>
            </a:r>
            <a:r>
              <a:rPr dirty="0"/>
              <a:t>planificación</a:t>
            </a:r>
            <a:r>
              <a:rPr dirty="0" spc="-155"/>
              <a:t> </a:t>
            </a:r>
            <a:r>
              <a:rPr dirty="0" spc="110"/>
              <a:t>MLFQ</a:t>
            </a:r>
            <a:r>
              <a:rPr dirty="0" spc="-155"/>
              <a:t> </a:t>
            </a:r>
            <a:r>
              <a:rPr dirty="0" spc="-10"/>
              <a:t>subyace</a:t>
            </a:r>
            <a:r>
              <a:rPr dirty="0" spc="-155"/>
              <a:t> </a:t>
            </a:r>
            <a:r>
              <a:rPr dirty="0"/>
              <a:t>entonces</a:t>
            </a:r>
            <a:r>
              <a:rPr dirty="0" spc="-160"/>
              <a:t> </a:t>
            </a:r>
            <a:r>
              <a:rPr dirty="0"/>
              <a:t>en</a:t>
            </a:r>
            <a:r>
              <a:rPr dirty="0" spc="-155"/>
              <a:t> </a:t>
            </a:r>
            <a:r>
              <a:rPr dirty="0"/>
              <a:t>cómo</a:t>
            </a:r>
            <a:r>
              <a:rPr dirty="0" spc="-155"/>
              <a:t> </a:t>
            </a:r>
            <a:r>
              <a:rPr dirty="0"/>
              <a:t>el</a:t>
            </a:r>
            <a:r>
              <a:rPr dirty="0" spc="-155"/>
              <a:t> </a:t>
            </a:r>
            <a:r>
              <a:rPr dirty="0"/>
              <a:t>planificador</a:t>
            </a:r>
            <a:r>
              <a:rPr dirty="0" spc="-155"/>
              <a:t> </a:t>
            </a:r>
            <a:r>
              <a:rPr dirty="0" spc="-10"/>
              <a:t>setea </a:t>
            </a:r>
            <a:r>
              <a:rPr dirty="0"/>
              <a:t>las</a:t>
            </a:r>
            <a:r>
              <a:rPr dirty="0" spc="-170"/>
              <a:t> </a:t>
            </a:r>
            <a:r>
              <a:rPr dirty="0"/>
              <a:t>prioridades.</a:t>
            </a:r>
            <a:r>
              <a:rPr dirty="0" spc="-165"/>
              <a:t> </a:t>
            </a:r>
            <a:r>
              <a:rPr dirty="0"/>
              <a:t>En</a:t>
            </a:r>
            <a:r>
              <a:rPr dirty="0" spc="-165"/>
              <a:t> </a:t>
            </a:r>
            <a:r>
              <a:rPr dirty="0"/>
              <a:t>vez</a:t>
            </a:r>
            <a:r>
              <a:rPr dirty="0" spc="-165"/>
              <a:t> </a:t>
            </a:r>
            <a:r>
              <a:rPr dirty="0"/>
              <a:t>de</a:t>
            </a:r>
            <a:r>
              <a:rPr dirty="0" spc="-170"/>
              <a:t> </a:t>
            </a:r>
            <a:r>
              <a:rPr dirty="0"/>
              <a:t>dar</a:t>
            </a:r>
            <a:r>
              <a:rPr dirty="0" spc="-165"/>
              <a:t> </a:t>
            </a:r>
            <a:r>
              <a:rPr dirty="0" spc="-10"/>
              <a:t>una</a:t>
            </a:r>
            <a:r>
              <a:rPr dirty="0" spc="-165"/>
              <a:t> </a:t>
            </a:r>
            <a:r>
              <a:rPr dirty="0"/>
              <a:t>prioridad</a:t>
            </a:r>
            <a:r>
              <a:rPr dirty="0" spc="-165"/>
              <a:t> </a:t>
            </a:r>
            <a:r>
              <a:rPr dirty="0" spc="-20"/>
              <a:t>fija</a:t>
            </a:r>
            <a:r>
              <a:rPr dirty="0" spc="-165"/>
              <a:t> </a:t>
            </a:r>
            <a:r>
              <a:rPr dirty="0" spc="-40"/>
              <a:t>a</a:t>
            </a:r>
            <a:r>
              <a:rPr dirty="0" spc="-170"/>
              <a:t> </a:t>
            </a:r>
            <a:r>
              <a:rPr dirty="0" spc="-25"/>
              <a:t>cada</a:t>
            </a:r>
            <a:r>
              <a:rPr dirty="0" spc="-165"/>
              <a:t> </a:t>
            </a:r>
            <a:r>
              <a:rPr dirty="0" spc="-20"/>
              <a:t>tarea,</a:t>
            </a:r>
            <a:r>
              <a:rPr dirty="0" spc="-175"/>
              <a:t> </a:t>
            </a:r>
            <a:r>
              <a:rPr dirty="0" spc="-15" b="1">
                <a:latin typeface="Tahoma"/>
                <a:cs typeface="Tahoma"/>
              </a:rPr>
              <a:t>MLFQ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00" b="1">
                <a:latin typeface="Tahoma"/>
                <a:cs typeface="Tahoma"/>
              </a:rPr>
              <a:t>varía</a:t>
            </a:r>
            <a:r>
              <a:rPr dirty="0" spc="-140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la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50" b="1">
                <a:latin typeface="Tahoma"/>
                <a:cs typeface="Tahoma"/>
              </a:rPr>
              <a:t>prioridad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la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tarea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25" b="1">
                <a:latin typeface="Tahoma"/>
                <a:cs typeface="Tahoma"/>
              </a:rPr>
              <a:t>basándose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20" b="1">
                <a:latin typeface="Tahoma"/>
                <a:cs typeface="Tahoma"/>
              </a:rPr>
              <a:t>en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40" b="1">
                <a:latin typeface="Tahoma"/>
                <a:cs typeface="Tahoma"/>
              </a:rPr>
              <a:t>su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comportamiento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" b="1">
                <a:latin typeface="Tahoma"/>
                <a:cs typeface="Tahoma"/>
              </a:rPr>
              <a:t>observado.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95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MLQF:</a:t>
            </a:r>
            <a:r>
              <a:rPr dirty="0" spc="-75"/>
              <a:t> </a:t>
            </a:r>
            <a:r>
              <a:rPr dirty="0" spc="114"/>
              <a:t>Las</a:t>
            </a:r>
            <a:r>
              <a:rPr dirty="0" spc="-70"/>
              <a:t> </a:t>
            </a:r>
            <a:r>
              <a:rPr dirty="0" spc="105"/>
              <a:t>reglas</a:t>
            </a:r>
            <a:r>
              <a:rPr dirty="0" spc="-70"/>
              <a:t> </a:t>
            </a:r>
            <a:r>
              <a:rPr dirty="0" spc="95"/>
              <a:t>básicas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0730" y="1361426"/>
            <a:ext cx="7320280" cy="240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1475" marR="363855" indent="-35941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determinada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repetidamente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595959"/>
                </a:solidFill>
                <a:latin typeface="Tahoma"/>
                <a:cs typeface="Tahoma"/>
              </a:rPr>
              <a:t>CPU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espera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dato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ingresado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teclado,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MLFQ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alta,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así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interactivo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debería comportarse.</a:t>
            </a:r>
            <a:endParaRPr sz="1700">
              <a:latin typeface="Tahoma"/>
              <a:cs typeface="Tahoma"/>
            </a:endParaRPr>
          </a:p>
          <a:p>
            <a:pPr marL="371475" marR="5080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contrario,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intensivamente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largos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periodos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MLFQ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reducirá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14">
                <a:solidFill>
                  <a:srgbClr val="595959"/>
                </a:solidFill>
                <a:latin typeface="Tahoma"/>
                <a:cs typeface="Tahoma"/>
              </a:rPr>
              <a:t>MLFQ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aprender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ejecutan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usar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historia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predecir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futuro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comportamiento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7257415" cy="2386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decidir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cómo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0">
                <a:solidFill>
                  <a:srgbClr val="595959"/>
                </a:solidFill>
                <a:latin typeface="Tahoma"/>
                <a:cs typeface="Tahoma"/>
              </a:rPr>
              <a:t>MLFQ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cambiar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tarea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durante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toda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vida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(por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ende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residir).</a:t>
            </a:r>
            <a:endParaRPr sz="1800">
              <a:latin typeface="Tahoma"/>
              <a:cs typeface="Tahoma"/>
            </a:endParaRPr>
          </a:p>
          <a:p>
            <a:pPr marL="12700" marR="8255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nuestra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trabajo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(workload):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5" i="1">
                <a:solidFill>
                  <a:srgbClr val="595959"/>
                </a:solidFill>
                <a:latin typeface="Trebuchet MS"/>
                <a:cs typeface="Trebuchet MS"/>
              </a:rPr>
              <a:t>una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0" i="1">
                <a:solidFill>
                  <a:srgbClr val="595959"/>
                </a:solidFill>
                <a:latin typeface="Trebuchet MS"/>
                <a:cs typeface="Trebuchet MS"/>
              </a:rPr>
              <a:t>mezcla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0" i="1">
                <a:solidFill>
                  <a:srgbClr val="595959"/>
                </a:solidFill>
                <a:latin typeface="Trebuchet MS"/>
                <a:cs typeface="Trebuchet MS"/>
              </a:rPr>
              <a:t>tareas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0" i="1">
                <a:solidFill>
                  <a:srgbClr val="595959"/>
                </a:solidFill>
                <a:latin typeface="Trebuchet MS"/>
                <a:cs typeface="Trebuchet MS"/>
              </a:rPr>
              <a:t>interactivas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10" i="1">
                <a:solidFill>
                  <a:srgbClr val="595959"/>
                </a:solidFill>
                <a:latin typeface="Trebuchet MS"/>
                <a:cs typeface="Trebuchet MS"/>
              </a:rPr>
              <a:t>tienen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55" i="1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595959"/>
                </a:solidFill>
                <a:latin typeface="Trebuchet MS"/>
                <a:cs typeface="Trebuchet MS"/>
              </a:rPr>
              <a:t>corto</a:t>
            </a:r>
            <a:r>
              <a:rPr dirty="0" sz="1800" spc="-16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25" i="1">
                <a:solidFill>
                  <a:srgbClr val="595959"/>
                </a:solidFill>
                <a:latin typeface="Trebuchet MS"/>
                <a:cs typeface="Trebuchet MS"/>
              </a:rPr>
              <a:t>de </a:t>
            </a:r>
            <a:r>
              <a:rPr dirty="0" sz="1800" spc="-110" i="1">
                <a:solidFill>
                  <a:srgbClr val="595959"/>
                </a:solidFill>
                <a:latin typeface="Trebuchet MS"/>
                <a:cs typeface="Trebuchet MS"/>
              </a:rPr>
              <a:t>ejecución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45" i="1">
                <a:solidFill>
                  <a:srgbClr val="595959"/>
                </a:solidFill>
                <a:latin typeface="Trebuchet MS"/>
                <a:cs typeface="Trebuchet MS"/>
              </a:rPr>
              <a:t>y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595959"/>
                </a:solidFill>
                <a:latin typeface="Trebuchet MS"/>
                <a:cs typeface="Trebuchet MS"/>
              </a:rPr>
              <a:t>pueden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595959"/>
                </a:solidFill>
                <a:latin typeface="Trebuchet MS"/>
                <a:cs typeface="Trebuchet MS"/>
              </a:rPr>
              <a:t>renunciar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55" i="1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595959"/>
                </a:solidFill>
                <a:latin typeface="Trebuchet MS"/>
                <a:cs typeface="Trebuchet MS"/>
              </a:rPr>
              <a:t>utilización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595959"/>
                </a:solidFill>
                <a:latin typeface="Trebuchet MS"/>
                <a:cs typeface="Trebuchet MS"/>
              </a:rPr>
              <a:t>CPU</a:t>
            </a:r>
            <a:r>
              <a:rPr dirty="0" sz="1800" spc="-16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45" i="1">
                <a:solidFill>
                  <a:srgbClr val="595959"/>
                </a:solidFill>
                <a:latin typeface="Trebuchet MS"/>
                <a:cs typeface="Trebuchet MS"/>
              </a:rPr>
              <a:t>y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70" i="1">
                <a:solidFill>
                  <a:srgbClr val="595959"/>
                </a:solidFill>
                <a:latin typeface="Trebuchet MS"/>
                <a:cs typeface="Trebuchet MS"/>
              </a:rPr>
              <a:t>algunas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0" i="1">
                <a:solidFill>
                  <a:srgbClr val="595959"/>
                </a:solidFill>
                <a:latin typeface="Trebuchet MS"/>
                <a:cs typeface="Trebuchet MS"/>
              </a:rPr>
              <a:t>tareas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25" i="1">
                <a:solidFill>
                  <a:srgbClr val="595959"/>
                </a:solidFill>
                <a:latin typeface="Trebuchet MS"/>
                <a:cs typeface="Trebuchet MS"/>
              </a:rPr>
              <a:t>de </a:t>
            </a:r>
            <a:r>
              <a:rPr dirty="0" sz="1800" spc="-90" i="1">
                <a:solidFill>
                  <a:srgbClr val="595959"/>
                </a:solidFill>
                <a:latin typeface="Trebuchet MS"/>
                <a:cs typeface="Trebuchet MS"/>
              </a:rPr>
              <a:t>larga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10" i="1">
                <a:solidFill>
                  <a:srgbClr val="595959"/>
                </a:solidFill>
                <a:latin typeface="Trebuchet MS"/>
                <a:cs typeface="Trebuchet MS"/>
              </a:rPr>
              <a:t>ejecución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45" i="1">
                <a:solidFill>
                  <a:srgbClr val="595959"/>
                </a:solidFill>
                <a:latin typeface="Trebuchet MS"/>
                <a:cs typeface="Trebuchet MS"/>
              </a:rPr>
              <a:t>basadas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595959"/>
                </a:solidFill>
                <a:latin typeface="Trebuchet MS"/>
                <a:cs typeface="Trebuchet MS"/>
              </a:rPr>
              <a:t>CPU</a:t>
            </a:r>
            <a:r>
              <a:rPr dirty="0" sz="1800" spc="-16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800" spc="-15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95" i="1">
                <a:solidFill>
                  <a:srgbClr val="595959"/>
                </a:solidFill>
                <a:latin typeface="Trebuchet MS"/>
                <a:cs typeface="Trebuchet MS"/>
              </a:rPr>
              <a:t>necesitan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595959"/>
                </a:solidFill>
                <a:latin typeface="Trebuchet MS"/>
                <a:cs typeface="Trebuchet MS"/>
              </a:rPr>
              <a:t>CPU</a:t>
            </a:r>
            <a:r>
              <a:rPr dirty="0" sz="1800" spc="-16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285" i="1">
                <a:solidFill>
                  <a:srgbClr val="595959"/>
                </a:solidFill>
                <a:latin typeface="Trebuchet MS"/>
                <a:cs typeface="Trebuchet MS"/>
              </a:rPr>
              <a:t>,</a:t>
            </a:r>
            <a:r>
              <a:rPr dirty="0" sz="1800" spc="-16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14" i="1">
                <a:solidFill>
                  <a:srgbClr val="595959"/>
                </a:solidFill>
                <a:latin typeface="Trebuchet MS"/>
                <a:cs typeface="Trebuchet MS"/>
              </a:rPr>
              <a:t>pero</a:t>
            </a:r>
            <a:r>
              <a:rPr dirty="0" sz="1800" spc="-16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20" i="1">
                <a:solidFill>
                  <a:srgbClr val="595959"/>
                </a:solidFill>
                <a:latin typeface="Trebuchet MS"/>
                <a:cs typeface="Trebuchet MS"/>
              </a:rPr>
              <a:t>poco </a:t>
            </a:r>
            <a:r>
              <a:rPr dirty="0" sz="1800" spc="-114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800" spc="-18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800" spc="-17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595959"/>
                </a:solidFill>
                <a:latin typeface="Trebuchet MS"/>
                <a:cs typeface="Trebuchet MS"/>
              </a:rPr>
              <a:t>respuesta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7413625" cy="3322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7515">
              <a:lnSpc>
                <a:spcPct val="114999"/>
              </a:lnSpc>
              <a:spcBef>
                <a:spcPts val="100"/>
              </a:spcBef>
            </a:pP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continuación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muestra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intento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algoritmo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ajuste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prioridades:</a:t>
            </a:r>
            <a:endParaRPr sz="1800">
              <a:latin typeface="Tahoma"/>
              <a:cs typeface="Tahoma"/>
            </a:endParaRPr>
          </a:p>
          <a:p>
            <a:pPr marL="469900" marR="198120">
              <a:lnSpc>
                <a:spcPct val="114999"/>
              </a:lnSpc>
              <a:spcBef>
                <a:spcPts val="1200"/>
              </a:spcBef>
            </a:pPr>
            <a:r>
              <a:rPr dirty="0" sz="1800" spc="-8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8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coloca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alta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800">
              <a:latin typeface="Tahoma"/>
              <a:cs typeface="Tahoma"/>
            </a:endParaRPr>
          </a:p>
          <a:p>
            <a:pPr marL="469900" marR="5080">
              <a:lnSpc>
                <a:spcPct val="114999"/>
              </a:lnSpc>
              <a:spcBef>
                <a:spcPts val="1200"/>
              </a:spcBef>
            </a:pPr>
            <a:r>
              <a:rPr dirty="0" sz="1800" spc="-8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8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4a</a:t>
            </a:r>
            <a:r>
              <a:rPr dirty="0" sz="1800" spc="-15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durante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slice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completo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reduce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65">
                <a:solidFill>
                  <a:srgbClr val="595959"/>
                </a:solidFill>
                <a:latin typeface="Tahoma"/>
                <a:cs typeface="Tahoma"/>
              </a:rPr>
              <a:t>(baja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cola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inferior)</a:t>
            </a:r>
            <a:endParaRPr sz="1800">
              <a:latin typeface="Tahoma"/>
              <a:cs typeface="Tahoma"/>
            </a:endParaRPr>
          </a:p>
          <a:p>
            <a:pPr marL="469900" marR="134620">
              <a:lnSpc>
                <a:spcPct val="114999"/>
              </a:lnSpc>
              <a:spcBef>
                <a:spcPts val="1200"/>
              </a:spcBef>
            </a:pPr>
            <a:r>
              <a:rPr dirty="0" sz="1800" spc="-8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8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4b</a:t>
            </a: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renuncia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completar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queda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310007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única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larga.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050" y="1793787"/>
            <a:ext cx="3428999" cy="319087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269240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800" spc="-1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 b="1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tarea corta.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8068" y="1386069"/>
            <a:ext cx="2811144" cy="2623734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8201"/>
            <a:ext cx="8053705" cy="271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3255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tareas,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larga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90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corta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interactiva.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90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tarda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milisegundos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ejecutarse.</a:t>
            </a:r>
            <a:endParaRPr sz="1700">
              <a:latin typeface="Tahoma"/>
              <a:cs typeface="Tahoma"/>
            </a:endParaRPr>
          </a:p>
          <a:p>
            <a:pPr marL="12700" marR="166370">
              <a:lnSpc>
                <a:spcPct val="114999"/>
              </a:lnSpc>
              <a:spcBef>
                <a:spcPts val="1200"/>
              </a:spcBef>
            </a:pP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metas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algoritmo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dado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sabe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corta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larga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duración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ejecución,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inicialmente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asume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ser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corta,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7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realmente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corta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rápidamente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terminar,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3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-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moverá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lentamente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abajo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colas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2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haciéndose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parezca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BATCH</a:t>
            </a:r>
            <a:r>
              <a:rPr dirty="0" sz="17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273050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800" spc="-1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 b="1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8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8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salida.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950" y="1399800"/>
            <a:ext cx="3352799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/>
              <a:t>Primer</a:t>
            </a:r>
            <a:r>
              <a:rPr dirty="0" spc="-120"/>
              <a:t> </a:t>
            </a:r>
            <a:r>
              <a:rPr dirty="0" spc="-25"/>
              <a:t>intento:</a:t>
            </a:r>
            <a:r>
              <a:rPr dirty="0" spc="-65"/>
              <a:t> </a:t>
            </a:r>
            <a:r>
              <a:rPr dirty="0" spc="130"/>
              <a:t>¿Cómo</a:t>
            </a:r>
            <a:r>
              <a:rPr dirty="0" spc="-60"/>
              <a:t> </a:t>
            </a:r>
            <a:r>
              <a:rPr dirty="0" spc="70"/>
              <a:t>cambiar</a:t>
            </a:r>
            <a:r>
              <a:rPr dirty="0" spc="-120"/>
              <a:t> </a:t>
            </a:r>
            <a:r>
              <a:rPr dirty="0" spc="85"/>
              <a:t>la</a:t>
            </a:r>
            <a:r>
              <a:rPr dirty="0" spc="-65"/>
              <a:t> </a:t>
            </a:r>
            <a:r>
              <a:rPr dirty="0"/>
              <a:t>prioridad</a:t>
            </a:r>
            <a:r>
              <a:rPr dirty="0" spc="-60"/>
              <a:t> </a:t>
            </a:r>
            <a:r>
              <a:rPr dirty="0" spc="70"/>
              <a:t>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6632575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considera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renuncia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mantiene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objetivo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simple: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interactiva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teclado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movimiento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mouse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requerir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time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complete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caso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será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penalizada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mantendrá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4123" y="1283699"/>
            <a:ext cx="1083492" cy="103424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PROBLEMA</a:t>
            </a:r>
            <a:r>
              <a:rPr dirty="0" spc="-200"/>
              <a:t> </a:t>
            </a:r>
            <a:r>
              <a:rPr dirty="0" spc="95"/>
              <a:t>con</a:t>
            </a:r>
            <a:r>
              <a:rPr dirty="0" spc="-125"/>
              <a:t> </a:t>
            </a:r>
            <a:r>
              <a:rPr dirty="0" spc="60"/>
              <a:t>este</a:t>
            </a:r>
            <a:r>
              <a:rPr dirty="0" spc="-200"/>
              <a:t> </a:t>
            </a:r>
            <a:r>
              <a:rPr dirty="0" spc="85"/>
              <a:t>Approach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MLFQ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3886835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Starvation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(inhanición)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hay demasiadas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interactivas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combinar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consumir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larga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duración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nunca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ejecutar.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3402" y="1245037"/>
            <a:ext cx="3698847" cy="337013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PROBLEMA</a:t>
            </a:r>
            <a:r>
              <a:rPr dirty="0" spc="-200"/>
              <a:t> </a:t>
            </a:r>
            <a:r>
              <a:rPr dirty="0" spc="95"/>
              <a:t>con</a:t>
            </a:r>
            <a:r>
              <a:rPr dirty="0" spc="-125"/>
              <a:t> </a:t>
            </a:r>
            <a:r>
              <a:rPr dirty="0" spc="60"/>
              <a:t>este</a:t>
            </a:r>
            <a:r>
              <a:rPr dirty="0" spc="-200"/>
              <a:t> </a:t>
            </a:r>
            <a:r>
              <a:rPr dirty="0" spc="85"/>
              <a:t>Approach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100"/>
              <a:t>MLFQ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5408"/>
            <a:ext cx="7828915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inteligente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podría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“hackear”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scheduler;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reescribir</a:t>
            </a:r>
            <a:r>
              <a:rPr dirty="0" sz="18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programas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obtener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termine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time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realiza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operación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salida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relegar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uso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haciendo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monopolizar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toda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2775" y="1360107"/>
            <a:ext cx="7883525" cy="2538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45">
                <a:solidFill>
                  <a:srgbClr val="595959"/>
                </a:solidFill>
                <a:latin typeface="Tahoma"/>
                <a:cs typeface="Tahoma"/>
              </a:rPr>
              <a:t>¿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Cómo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mejorar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prioridad?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cambiar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problema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starvation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permitir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larga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puedan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progresar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aplicar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idea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simple,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mejora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sistema.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agrega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nueva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regla: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800">
              <a:latin typeface="Tahoma"/>
              <a:cs typeface="Tahoma"/>
            </a:endParaRPr>
          </a:p>
          <a:p>
            <a:pPr marL="12700" marR="220979" indent="457200">
              <a:lnSpc>
                <a:spcPct val="114999"/>
              </a:lnSpc>
            </a:pP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Regla 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5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Después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cierto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periodo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>
                <a:solidFill>
                  <a:srgbClr val="595959"/>
                </a:solidFill>
                <a:latin typeface="Tahoma"/>
                <a:cs typeface="Tahoma"/>
              </a:rPr>
              <a:t>S,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mueven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/>
              <a:t> Approach:</a:t>
            </a:r>
            <a:r>
              <a:rPr dirty="0" spc="100"/>
              <a:t> Boost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250" y="1592762"/>
            <a:ext cx="6629399" cy="312419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36556"/>
            <a:ext cx="7853680" cy="2181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Haciendo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matan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2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pájaros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1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tiro:</a:t>
            </a:r>
            <a:endParaRPr sz="18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  <a:spcBef>
                <a:spcPts val="1200"/>
              </a:spcBef>
            </a:pP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garantiza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starve: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95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ubicarse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tope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otras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alta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utilizando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round-robin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ende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algún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momento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recibirá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atención.</a:t>
            </a:r>
            <a:endParaRPr sz="1800">
              <a:latin typeface="Tahoma"/>
              <a:cs typeface="Tahoma"/>
            </a:endParaRPr>
          </a:p>
          <a:p>
            <a:pPr marL="12700" marR="43180" indent="457200">
              <a:lnSpc>
                <a:spcPct val="114999"/>
              </a:lnSpc>
              <a:spcBef>
                <a:spcPts val="12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consume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2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transforma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interactivo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tratara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tal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Tahoma"/>
                <a:cs typeface="Tahoma"/>
              </a:rPr>
              <a:t>haya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recibido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boost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8201"/>
            <a:ext cx="7921625" cy="2263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Obviamente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agregado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periodo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80" b="1">
                <a:solidFill>
                  <a:srgbClr val="595959"/>
                </a:solidFill>
                <a:latin typeface="Tahoma"/>
                <a:cs typeface="Tahoma"/>
              </a:rPr>
              <a:t>S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desembocar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pregunta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obvia: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Cuánto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debería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75" b="1">
                <a:solidFill>
                  <a:srgbClr val="595959"/>
                </a:solidFill>
                <a:latin typeface="Tahoma"/>
                <a:cs typeface="Tahoma"/>
              </a:rPr>
              <a:t>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Algunos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investigadores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suelen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llamar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VOO-DOO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595959"/>
                </a:solidFill>
                <a:latin typeface="Tahoma"/>
                <a:cs typeface="Tahoma"/>
              </a:rPr>
              <a:t>CONSTANTs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parece que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requieren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cierta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magia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negra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determinados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correctamente.</a:t>
            </a:r>
            <a:endParaRPr sz="1700">
              <a:latin typeface="Tahoma"/>
              <a:cs typeface="Tahoma"/>
            </a:endParaRPr>
          </a:p>
          <a:p>
            <a:pPr marL="12700" marR="203835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caso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75" b="1">
                <a:solidFill>
                  <a:srgbClr val="595959"/>
                </a:solidFill>
                <a:latin typeface="Tahoma"/>
                <a:cs typeface="Tahoma"/>
              </a:rPr>
              <a:t>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,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demasiado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alto,los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requieren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mucha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caer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starvation;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setea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80" b="1">
                <a:solidFill>
                  <a:srgbClr val="595959"/>
                </a:solidFill>
                <a:latin typeface="Tahoma"/>
                <a:cs typeface="Tahoma"/>
              </a:rPr>
              <a:t>S</a:t>
            </a:r>
            <a:r>
              <a:rPr dirty="0" sz="17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muy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pequeños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las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interactivas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compartir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adecuadamente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8201"/>
            <a:ext cx="7898130" cy="3462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91845">
              <a:lnSpc>
                <a:spcPct val="114999"/>
              </a:lnSpc>
              <a:spcBef>
                <a:spcPts val="100"/>
              </a:spcBef>
            </a:pP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solucionar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problema: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Cómo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prevenir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ventajeen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65">
                <a:solidFill>
                  <a:srgbClr val="595959"/>
                </a:solidFill>
                <a:latin typeface="Tahoma"/>
                <a:cs typeface="Tahoma"/>
              </a:rPr>
              <a:t>(gaming)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planificador.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solución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llevar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mejor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contabilidad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12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niveles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40">
                <a:solidFill>
                  <a:srgbClr val="595959"/>
                </a:solidFill>
                <a:latin typeface="Tahoma"/>
                <a:cs typeface="Tahoma"/>
              </a:rPr>
              <a:t>MLFQ.</a:t>
            </a:r>
            <a:endParaRPr sz="1700">
              <a:latin typeface="Tahoma"/>
              <a:cs typeface="Tahoma"/>
            </a:endParaRPr>
          </a:p>
          <a:p>
            <a:pPr marL="12700" marR="77470">
              <a:lnSpc>
                <a:spcPct val="114999"/>
              </a:lnSpc>
              <a:spcBef>
                <a:spcPts val="12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lugar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90" b="1">
                <a:solidFill>
                  <a:srgbClr val="595959"/>
                </a:solidFill>
                <a:latin typeface="Tahoma"/>
                <a:cs typeface="Tahoma"/>
              </a:rPr>
              <a:t>olvide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cuanto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determinado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seguimiento desde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asignado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trasladado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cola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distinta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700">
              <a:latin typeface="Tahoma"/>
              <a:cs typeface="Tahoma"/>
            </a:endParaRPr>
          </a:p>
          <a:p>
            <a:pPr marL="12700" marR="205740">
              <a:lnSpc>
                <a:spcPct val="114999"/>
              </a:lnSpc>
              <a:spcBef>
                <a:spcPts val="1200"/>
              </a:spcBef>
            </a:pP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contador,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trackea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5" b="1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595959"/>
                </a:solidFill>
                <a:latin typeface="Tahoma"/>
                <a:cs typeface="Tahoma"/>
              </a:rPr>
              <a:t>consumiendo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0" b="1">
                <a:solidFill>
                  <a:srgbClr val="595959"/>
                </a:solidFill>
                <a:latin typeface="Tahoma"/>
                <a:cs typeface="Tahoma"/>
              </a:rPr>
              <a:t>total,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independientemente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0" b="1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Tahoma"/>
                <a:cs typeface="Tahoma"/>
              </a:rPr>
              <a:t>interrupciones.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8201"/>
            <a:ext cx="7890509" cy="211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slice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pequeños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trocitos,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importa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reescriben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reglas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4a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4b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única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regla: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700">
              <a:latin typeface="Tahoma"/>
              <a:cs typeface="Tahoma"/>
            </a:endParaRPr>
          </a:p>
          <a:p>
            <a:pPr marL="469900" marR="298450">
              <a:lnSpc>
                <a:spcPct val="114999"/>
              </a:lnSpc>
            </a:pP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50" b="1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consume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time-slice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dado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(independientemente</a:t>
            </a:r>
            <a:r>
              <a:rPr dirty="0" sz="17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cuántas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5">
                <a:solidFill>
                  <a:srgbClr val="595959"/>
                </a:solidFill>
                <a:latin typeface="Tahoma"/>
                <a:cs typeface="Tahoma"/>
              </a:rPr>
              <a:t>veces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haya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renunciado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CPU)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reduce;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baja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00" y="1588000"/>
            <a:ext cx="6934199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150"/>
              <a:t>Segundo</a:t>
            </a:r>
            <a:r>
              <a:rPr dirty="0" spc="-175"/>
              <a:t> </a:t>
            </a:r>
            <a:r>
              <a:rPr dirty="0" spc="75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98201"/>
            <a:ext cx="7903209" cy="1667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vio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técnica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conocida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multi-level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feed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back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queue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(MLFQ). </a:t>
            </a: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así,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colas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multiniveles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feed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back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determinar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dada.</a:t>
            </a:r>
            <a:endParaRPr sz="1700">
              <a:latin typeface="Tahoma"/>
              <a:cs typeface="Tahoma"/>
            </a:endParaRPr>
          </a:p>
          <a:p>
            <a:pPr marL="12700" marR="506095">
              <a:lnSpc>
                <a:spcPct val="114999"/>
              </a:lnSpc>
              <a:spcBef>
                <a:spcPts val="1200"/>
              </a:spcBef>
            </a:pPr>
            <a:r>
              <a:rPr dirty="0" sz="1700" spc="-4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guía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historia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proceso: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observa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comportan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opera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ellas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acuerdo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ello.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179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Recapitulando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38080"/>
            <a:ext cx="7763509" cy="2703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1: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prioridad(A)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25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prioridad(B),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(A)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(B)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no.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 spc="-6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2: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prioridad(A)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25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prioridad(B),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(A)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(B)se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ejecutan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Round-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Robin.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 spc="-6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3: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llega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coloca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alta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500" spc="-6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4: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consume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time-slice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dado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(independientemente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cuántas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veces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haya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renunciado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CPU)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reduce;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baja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500">
              <a:latin typeface="Tahoma"/>
              <a:cs typeface="Tahoma"/>
            </a:endParaRPr>
          </a:p>
          <a:p>
            <a:pPr marL="12700" marR="161290">
              <a:lnSpc>
                <a:spcPct val="114999"/>
              </a:lnSpc>
              <a:spcBef>
                <a:spcPts val="1200"/>
              </a:spcBef>
            </a:pPr>
            <a:r>
              <a:rPr dirty="0" sz="1500" spc="-60" b="1">
                <a:solidFill>
                  <a:srgbClr val="595959"/>
                </a:solidFill>
                <a:latin typeface="Tahoma"/>
                <a:cs typeface="Tahoma"/>
              </a:rPr>
              <a:t>REGLA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5: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Después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cierto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periodo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S,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mueven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mas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25577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0">
                <a:solidFill>
                  <a:srgbClr val="FFFFFF"/>
                </a:solidFill>
              </a:rPr>
              <a:t>Bibliografía</a:t>
            </a:r>
            <a:endParaRPr sz="36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37437"/>
            <a:ext cx="167132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45"/>
              <a:t>Bibliografía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4883" y="891852"/>
            <a:ext cx="7402830" cy="872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360" marR="5080" indent="-328295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40360" algn="l"/>
              </a:tabLst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Operating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Systems: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Three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Easy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Pieces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Remzi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H.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Arpaci-Dusseau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Andrea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C.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Arpaci-Dusseau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-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Arpaci-Dusseau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Books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November,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2023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(Version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1.10)</a:t>
            </a:r>
            <a:endParaRPr sz="1300">
              <a:latin typeface="Tahoma"/>
              <a:cs typeface="Tahoma"/>
            </a:endParaRPr>
          </a:p>
          <a:p>
            <a:pPr lvl="1" marL="797560" indent="-312420">
              <a:lnSpc>
                <a:spcPct val="100000"/>
              </a:lnSpc>
              <a:spcBef>
                <a:spcPts val="240"/>
              </a:spcBef>
              <a:buFont typeface="Arial MT"/>
              <a:buChar char="○"/>
              <a:tabLst>
                <a:tab pos="797560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Capítulo</a:t>
            </a:r>
            <a:r>
              <a:rPr dirty="0" sz="11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7</a:t>
            </a:r>
            <a:r>
              <a:rPr dirty="0" sz="11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1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sng" sz="1100" spc="7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CPU</a:t>
            </a:r>
            <a:r>
              <a:rPr dirty="0" u="sng" sz="1100" spc="-85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100" spc="-1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2"/>
              </a:rPr>
              <a:t>Scheduling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endParaRPr sz="1100">
              <a:latin typeface="Tahoma"/>
              <a:cs typeface="Tahoma"/>
            </a:endParaRPr>
          </a:p>
          <a:p>
            <a:pPr lvl="1" marL="797560" indent="-312420">
              <a:lnSpc>
                <a:spcPct val="100000"/>
              </a:lnSpc>
              <a:spcBef>
                <a:spcPts val="200"/>
              </a:spcBef>
              <a:buFont typeface="Arial MT"/>
              <a:buChar char="○"/>
              <a:tabLst>
                <a:tab pos="797560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Capítulo</a:t>
            </a:r>
            <a:r>
              <a:rPr dirty="0" sz="11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8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Tahoma"/>
                <a:cs typeface="Tahoma"/>
              </a:rPr>
              <a:t>- </a:t>
            </a:r>
            <a:r>
              <a:rPr dirty="0" u="sng" sz="110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3"/>
              </a:rPr>
              <a:t>Multi-level</a:t>
            </a:r>
            <a:r>
              <a:rPr dirty="0" u="sng" sz="1100" spc="-15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dirty="0" u="sng" sz="1100" spc="-10">
                <a:solidFill>
                  <a:srgbClr val="1B3678"/>
                </a:solidFill>
                <a:uFill>
                  <a:solidFill>
                    <a:srgbClr val="1B3678"/>
                  </a:solidFill>
                </a:uFill>
                <a:latin typeface="Tahoma"/>
                <a:cs typeface="Tahoma"/>
                <a:hlinkClick r:id="rId3"/>
              </a:rPr>
              <a:t>Feedback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4883" y="2265739"/>
            <a:ext cx="7076440" cy="872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360" marR="5080" indent="-328295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40360" algn="l"/>
              </a:tabLst>
            </a:pP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xv6: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simple,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Unix-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like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teaching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operating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Russ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Cox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Frans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Kaashoek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Robert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Morris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-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September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5,</a:t>
            </a:r>
            <a:r>
              <a:rPr dirty="0" sz="13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2022</a:t>
            </a:r>
            <a:endParaRPr sz="1300">
              <a:latin typeface="Tahoma"/>
              <a:cs typeface="Tahoma"/>
            </a:endParaRPr>
          </a:p>
          <a:p>
            <a:pPr lvl="1" marL="797560" indent="-312420">
              <a:lnSpc>
                <a:spcPct val="100000"/>
              </a:lnSpc>
              <a:spcBef>
                <a:spcPts val="240"/>
              </a:spcBef>
              <a:buFont typeface="Arial MT"/>
              <a:buChar char="○"/>
              <a:tabLst>
                <a:tab pos="797560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Capítulo</a:t>
            </a:r>
            <a:r>
              <a:rPr dirty="0" sz="11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1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1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595959"/>
                </a:solidFill>
                <a:latin typeface="Tahoma"/>
                <a:cs typeface="Tahoma"/>
              </a:rPr>
              <a:t>Traps</a:t>
            </a:r>
            <a:r>
              <a:rPr dirty="0" sz="11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1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1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endParaRPr sz="1100">
              <a:latin typeface="Tahoma"/>
              <a:cs typeface="Tahoma"/>
            </a:endParaRPr>
          </a:p>
          <a:p>
            <a:pPr lvl="1" marL="797560" indent="-312420">
              <a:lnSpc>
                <a:spcPct val="100000"/>
              </a:lnSpc>
              <a:spcBef>
                <a:spcPts val="200"/>
              </a:spcBef>
              <a:buFont typeface="Arial MT"/>
              <a:buChar char="○"/>
              <a:tabLst>
                <a:tab pos="797560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Capítulo</a:t>
            </a:r>
            <a:r>
              <a:rPr dirty="0" sz="11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7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4 - Scheduler I</dc:title>
  <dcterms:created xsi:type="dcterms:W3CDTF">2026-03-16T16:05:51Z</dcterms:created>
  <dcterms:modified xsi:type="dcterms:W3CDTF">2026-03-16T16:05:51Z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