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Lst>
  <p:sldSz cy="5143500" cx="9144000"/>
  <p:notesSz cx="9144000" cy="5143500"/>
  <p:embeddedFontLst>
    <p:embeddedFont>
      <p:font typeface="Tahoma"/>
      <p:regular r:id="rId81"/>
      <p:bold r:id="rId8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 uri="GoogleSlidesCustomDataVersion2">
      <go:slidesCustomData xmlns:go="http://customooxmlschemas.google.com/" r:id="rId83" roundtripDataSignature="AMtx7mhzAnaQYcGDol/SlAAauwyaXCn/U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35D8EEA-0510-4563-8142-7CB70E15D845}">
  <a:tblStyle styleId="{035D8EEA-0510-4563-8142-7CB70E15D845}"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3" Type="http://customschemas.google.com/relationships/presentationmetadata" Target="metadata"/><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slide" Target="slides/slide74.xml"/><Relationship Id="rId82" Type="http://schemas.openxmlformats.org/officeDocument/2006/relationships/font" Target="fonts/Tahoma-bold.fntdata"/><Relationship Id="rId81" Type="http://schemas.openxmlformats.org/officeDocument/2006/relationships/font" Target="fonts/Tahoma-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4: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5: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5: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6: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6: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7: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8: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8: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9: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9: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0: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0: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4: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5: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5: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6: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6: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7: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8: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8: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9: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9: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20: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0: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2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24: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25: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25: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26: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6: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27: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28: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8: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29: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9: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30: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0: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3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3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3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3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3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34: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3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35: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35: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36: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6: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37: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3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38: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38: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39: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39: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40: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40: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4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4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4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4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4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4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44: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4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45: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45: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46: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46: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47: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4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48: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48: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49: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49: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50: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50: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5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5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5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5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5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5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54: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5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55: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55: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56: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56: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57: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5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58: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58: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59: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59: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60: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60: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6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6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6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6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6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6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64: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6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65: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65: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66: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66: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p67: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6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68: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68: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69: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69: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70: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70: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p7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7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p7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7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7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7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74: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7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obj">
  <p:cSld name="OBJECT">
    <p:spTree>
      <p:nvGrpSpPr>
        <p:cNvPr id="12" name="Shape 12"/>
        <p:cNvGrpSpPr/>
        <p:nvPr/>
      </p:nvGrpSpPr>
      <p:grpSpPr>
        <a:xfrm>
          <a:off x="0" y="0"/>
          <a:ext cx="0" cy="0"/>
          <a:chOff x="0" y="0"/>
          <a:chExt cx="0" cy="0"/>
        </a:xfrm>
      </p:grpSpPr>
      <p:sp>
        <p:nvSpPr>
          <p:cNvPr id="13" name="Google Shape;13;p76"/>
          <p:cNvSpPr txBox="1"/>
          <p:nvPr>
            <p:ph type="title"/>
          </p:nvPr>
        </p:nvSpPr>
        <p:spPr>
          <a:xfrm>
            <a:off x="73025" y="12837"/>
            <a:ext cx="7791285" cy="47636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2300">
                <a:solidFill>
                  <a:srgbClr val="1A1A1A"/>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76"/>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76"/>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76"/>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7" name="Shape 17"/>
        <p:cNvGrpSpPr/>
        <p:nvPr/>
      </p:nvGrpSpPr>
      <p:grpSpPr>
        <a:xfrm>
          <a:off x="0" y="0"/>
          <a:ext cx="0" cy="0"/>
          <a:chOff x="0" y="0"/>
          <a:chExt cx="0" cy="0"/>
        </a:xfrm>
      </p:grpSpPr>
      <p:sp>
        <p:nvSpPr>
          <p:cNvPr id="18" name="Google Shape;18;p77"/>
          <p:cNvSpPr txBox="1"/>
          <p:nvPr>
            <p:ph type="title"/>
          </p:nvPr>
        </p:nvSpPr>
        <p:spPr>
          <a:xfrm>
            <a:off x="73025" y="12837"/>
            <a:ext cx="7791285" cy="47636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2300">
                <a:solidFill>
                  <a:srgbClr val="1A1A1A"/>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77"/>
          <p:cNvSpPr txBox="1"/>
          <p:nvPr>
            <p:ph idx="1" type="body"/>
          </p:nvPr>
        </p:nvSpPr>
        <p:spPr>
          <a:xfrm>
            <a:off x="802475" y="995245"/>
            <a:ext cx="7539049" cy="313436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2000">
                <a:solidFill>
                  <a:srgbClr val="595959"/>
                </a:solidFill>
                <a:latin typeface="Tahoma"/>
                <a:ea typeface="Tahoma"/>
                <a:cs typeface="Tahoma"/>
                <a:sym typeface="Tahoma"/>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 name="Google Shape;20;p77"/>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77"/>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77"/>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3" name="Shape 23"/>
        <p:cNvGrpSpPr/>
        <p:nvPr/>
      </p:nvGrpSpPr>
      <p:grpSpPr>
        <a:xfrm>
          <a:off x="0" y="0"/>
          <a:ext cx="0" cy="0"/>
          <a:chOff x="0" y="0"/>
          <a:chExt cx="0" cy="0"/>
        </a:xfrm>
      </p:grpSpPr>
      <p:sp>
        <p:nvSpPr>
          <p:cNvPr id="24" name="Google Shape;24;p78"/>
          <p:cNvSpPr txBox="1"/>
          <p:nvPr>
            <p:ph type="ctrTitle"/>
          </p:nvPr>
        </p:nvSpPr>
        <p:spPr>
          <a:xfrm>
            <a:off x="323825" y="61137"/>
            <a:ext cx="5718175" cy="38227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2300">
                <a:solidFill>
                  <a:srgbClr val="1A1A1A"/>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78"/>
          <p:cNvSpPr txBox="1"/>
          <p:nvPr>
            <p:ph idx="1" type="subTitle"/>
          </p:nvPr>
        </p:nvSpPr>
        <p:spPr>
          <a:xfrm>
            <a:off x="1371600" y="2880360"/>
            <a:ext cx="6400800" cy="12858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000">
                <a:solidFill>
                  <a:srgbClr val="595959"/>
                </a:solidFill>
                <a:latin typeface="Tahoma"/>
                <a:ea typeface="Tahoma"/>
                <a:cs typeface="Tahoma"/>
                <a:sym typeface="Tahom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78"/>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78"/>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78"/>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solidFill>
          <a:schemeClr val="lt1"/>
        </a:solidFill>
      </p:bgPr>
    </p:bg>
    <p:spTree>
      <p:nvGrpSpPr>
        <p:cNvPr id="29" name="Shape 29"/>
        <p:cNvGrpSpPr/>
        <p:nvPr/>
      </p:nvGrpSpPr>
      <p:grpSpPr>
        <a:xfrm>
          <a:off x="0" y="0"/>
          <a:ext cx="0" cy="0"/>
          <a:chOff x="0" y="0"/>
          <a:chExt cx="0" cy="0"/>
        </a:xfrm>
      </p:grpSpPr>
      <p:sp>
        <p:nvSpPr>
          <p:cNvPr id="30" name="Google Shape;30;p79"/>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79"/>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79"/>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3" name="Shape 33"/>
        <p:cNvGrpSpPr/>
        <p:nvPr/>
      </p:nvGrpSpPr>
      <p:grpSpPr>
        <a:xfrm>
          <a:off x="0" y="0"/>
          <a:ext cx="0" cy="0"/>
          <a:chOff x="0" y="0"/>
          <a:chExt cx="0" cy="0"/>
        </a:xfrm>
      </p:grpSpPr>
      <p:sp>
        <p:nvSpPr>
          <p:cNvPr id="34" name="Google Shape;34;p80"/>
          <p:cNvSpPr txBox="1"/>
          <p:nvPr>
            <p:ph type="title"/>
          </p:nvPr>
        </p:nvSpPr>
        <p:spPr>
          <a:xfrm>
            <a:off x="73025" y="12837"/>
            <a:ext cx="7791285" cy="47636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2300">
                <a:solidFill>
                  <a:srgbClr val="1A1A1A"/>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80"/>
          <p:cNvSpPr txBox="1"/>
          <p:nvPr>
            <p:ph idx="1" type="body"/>
          </p:nvPr>
        </p:nvSpPr>
        <p:spPr>
          <a:xfrm>
            <a:off x="802475" y="810697"/>
            <a:ext cx="3561079" cy="347408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1" sz="1600">
                <a:solidFill>
                  <a:srgbClr val="595959"/>
                </a:solidFill>
                <a:latin typeface="Times New Roman"/>
                <a:ea typeface="Times New Roman"/>
                <a:cs typeface="Times New Roman"/>
                <a:sym typeface="Times New Roman"/>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6" name="Google Shape;36;p80"/>
          <p:cNvSpPr txBox="1"/>
          <p:nvPr>
            <p:ph idx="2" type="body"/>
          </p:nvPr>
        </p:nvSpPr>
        <p:spPr>
          <a:xfrm>
            <a:off x="4709160" y="1183005"/>
            <a:ext cx="3977640" cy="339471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 name="Google Shape;37;p80"/>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80"/>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80"/>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75"/>
          <p:cNvSpPr/>
          <p:nvPr/>
        </p:nvSpPr>
        <p:spPr>
          <a:xfrm>
            <a:off x="0" y="0"/>
            <a:ext cx="9144000" cy="488315"/>
          </a:xfrm>
          <a:custGeom>
            <a:rect b="b" l="l" r="r" t="t"/>
            <a:pathLst>
              <a:path extrusionOk="0" h="488315" w="9144000">
                <a:moveTo>
                  <a:pt x="9143999" y="487799"/>
                </a:moveTo>
                <a:lnTo>
                  <a:pt x="0" y="487799"/>
                </a:lnTo>
                <a:lnTo>
                  <a:pt x="0" y="0"/>
                </a:lnTo>
                <a:lnTo>
                  <a:pt x="9143999" y="0"/>
                </a:lnTo>
                <a:lnTo>
                  <a:pt x="9143999" y="487799"/>
                </a:lnTo>
                <a:close/>
              </a:path>
            </a:pathLst>
          </a:custGeom>
          <a:solidFill>
            <a:srgbClr val="E9ED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 name="Google Shape;7;p75"/>
          <p:cNvSpPr txBox="1"/>
          <p:nvPr>
            <p:ph type="title"/>
          </p:nvPr>
        </p:nvSpPr>
        <p:spPr>
          <a:xfrm>
            <a:off x="73025" y="12837"/>
            <a:ext cx="7791285" cy="476369"/>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2300" u="none" cap="none" strike="noStrike">
                <a:solidFill>
                  <a:srgbClr val="1A1A1A"/>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75"/>
          <p:cNvSpPr txBox="1"/>
          <p:nvPr>
            <p:ph idx="1" type="body"/>
          </p:nvPr>
        </p:nvSpPr>
        <p:spPr>
          <a:xfrm>
            <a:off x="802475" y="995245"/>
            <a:ext cx="7539049" cy="313436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2000" u="none" cap="none" strike="noStrike">
                <a:solidFill>
                  <a:srgbClr val="595959"/>
                </a:solidFill>
                <a:latin typeface="Tahoma"/>
                <a:ea typeface="Tahoma"/>
                <a:cs typeface="Tahoma"/>
                <a:sym typeface="Tahoma"/>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9" name="Google Shape;9;p75"/>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75"/>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75"/>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greek0.net/elf.html" TargetMode="External"/><Relationship Id="rId4" Type="http://schemas.openxmlformats.org/officeDocument/2006/relationships/image" Target="../media/image1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0.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1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jpg"/><Relationship Id="rId4" Type="http://schemas.openxmlformats.org/officeDocument/2006/relationships/image" Target="../media/image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7.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20.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8.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9.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5.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7.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18.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9.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5.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6.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7.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6.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image" Target="../media/image22.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 Id="rId3" Type="http://schemas.openxmlformats.org/officeDocument/2006/relationships/image" Target="../media/image29.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28.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28.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21.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23.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24.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3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33.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30.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31.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3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 Id="rId3" Type="http://schemas.openxmlformats.org/officeDocument/2006/relationships/image" Target="../media/image34.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3" name="Shape 43"/>
        <p:cNvGrpSpPr/>
        <p:nvPr/>
      </p:nvGrpSpPr>
      <p:grpSpPr>
        <a:xfrm>
          <a:off x="0" y="0"/>
          <a:ext cx="0" cy="0"/>
          <a:chOff x="0" y="0"/>
          <a:chExt cx="0" cy="0"/>
        </a:xfrm>
      </p:grpSpPr>
      <p:grpSp>
        <p:nvGrpSpPr>
          <p:cNvPr id="44" name="Google Shape;44;p1"/>
          <p:cNvGrpSpPr/>
          <p:nvPr/>
        </p:nvGrpSpPr>
        <p:grpSpPr>
          <a:xfrm>
            <a:off x="0" y="0"/>
            <a:ext cx="9144000" cy="5143620"/>
            <a:chOff x="0" y="0"/>
            <a:chExt cx="9144000" cy="5143620"/>
          </a:xfrm>
        </p:grpSpPr>
        <p:sp>
          <p:nvSpPr>
            <p:cNvPr id="45" name="Google Shape;45;p1"/>
            <p:cNvSpPr/>
            <p:nvPr/>
          </p:nvSpPr>
          <p:spPr>
            <a:xfrm>
              <a:off x="0" y="487800"/>
              <a:ext cx="9144000" cy="4655820"/>
            </a:xfrm>
            <a:custGeom>
              <a:rect b="b" l="l" r="r" t="t"/>
              <a:pathLst>
                <a:path extrusionOk="0" h="4655820" w="9144000">
                  <a:moveTo>
                    <a:pt x="0" y="4655699"/>
                  </a:moveTo>
                  <a:lnTo>
                    <a:pt x="9143999" y="4655699"/>
                  </a:lnTo>
                  <a:lnTo>
                    <a:pt x="9143999" y="0"/>
                  </a:lnTo>
                  <a:lnTo>
                    <a:pt x="0" y="0"/>
                  </a:lnTo>
                  <a:lnTo>
                    <a:pt x="0" y="4655699"/>
                  </a:lnTo>
                  <a:close/>
                </a:path>
              </a:pathLst>
            </a:custGeom>
            <a:solidFill>
              <a:srgbClr val="E9ED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6" name="Google Shape;46;p1"/>
            <p:cNvSpPr/>
            <p:nvPr/>
          </p:nvSpPr>
          <p:spPr>
            <a:xfrm>
              <a:off x="0" y="0"/>
              <a:ext cx="9144000" cy="488315"/>
            </a:xfrm>
            <a:custGeom>
              <a:rect b="b" l="l" r="r" t="t"/>
              <a:pathLst>
                <a:path extrusionOk="0" h="488315" w="9144000">
                  <a:moveTo>
                    <a:pt x="9143999" y="487799"/>
                  </a:moveTo>
                  <a:lnTo>
                    <a:pt x="0" y="487799"/>
                  </a:lnTo>
                  <a:lnTo>
                    <a:pt x="0" y="0"/>
                  </a:lnTo>
                  <a:lnTo>
                    <a:pt x="9143999" y="0"/>
                  </a:lnTo>
                  <a:lnTo>
                    <a:pt x="9143999" y="487799"/>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47" name="Google Shape;47;p1"/>
          <p:cNvSpPr txBox="1"/>
          <p:nvPr>
            <p:ph type="title"/>
          </p:nvPr>
        </p:nvSpPr>
        <p:spPr>
          <a:xfrm>
            <a:off x="802475" y="1374138"/>
            <a:ext cx="5246370" cy="130556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US" sz="4200"/>
              <a:t>Sistemas Operativos El Proceso</a:t>
            </a:r>
            <a:endParaRPr sz="42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1" name="Shape 51"/>
        <p:cNvGrpSpPr/>
        <p:nvPr/>
      </p:nvGrpSpPr>
      <p:grpSpPr>
        <a:xfrm>
          <a:off x="0" y="0"/>
          <a:ext cx="0" cy="0"/>
          <a:chOff x="0" y="0"/>
          <a:chExt cx="0" cy="0"/>
        </a:xfrm>
      </p:grpSpPr>
      <p:sp>
        <p:nvSpPr>
          <p:cNvPr id="52" name="Google Shape;52;p2"/>
          <p:cNvSpPr/>
          <p:nvPr/>
        </p:nvSpPr>
        <p:spPr>
          <a:xfrm>
            <a:off x="0" y="0"/>
            <a:ext cx="9144000" cy="5143500"/>
          </a:xfrm>
          <a:custGeom>
            <a:rect b="b" l="l" r="r" t="t"/>
            <a:pathLst>
              <a:path extrusionOk="0" h="5143500" w="9144000">
                <a:moveTo>
                  <a:pt x="9143999" y="5143499"/>
                </a:moveTo>
                <a:lnTo>
                  <a:pt x="0" y="5143499"/>
                </a:lnTo>
                <a:lnTo>
                  <a:pt x="0" y="0"/>
                </a:lnTo>
                <a:lnTo>
                  <a:pt x="9143999" y="0"/>
                </a:lnTo>
                <a:lnTo>
                  <a:pt x="9143999" y="5143499"/>
                </a:lnTo>
                <a:close/>
              </a:path>
            </a:pathLst>
          </a:custGeom>
          <a:solidFill>
            <a:srgbClr val="1A998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3" name="Google Shape;53;p2"/>
          <p:cNvSpPr txBox="1"/>
          <p:nvPr>
            <p:ph type="title"/>
          </p:nvPr>
        </p:nvSpPr>
        <p:spPr>
          <a:xfrm>
            <a:off x="802475" y="1377186"/>
            <a:ext cx="513969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solidFill>
                  <a:srgbClr val="FFFFFF"/>
                </a:solidFill>
              </a:rPr>
              <a:t>De Programa a Proceso</a:t>
            </a:r>
            <a:endParaRPr sz="3600"/>
          </a:p>
        </p:txBody>
      </p:sp>
      <p:sp>
        <p:nvSpPr>
          <p:cNvPr id="54" name="Google Shape;54;p2"/>
          <p:cNvSpPr txBox="1"/>
          <p:nvPr/>
        </p:nvSpPr>
        <p:spPr>
          <a:xfrm>
            <a:off x="913550" y="3201581"/>
            <a:ext cx="3122295" cy="139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800">
                <a:solidFill>
                  <a:srgbClr val="FFFFFF"/>
                </a:solidFill>
                <a:latin typeface="Trebuchet MS"/>
                <a:ea typeface="Trebuchet MS"/>
                <a:cs typeface="Trebuchet MS"/>
                <a:sym typeface="Trebuchet MS"/>
              </a:rPr>
              <a:t>Conceptos clave:</a:t>
            </a:r>
            <a:endParaRPr sz="1800">
              <a:latin typeface="Trebuchet MS"/>
              <a:ea typeface="Trebuchet MS"/>
              <a:cs typeface="Trebuchet MS"/>
              <a:sym typeface="Trebuchet MS"/>
            </a:endParaRPr>
          </a:p>
          <a:p>
            <a:pPr indent="-366395" lvl="0" marL="469265" rtl="0" algn="l">
              <a:lnSpc>
                <a:spcPct val="100000"/>
              </a:lnSpc>
              <a:spcBef>
                <a:spcPts val="0"/>
              </a:spcBef>
              <a:spcAft>
                <a:spcPts val="0"/>
              </a:spcAft>
              <a:buClr>
                <a:srgbClr val="FFFFFF"/>
              </a:buClr>
              <a:buSzPts val="1800"/>
              <a:buFont typeface="Arial"/>
              <a:buChar char="●"/>
            </a:pPr>
            <a:r>
              <a:rPr lang="en-US" sz="1800">
                <a:solidFill>
                  <a:srgbClr val="FFFFFF"/>
                </a:solidFill>
                <a:latin typeface="Trebuchet MS"/>
                <a:ea typeface="Trebuchet MS"/>
                <a:cs typeface="Trebuchet MS"/>
                <a:sym typeface="Trebuchet MS"/>
              </a:rPr>
              <a:t>Proceso de compilación</a:t>
            </a:r>
            <a:endParaRPr sz="1800">
              <a:latin typeface="Trebuchet MS"/>
              <a:ea typeface="Trebuchet MS"/>
              <a:cs typeface="Trebuchet MS"/>
              <a:sym typeface="Trebuchet MS"/>
            </a:endParaRPr>
          </a:p>
          <a:p>
            <a:pPr indent="-366395" lvl="0" marL="469265" rtl="0" algn="l">
              <a:lnSpc>
                <a:spcPct val="100000"/>
              </a:lnSpc>
              <a:spcBef>
                <a:spcPts val="0"/>
              </a:spcBef>
              <a:spcAft>
                <a:spcPts val="0"/>
              </a:spcAft>
              <a:buClr>
                <a:srgbClr val="FFFFFF"/>
              </a:buClr>
              <a:buSzPts val="1800"/>
              <a:buFont typeface="Arial"/>
              <a:buChar char="●"/>
            </a:pPr>
            <a:r>
              <a:rPr lang="en-US" sz="1800">
                <a:solidFill>
                  <a:srgbClr val="FFFFFF"/>
                </a:solidFill>
                <a:latin typeface="Trebuchet MS"/>
                <a:ea typeface="Trebuchet MS"/>
                <a:cs typeface="Trebuchet MS"/>
                <a:sym typeface="Trebuchet MS"/>
              </a:rPr>
              <a:t>Object files y ejecutables</a:t>
            </a:r>
            <a:endParaRPr sz="1800">
              <a:latin typeface="Trebuchet MS"/>
              <a:ea typeface="Trebuchet MS"/>
              <a:cs typeface="Trebuchet MS"/>
              <a:sym typeface="Trebuchet MS"/>
            </a:endParaRPr>
          </a:p>
          <a:p>
            <a:pPr indent="-366395" lvl="0" marL="469265" rtl="0" algn="l">
              <a:lnSpc>
                <a:spcPct val="100000"/>
              </a:lnSpc>
              <a:spcBef>
                <a:spcPts val="0"/>
              </a:spcBef>
              <a:spcAft>
                <a:spcPts val="0"/>
              </a:spcAft>
              <a:buClr>
                <a:srgbClr val="FFFFFF"/>
              </a:buClr>
              <a:buSzPts val="1800"/>
              <a:buFont typeface="Arial"/>
              <a:buChar char="●"/>
            </a:pPr>
            <a:r>
              <a:rPr lang="en-US" sz="1800">
                <a:solidFill>
                  <a:srgbClr val="FFFFFF"/>
                </a:solidFill>
                <a:latin typeface="Trebuchet MS"/>
                <a:ea typeface="Trebuchet MS"/>
                <a:cs typeface="Trebuchet MS"/>
                <a:sym typeface="Trebuchet MS"/>
              </a:rPr>
              <a:t>Linker y Loader</a:t>
            </a:r>
            <a:endParaRPr sz="1800">
              <a:latin typeface="Trebuchet MS"/>
              <a:ea typeface="Trebuchet MS"/>
              <a:cs typeface="Trebuchet MS"/>
              <a:sym typeface="Trebuchet MS"/>
            </a:endParaRPr>
          </a:p>
          <a:p>
            <a:pPr indent="-366395" lvl="0" marL="469265" rtl="0" algn="l">
              <a:lnSpc>
                <a:spcPct val="100000"/>
              </a:lnSpc>
              <a:spcBef>
                <a:spcPts val="0"/>
              </a:spcBef>
              <a:spcAft>
                <a:spcPts val="0"/>
              </a:spcAft>
              <a:buClr>
                <a:srgbClr val="FFFFFF"/>
              </a:buClr>
              <a:buSzPts val="1800"/>
              <a:buFont typeface="Arial"/>
              <a:buChar char="●"/>
            </a:pPr>
            <a:r>
              <a:rPr lang="en-US" sz="1800">
                <a:solidFill>
                  <a:srgbClr val="FFFFFF"/>
                </a:solidFill>
                <a:latin typeface="Trebuchet MS"/>
                <a:ea typeface="Trebuchet MS"/>
                <a:cs typeface="Trebuchet MS"/>
                <a:sym typeface="Trebuchet MS"/>
              </a:rPr>
              <a:t>Formato ELF</a:t>
            </a:r>
            <a:endParaRPr sz="1800">
              <a:latin typeface="Trebuchet MS"/>
              <a:ea typeface="Trebuchet MS"/>
              <a:cs typeface="Trebuchet MS"/>
              <a:sym typeface="Trebuchet M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3"/>
          <p:cNvSpPr txBox="1"/>
          <p:nvPr>
            <p:ph type="title"/>
          </p:nvPr>
        </p:nvSpPr>
        <p:spPr>
          <a:xfrm>
            <a:off x="73025" y="12837"/>
            <a:ext cx="7791285" cy="476369"/>
          </a:xfrm>
          <a:prstGeom prst="rect">
            <a:avLst/>
          </a:prstGeom>
          <a:noFill/>
          <a:ln>
            <a:noFill/>
          </a:ln>
        </p:spPr>
        <p:txBody>
          <a:bodyPr anchorCtr="0" anchor="t" bIns="0" lIns="0" spcFirstLastPara="1" rIns="0" wrap="square" tIns="66075">
            <a:spAutoFit/>
          </a:bodyPr>
          <a:lstStyle/>
          <a:p>
            <a:pPr indent="0" lvl="0" marL="741680" rtl="0" algn="l">
              <a:lnSpc>
                <a:spcPct val="100000"/>
              </a:lnSpc>
              <a:spcBef>
                <a:spcPts val="0"/>
              </a:spcBef>
              <a:spcAft>
                <a:spcPts val="0"/>
              </a:spcAft>
              <a:buNone/>
            </a:pPr>
            <a:r>
              <a:rPr lang="en-US"/>
              <a:t>El Programa</a:t>
            </a:r>
            <a:endParaRPr/>
          </a:p>
        </p:txBody>
      </p:sp>
      <p:sp>
        <p:nvSpPr>
          <p:cNvPr id="60" name="Google Shape;60;p3"/>
          <p:cNvSpPr txBox="1"/>
          <p:nvPr/>
        </p:nvSpPr>
        <p:spPr>
          <a:xfrm>
            <a:off x="769636" y="681305"/>
            <a:ext cx="6885940" cy="2759710"/>
          </a:xfrm>
          <a:prstGeom prst="rect">
            <a:avLst/>
          </a:prstGeom>
          <a:noFill/>
          <a:ln>
            <a:noFill/>
          </a:ln>
        </p:spPr>
        <p:txBody>
          <a:bodyPr anchorCtr="0" anchor="t" bIns="0" lIns="0" spcFirstLastPara="1" rIns="0" wrap="square" tIns="71750">
            <a:spAutoFit/>
          </a:bodyPr>
          <a:lstStyle/>
          <a:p>
            <a:pPr indent="-489584" lvl="0" marL="502284" rtl="0" algn="l">
              <a:lnSpc>
                <a:spcPct val="100000"/>
              </a:lnSpc>
              <a:spcBef>
                <a:spcPts val="0"/>
              </a:spcBef>
              <a:spcAft>
                <a:spcPts val="0"/>
              </a:spcAft>
              <a:buClr>
                <a:srgbClr val="595959"/>
              </a:buClr>
              <a:buSzPts val="2600"/>
              <a:buFont typeface="Tahoma"/>
              <a:buAutoNum type="arabicPeriod"/>
            </a:pPr>
            <a:r>
              <a:rPr lang="en-US" sz="2600">
                <a:solidFill>
                  <a:srgbClr val="595959"/>
                </a:solidFill>
                <a:latin typeface="Tahoma"/>
                <a:ea typeface="Tahoma"/>
                <a:cs typeface="Tahoma"/>
                <a:sym typeface="Tahoma"/>
              </a:rPr>
              <a:t>Programador edita código fuente</a:t>
            </a:r>
            <a:endParaRPr sz="2600">
              <a:latin typeface="Tahoma"/>
              <a:ea typeface="Tahoma"/>
              <a:cs typeface="Tahoma"/>
              <a:sym typeface="Tahoma"/>
            </a:endParaRPr>
          </a:p>
          <a:p>
            <a:pPr indent="-490220" lvl="0" marL="502284" marR="80645" rtl="0" algn="l">
              <a:lnSpc>
                <a:spcPct val="114999"/>
              </a:lnSpc>
              <a:spcBef>
                <a:spcPts val="0"/>
              </a:spcBef>
              <a:spcAft>
                <a:spcPts val="0"/>
              </a:spcAft>
              <a:buClr>
                <a:srgbClr val="595959"/>
              </a:buClr>
              <a:buSzPts val="2600"/>
              <a:buFont typeface="Tahoma"/>
              <a:buAutoNum type="arabicPeriod"/>
            </a:pPr>
            <a:r>
              <a:rPr lang="en-US" sz="2600">
                <a:solidFill>
                  <a:srgbClr val="595959"/>
                </a:solidFill>
                <a:latin typeface="Tahoma"/>
                <a:ea typeface="Tahoma"/>
                <a:cs typeface="Tahoma"/>
                <a:sym typeface="Tahoma"/>
              </a:rPr>
              <a:t>El compilador compila el source code en una secuencia de instrucciones de máquina.</a:t>
            </a:r>
            <a:endParaRPr sz="2600">
              <a:latin typeface="Tahoma"/>
              <a:ea typeface="Tahoma"/>
              <a:cs typeface="Tahoma"/>
              <a:sym typeface="Tahoma"/>
            </a:endParaRPr>
          </a:p>
          <a:p>
            <a:pPr indent="-490220" lvl="0" marL="502284" marR="5080" rtl="0" algn="l">
              <a:lnSpc>
                <a:spcPct val="114999"/>
              </a:lnSpc>
              <a:spcBef>
                <a:spcPts val="0"/>
              </a:spcBef>
              <a:spcAft>
                <a:spcPts val="0"/>
              </a:spcAft>
              <a:buClr>
                <a:srgbClr val="595959"/>
              </a:buClr>
              <a:buSzPts val="2600"/>
              <a:buFont typeface="Tahoma"/>
              <a:buAutoNum type="arabicPeriod"/>
            </a:pPr>
            <a:r>
              <a:rPr lang="en-US" sz="2600">
                <a:solidFill>
                  <a:srgbClr val="595959"/>
                </a:solidFill>
                <a:latin typeface="Tahoma"/>
                <a:ea typeface="Tahoma"/>
                <a:cs typeface="Tahoma"/>
                <a:sym typeface="Tahoma"/>
              </a:rPr>
              <a:t>El compilador guarda en disco esa secuencia, junto con datos y metadata del programa: programa ejecutable.</a:t>
            </a:r>
            <a:endParaRPr sz="2600">
              <a:latin typeface="Tahoma"/>
              <a:ea typeface="Tahoma"/>
              <a:cs typeface="Tahoma"/>
              <a:sym typeface="Tahom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4"/>
          <p:cNvSpPr txBox="1"/>
          <p:nvPr>
            <p:ph type="title"/>
          </p:nvPr>
        </p:nvSpPr>
        <p:spPr>
          <a:xfrm>
            <a:off x="73025" y="12837"/>
            <a:ext cx="7791285" cy="476369"/>
          </a:xfrm>
          <a:prstGeom prst="rect">
            <a:avLst/>
          </a:prstGeom>
          <a:noFill/>
          <a:ln>
            <a:noFill/>
          </a:ln>
        </p:spPr>
        <p:txBody>
          <a:bodyPr anchorCtr="0" anchor="t" bIns="0" lIns="0" spcFirstLastPara="1" rIns="0" wrap="square" tIns="66075">
            <a:spAutoFit/>
          </a:bodyPr>
          <a:lstStyle/>
          <a:p>
            <a:pPr indent="0" lvl="0" marL="739775" rtl="0" algn="l">
              <a:lnSpc>
                <a:spcPct val="100000"/>
              </a:lnSpc>
              <a:spcBef>
                <a:spcPts val="0"/>
              </a:spcBef>
              <a:spcAft>
                <a:spcPts val="0"/>
              </a:spcAft>
              <a:buNone/>
            </a:pPr>
            <a:r>
              <a:rPr lang="en-US"/>
              <a:t>El Programa: Edición</a:t>
            </a:r>
            <a:endParaRPr/>
          </a:p>
        </p:txBody>
      </p:sp>
      <p:sp>
        <p:nvSpPr>
          <p:cNvPr id="66" name="Google Shape;66;p4"/>
          <p:cNvSpPr txBox="1"/>
          <p:nvPr/>
        </p:nvSpPr>
        <p:spPr>
          <a:xfrm>
            <a:off x="519300" y="601621"/>
            <a:ext cx="3171190" cy="227457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300">
                <a:solidFill>
                  <a:srgbClr val="595959"/>
                </a:solidFill>
                <a:latin typeface="Tahoma"/>
                <a:ea typeface="Tahoma"/>
                <a:cs typeface="Tahoma"/>
                <a:sym typeface="Tahoma"/>
              </a:rPr>
              <a:t>#include&lt;stdio.h&gt;</a:t>
            </a:r>
            <a:endParaRPr sz="1300">
              <a:latin typeface="Tahoma"/>
              <a:ea typeface="Tahoma"/>
              <a:cs typeface="Tahoma"/>
              <a:sym typeface="Tahoma"/>
            </a:endParaRPr>
          </a:p>
          <a:p>
            <a:pPr indent="0" lvl="0" marL="0" rtl="0" algn="l">
              <a:lnSpc>
                <a:spcPct val="100000"/>
              </a:lnSpc>
              <a:spcBef>
                <a:spcPts val="220"/>
              </a:spcBef>
              <a:spcAft>
                <a:spcPts val="0"/>
              </a:spcAft>
              <a:buNone/>
            </a:pPr>
            <a:r>
              <a:t/>
            </a:r>
            <a:endParaRPr sz="1300">
              <a:latin typeface="Tahoma"/>
              <a:ea typeface="Tahoma"/>
              <a:cs typeface="Tahoma"/>
              <a:sym typeface="Tahoma"/>
            </a:endParaRPr>
          </a:p>
          <a:p>
            <a:pPr indent="0" lvl="0" marL="12700" marR="418465" rtl="0" algn="l">
              <a:lnSpc>
                <a:spcPct val="114999"/>
              </a:lnSpc>
              <a:spcBef>
                <a:spcPts val="5"/>
              </a:spcBef>
              <a:spcAft>
                <a:spcPts val="0"/>
              </a:spcAft>
              <a:buNone/>
            </a:pPr>
            <a:r>
              <a:rPr lang="en-US" sz="1300">
                <a:solidFill>
                  <a:srgbClr val="595959"/>
                </a:solidFill>
                <a:latin typeface="Tahoma"/>
                <a:ea typeface="Tahoma"/>
                <a:cs typeface="Tahoma"/>
                <a:sym typeface="Tahoma"/>
              </a:rPr>
              <a:t>#define FORMAT_STRING “%s” #define MESSAGE	“Hello , World\n”</a:t>
            </a:r>
            <a:endParaRPr sz="1300">
              <a:latin typeface="Tahoma"/>
              <a:ea typeface="Tahoma"/>
              <a:cs typeface="Tahoma"/>
              <a:sym typeface="Tahoma"/>
            </a:endParaRPr>
          </a:p>
          <a:p>
            <a:pPr indent="0" lvl="0" marL="0" rtl="0" algn="l">
              <a:lnSpc>
                <a:spcPct val="100000"/>
              </a:lnSpc>
              <a:spcBef>
                <a:spcPts val="455"/>
              </a:spcBef>
              <a:spcAft>
                <a:spcPts val="0"/>
              </a:spcAft>
              <a:buNone/>
            </a:pPr>
            <a:r>
              <a:t/>
            </a:r>
            <a:endParaRPr sz="1300">
              <a:latin typeface="Tahoma"/>
              <a:ea typeface="Tahoma"/>
              <a:cs typeface="Tahoma"/>
              <a:sym typeface="Tahoma"/>
            </a:endParaRPr>
          </a:p>
          <a:p>
            <a:pPr indent="0" lvl="0" marL="12700" rtl="0" algn="l">
              <a:lnSpc>
                <a:spcPct val="100000"/>
              </a:lnSpc>
              <a:spcBef>
                <a:spcPts val="0"/>
              </a:spcBef>
              <a:spcAft>
                <a:spcPts val="0"/>
              </a:spcAft>
              <a:buNone/>
            </a:pPr>
            <a:r>
              <a:rPr lang="en-US" sz="1300">
                <a:solidFill>
                  <a:srgbClr val="595959"/>
                </a:solidFill>
                <a:latin typeface="Tahoma"/>
                <a:ea typeface="Tahoma"/>
                <a:cs typeface="Tahoma"/>
                <a:sym typeface="Tahoma"/>
              </a:rPr>
              <a:t>int main(){</a:t>
            </a:r>
            <a:endParaRPr sz="1300">
              <a:latin typeface="Tahoma"/>
              <a:ea typeface="Tahoma"/>
              <a:cs typeface="Tahoma"/>
              <a:sym typeface="Tahoma"/>
            </a:endParaRPr>
          </a:p>
          <a:p>
            <a:pPr indent="0" lvl="0" marL="469900" rtl="0" algn="l">
              <a:lnSpc>
                <a:spcPct val="100000"/>
              </a:lnSpc>
              <a:spcBef>
                <a:spcPts val="235"/>
              </a:spcBef>
              <a:spcAft>
                <a:spcPts val="0"/>
              </a:spcAft>
              <a:buNone/>
            </a:pPr>
            <a:r>
              <a:rPr lang="en-US" sz="1300">
                <a:solidFill>
                  <a:srgbClr val="595959"/>
                </a:solidFill>
                <a:latin typeface="Tahoma"/>
                <a:ea typeface="Tahoma"/>
                <a:cs typeface="Tahoma"/>
                <a:sym typeface="Tahoma"/>
              </a:rPr>
              <a:t>printf(FORMAR_STRING,MESSAGE);</a:t>
            </a:r>
            <a:endParaRPr sz="1300">
              <a:latin typeface="Tahoma"/>
              <a:ea typeface="Tahoma"/>
              <a:cs typeface="Tahoma"/>
              <a:sym typeface="Tahoma"/>
            </a:endParaRPr>
          </a:p>
          <a:p>
            <a:pPr indent="0" lvl="0" marL="469900" rtl="0" algn="l">
              <a:lnSpc>
                <a:spcPct val="100000"/>
              </a:lnSpc>
              <a:spcBef>
                <a:spcPts val="235"/>
              </a:spcBef>
              <a:spcAft>
                <a:spcPts val="0"/>
              </a:spcAft>
              <a:buNone/>
            </a:pPr>
            <a:r>
              <a:rPr lang="en-US" sz="1300">
                <a:solidFill>
                  <a:srgbClr val="595959"/>
                </a:solidFill>
                <a:latin typeface="Tahoma"/>
                <a:ea typeface="Tahoma"/>
                <a:cs typeface="Tahoma"/>
                <a:sym typeface="Tahoma"/>
              </a:rPr>
              <a:t>return 0;</a:t>
            </a:r>
            <a:endParaRPr sz="1300">
              <a:latin typeface="Tahoma"/>
              <a:ea typeface="Tahoma"/>
              <a:cs typeface="Tahoma"/>
              <a:sym typeface="Tahoma"/>
            </a:endParaRPr>
          </a:p>
          <a:p>
            <a:pPr indent="0" lvl="0" marL="0" rtl="0" algn="l">
              <a:lnSpc>
                <a:spcPct val="100000"/>
              </a:lnSpc>
              <a:spcBef>
                <a:spcPts val="459"/>
              </a:spcBef>
              <a:spcAft>
                <a:spcPts val="0"/>
              </a:spcAft>
              <a:buNone/>
            </a:pPr>
            <a:r>
              <a:t/>
            </a:r>
            <a:endParaRPr sz="1300">
              <a:latin typeface="Tahoma"/>
              <a:ea typeface="Tahoma"/>
              <a:cs typeface="Tahoma"/>
              <a:sym typeface="Tahoma"/>
            </a:endParaRPr>
          </a:p>
          <a:p>
            <a:pPr indent="0" lvl="0" marL="12700" rtl="0" algn="l">
              <a:lnSpc>
                <a:spcPct val="100000"/>
              </a:lnSpc>
              <a:spcBef>
                <a:spcPts val="0"/>
              </a:spcBef>
              <a:spcAft>
                <a:spcPts val="0"/>
              </a:spcAft>
              <a:buNone/>
            </a:pPr>
            <a:r>
              <a:rPr lang="en-US" sz="1300">
                <a:solidFill>
                  <a:srgbClr val="595959"/>
                </a:solidFill>
                <a:latin typeface="Tahoma"/>
                <a:ea typeface="Tahoma"/>
                <a:cs typeface="Tahoma"/>
                <a:sym typeface="Tahoma"/>
              </a:rPr>
              <a:t>}</a:t>
            </a:r>
            <a:endParaRPr sz="1300">
              <a:latin typeface="Tahoma"/>
              <a:ea typeface="Tahoma"/>
              <a:cs typeface="Tahoma"/>
              <a:sym typeface="Tahoma"/>
            </a:endParaRPr>
          </a:p>
        </p:txBody>
      </p:sp>
      <p:pic>
        <p:nvPicPr>
          <p:cNvPr id="67" name="Google Shape;67;p4"/>
          <p:cNvPicPr preferRelativeResize="0"/>
          <p:nvPr/>
        </p:nvPicPr>
        <p:blipFill rotWithShape="1">
          <a:blip r:embed="rId3">
            <a:alphaModFix/>
          </a:blip>
          <a:srcRect b="0" l="0" r="0" t="0"/>
          <a:stretch/>
        </p:blipFill>
        <p:spPr>
          <a:xfrm>
            <a:off x="3829075" y="3404899"/>
            <a:ext cx="5106839" cy="170227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5"/>
          <p:cNvSpPr txBox="1"/>
          <p:nvPr>
            <p:ph type="title"/>
          </p:nvPr>
        </p:nvSpPr>
        <p:spPr>
          <a:xfrm>
            <a:off x="73025" y="12837"/>
            <a:ext cx="7791285" cy="476369"/>
          </a:xfrm>
          <a:prstGeom prst="rect">
            <a:avLst/>
          </a:prstGeom>
          <a:noFill/>
          <a:ln>
            <a:noFill/>
          </a:ln>
        </p:spPr>
        <p:txBody>
          <a:bodyPr anchorCtr="0" anchor="t" bIns="0" lIns="0" spcFirstLastPara="1" rIns="0" wrap="square" tIns="66075">
            <a:spAutoFit/>
          </a:bodyPr>
          <a:lstStyle/>
          <a:p>
            <a:pPr indent="0" lvl="0" marL="739775" rtl="0" algn="l">
              <a:lnSpc>
                <a:spcPct val="100000"/>
              </a:lnSpc>
              <a:spcBef>
                <a:spcPts val="0"/>
              </a:spcBef>
              <a:spcAft>
                <a:spcPts val="0"/>
              </a:spcAft>
              <a:buNone/>
            </a:pPr>
            <a:r>
              <a:rPr lang="en-US"/>
              <a:t>El Programa: Compilación</a:t>
            </a:r>
            <a:endParaRPr/>
          </a:p>
        </p:txBody>
      </p:sp>
      <p:pic>
        <p:nvPicPr>
          <p:cNvPr id="73" name="Google Shape;73;p5"/>
          <p:cNvPicPr preferRelativeResize="0"/>
          <p:nvPr/>
        </p:nvPicPr>
        <p:blipFill rotWithShape="1">
          <a:blip r:embed="rId3">
            <a:alphaModFix/>
          </a:blip>
          <a:srcRect b="0" l="0" r="0" t="0"/>
          <a:stretch/>
        </p:blipFill>
        <p:spPr>
          <a:xfrm>
            <a:off x="317050" y="1547330"/>
            <a:ext cx="8733378" cy="261925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6"/>
          <p:cNvSpPr txBox="1"/>
          <p:nvPr>
            <p:ph type="title"/>
          </p:nvPr>
        </p:nvSpPr>
        <p:spPr>
          <a:xfrm>
            <a:off x="73025" y="12837"/>
            <a:ext cx="7791285" cy="476369"/>
          </a:xfrm>
          <a:prstGeom prst="rect">
            <a:avLst/>
          </a:prstGeom>
          <a:noFill/>
          <a:ln>
            <a:noFill/>
          </a:ln>
        </p:spPr>
        <p:txBody>
          <a:bodyPr anchorCtr="0" anchor="t" bIns="0" lIns="0" spcFirstLastPara="1" rIns="0" wrap="square" tIns="66075">
            <a:spAutoFit/>
          </a:bodyPr>
          <a:lstStyle/>
          <a:p>
            <a:pPr indent="0" lvl="0" marL="739775" rtl="0" algn="l">
              <a:lnSpc>
                <a:spcPct val="100000"/>
              </a:lnSpc>
              <a:spcBef>
                <a:spcPts val="0"/>
              </a:spcBef>
              <a:spcAft>
                <a:spcPts val="0"/>
              </a:spcAft>
              <a:buNone/>
            </a:pPr>
            <a:r>
              <a:rPr lang="en-US"/>
              <a:t>El Programa: Compilación</a:t>
            </a:r>
            <a:endParaRPr/>
          </a:p>
        </p:txBody>
      </p:sp>
      <p:sp>
        <p:nvSpPr>
          <p:cNvPr id="79" name="Google Shape;79;p6"/>
          <p:cNvSpPr txBox="1"/>
          <p:nvPr/>
        </p:nvSpPr>
        <p:spPr>
          <a:xfrm>
            <a:off x="724075" y="585269"/>
            <a:ext cx="7539990" cy="2065655"/>
          </a:xfrm>
          <a:prstGeom prst="rect">
            <a:avLst/>
          </a:prstGeom>
          <a:noFill/>
          <a:ln>
            <a:noFill/>
          </a:ln>
        </p:spPr>
        <p:txBody>
          <a:bodyPr anchorCtr="0" anchor="t" bIns="0" lIns="0" spcFirstLastPara="1" rIns="0" wrap="square" tIns="12700">
            <a:spAutoFit/>
          </a:bodyPr>
          <a:lstStyle/>
          <a:p>
            <a:pPr indent="457200" lvl="0" marL="12700" marR="5080" rtl="0" algn="l">
              <a:lnSpc>
                <a:spcPct val="105400"/>
              </a:lnSpc>
              <a:spcBef>
                <a:spcPts val="0"/>
              </a:spcBef>
              <a:spcAft>
                <a:spcPts val="0"/>
              </a:spcAft>
              <a:buNone/>
            </a:pPr>
            <a:r>
              <a:rPr b="1" lang="en-US" sz="1800">
                <a:solidFill>
                  <a:srgbClr val="595959"/>
                </a:solidFill>
                <a:latin typeface="Tahoma"/>
                <a:ea typeface="Tahoma"/>
                <a:cs typeface="Tahoma"/>
                <a:sym typeface="Tahoma"/>
              </a:rPr>
              <a:t>La fase de procesamiento. </a:t>
            </a:r>
            <a:r>
              <a:rPr lang="en-US" sz="1800">
                <a:solidFill>
                  <a:srgbClr val="595959"/>
                </a:solidFill>
                <a:latin typeface="Tahoma"/>
                <a:ea typeface="Tahoma"/>
                <a:cs typeface="Tahoma"/>
                <a:sym typeface="Tahoma"/>
              </a:rPr>
              <a:t>El preprocesador (cpp) modifica el código de fuente original de un programa escrito en C de acuerdo a las directivas que comienzan con un caracter(#). El resultado de este proceso es otro programa en C con la extensión .i</a:t>
            </a:r>
            <a:endParaRPr sz="1800">
              <a:latin typeface="Tahoma"/>
              <a:ea typeface="Tahoma"/>
              <a:cs typeface="Tahoma"/>
              <a:sym typeface="Tahoma"/>
            </a:endParaRPr>
          </a:p>
          <a:p>
            <a:pPr indent="0" lvl="0" marL="0" rtl="0" algn="l">
              <a:lnSpc>
                <a:spcPct val="100000"/>
              </a:lnSpc>
              <a:spcBef>
                <a:spcPts val="0"/>
              </a:spcBef>
              <a:spcAft>
                <a:spcPts val="0"/>
              </a:spcAft>
              <a:buNone/>
            </a:pPr>
            <a:r>
              <a:t/>
            </a:r>
            <a:endParaRPr sz="1800">
              <a:latin typeface="Tahoma"/>
              <a:ea typeface="Tahoma"/>
              <a:cs typeface="Tahoma"/>
              <a:sym typeface="Tahoma"/>
            </a:endParaRPr>
          </a:p>
          <a:p>
            <a:pPr indent="0" lvl="0" marL="0" rtl="0" algn="l">
              <a:lnSpc>
                <a:spcPct val="100000"/>
              </a:lnSpc>
              <a:spcBef>
                <a:spcPts val="445"/>
              </a:spcBef>
              <a:spcAft>
                <a:spcPts val="0"/>
              </a:spcAft>
              <a:buNone/>
            </a:pPr>
            <a:r>
              <a:t/>
            </a:r>
            <a:endParaRPr sz="1800">
              <a:latin typeface="Tahoma"/>
              <a:ea typeface="Tahoma"/>
              <a:cs typeface="Tahoma"/>
              <a:sym typeface="Tahoma"/>
            </a:endParaRPr>
          </a:p>
          <a:p>
            <a:pPr indent="0" lvl="0" marL="469900" rtl="0" algn="l">
              <a:lnSpc>
                <a:spcPct val="100000"/>
              </a:lnSpc>
              <a:spcBef>
                <a:spcPts val="0"/>
              </a:spcBef>
              <a:spcAft>
                <a:spcPts val="0"/>
              </a:spcAft>
              <a:buNone/>
            </a:pPr>
            <a:r>
              <a:rPr b="1" lang="en-US" sz="1800">
                <a:solidFill>
                  <a:srgbClr val="595959"/>
                </a:solidFill>
                <a:latin typeface="Tahoma"/>
                <a:ea typeface="Tahoma"/>
                <a:cs typeface="Tahoma"/>
                <a:sym typeface="Tahoma"/>
              </a:rPr>
              <a:t>$gcc -E -P ejemplo.c</a:t>
            </a:r>
            <a:endParaRPr sz="1800">
              <a:latin typeface="Tahoma"/>
              <a:ea typeface="Tahoma"/>
              <a:cs typeface="Tahoma"/>
              <a:sym typeface="Tahoma"/>
            </a:endParaRPr>
          </a:p>
        </p:txBody>
      </p:sp>
      <p:grpSp>
        <p:nvGrpSpPr>
          <p:cNvPr id="80" name="Google Shape;80;p6"/>
          <p:cNvGrpSpPr/>
          <p:nvPr/>
        </p:nvGrpSpPr>
        <p:grpSpPr>
          <a:xfrm>
            <a:off x="3540237" y="4526574"/>
            <a:ext cx="1443355" cy="535305"/>
            <a:chOff x="3540237" y="4526574"/>
            <a:chExt cx="1443355" cy="535305"/>
          </a:xfrm>
        </p:grpSpPr>
        <p:sp>
          <p:nvSpPr>
            <p:cNvPr id="81" name="Google Shape;81;p6"/>
            <p:cNvSpPr/>
            <p:nvPr/>
          </p:nvSpPr>
          <p:spPr>
            <a:xfrm>
              <a:off x="3540237" y="4526574"/>
              <a:ext cx="1443355" cy="535305"/>
            </a:xfrm>
            <a:custGeom>
              <a:rect b="b" l="l" r="r" t="t"/>
              <a:pathLst>
                <a:path extrusionOk="0" h="535304" w="1443354">
                  <a:moveTo>
                    <a:pt x="1175399" y="535199"/>
                  </a:moveTo>
                  <a:lnTo>
                    <a:pt x="0" y="535199"/>
                  </a:lnTo>
                  <a:lnTo>
                    <a:pt x="267599" y="267599"/>
                  </a:lnTo>
                  <a:lnTo>
                    <a:pt x="0" y="0"/>
                  </a:lnTo>
                  <a:lnTo>
                    <a:pt x="1175399" y="0"/>
                  </a:lnTo>
                  <a:lnTo>
                    <a:pt x="1442999" y="267599"/>
                  </a:lnTo>
                  <a:lnTo>
                    <a:pt x="1175399" y="535199"/>
                  </a:lnTo>
                  <a:close/>
                </a:path>
              </a:pathLst>
            </a:custGeom>
            <a:solidFill>
              <a:srgbClr val="E9ED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2" name="Google Shape;82;p6"/>
            <p:cNvSpPr/>
            <p:nvPr/>
          </p:nvSpPr>
          <p:spPr>
            <a:xfrm>
              <a:off x="3540237" y="4526574"/>
              <a:ext cx="1443355" cy="535305"/>
            </a:xfrm>
            <a:custGeom>
              <a:rect b="b" l="l" r="r" t="t"/>
              <a:pathLst>
                <a:path extrusionOk="0" h="535304" w="1443354">
                  <a:moveTo>
                    <a:pt x="0" y="0"/>
                  </a:moveTo>
                  <a:lnTo>
                    <a:pt x="1175399" y="0"/>
                  </a:lnTo>
                  <a:lnTo>
                    <a:pt x="1442999" y="267599"/>
                  </a:lnTo>
                  <a:lnTo>
                    <a:pt x="1175399" y="535199"/>
                  </a:lnTo>
                  <a:lnTo>
                    <a:pt x="0" y="535199"/>
                  </a:lnTo>
                  <a:lnTo>
                    <a:pt x="267599" y="267599"/>
                  </a:lnTo>
                  <a:lnTo>
                    <a:pt x="0" y="0"/>
                  </a:lnTo>
                  <a:close/>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83" name="Google Shape;83;p6"/>
          <p:cNvSpPr txBox="1"/>
          <p:nvPr/>
        </p:nvSpPr>
        <p:spPr>
          <a:xfrm>
            <a:off x="3880862" y="4690162"/>
            <a:ext cx="584835" cy="193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100">
                <a:latin typeface="Arial"/>
                <a:ea typeface="Arial"/>
                <a:cs typeface="Arial"/>
                <a:sym typeface="Arial"/>
              </a:rPr>
              <a:t>Compiler</a:t>
            </a:r>
            <a:endParaRPr sz="1100">
              <a:latin typeface="Arial"/>
              <a:ea typeface="Arial"/>
              <a:cs typeface="Arial"/>
              <a:sym typeface="Arial"/>
            </a:endParaRPr>
          </a:p>
        </p:txBody>
      </p:sp>
      <p:grpSp>
        <p:nvGrpSpPr>
          <p:cNvPr id="84" name="Google Shape;84;p6"/>
          <p:cNvGrpSpPr/>
          <p:nvPr/>
        </p:nvGrpSpPr>
        <p:grpSpPr>
          <a:xfrm>
            <a:off x="4983250" y="4526574"/>
            <a:ext cx="1710055" cy="535305"/>
            <a:chOff x="4983250" y="4526574"/>
            <a:chExt cx="1710055" cy="535305"/>
          </a:xfrm>
        </p:grpSpPr>
        <p:sp>
          <p:nvSpPr>
            <p:cNvPr id="85" name="Google Shape;85;p6"/>
            <p:cNvSpPr/>
            <p:nvPr/>
          </p:nvSpPr>
          <p:spPr>
            <a:xfrm>
              <a:off x="4983250" y="4526574"/>
              <a:ext cx="1710055" cy="535305"/>
            </a:xfrm>
            <a:custGeom>
              <a:rect b="b" l="l" r="r" t="t"/>
              <a:pathLst>
                <a:path extrusionOk="0" h="535304" w="1710054">
                  <a:moveTo>
                    <a:pt x="1442099" y="535199"/>
                  </a:moveTo>
                  <a:lnTo>
                    <a:pt x="0" y="535199"/>
                  </a:lnTo>
                  <a:lnTo>
                    <a:pt x="267599" y="267599"/>
                  </a:lnTo>
                  <a:lnTo>
                    <a:pt x="0" y="0"/>
                  </a:lnTo>
                  <a:lnTo>
                    <a:pt x="1442099" y="0"/>
                  </a:lnTo>
                  <a:lnTo>
                    <a:pt x="1709699" y="267599"/>
                  </a:lnTo>
                  <a:lnTo>
                    <a:pt x="1442099" y="535199"/>
                  </a:lnTo>
                  <a:close/>
                </a:path>
              </a:pathLst>
            </a:custGeom>
            <a:solidFill>
              <a:srgbClr val="E9ED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6" name="Google Shape;86;p6"/>
            <p:cNvSpPr/>
            <p:nvPr/>
          </p:nvSpPr>
          <p:spPr>
            <a:xfrm>
              <a:off x="4983250" y="4526574"/>
              <a:ext cx="1710055" cy="535305"/>
            </a:xfrm>
            <a:custGeom>
              <a:rect b="b" l="l" r="r" t="t"/>
              <a:pathLst>
                <a:path extrusionOk="0" h="535304" w="1710054">
                  <a:moveTo>
                    <a:pt x="0" y="0"/>
                  </a:moveTo>
                  <a:lnTo>
                    <a:pt x="1442099" y="0"/>
                  </a:lnTo>
                  <a:lnTo>
                    <a:pt x="1709699" y="267599"/>
                  </a:lnTo>
                  <a:lnTo>
                    <a:pt x="1442099" y="535199"/>
                  </a:lnTo>
                  <a:lnTo>
                    <a:pt x="0" y="535199"/>
                  </a:lnTo>
                  <a:lnTo>
                    <a:pt x="267599" y="267599"/>
                  </a:lnTo>
                  <a:lnTo>
                    <a:pt x="0" y="0"/>
                  </a:lnTo>
                  <a:close/>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87" name="Google Shape;87;p6"/>
          <p:cNvSpPr txBox="1"/>
          <p:nvPr/>
        </p:nvSpPr>
        <p:spPr>
          <a:xfrm>
            <a:off x="5323874" y="4669588"/>
            <a:ext cx="865505" cy="2387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400">
                <a:latin typeface="Arial"/>
                <a:ea typeface="Arial"/>
                <a:cs typeface="Arial"/>
                <a:sym typeface="Arial"/>
              </a:rPr>
              <a:t>Assembler</a:t>
            </a:r>
            <a:endParaRPr sz="1400">
              <a:latin typeface="Arial"/>
              <a:ea typeface="Arial"/>
              <a:cs typeface="Arial"/>
              <a:sym typeface="Arial"/>
            </a:endParaRPr>
          </a:p>
        </p:txBody>
      </p:sp>
      <p:grpSp>
        <p:nvGrpSpPr>
          <p:cNvPr id="88" name="Google Shape;88;p6"/>
          <p:cNvGrpSpPr/>
          <p:nvPr/>
        </p:nvGrpSpPr>
        <p:grpSpPr>
          <a:xfrm>
            <a:off x="1669737" y="4526574"/>
            <a:ext cx="1870710" cy="535305"/>
            <a:chOff x="1669737" y="4526574"/>
            <a:chExt cx="1870710" cy="535305"/>
          </a:xfrm>
        </p:grpSpPr>
        <p:sp>
          <p:nvSpPr>
            <p:cNvPr id="89" name="Google Shape;89;p6"/>
            <p:cNvSpPr/>
            <p:nvPr/>
          </p:nvSpPr>
          <p:spPr>
            <a:xfrm>
              <a:off x="1669737" y="4526574"/>
              <a:ext cx="1870710" cy="535305"/>
            </a:xfrm>
            <a:custGeom>
              <a:rect b="b" l="l" r="r" t="t"/>
              <a:pathLst>
                <a:path extrusionOk="0" h="535304" w="1870710">
                  <a:moveTo>
                    <a:pt x="1602899" y="535199"/>
                  </a:moveTo>
                  <a:lnTo>
                    <a:pt x="0" y="535199"/>
                  </a:lnTo>
                  <a:lnTo>
                    <a:pt x="267599" y="267599"/>
                  </a:lnTo>
                  <a:lnTo>
                    <a:pt x="0" y="0"/>
                  </a:lnTo>
                  <a:lnTo>
                    <a:pt x="1602899" y="0"/>
                  </a:lnTo>
                  <a:lnTo>
                    <a:pt x="1870499" y="267599"/>
                  </a:lnTo>
                  <a:lnTo>
                    <a:pt x="1602899" y="535199"/>
                  </a:lnTo>
                  <a:close/>
                </a:path>
              </a:pathLst>
            </a:custGeom>
            <a:solidFill>
              <a:srgbClr val="FFB8A2"/>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0" name="Google Shape;90;p6"/>
            <p:cNvSpPr/>
            <p:nvPr/>
          </p:nvSpPr>
          <p:spPr>
            <a:xfrm>
              <a:off x="1669737" y="4526574"/>
              <a:ext cx="1870710" cy="535305"/>
            </a:xfrm>
            <a:custGeom>
              <a:rect b="b" l="l" r="r" t="t"/>
              <a:pathLst>
                <a:path extrusionOk="0" h="535304" w="1870710">
                  <a:moveTo>
                    <a:pt x="0" y="0"/>
                  </a:moveTo>
                  <a:lnTo>
                    <a:pt x="1602899" y="0"/>
                  </a:lnTo>
                  <a:lnTo>
                    <a:pt x="1870499" y="267599"/>
                  </a:lnTo>
                  <a:lnTo>
                    <a:pt x="1602899" y="535199"/>
                  </a:lnTo>
                  <a:lnTo>
                    <a:pt x="0" y="535199"/>
                  </a:lnTo>
                  <a:lnTo>
                    <a:pt x="267599" y="267599"/>
                  </a:lnTo>
                  <a:lnTo>
                    <a:pt x="0" y="0"/>
                  </a:lnTo>
                  <a:close/>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91" name="Google Shape;91;p6"/>
          <p:cNvSpPr txBox="1"/>
          <p:nvPr/>
        </p:nvSpPr>
        <p:spPr>
          <a:xfrm>
            <a:off x="2010362" y="4684891"/>
            <a:ext cx="932180"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200">
                <a:latin typeface="Arial"/>
                <a:ea typeface="Arial"/>
                <a:cs typeface="Arial"/>
                <a:sym typeface="Arial"/>
              </a:rPr>
              <a:t>Preprocessor</a:t>
            </a:r>
            <a:endParaRPr sz="1200">
              <a:latin typeface="Arial"/>
              <a:ea typeface="Arial"/>
              <a:cs typeface="Arial"/>
              <a:sym typeface="Arial"/>
            </a:endParaRPr>
          </a:p>
        </p:txBody>
      </p:sp>
      <p:grpSp>
        <p:nvGrpSpPr>
          <p:cNvPr id="92" name="Google Shape;92;p6"/>
          <p:cNvGrpSpPr/>
          <p:nvPr/>
        </p:nvGrpSpPr>
        <p:grpSpPr>
          <a:xfrm>
            <a:off x="6693049" y="4526574"/>
            <a:ext cx="1362710" cy="535305"/>
            <a:chOff x="6693049" y="4526574"/>
            <a:chExt cx="1362710" cy="535305"/>
          </a:xfrm>
        </p:grpSpPr>
        <p:sp>
          <p:nvSpPr>
            <p:cNvPr id="93" name="Google Shape;93;p6"/>
            <p:cNvSpPr/>
            <p:nvPr/>
          </p:nvSpPr>
          <p:spPr>
            <a:xfrm>
              <a:off x="6693049" y="4526574"/>
              <a:ext cx="1362710" cy="535305"/>
            </a:xfrm>
            <a:custGeom>
              <a:rect b="b" l="l" r="r" t="t"/>
              <a:pathLst>
                <a:path extrusionOk="0" h="535304" w="1362709">
                  <a:moveTo>
                    <a:pt x="1094999" y="535199"/>
                  </a:moveTo>
                  <a:lnTo>
                    <a:pt x="0" y="535199"/>
                  </a:lnTo>
                  <a:lnTo>
                    <a:pt x="267599" y="267599"/>
                  </a:lnTo>
                  <a:lnTo>
                    <a:pt x="0" y="0"/>
                  </a:lnTo>
                  <a:lnTo>
                    <a:pt x="1094999" y="0"/>
                  </a:lnTo>
                  <a:lnTo>
                    <a:pt x="1362599" y="267599"/>
                  </a:lnTo>
                  <a:lnTo>
                    <a:pt x="1094999" y="535199"/>
                  </a:lnTo>
                  <a:close/>
                </a:path>
              </a:pathLst>
            </a:custGeom>
            <a:solidFill>
              <a:srgbClr val="E9ED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4" name="Google Shape;94;p6"/>
            <p:cNvSpPr/>
            <p:nvPr/>
          </p:nvSpPr>
          <p:spPr>
            <a:xfrm>
              <a:off x="6693049" y="4526574"/>
              <a:ext cx="1362710" cy="535305"/>
            </a:xfrm>
            <a:custGeom>
              <a:rect b="b" l="l" r="r" t="t"/>
              <a:pathLst>
                <a:path extrusionOk="0" h="535304" w="1362709">
                  <a:moveTo>
                    <a:pt x="0" y="0"/>
                  </a:moveTo>
                  <a:lnTo>
                    <a:pt x="1094999" y="0"/>
                  </a:lnTo>
                  <a:lnTo>
                    <a:pt x="1362599" y="267599"/>
                  </a:lnTo>
                  <a:lnTo>
                    <a:pt x="1094999" y="535199"/>
                  </a:lnTo>
                  <a:lnTo>
                    <a:pt x="0" y="535199"/>
                  </a:lnTo>
                  <a:lnTo>
                    <a:pt x="267599" y="267599"/>
                  </a:lnTo>
                  <a:lnTo>
                    <a:pt x="0" y="0"/>
                  </a:lnTo>
                  <a:close/>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95" name="Google Shape;95;p6"/>
          <p:cNvSpPr txBox="1"/>
          <p:nvPr/>
        </p:nvSpPr>
        <p:spPr>
          <a:xfrm>
            <a:off x="7033675" y="4669588"/>
            <a:ext cx="509905" cy="2387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400">
                <a:latin typeface="Arial"/>
                <a:ea typeface="Arial"/>
                <a:cs typeface="Arial"/>
                <a:sym typeface="Arial"/>
              </a:rPr>
              <a:t>Linker</a:t>
            </a:r>
            <a:endParaRPr sz="1400">
              <a:latin typeface="Arial"/>
              <a:ea typeface="Arial"/>
              <a:cs typeface="Arial"/>
              <a:sym typeface="Arial"/>
            </a:endParaRPr>
          </a:p>
        </p:txBody>
      </p:sp>
      <p:grpSp>
        <p:nvGrpSpPr>
          <p:cNvPr id="96" name="Google Shape;96;p6"/>
          <p:cNvGrpSpPr/>
          <p:nvPr/>
        </p:nvGrpSpPr>
        <p:grpSpPr>
          <a:xfrm>
            <a:off x="729450" y="4526574"/>
            <a:ext cx="935355" cy="535305"/>
            <a:chOff x="729450" y="4526574"/>
            <a:chExt cx="935355" cy="535305"/>
          </a:xfrm>
        </p:grpSpPr>
        <p:sp>
          <p:nvSpPr>
            <p:cNvPr id="97" name="Google Shape;97;p6"/>
            <p:cNvSpPr/>
            <p:nvPr/>
          </p:nvSpPr>
          <p:spPr>
            <a:xfrm>
              <a:off x="729450" y="4526574"/>
              <a:ext cx="935355" cy="535305"/>
            </a:xfrm>
            <a:custGeom>
              <a:rect b="b" l="l" r="r" t="t"/>
              <a:pathLst>
                <a:path extrusionOk="0" h="535304" w="935355">
                  <a:moveTo>
                    <a:pt x="667499" y="535199"/>
                  </a:moveTo>
                  <a:lnTo>
                    <a:pt x="0" y="535199"/>
                  </a:lnTo>
                  <a:lnTo>
                    <a:pt x="0" y="0"/>
                  </a:lnTo>
                  <a:lnTo>
                    <a:pt x="667499" y="0"/>
                  </a:lnTo>
                  <a:lnTo>
                    <a:pt x="935099" y="267599"/>
                  </a:lnTo>
                  <a:lnTo>
                    <a:pt x="667499" y="535199"/>
                  </a:lnTo>
                  <a:close/>
                </a:path>
              </a:pathLst>
            </a:custGeom>
            <a:solidFill>
              <a:srgbClr val="F4CCCC"/>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8" name="Google Shape;98;p6"/>
            <p:cNvSpPr/>
            <p:nvPr/>
          </p:nvSpPr>
          <p:spPr>
            <a:xfrm>
              <a:off x="729450" y="4526574"/>
              <a:ext cx="935355" cy="535305"/>
            </a:xfrm>
            <a:custGeom>
              <a:rect b="b" l="l" r="r" t="t"/>
              <a:pathLst>
                <a:path extrusionOk="0" h="535304" w="935355">
                  <a:moveTo>
                    <a:pt x="0" y="0"/>
                  </a:moveTo>
                  <a:lnTo>
                    <a:pt x="667499" y="0"/>
                  </a:lnTo>
                  <a:lnTo>
                    <a:pt x="935099" y="267599"/>
                  </a:lnTo>
                  <a:lnTo>
                    <a:pt x="667499" y="535199"/>
                  </a:lnTo>
                  <a:lnTo>
                    <a:pt x="0" y="535199"/>
                  </a:lnTo>
                  <a:lnTo>
                    <a:pt x="0" y="0"/>
                  </a:lnTo>
                  <a:close/>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99" name="Google Shape;99;p6"/>
          <p:cNvSpPr txBox="1"/>
          <p:nvPr/>
        </p:nvSpPr>
        <p:spPr>
          <a:xfrm>
            <a:off x="802475" y="4674858"/>
            <a:ext cx="548640" cy="2235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300">
                <a:latin typeface="Arial"/>
                <a:ea typeface="Arial"/>
                <a:cs typeface="Arial"/>
                <a:sym typeface="Arial"/>
              </a:rPr>
              <a:t>Source</a:t>
            </a:r>
            <a:endParaRPr sz="1300">
              <a:latin typeface="Arial"/>
              <a:ea typeface="Arial"/>
              <a:cs typeface="Arial"/>
              <a:sym typeface="Arial"/>
            </a:endParaRPr>
          </a:p>
        </p:txBody>
      </p:sp>
      <p:grpSp>
        <p:nvGrpSpPr>
          <p:cNvPr id="100" name="Google Shape;100;p6"/>
          <p:cNvGrpSpPr/>
          <p:nvPr/>
        </p:nvGrpSpPr>
        <p:grpSpPr>
          <a:xfrm>
            <a:off x="8216249" y="4408725"/>
            <a:ext cx="734695" cy="653415"/>
            <a:chOff x="8216249" y="4408725"/>
            <a:chExt cx="734695" cy="653415"/>
          </a:xfrm>
        </p:grpSpPr>
        <p:sp>
          <p:nvSpPr>
            <p:cNvPr id="101" name="Google Shape;101;p6"/>
            <p:cNvSpPr/>
            <p:nvPr/>
          </p:nvSpPr>
          <p:spPr>
            <a:xfrm>
              <a:off x="8216249" y="4490362"/>
              <a:ext cx="734695" cy="571500"/>
            </a:xfrm>
            <a:custGeom>
              <a:rect b="b" l="l" r="r" t="t"/>
              <a:pathLst>
                <a:path extrusionOk="0" h="571500" w="734695">
                  <a:moveTo>
                    <a:pt x="367349" y="571462"/>
                  </a:moveTo>
                  <a:lnTo>
                    <a:pt x="293316" y="569803"/>
                  </a:lnTo>
                  <a:lnTo>
                    <a:pt x="224360" y="565046"/>
                  </a:lnTo>
                  <a:lnTo>
                    <a:pt x="161961" y="557520"/>
                  </a:lnTo>
                  <a:lnTo>
                    <a:pt x="107594" y="547551"/>
                  </a:lnTo>
                  <a:lnTo>
                    <a:pt x="62737" y="535469"/>
                  </a:lnTo>
                  <a:lnTo>
                    <a:pt x="7463" y="506277"/>
                  </a:lnTo>
                  <a:lnTo>
                    <a:pt x="0" y="489824"/>
                  </a:lnTo>
                  <a:lnTo>
                    <a:pt x="0" y="0"/>
                  </a:lnTo>
                  <a:lnTo>
                    <a:pt x="7463" y="16452"/>
                  </a:lnTo>
                  <a:lnTo>
                    <a:pt x="28868" y="31776"/>
                  </a:lnTo>
                  <a:lnTo>
                    <a:pt x="107594" y="57726"/>
                  </a:lnTo>
                  <a:lnTo>
                    <a:pt x="161961" y="67695"/>
                  </a:lnTo>
                  <a:lnTo>
                    <a:pt x="224360" y="75221"/>
                  </a:lnTo>
                  <a:lnTo>
                    <a:pt x="293316" y="79978"/>
                  </a:lnTo>
                  <a:lnTo>
                    <a:pt x="367349" y="81637"/>
                  </a:lnTo>
                  <a:lnTo>
                    <a:pt x="441383" y="79978"/>
                  </a:lnTo>
                  <a:lnTo>
                    <a:pt x="510339" y="75221"/>
                  </a:lnTo>
                  <a:lnTo>
                    <a:pt x="572738" y="67695"/>
                  </a:lnTo>
                  <a:lnTo>
                    <a:pt x="627105" y="57726"/>
                  </a:lnTo>
                  <a:lnTo>
                    <a:pt x="671962" y="45644"/>
                  </a:lnTo>
                  <a:lnTo>
                    <a:pt x="727236" y="16452"/>
                  </a:lnTo>
                  <a:lnTo>
                    <a:pt x="734699" y="0"/>
                  </a:lnTo>
                  <a:lnTo>
                    <a:pt x="734699" y="489824"/>
                  </a:lnTo>
                  <a:lnTo>
                    <a:pt x="705831" y="521601"/>
                  </a:lnTo>
                  <a:lnTo>
                    <a:pt x="627105" y="547551"/>
                  </a:lnTo>
                  <a:lnTo>
                    <a:pt x="572738" y="557520"/>
                  </a:lnTo>
                  <a:lnTo>
                    <a:pt x="510339" y="565046"/>
                  </a:lnTo>
                  <a:lnTo>
                    <a:pt x="441383" y="569803"/>
                  </a:lnTo>
                  <a:lnTo>
                    <a:pt x="367349" y="571462"/>
                  </a:lnTo>
                  <a:close/>
                </a:path>
              </a:pathLst>
            </a:custGeom>
            <a:solidFill>
              <a:srgbClr val="E9ED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2" name="Google Shape;102;p6"/>
            <p:cNvSpPr/>
            <p:nvPr/>
          </p:nvSpPr>
          <p:spPr>
            <a:xfrm>
              <a:off x="8216249" y="4408725"/>
              <a:ext cx="734695" cy="163830"/>
            </a:xfrm>
            <a:custGeom>
              <a:rect b="b" l="l" r="r" t="t"/>
              <a:pathLst>
                <a:path extrusionOk="0" h="163829" w="734695">
                  <a:moveTo>
                    <a:pt x="367349" y="163274"/>
                  </a:moveTo>
                  <a:lnTo>
                    <a:pt x="293316" y="161616"/>
                  </a:lnTo>
                  <a:lnTo>
                    <a:pt x="224360" y="156859"/>
                  </a:lnTo>
                  <a:lnTo>
                    <a:pt x="161961" y="149332"/>
                  </a:lnTo>
                  <a:lnTo>
                    <a:pt x="107594" y="139363"/>
                  </a:lnTo>
                  <a:lnTo>
                    <a:pt x="62737" y="127281"/>
                  </a:lnTo>
                  <a:lnTo>
                    <a:pt x="7463" y="98090"/>
                  </a:lnTo>
                  <a:lnTo>
                    <a:pt x="0" y="81637"/>
                  </a:lnTo>
                  <a:lnTo>
                    <a:pt x="7463" y="65184"/>
                  </a:lnTo>
                  <a:lnTo>
                    <a:pt x="62737" y="35993"/>
                  </a:lnTo>
                  <a:lnTo>
                    <a:pt x="107594" y="23911"/>
                  </a:lnTo>
                  <a:lnTo>
                    <a:pt x="161961" y="13942"/>
                  </a:lnTo>
                  <a:lnTo>
                    <a:pt x="224360" y="6415"/>
                  </a:lnTo>
                  <a:lnTo>
                    <a:pt x="293316" y="1658"/>
                  </a:lnTo>
                  <a:lnTo>
                    <a:pt x="367349" y="0"/>
                  </a:lnTo>
                  <a:lnTo>
                    <a:pt x="441383" y="1658"/>
                  </a:lnTo>
                  <a:lnTo>
                    <a:pt x="510339" y="6415"/>
                  </a:lnTo>
                  <a:lnTo>
                    <a:pt x="572738" y="13942"/>
                  </a:lnTo>
                  <a:lnTo>
                    <a:pt x="627105" y="23911"/>
                  </a:lnTo>
                  <a:lnTo>
                    <a:pt x="671962" y="35993"/>
                  </a:lnTo>
                  <a:lnTo>
                    <a:pt x="727236" y="65184"/>
                  </a:lnTo>
                  <a:lnTo>
                    <a:pt x="734699" y="81637"/>
                  </a:lnTo>
                  <a:lnTo>
                    <a:pt x="727236" y="98090"/>
                  </a:lnTo>
                  <a:lnTo>
                    <a:pt x="671962" y="127281"/>
                  </a:lnTo>
                  <a:lnTo>
                    <a:pt x="627105" y="139363"/>
                  </a:lnTo>
                  <a:lnTo>
                    <a:pt x="572738" y="149332"/>
                  </a:lnTo>
                  <a:lnTo>
                    <a:pt x="510339" y="156859"/>
                  </a:lnTo>
                  <a:lnTo>
                    <a:pt x="441383" y="161616"/>
                  </a:lnTo>
                  <a:lnTo>
                    <a:pt x="367349" y="163274"/>
                  </a:lnTo>
                  <a:close/>
                </a:path>
              </a:pathLst>
            </a:custGeom>
            <a:solidFill>
              <a:srgbClr val="F1F4F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3" name="Google Shape;103;p6"/>
            <p:cNvSpPr/>
            <p:nvPr/>
          </p:nvSpPr>
          <p:spPr>
            <a:xfrm>
              <a:off x="8216249" y="4408725"/>
              <a:ext cx="734695" cy="653415"/>
            </a:xfrm>
            <a:custGeom>
              <a:rect b="b" l="l" r="r" t="t"/>
              <a:pathLst>
                <a:path extrusionOk="0" h="653414" w="734695">
                  <a:moveTo>
                    <a:pt x="734699" y="81637"/>
                  </a:moveTo>
                  <a:lnTo>
                    <a:pt x="727236" y="98090"/>
                  </a:lnTo>
                  <a:lnTo>
                    <a:pt x="705831" y="113414"/>
                  </a:lnTo>
                  <a:lnTo>
                    <a:pt x="627105" y="139363"/>
                  </a:lnTo>
                  <a:lnTo>
                    <a:pt x="572738" y="149332"/>
                  </a:lnTo>
                  <a:lnTo>
                    <a:pt x="510339" y="156859"/>
                  </a:lnTo>
                  <a:lnTo>
                    <a:pt x="441383" y="161616"/>
                  </a:lnTo>
                  <a:lnTo>
                    <a:pt x="367349" y="163274"/>
                  </a:lnTo>
                  <a:lnTo>
                    <a:pt x="293316" y="161616"/>
                  </a:lnTo>
                  <a:lnTo>
                    <a:pt x="224360" y="156859"/>
                  </a:lnTo>
                  <a:lnTo>
                    <a:pt x="161961" y="149332"/>
                  </a:lnTo>
                  <a:lnTo>
                    <a:pt x="107594" y="139363"/>
                  </a:lnTo>
                  <a:lnTo>
                    <a:pt x="62737" y="127281"/>
                  </a:lnTo>
                  <a:lnTo>
                    <a:pt x="7463" y="98090"/>
                  </a:lnTo>
                  <a:lnTo>
                    <a:pt x="0" y="81637"/>
                  </a:lnTo>
                  <a:lnTo>
                    <a:pt x="28868" y="49860"/>
                  </a:lnTo>
                  <a:lnTo>
                    <a:pt x="107594" y="23911"/>
                  </a:lnTo>
                  <a:lnTo>
                    <a:pt x="161961" y="13942"/>
                  </a:lnTo>
                  <a:lnTo>
                    <a:pt x="224360" y="6415"/>
                  </a:lnTo>
                  <a:lnTo>
                    <a:pt x="293316" y="1658"/>
                  </a:lnTo>
                  <a:lnTo>
                    <a:pt x="367349" y="0"/>
                  </a:lnTo>
                  <a:lnTo>
                    <a:pt x="441383" y="1658"/>
                  </a:lnTo>
                  <a:lnTo>
                    <a:pt x="510339" y="6415"/>
                  </a:lnTo>
                  <a:lnTo>
                    <a:pt x="572738" y="13942"/>
                  </a:lnTo>
                  <a:lnTo>
                    <a:pt x="627105" y="23911"/>
                  </a:lnTo>
                  <a:lnTo>
                    <a:pt x="671962" y="35993"/>
                  </a:lnTo>
                  <a:lnTo>
                    <a:pt x="727236" y="65184"/>
                  </a:lnTo>
                  <a:lnTo>
                    <a:pt x="734699" y="81637"/>
                  </a:lnTo>
                  <a:lnTo>
                    <a:pt x="734699" y="571462"/>
                  </a:lnTo>
                  <a:lnTo>
                    <a:pt x="705831" y="603239"/>
                  </a:lnTo>
                  <a:lnTo>
                    <a:pt x="627105" y="629188"/>
                  </a:lnTo>
                  <a:lnTo>
                    <a:pt x="572738" y="639157"/>
                  </a:lnTo>
                  <a:lnTo>
                    <a:pt x="510339" y="646684"/>
                  </a:lnTo>
                  <a:lnTo>
                    <a:pt x="441383" y="651441"/>
                  </a:lnTo>
                  <a:lnTo>
                    <a:pt x="367349" y="653099"/>
                  </a:lnTo>
                  <a:lnTo>
                    <a:pt x="293316" y="651441"/>
                  </a:lnTo>
                  <a:lnTo>
                    <a:pt x="224360" y="646684"/>
                  </a:lnTo>
                  <a:lnTo>
                    <a:pt x="161961" y="639157"/>
                  </a:lnTo>
                  <a:lnTo>
                    <a:pt x="107594" y="629188"/>
                  </a:lnTo>
                  <a:lnTo>
                    <a:pt x="62737" y="617106"/>
                  </a:lnTo>
                  <a:lnTo>
                    <a:pt x="7463" y="587915"/>
                  </a:lnTo>
                  <a:lnTo>
                    <a:pt x="0" y="571462"/>
                  </a:lnTo>
                  <a:lnTo>
                    <a:pt x="0" y="81637"/>
                  </a:lnTo>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7"/>
          <p:cNvSpPr txBox="1"/>
          <p:nvPr>
            <p:ph type="title"/>
          </p:nvPr>
        </p:nvSpPr>
        <p:spPr>
          <a:xfrm>
            <a:off x="73025" y="12837"/>
            <a:ext cx="7791285" cy="476369"/>
          </a:xfrm>
          <a:prstGeom prst="rect">
            <a:avLst/>
          </a:prstGeom>
          <a:noFill/>
          <a:ln>
            <a:noFill/>
          </a:ln>
        </p:spPr>
        <p:txBody>
          <a:bodyPr anchorCtr="0" anchor="t" bIns="0" lIns="0" spcFirstLastPara="1" rIns="0" wrap="square" tIns="66075">
            <a:spAutoFit/>
          </a:bodyPr>
          <a:lstStyle/>
          <a:p>
            <a:pPr indent="0" lvl="0" marL="739775" rtl="0" algn="l">
              <a:lnSpc>
                <a:spcPct val="100000"/>
              </a:lnSpc>
              <a:spcBef>
                <a:spcPts val="0"/>
              </a:spcBef>
              <a:spcAft>
                <a:spcPts val="0"/>
              </a:spcAft>
              <a:buNone/>
            </a:pPr>
            <a:r>
              <a:rPr lang="en-US"/>
              <a:t>El Programa: Compilación</a:t>
            </a:r>
            <a:endParaRPr/>
          </a:p>
        </p:txBody>
      </p:sp>
      <p:sp>
        <p:nvSpPr>
          <p:cNvPr id="109" name="Google Shape;109;p7"/>
          <p:cNvSpPr txBox="1"/>
          <p:nvPr/>
        </p:nvSpPr>
        <p:spPr>
          <a:xfrm>
            <a:off x="802475" y="585269"/>
            <a:ext cx="7300595" cy="1929130"/>
          </a:xfrm>
          <a:prstGeom prst="rect">
            <a:avLst/>
          </a:prstGeom>
          <a:noFill/>
          <a:ln>
            <a:noFill/>
          </a:ln>
        </p:spPr>
        <p:txBody>
          <a:bodyPr anchorCtr="0" anchor="t" bIns="0" lIns="0" spcFirstLastPara="1" rIns="0" wrap="square" tIns="12700">
            <a:spAutoFit/>
          </a:bodyPr>
          <a:lstStyle/>
          <a:p>
            <a:pPr indent="457200" lvl="0" marL="12700" marR="5080" rtl="0" algn="l">
              <a:lnSpc>
                <a:spcPct val="105400"/>
              </a:lnSpc>
              <a:spcBef>
                <a:spcPts val="0"/>
              </a:spcBef>
              <a:spcAft>
                <a:spcPts val="0"/>
              </a:spcAft>
              <a:buNone/>
            </a:pPr>
            <a:r>
              <a:rPr b="1" lang="en-US" sz="1800">
                <a:solidFill>
                  <a:srgbClr val="595959"/>
                </a:solidFill>
                <a:latin typeface="Tahoma"/>
                <a:ea typeface="Tahoma"/>
                <a:cs typeface="Tahoma"/>
                <a:sym typeface="Tahoma"/>
              </a:rPr>
              <a:t>La fase de compilación. </a:t>
            </a:r>
            <a:r>
              <a:rPr lang="en-US" sz="1800">
                <a:solidFill>
                  <a:srgbClr val="595959"/>
                </a:solidFill>
                <a:latin typeface="Tahoma"/>
                <a:ea typeface="Tahoma"/>
                <a:cs typeface="Tahoma"/>
                <a:sym typeface="Tahoma"/>
              </a:rPr>
              <a:t>El compilador (cc) traduce el programa .i a un archivo de texto .s que contiene un programa en lenguaje assembly.</a:t>
            </a:r>
            <a:endParaRPr sz="1800">
              <a:latin typeface="Tahoma"/>
              <a:ea typeface="Tahoma"/>
              <a:cs typeface="Tahoma"/>
              <a:sym typeface="Tahoma"/>
            </a:endParaRPr>
          </a:p>
          <a:p>
            <a:pPr indent="0" lvl="0" marL="0" rtl="0" algn="l">
              <a:lnSpc>
                <a:spcPct val="100000"/>
              </a:lnSpc>
              <a:spcBef>
                <a:spcPts val="0"/>
              </a:spcBef>
              <a:spcAft>
                <a:spcPts val="0"/>
              </a:spcAft>
              <a:buNone/>
            </a:pPr>
            <a:r>
              <a:t/>
            </a:r>
            <a:endParaRPr sz="1800">
              <a:latin typeface="Tahoma"/>
              <a:ea typeface="Tahoma"/>
              <a:cs typeface="Tahoma"/>
              <a:sym typeface="Tahoma"/>
            </a:endParaRPr>
          </a:p>
          <a:p>
            <a:pPr indent="0" lvl="0" marL="0" rtl="0" algn="l">
              <a:lnSpc>
                <a:spcPct val="100000"/>
              </a:lnSpc>
              <a:spcBef>
                <a:spcPts val="445"/>
              </a:spcBef>
              <a:spcAft>
                <a:spcPts val="0"/>
              </a:spcAft>
              <a:buNone/>
            </a:pPr>
            <a:r>
              <a:t/>
            </a:r>
            <a:endParaRPr sz="1800">
              <a:latin typeface="Tahoma"/>
              <a:ea typeface="Tahoma"/>
              <a:cs typeface="Tahoma"/>
              <a:sym typeface="Tahoma"/>
            </a:endParaRPr>
          </a:p>
          <a:p>
            <a:pPr indent="0" lvl="0" marL="12700" rtl="0" algn="l">
              <a:lnSpc>
                <a:spcPct val="100000"/>
              </a:lnSpc>
              <a:spcBef>
                <a:spcPts val="0"/>
              </a:spcBef>
              <a:spcAft>
                <a:spcPts val="0"/>
              </a:spcAft>
              <a:buNone/>
            </a:pPr>
            <a:r>
              <a:rPr b="1" lang="en-US" sz="1800">
                <a:solidFill>
                  <a:srgbClr val="595959"/>
                </a:solidFill>
                <a:latin typeface="Tahoma"/>
                <a:ea typeface="Tahoma"/>
                <a:cs typeface="Tahoma"/>
                <a:sym typeface="Tahoma"/>
              </a:rPr>
              <a:t>$gcc -S -masm=intel ejemplo.c</a:t>
            </a:r>
            <a:endParaRPr sz="1800">
              <a:latin typeface="Tahoma"/>
              <a:ea typeface="Tahoma"/>
              <a:cs typeface="Tahoma"/>
              <a:sym typeface="Tahoma"/>
            </a:endParaRPr>
          </a:p>
          <a:p>
            <a:pPr indent="0" lvl="0" marL="12700" rtl="0" algn="l">
              <a:lnSpc>
                <a:spcPct val="100000"/>
              </a:lnSpc>
              <a:spcBef>
                <a:spcPts val="1320"/>
              </a:spcBef>
              <a:spcAft>
                <a:spcPts val="0"/>
              </a:spcAft>
              <a:buNone/>
            </a:pPr>
            <a:r>
              <a:rPr b="1" lang="en-US" sz="1800">
                <a:solidFill>
                  <a:srgbClr val="595959"/>
                </a:solidFill>
                <a:latin typeface="Tahoma"/>
                <a:ea typeface="Tahoma"/>
                <a:cs typeface="Tahoma"/>
                <a:sym typeface="Tahoma"/>
              </a:rPr>
              <a:t>$cat</a:t>
            </a:r>
            <a:endParaRPr sz="1800">
              <a:latin typeface="Tahoma"/>
              <a:ea typeface="Tahoma"/>
              <a:cs typeface="Tahoma"/>
              <a:sym typeface="Tahoma"/>
            </a:endParaRPr>
          </a:p>
        </p:txBody>
      </p:sp>
      <p:grpSp>
        <p:nvGrpSpPr>
          <p:cNvPr id="110" name="Google Shape;110;p7"/>
          <p:cNvGrpSpPr/>
          <p:nvPr/>
        </p:nvGrpSpPr>
        <p:grpSpPr>
          <a:xfrm>
            <a:off x="3540237" y="4526574"/>
            <a:ext cx="1443355" cy="535305"/>
            <a:chOff x="3540237" y="4526574"/>
            <a:chExt cx="1443355" cy="535305"/>
          </a:xfrm>
        </p:grpSpPr>
        <p:sp>
          <p:nvSpPr>
            <p:cNvPr id="111" name="Google Shape;111;p7"/>
            <p:cNvSpPr/>
            <p:nvPr/>
          </p:nvSpPr>
          <p:spPr>
            <a:xfrm>
              <a:off x="3540237" y="4526574"/>
              <a:ext cx="1443355" cy="535305"/>
            </a:xfrm>
            <a:custGeom>
              <a:rect b="b" l="l" r="r" t="t"/>
              <a:pathLst>
                <a:path extrusionOk="0" h="535304" w="1443354">
                  <a:moveTo>
                    <a:pt x="1175399" y="535199"/>
                  </a:moveTo>
                  <a:lnTo>
                    <a:pt x="0" y="535199"/>
                  </a:lnTo>
                  <a:lnTo>
                    <a:pt x="267599" y="267599"/>
                  </a:lnTo>
                  <a:lnTo>
                    <a:pt x="0" y="0"/>
                  </a:lnTo>
                  <a:lnTo>
                    <a:pt x="1175399" y="0"/>
                  </a:lnTo>
                  <a:lnTo>
                    <a:pt x="1442999" y="267599"/>
                  </a:lnTo>
                  <a:lnTo>
                    <a:pt x="1175399" y="535199"/>
                  </a:lnTo>
                  <a:close/>
                </a:path>
              </a:pathLst>
            </a:custGeom>
            <a:solidFill>
              <a:srgbClr val="FFB8A2"/>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12" name="Google Shape;112;p7"/>
            <p:cNvSpPr/>
            <p:nvPr/>
          </p:nvSpPr>
          <p:spPr>
            <a:xfrm>
              <a:off x="3540237" y="4526574"/>
              <a:ext cx="1443355" cy="535305"/>
            </a:xfrm>
            <a:custGeom>
              <a:rect b="b" l="l" r="r" t="t"/>
              <a:pathLst>
                <a:path extrusionOk="0" h="535304" w="1443354">
                  <a:moveTo>
                    <a:pt x="0" y="0"/>
                  </a:moveTo>
                  <a:lnTo>
                    <a:pt x="1175399" y="0"/>
                  </a:lnTo>
                  <a:lnTo>
                    <a:pt x="1442999" y="267599"/>
                  </a:lnTo>
                  <a:lnTo>
                    <a:pt x="1175399" y="535199"/>
                  </a:lnTo>
                  <a:lnTo>
                    <a:pt x="0" y="535199"/>
                  </a:lnTo>
                  <a:lnTo>
                    <a:pt x="267599" y="267599"/>
                  </a:lnTo>
                  <a:lnTo>
                    <a:pt x="0" y="0"/>
                  </a:lnTo>
                  <a:close/>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13" name="Google Shape;113;p7"/>
          <p:cNvSpPr txBox="1"/>
          <p:nvPr/>
        </p:nvSpPr>
        <p:spPr>
          <a:xfrm>
            <a:off x="3880862" y="4690162"/>
            <a:ext cx="584835" cy="193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100">
                <a:latin typeface="Arial"/>
                <a:ea typeface="Arial"/>
                <a:cs typeface="Arial"/>
                <a:sym typeface="Arial"/>
              </a:rPr>
              <a:t>Compiler</a:t>
            </a:r>
            <a:endParaRPr sz="1100">
              <a:latin typeface="Arial"/>
              <a:ea typeface="Arial"/>
              <a:cs typeface="Arial"/>
              <a:sym typeface="Arial"/>
            </a:endParaRPr>
          </a:p>
        </p:txBody>
      </p:sp>
      <p:grpSp>
        <p:nvGrpSpPr>
          <p:cNvPr id="114" name="Google Shape;114;p7"/>
          <p:cNvGrpSpPr/>
          <p:nvPr/>
        </p:nvGrpSpPr>
        <p:grpSpPr>
          <a:xfrm>
            <a:off x="4983250" y="4526574"/>
            <a:ext cx="1710055" cy="535305"/>
            <a:chOff x="4983250" y="4526574"/>
            <a:chExt cx="1710055" cy="535305"/>
          </a:xfrm>
        </p:grpSpPr>
        <p:sp>
          <p:nvSpPr>
            <p:cNvPr id="115" name="Google Shape;115;p7"/>
            <p:cNvSpPr/>
            <p:nvPr/>
          </p:nvSpPr>
          <p:spPr>
            <a:xfrm>
              <a:off x="4983250" y="4526574"/>
              <a:ext cx="1710055" cy="535305"/>
            </a:xfrm>
            <a:custGeom>
              <a:rect b="b" l="l" r="r" t="t"/>
              <a:pathLst>
                <a:path extrusionOk="0" h="535304" w="1710054">
                  <a:moveTo>
                    <a:pt x="1442099" y="535199"/>
                  </a:moveTo>
                  <a:lnTo>
                    <a:pt x="0" y="535199"/>
                  </a:lnTo>
                  <a:lnTo>
                    <a:pt x="267599" y="267599"/>
                  </a:lnTo>
                  <a:lnTo>
                    <a:pt x="0" y="0"/>
                  </a:lnTo>
                  <a:lnTo>
                    <a:pt x="1442099" y="0"/>
                  </a:lnTo>
                  <a:lnTo>
                    <a:pt x="1709699" y="267599"/>
                  </a:lnTo>
                  <a:lnTo>
                    <a:pt x="1442099" y="535199"/>
                  </a:lnTo>
                  <a:close/>
                </a:path>
              </a:pathLst>
            </a:custGeom>
            <a:solidFill>
              <a:srgbClr val="E9ED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16" name="Google Shape;116;p7"/>
            <p:cNvSpPr/>
            <p:nvPr/>
          </p:nvSpPr>
          <p:spPr>
            <a:xfrm>
              <a:off x="4983250" y="4526574"/>
              <a:ext cx="1710055" cy="535305"/>
            </a:xfrm>
            <a:custGeom>
              <a:rect b="b" l="l" r="r" t="t"/>
              <a:pathLst>
                <a:path extrusionOk="0" h="535304" w="1710054">
                  <a:moveTo>
                    <a:pt x="0" y="0"/>
                  </a:moveTo>
                  <a:lnTo>
                    <a:pt x="1442099" y="0"/>
                  </a:lnTo>
                  <a:lnTo>
                    <a:pt x="1709699" y="267599"/>
                  </a:lnTo>
                  <a:lnTo>
                    <a:pt x="1442099" y="535199"/>
                  </a:lnTo>
                  <a:lnTo>
                    <a:pt x="0" y="535199"/>
                  </a:lnTo>
                  <a:lnTo>
                    <a:pt x="267599" y="267599"/>
                  </a:lnTo>
                  <a:lnTo>
                    <a:pt x="0" y="0"/>
                  </a:lnTo>
                  <a:close/>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17" name="Google Shape;117;p7"/>
          <p:cNvSpPr txBox="1"/>
          <p:nvPr/>
        </p:nvSpPr>
        <p:spPr>
          <a:xfrm>
            <a:off x="5323874" y="4669588"/>
            <a:ext cx="865505" cy="2387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400">
                <a:latin typeface="Arial"/>
                <a:ea typeface="Arial"/>
                <a:cs typeface="Arial"/>
                <a:sym typeface="Arial"/>
              </a:rPr>
              <a:t>Assembler</a:t>
            </a:r>
            <a:endParaRPr sz="1400">
              <a:latin typeface="Arial"/>
              <a:ea typeface="Arial"/>
              <a:cs typeface="Arial"/>
              <a:sym typeface="Arial"/>
            </a:endParaRPr>
          </a:p>
        </p:txBody>
      </p:sp>
      <p:grpSp>
        <p:nvGrpSpPr>
          <p:cNvPr id="118" name="Google Shape;118;p7"/>
          <p:cNvGrpSpPr/>
          <p:nvPr/>
        </p:nvGrpSpPr>
        <p:grpSpPr>
          <a:xfrm>
            <a:off x="1669737" y="4526574"/>
            <a:ext cx="1870710" cy="535305"/>
            <a:chOff x="1669737" y="4526574"/>
            <a:chExt cx="1870710" cy="535305"/>
          </a:xfrm>
        </p:grpSpPr>
        <p:sp>
          <p:nvSpPr>
            <p:cNvPr id="119" name="Google Shape;119;p7"/>
            <p:cNvSpPr/>
            <p:nvPr/>
          </p:nvSpPr>
          <p:spPr>
            <a:xfrm>
              <a:off x="1669737" y="4526574"/>
              <a:ext cx="1870710" cy="535305"/>
            </a:xfrm>
            <a:custGeom>
              <a:rect b="b" l="l" r="r" t="t"/>
              <a:pathLst>
                <a:path extrusionOk="0" h="535304" w="1870710">
                  <a:moveTo>
                    <a:pt x="1602899" y="535199"/>
                  </a:moveTo>
                  <a:lnTo>
                    <a:pt x="0" y="535199"/>
                  </a:lnTo>
                  <a:lnTo>
                    <a:pt x="267599" y="267599"/>
                  </a:lnTo>
                  <a:lnTo>
                    <a:pt x="0" y="0"/>
                  </a:lnTo>
                  <a:lnTo>
                    <a:pt x="1602899" y="0"/>
                  </a:lnTo>
                  <a:lnTo>
                    <a:pt x="1870499" y="267599"/>
                  </a:lnTo>
                  <a:lnTo>
                    <a:pt x="1602899" y="535199"/>
                  </a:lnTo>
                  <a:close/>
                </a:path>
              </a:pathLst>
            </a:custGeom>
            <a:solidFill>
              <a:srgbClr val="E9ED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20" name="Google Shape;120;p7"/>
            <p:cNvSpPr/>
            <p:nvPr/>
          </p:nvSpPr>
          <p:spPr>
            <a:xfrm>
              <a:off x="1669737" y="4526574"/>
              <a:ext cx="1870710" cy="535305"/>
            </a:xfrm>
            <a:custGeom>
              <a:rect b="b" l="l" r="r" t="t"/>
              <a:pathLst>
                <a:path extrusionOk="0" h="535304" w="1870710">
                  <a:moveTo>
                    <a:pt x="0" y="0"/>
                  </a:moveTo>
                  <a:lnTo>
                    <a:pt x="1602899" y="0"/>
                  </a:lnTo>
                  <a:lnTo>
                    <a:pt x="1870499" y="267599"/>
                  </a:lnTo>
                  <a:lnTo>
                    <a:pt x="1602899" y="535199"/>
                  </a:lnTo>
                  <a:lnTo>
                    <a:pt x="0" y="535199"/>
                  </a:lnTo>
                  <a:lnTo>
                    <a:pt x="267599" y="267599"/>
                  </a:lnTo>
                  <a:lnTo>
                    <a:pt x="0" y="0"/>
                  </a:lnTo>
                  <a:close/>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21" name="Google Shape;121;p7"/>
          <p:cNvSpPr txBox="1"/>
          <p:nvPr/>
        </p:nvSpPr>
        <p:spPr>
          <a:xfrm>
            <a:off x="2010362" y="4684891"/>
            <a:ext cx="932180"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200">
                <a:latin typeface="Arial"/>
                <a:ea typeface="Arial"/>
                <a:cs typeface="Arial"/>
                <a:sym typeface="Arial"/>
              </a:rPr>
              <a:t>Preprocessor</a:t>
            </a:r>
            <a:endParaRPr sz="1200">
              <a:latin typeface="Arial"/>
              <a:ea typeface="Arial"/>
              <a:cs typeface="Arial"/>
              <a:sym typeface="Arial"/>
            </a:endParaRPr>
          </a:p>
        </p:txBody>
      </p:sp>
      <p:grpSp>
        <p:nvGrpSpPr>
          <p:cNvPr id="122" name="Google Shape;122;p7"/>
          <p:cNvGrpSpPr/>
          <p:nvPr/>
        </p:nvGrpSpPr>
        <p:grpSpPr>
          <a:xfrm>
            <a:off x="6693049" y="4526574"/>
            <a:ext cx="1362710" cy="535305"/>
            <a:chOff x="6693049" y="4526574"/>
            <a:chExt cx="1362710" cy="535305"/>
          </a:xfrm>
        </p:grpSpPr>
        <p:sp>
          <p:nvSpPr>
            <p:cNvPr id="123" name="Google Shape;123;p7"/>
            <p:cNvSpPr/>
            <p:nvPr/>
          </p:nvSpPr>
          <p:spPr>
            <a:xfrm>
              <a:off x="6693049" y="4526574"/>
              <a:ext cx="1362710" cy="535305"/>
            </a:xfrm>
            <a:custGeom>
              <a:rect b="b" l="l" r="r" t="t"/>
              <a:pathLst>
                <a:path extrusionOk="0" h="535304" w="1362709">
                  <a:moveTo>
                    <a:pt x="1094999" y="535199"/>
                  </a:moveTo>
                  <a:lnTo>
                    <a:pt x="0" y="535199"/>
                  </a:lnTo>
                  <a:lnTo>
                    <a:pt x="267599" y="267599"/>
                  </a:lnTo>
                  <a:lnTo>
                    <a:pt x="0" y="0"/>
                  </a:lnTo>
                  <a:lnTo>
                    <a:pt x="1094999" y="0"/>
                  </a:lnTo>
                  <a:lnTo>
                    <a:pt x="1362599" y="267599"/>
                  </a:lnTo>
                  <a:lnTo>
                    <a:pt x="1094999" y="535199"/>
                  </a:lnTo>
                  <a:close/>
                </a:path>
              </a:pathLst>
            </a:custGeom>
            <a:solidFill>
              <a:srgbClr val="E9ED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24" name="Google Shape;124;p7"/>
            <p:cNvSpPr/>
            <p:nvPr/>
          </p:nvSpPr>
          <p:spPr>
            <a:xfrm>
              <a:off x="6693049" y="4526574"/>
              <a:ext cx="1362710" cy="535305"/>
            </a:xfrm>
            <a:custGeom>
              <a:rect b="b" l="l" r="r" t="t"/>
              <a:pathLst>
                <a:path extrusionOk="0" h="535304" w="1362709">
                  <a:moveTo>
                    <a:pt x="0" y="0"/>
                  </a:moveTo>
                  <a:lnTo>
                    <a:pt x="1094999" y="0"/>
                  </a:lnTo>
                  <a:lnTo>
                    <a:pt x="1362599" y="267599"/>
                  </a:lnTo>
                  <a:lnTo>
                    <a:pt x="1094999" y="535199"/>
                  </a:lnTo>
                  <a:lnTo>
                    <a:pt x="0" y="535199"/>
                  </a:lnTo>
                  <a:lnTo>
                    <a:pt x="267599" y="267599"/>
                  </a:lnTo>
                  <a:lnTo>
                    <a:pt x="0" y="0"/>
                  </a:lnTo>
                  <a:close/>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25" name="Google Shape;125;p7"/>
          <p:cNvSpPr txBox="1"/>
          <p:nvPr/>
        </p:nvSpPr>
        <p:spPr>
          <a:xfrm>
            <a:off x="7033675" y="4669588"/>
            <a:ext cx="509905" cy="2387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400">
                <a:latin typeface="Arial"/>
                <a:ea typeface="Arial"/>
                <a:cs typeface="Arial"/>
                <a:sym typeface="Arial"/>
              </a:rPr>
              <a:t>Linker</a:t>
            </a:r>
            <a:endParaRPr sz="1400">
              <a:latin typeface="Arial"/>
              <a:ea typeface="Arial"/>
              <a:cs typeface="Arial"/>
              <a:sym typeface="Arial"/>
            </a:endParaRPr>
          </a:p>
        </p:txBody>
      </p:sp>
      <p:grpSp>
        <p:nvGrpSpPr>
          <p:cNvPr id="126" name="Google Shape;126;p7"/>
          <p:cNvGrpSpPr/>
          <p:nvPr/>
        </p:nvGrpSpPr>
        <p:grpSpPr>
          <a:xfrm>
            <a:off x="729450" y="4526574"/>
            <a:ext cx="935355" cy="535305"/>
            <a:chOff x="729450" y="4526574"/>
            <a:chExt cx="935355" cy="535305"/>
          </a:xfrm>
        </p:grpSpPr>
        <p:sp>
          <p:nvSpPr>
            <p:cNvPr id="127" name="Google Shape;127;p7"/>
            <p:cNvSpPr/>
            <p:nvPr/>
          </p:nvSpPr>
          <p:spPr>
            <a:xfrm>
              <a:off x="729450" y="4526574"/>
              <a:ext cx="935355" cy="535305"/>
            </a:xfrm>
            <a:custGeom>
              <a:rect b="b" l="l" r="r" t="t"/>
              <a:pathLst>
                <a:path extrusionOk="0" h="535304" w="935355">
                  <a:moveTo>
                    <a:pt x="667499" y="535199"/>
                  </a:moveTo>
                  <a:lnTo>
                    <a:pt x="0" y="535199"/>
                  </a:lnTo>
                  <a:lnTo>
                    <a:pt x="0" y="0"/>
                  </a:lnTo>
                  <a:lnTo>
                    <a:pt x="667499" y="0"/>
                  </a:lnTo>
                  <a:lnTo>
                    <a:pt x="935099" y="267599"/>
                  </a:lnTo>
                  <a:lnTo>
                    <a:pt x="667499" y="535199"/>
                  </a:lnTo>
                  <a:close/>
                </a:path>
              </a:pathLst>
            </a:custGeom>
            <a:solidFill>
              <a:srgbClr val="F4CCCC"/>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28" name="Google Shape;128;p7"/>
            <p:cNvSpPr/>
            <p:nvPr/>
          </p:nvSpPr>
          <p:spPr>
            <a:xfrm>
              <a:off x="729450" y="4526574"/>
              <a:ext cx="935355" cy="535305"/>
            </a:xfrm>
            <a:custGeom>
              <a:rect b="b" l="l" r="r" t="t"/>
              <a:pathLst>
                <a:path extrusionOk="0" h="535304" w="935355">
                  <a:moveTo>
                    <a:pt x="0" y="0"/>
                  </a:moveTo>
                  <a:lnTo>
                    <a:pt x="667499" y="0"/>
                  </a:lnTo>
                  <a:lnTo>
                    <a:pt x="935099" y="267599"/>
                  </a:lnTo>
                  <a:lnTo>
                    <a:pt x="667499" y="535199"/>
                  </a:lnTo>
                  <a:lnTo>
                    <a:pt x="0" y="535199"/>
                  </a:lnTo>
                  <a:lnTo>
                    <a:pt x="0" y="0"/>
                  </a:lnTo>
                  <a:close/>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29" name="Google Shape;129;p7"/>
          <p:cNvSpPr txBox="1"/>
          <p:nvPr/>
        </p:nvSpPr>
        <p:spPr>
          <a:xfrm>
            <a:off x="802475" y="4674858"/>
            <a:ext cx="548640" cy="2235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300">
                <a:latin typeface="Arial"/>
                <a:ea typeface="Arial"/>
                <a:cs typeface="Arial"/>
                <a:sym typeface="Arial"/>
              </a:rPr>
              <a:t>Source</a:t>
            </a:r>
            <a:endParaRPr sz="1300">
              <a:latin typeface="Arial"/>
              <a:ea typeface="Arial"/>
              <a:cs typeface="Arial"/>
              <a:sym typeface="Arial"/>
            </a:endParaRPr>
          </a:p>
        </p:txBody>
      </p:sp>
      <p:grpSp>
        <p:nvGrpSpPr>
          <p:cNvPr id="130" name="Google Shape;130;p7"/>
          <p:cNvGrpSpPr/>
          <p:nvPr/>
        </p:nvGrpSpPr>
        <p:grpSpPr>
          <a:xfrm>
            <a:off x="8216249" y="4408725"/>
            <a:ext cx="734695" cy="653415"/>
            <a:chOff x="8216249" y="4408725"/>
            <a:chExt cx="734695" cy="653415"/>
          </a:xfrm>
        </p:grpSpPr>
        <p:sp>
          <p:nvSpPr>
            <p:cNvPr id="131" name="Google Shape;131;p7"/>
            <p:cNvSpPr/>
            <p:nvPr/>
          </p:nvSpPr>
          <p:spPr>
            <a:xfrm>
              <a:off x="8216249" y="4490362"/>
              <a:ext cx="734695" cy="571500"/>
            </a:xfrm>
            <a:custGeom>
              <a:rect b="b" l="l" r="r" t="t"/>
              <a:pathLst>
                <a:path extrusionOk="0" h="571500" w="734695">
                  <a:moveTo>
                    <a:pt x="367349" y="571462"/>
                  </a:moveTo>
                  <a:lnTo>
                    <a:pt x="293316" y="569803"/>
                  </a:lnTo>
                  <a:lnTo>
                    <a:pt x="224360" y="565046"/>
                  </a:lnTo>
                  <a:lnTo>
                    <a:pt x="161961" y="557520"/>
                  </a:lnTo>
                  <a:lnTo>
                    <a:pt x="107594" y="547551"/>
                  </a:lnTo>
                  <a:lnTo>
                    <a:pt x="62737" y="535469"/>
                  </a:lnTo>
                  <a:lnTo>
                    <a:pt x="7463" y="506277"/>
                  </a:lnTo>
                  <a:lnTo>
                    <a:pt x="0" y="489824"/>
                  </a:lnTo>
                  <a:lnTo>
                    <a:pt x="0" y="0"/>
                  </a:lnTo>
                  <a:lnTo>
                    <a:pt x="7463" y="16452"/>
                  </a:lnTo>
                  <a:lnTo>
                    <a:pt x="28868" y="31776"/>
                  </a:lnTo>
                  <a:lnTo>
                    <a:pt x="107594" y="57726"/>
                  </a:lnTo>
                  <a:lnTo>
                    <a:pt x="161961" y="67695"/>
                  </a:lnTo>
                  <a:lnTo>
                    <a:pt x="224360" y="75221"/>
                  </a:lnTo>
                  <a:lnTo>
                    <a:pt x="293316" y="79978"/>
                  </a:lnTo>
                  <a:lnTo>
                    <a:pt x="367349" y="81637"/>
                  </a:lnTo>
                  <a:lnTo>
                    <a:pt x="441383" y="79978"/>
                  </a:lnTo>
                  <a:lnTo>
                    <a:pt x="510339" y="75221"/>
                  </a:lnTo>
                  <a:lnTo>
                    <a:pt x="572738" y="67695"/>
                  </a:lnTo>
                  <a:lnTo>
                    <a:pt x="627105" y="57726"/>
                  </a:lnTo>
                  <a:lnTo>
                    <a:pt x="671962" y="45644"/>
                  </a:lnTo>
                  <a:lnTo>
                    <a:pt x="727236" y="16452"/>
                  </a:lnTo>
                  <a:lnTo>
                    <a:pt x="734699" y="0"/>
                  </a:lnTo>
                  <a:lnTo>
                    <a:pt x="734699" y="489824"/>
                  </a:lnTo>
                  <a:lnTo>
                    <a:pt x="705831" y="521601"/>
                  </a:lnTo>
                  <a:lnTo>
                    <a:pt x="627105" y="547551"/>
                  </a:lnTo>
                  <a:lnTo>
                    <a:pt x="572738" y="557520"/>
                  </a:lnTo>
                  <a:lnTo>
                    <a:pt x="510339" y="565046"/>
                  </a:lnTo>
                  <a:lnTo>
                    <a:pt x="441383" y="569803"/>
                  </a:lnTo>
                  <a:lnTo>
                    <a:pt x="367349" y="571462"/>
                  </a:lnTo>
                  <a:close/>
                </a:path>
              </a:pathLst>
            </a:custGeom>
            <a:solidFill>
              <a:srgbClr val="E9ED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2" name="Google Shape;132;p7"/>
            <p:cNvSpPr/>
            <p:nvPr/>
          </p:nvSpPr>
          <p:spPr>
            <a:xfrm>
              <a:off x="8216249" y="4408725"/>
              <a:ext cx="734695" cy="163830"/>
            </a:xfrm>
            <a:custGeom>
              <a:rect b="b" l="l" r="r" t="t"/>
              <a:pathLst>
                <a:path extrusionOk="0" h="163829" w="734695">
                  <a:moveTo>
                    <a:pt x="367349" y="163274"/>
                  </a:moveTo>
                  <a:lnTo>
                    <a:pt x="293316" y="161616"/>
                  </a:lnTo>
                  <a:lnTo>
                    <a:pt x="224360" y="156859"/>
                  </a:lnTo>
                  <a:lnTo>
                    <a:pt x="161961" y="149332"/>
                  </a:lnTo>
                  <a:lnTo>
                    <a:pt x="107594" y="139363"/>
                  </a:lnTo>
                  <a:lnTo>
                    <a:pt x="62737" y="127281"/>
                  </a:lnTo>
                  <a:lnTo>
                    <a:pt x="7463" y="98090"/>
                  </a:lnTo>
                  <a:lnTo>
                    <a:pt x="0" y="81637"/>
                  </a:lnTo>
                  <a:lnTo>
                    <a:pt x="7463" y="65184"/>
                  </a:lnTo>
                  <a:lnTo>
                    <a:pt x="62737" y="35993"/>
                  </a:lnTo>
                  <a:lnTo>
                    <a:pt x="107594" y="23911"/>
                  </a:lnTo>
                  <a:lnTo>
                    <a:pt x="161961" y="13942"/>
                  </a:lnTo>
                  <a:lnTo>
                    <a:pt x="224360" y="6415"/>
                  </a:lnTo>
                  <a:lnTo>
                    <a:pt x="293316" y="1658"/>
                  </a:lnTo>
                  <a:lnTo>
                    <a:pt x="367349" y="0"/>
                  </a:lnTo>
                  <a:lnTo>
                    <a:pt x="441383" y="1658"/>
                  </a:lnTo>
                  <a:lnTo>
                    <a:pt x="510339" y="6415"/>
                  </a:lnTo>
                  <a:lnTo>
                    <a:pt x="572738" y="13942"/>
                  </a:lnTo>
                  <a:lnTo>
                    <a:pt x="627105" y="23911"/>
                  </a:lnTo>
                  <a:lnTo>
                    <a:pt x="671962" y="35993"/>
                  </a:lnTo>
                  <a:lnTo>
                    <a:pt x="727236" y="65184"/>
                  </a:lnTo>
                  <a:lnTo>
                    <a:pt x="734699" y="81637"/>
                  </a:lnTo>
                  <a:lnTo>
                    <a:pt x="727236" y="98090"/>
                  </a:lnTo>
                  <a:lnTo>
                    <a:pt x="671962" y="127281"/>
                  </a:lnTo>
                  <a:lnTo>
                    <a:pt x="627105" y="139363"/>
                  </a:lnTo>
                  <a:lnTo>
                    <a:pt x="572738" y="149332"/>
                  </a:lnTo>
                  <a:lnTo>
                    <a:pt x="510339" y="156859"/>
                  </a:lnTo>
                  <a:lnTo>
                    <a:pt x="441383" y="161616"/>
                  </a:lnTo>
                  <a:lnTo>
                    <a:pt x="367349" y="163274"/>
                  </a:lnTo>
                  <a:close/>
                </a:path>
              </a:pathLst>
            </a:custGeom>
            <a:solidFill>
              <a:srgbClr val="F1F4F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3" name="Google Shape;133;p7"/>
            <p:cNvSpPr/>
            <p:nvPr/>
          </p:nvSpPr>
          <p:spPr>
            <a:xfrm>
              <a:off x="8216249" y="4408725"/>
              <a:ext cx="734695" cy="653415"/>
            </a:xfrm>
            <a:custGeom>
              <a:rect b="b" l="l" r="r" t="t"/>
              <a:pathLst>
                <a:path extrusionOk="0" h="653414" w="734695">
                  <a:moveTo>
                    <a:pt x="734699" y="81637"/>
                  </a:moveTo>
                  <a:lnTo>
                    <a:pt x="727236" y="98090"/>
                  </a:lnTo>
                  <a:lnTo>
                    <a:pt x="705831" y="113414"/>
                  </a:lnTo>
                  <a:lnTo>
                    <a:pt x="627105" y="139363"/>
                  </a:lnTo>
                  <a:lnTo>
                    <a:pt x="572738" y="149332"/>
                  </a:lnTo>
                  <a:lnTo>
                    <a:pt x="510339" y="156859"/>
                  </a:lnTo>
                  <a:lnTo>
                    <a:pt x="441383" y="161616"/>
                  </a:lnTo>
                  <a:lnTo>
                    <a:pt x="367349" y="163274"/>
                  </a:lnTo>
                  <a:lnTo>
                    <a:pt x="293316" y="161616"/>
                  </a:lnTo>
                  <a:lnTo>
                    <a:pt x="224360" y="156859"/>
                  </a:lnTo>
                  <a:lnTo>
                    <a:pt x="161961" y="149332"/>
                  </a:lnTo>
                  <a:lnTo>
                    <a:pt x="107594" y="139363"/>
                  </a:lnTo>
                  <a:lnTo>
                    <a:pt x="62737" y="127281"/>
                  </a:lnTo>
                  <a:lnTo>
                    <a:pt x="7463" y="98090"/>
                  </a:lnTo>
                  <a:lnTo>
                    <a:pt x="0" y="81637"/>
                  </a:lnTo>
                  <a:lnTo>
                    <a:pt x="28868" y="49860"/>
                  </a:lnTo>
                  <a:lnTo>
                    <a:pt x="107594" y="23911"/>
                  </a:lnTo>
                  <a:lnTo>
                    <a:pt x="161961" y="13942"/>
                  </a:lnTo>
                  <a:lnTo>
                    <a:pt x="224360" y="6415"/>
                  </a:lnTo>
                  <a:lnTo>
                    <a:pt x="293316" y="1658"/>
                  </a:lnTo>
                  <a:lnTo>
                    <a:pt x="367349" y="0"/>
                  </a:lnTo>
                  <a:lnTo>
                    <a:pt x="441383" y="1658"/>
                  </a:lnTo>
                  <a:lnTo>
                    <a:pt x="510339" y="6415"/>
                  </a:lnTo>
                  <a:lnTo>
                    <a:pt x="572738" y="13942"/>
                  </a:lnTo>
                  <a:lnTo>
                    <a:pt x="627105" y="23911"/>
                  </a:lnTo>
                  <a:lnTo>
                    <a:pt x="671962" y="35993"/>
                  </a:lnTo>
                  <a:lnTo>
                    <a:pt x="727236" y="65184"/>
                  </a:lnTo>
                  <a:lnTo>
                    <a:pt x="734699" y="81637"/>
                  </a:lnTo>
                  <a:lnTo>
                    <a:pt x="734699" y="571462"/>
                  </a:lnTo>
                  <a:lnTo>
                    <a:pt x="705831" y="603239"/>
                  </a:lnTo>
                  <a:lnTo>
                    <a:pt x="627105" y="629188"/>
                  </a:lnTo>
                  <a:lnTo>
                    <a:pt x="572738" y="639157"/>
                  </a:lnTo>
                  <a:lnTo>
                    <a:pt x="510339" y="646684"/>
                  </a:lnTo>
                  <a:lnTo>
                    <a:pt x="441383" y="651441"/>
                  </a:lnTo>
                  <a:lnTo>
                    <a:pt x="367349" y="653099"/>
                  </a:lnTo>
                  <a:lnTo>
                    <a:pt x="293316" y="651441"/>
                  </a:lnTo>
                  <a:lnTo>
                    <a:pt x="224360" y="646684"/>
                  </a:lnTo>
                  <a:lnTo>
                    <a:pt x="161961" y="639157"/>
                  </a:lnTo>
                  <a:lnTo>
                    <a:pt x="107594" y="629188"/>
                  </a:lnTo>
                  <a:lnTo>
                    <a:pt x="62737" y="617106"/>
                  </a:lnTo>
                  <a:lnTo>
                    <a:pt x="7463" y="587915"/>
                  </a:lnTo>
                  <a:lnTo>
                    <a:pt x="0" y="571462"/>
                  </a:lnTo>
                  <a:lnTo>
                    <a:pt x="0" y="81637"/>
                  </a:lnTo>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8"/>
          <p:cNvSpPr txBox="1"/>
          <p:nvPr>
            <p:ph type="title"/>
          </p:nvPr>
        </p:nvSpPr>
        <p:spPr>
          <a:xfrm>
            <a:off x="73025" y="12837"/>
            <a:ext cx="7791285" cy="476369"/>
          </a:xfrm>
          <a:prstGeom prst="rect">
            <a:avLst/>
          </a:prstGeom>
          <a:noFill/>
          <a:ln>
            <a:noFill/>
          </a:ln>
        </p:spPr>
        <p:txBody>
          <a:bodyPr anchorCtr="0" anchor="t" bIns="0" lIns="0" spcFirstLastPara="1" rIns="0" wrap="square" tIns="66075">
            <a:spAutoFit/>
          </a:bodyPr>
          <a:lstStyle/>
          <a:p>
            <a:pPr indent="0" lvl="0" marL="793115" rtl="0" algn="l">
              <a:lnSpc>
                <a:spcPct val="100000"/>
              </a:lnSpc>
              <a:spcBef>
                <a:spcPts val="0"/>
              </a:spcBef>
              <a:spcAft>
                <a:spcPts val="0"/>
              </a:spcAft>
              <a:buNone/>
            </a:pPr>
            <a:r>
              <a:rPr lang="en-US"/>
              <a:t>El Programa: Compilación</a:t>
            </a:r>
            <a:endParaRPr/>
          </a:p>
        </p:txBody>
      </p:sp>
      <p:sp>
        <p:nvSpPr>
          <p:cNvPr id="139" name="Google Shape;139;p8"/>
          <p:cNvSpPr txBox="1"/>
          <p:nvPr/>
        </p:nvSpPr>
        <p:spPr>
          <a:xfrm>
            <a:off x="708400" y="583922"/>
            <a:ext cx="7539355" cy="2292350"/>
          </a:xfrm>
          <a:prstGeom prst="rect">
            <a:avLst/>
          </a:prstGeom>
          <a:noFill/>
          <a:ln>
            <a:noFill/>
          </a:ln>
        </p:spPr>
        <p:txBody>
          <a:bodyPr anchorCtr="0" anchor="t" bIns="0" lIns="0" spcFirstLastPara="1" rIns="0" wrap="square" tIns="13325">
            <a:spAutoFit/>
          </a:bodyPr>
          <a:lstStyle/>
          <a:p>
            <a:pPr indent="457200" lvl="0" marL="12700" marR="5080" rtl="0" algn="just">
              <a:lnSpc>
                <a:spcPct val="105500"/>
              </a:lnSpc>
              <a:spcBef>
                <a:spcPts val="0"/>
              </a:spcBef>
              <a:spcAft>
                <a:spcPts val="0"/>
              </a:spcAft>
              <a:buNone/>
            </a:pPr>
            <a:r>
              <a:rPr b="1" lang="en-US" sz="1800">
                <a:solidFill>
                  <a:srgbClr val="595959"/>
                </a:solidFill>
                <a:latin typeface="Tahoma"/>
                <a:ea typeface="Tahoma"/>
                <a:cs typeface="Tahoma"/>
                <a:sym typeface="Tahoma"/>
              </a:rPr>
              <a:t>La fase de ensamblaje</a:t>
            </a:r>
            <a:r>
              <a:rPr lang="en-US" sz="1800">
                <a:solidFill>
                  <a:srgbClr val="595959"/>
                </a:solidFill>
                <a:latin typeface="Tahoma"/>
                <a:ea typeface="Tahoma"/>
                <a:cs typeface="Tahoma"/>
                <a:sym typeface="Tahoma"/>
              </a:rPr>
              <a:t>. </a:t>
            </a:r>
            <a:r>
              <a:rPr lang="en-US" sz="1700">
                <a:solidFill>
                  <a:srgbClr val="595959"/>
                </a:solidFill>
                <a:latin typeface="Tahoma"/>
                <a:ea typeface="Tahoma"/>
                <a:cs typeface="Tahoma"/>
                <a:sym typeface="Tahoma"/>
              </a:rPr>
              <a:t>A continuación el ensamblador (as) traduce el archivo .s en instrucciones de lenguaje de máquina empaquetándolas en un formato conocido como programa objeto realocable. Este es almacenado en un archivo con extensión .o. En este punto es donde se genera código máquina real. Que pertenece al formato ELF</a:t>
            </a:r>
            <a:endParaRPr sz="1700">
              <a:latin typeface="Tahoma"/>
              <a:ea typeface="Tahoma"/>
              <a:cs typeface="Tahoma"/>
              <a:sym typeface="Tahoma"/>
            </a:endParaRPr>
          </a:p>
          <a:p>
            <a:pPr indent="0" lvl="0" marL="12700" rtl="0" algn="l">
              <a:lnSpc>
                <a:spcPct val="100000"/>
              </a:lnSpc>
              <a:spcBef>
                <a:spcPts val="1310"/>
              </a:spcBef>
              <a:spcAft>
                <a:spcPts val="0"/>
              </a:spcAft>
              <a:buNone/>
            </a:pPr>
            <a:r>
              <a:rPr b="1" lang="en-US" sz="1800">
                <a:solidFill>
                  <a:srgbClr val="595959"/>
                </a:solidFill>
                <a:latin typeface="Tahoma"/>
                <a:ea typeface="Tahoma"/>
                <a:cs typeface="Tahoma"/>
                <a:sym typeface="Tahoma"/>
              </a:rPr>
              <a:t>$gcc -c ejemplo.c</a:t>
            </a:r>
            <a:endParaRPr sz="1800">
              <a:latin typeface="Tahoma"/>
              <a:ea typeface="Tahoma"/>
              <a:cs typeface="Tahoma"/>
              <a:sym typeface="Tahoma"/>
            </a:endParaRPr>
          </a:p>
          <a:p>
            <a:pPr indent="0" lvl="0" marL="12700" rtl="0" algn="l">
              <a:lnSpc>
                <a:spcPct val="100000"/>
              </a:lnSpc>
              <a:spcBef>
                <a:spcPts val="1315"/>
              </a:spcBef>
              <a:spcAft>
                <a:spcPts val="0"/>
              </a:spcAft>
              <a:buNone/>
            </a:pPr>
            <a:r>
              <a:rPr b="1" lang="en-US" sz="1800">
                <a:solidFill>
                  <a:srgbClr val="595959"/>
                </a:solidFill>
                <a:latin typeface="Tahoma"/>
                <a:ea typeface="Tahoma"/>
                <a:cs typeface="Tahoma"/>
                <a:sym typeface="Tahoma"/>
              </a:rPr>
              <a:t>$file ejemplo.o</a:t>
            </a:r>
            <a:endParaRPr sz="1800">
              <a:latin typeface="Tahoma"/>
              <a:ea typeface="Tahoma"/>
              <a:cs typeface="Tahoma"/>
              <a:sym typeface="Tahoma"/>
            </a:endParaRPr>
          </a:p>
        </p:txBody>
      </p:sp>
      <p:grpSp>
        <p:nvGrpSpPr>
          <p:cNvPr id="140" name="Google Shape;140;p8"/>
          <p:cNvGrpSpPr/>
          <p:nvPr/>
        </p:nvGrpSpPr>
        <p:grpSpPr>
          <a:xfrm>
            <a:off x="3540237" y="4526574"/>
            <a:ext cx="1443355" cy="535305"/>
            <a:chOff x="3540237" y="4526574"/>
            <a:chExt cx="1443355" cy="535305"/>
          </a:xfrm>
        </p:grpSpPr>
        <p:sp>
          <p:nvSpPr>
            <p:cNvPr id="141" name="Google Shape;141;p8"/>
            <p:cNvSpPr/>
            <p:nvPr/>
          </p:nvSpPr>
          <p:spPr>
            <a:xfrm>
              <a:off x="3540237" y="4526574"/>
              <a:ext cx="1443355" cy="535305"/>
            </a:xfrm>
            <a:custGeom>
              <a:rect b="b" l="l" r="r" t="t"/>
              <a:pathLst>
                <a:path extrusionOk="0" h="535304" w="1443354">
                  <a:moveTo>
                    <a:pt x="1175399" y="535199"/>
                  </a:moveTo>
                  <a:lnTo>
                    <a:pt x="0" y="535199"/>
                  </a:lnTo>
                  <a:lnTo>
                    <a:pt x="267599" y="267599"/>
                  </a:lnTo>
                  <a:lnTo>
                    <a:pt x="0" y="0"/>
                  </a:lnTo>
                  <a:lnTo>
                    <a:pt x="1175399" y="0"/>
                  </a:lnTo>
                  <a:lnTo>
                    <a:pt x="1442999" y="267599"/>
                  </a:lnTo>
                  <a:lnTo>
                    <a:pt x="1175399" y="535199"/>
                  </a:lnTo>
                  <a:close/>
                </a:path>
              </a:pathLst>
            </a:custGeom>
            <a:solidFill>
              <a:srgbClr val="E9ED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2" name="Google Shape;142;p8"/>
            <p:cNvSpPr/>
            <p:nvPr/>
          </p:nvSpPr>
          <p:spPr>
            <a:xfrm>
              <a:off x="3540237" y="4526574"/>
              <a:ext cx="1443355" cy="535305"/>
            </a:xfrm>
            <a:custGeom>
              <a:rect b="b" l="l" r="r" t="t"/>
              <a:pathLst>
                <a:path extrusionOk="0" h="535304" w="1443354">
                  <a:moveTo>
                    <a:pt x="0" y="0"/>
                  </a:moveTo>
                  <a:lnTo>
                    <a:pt x="1175399" y="0"/>
                  </a:lnTo>
                  <a:lnTo>
                    <a:pt x="1442999" y="267599"/>
                  </a:lnTo>
                  <a:lnTo>
                    <a:pt x="1175399" y="535199"/>
                  </a:lnTo>
                  <a:lnTo>
                    <a:pt x="0" y="535199"/>
                  </a:lnTo>
                  <a:lnTo>
                    <a:pt x="267599" y="267599"/>
                  </a:lnTo>
                  <a:lnTo>
                    <a:pt x="0" y="0"/>
                  </a:lnTo>
                  <a:close/>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43" name="Google Shape;143;p8"/>
          <p:cNvSpPr txBox="1"/>
          <p:nvPr/>
        </p:nvSpPr>
        <p:spPr>
          <a:xfrm>
            <a:off x="3880862" y="4684891"/>
            <a:ext cx="635635"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200">
                <a:latin typeface="Arial"/>
                <a:ea typeface="Arial"/>
                <a:cs typeface="Arial"/>
                <a:sym typeface="Arial"/>
              </a:rPr>
              <a:t>Compiler</a:t>
            </a:r>
            <a:endParaRPr sz="1200">
              <a:latin typeface="Arial"/>
              <a:ea typeface="Arial"/>
              <a:cs typeface="Arial"/>
              <a:sym typeface="Arial"/>
            </a:endParaRPr>
          </a:p>
        </p:txBody>
      </p:sp>
      <p:grpSp>
        <p:nvGrpSpPr>
          <p:cNvPr id="144" name="Google Shape;144;p8"/>
          <p:cNvGrpSpPr/>
          <p:nvPr/>
        </p:nvGrpSpPr>
        <p:grpSpPr>
          <a:xfrm>
            <a:off x="4983250" y="4526574"/>
            <a:ext cx="1710055" cy="535305"/>
            <a:chOff x="4983250" y="4526574"/>
            <a:chExt cx="1710055" cy="535305"/>
          </a:xfrm>
        </p:grpSpPr>
        <p:sp>
          <p:nvSpPr>
            <p:cNvPr id="145" name="Google Shape;145;p8"/>
            <p:cNvSpPr/>
            <p:nvPr/>
          </p:nvSpPr>
          <p:spPr>
            <a:xfrm>
              <a:off x="4983250" y="4526574"/>
              <a:ext cx="1710055" cy="535305"/>
            </a:xfrm>
            <a:custGeom>
              <a:rect b="b" l="l" r="r" t="t"/>
              <a:pathLst>
                <a:path extrusionOk="0" h="535304" w="1710054">
                  <a:moveTo>
                    <a:pt x="1442099" y="535199"/>
                  </a:moveTo>
                  <a:lnTo>
                    <a:pt x="0" y="535199"/>
                  </a:lnTo>
                  <a:lnTo>
                    <a:pt x="267599" y="267599"/>
                  </a:lnTo>
                  <a:lnTo>
                    <a:pt x="0" y="0"/>
                  </a:lnTo>
                  <a:lnTo>
                    <a:pt x="1442099" y="0"/>
                  </a:lnTo>
                  <a:lnTo>
                    <a:pt x="1709699" y="267599"/>
                  </a:lnTo>
                  <a:lnTo>
                    <a:pt x="1442099" y="535199"/>
                  </a:lnTo>
                  <a:close/>
                </a:path>
              </a:pathLst>
            </a:custGeom>
            <a:solidFill>
              <a:srgbClr val="FFB8A2"/>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6" name="Google Shape;146;p8"/>
            <p:cNvSpPr/>
            <p:nvPr/>
          </p:nvSpPr>
          <p:spPr>
            <a:xfrm>
              <a:off x="4983250" y="4526574"/>
              <a:ext cx="1710055" cy="535305"/>
            </a:xfrm>
            <a:custGeom>
              <a:rect b="b" l="l" r="r" t="t"/>
              <a:pathLst>
                <a:path extrusionOk="0" h="535304" w="1710054">
                  <a:moveTo>
                    <a:pt x="0" y="0"/>
                  </a:moveTo>
                  <a:lnTo>
                    <a:pt x="1442099" y="0"/>
                  </a:lnTo>
                  <a:lnTo>
                    <a:pt x="1709699" y="267599"/>
                  </a:lnTo>
                  <a:lnTo>
                    <a:pt x="1442099" y="535199"/>
                  </a:lnTo>
                  <a:lnTo>
                    <a:pt x="0" y="535199"/>
                  </a:lnTo>
                  <a:lnTo>
                    <a:pt x="267599" y="267599"/>
                  </a:lnTo>
                  <a:lnTo>
                    <a:pt x="0" y="0"/>
                  </a:lnTo>
                  <a:close/>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47" name="Google Shape;147;p8"/>
          <p:cNvSpPr txBox="1"/>
          <p:nvPr/>
        </p:nvSpPr>
        <p:spPr>
          <a:xfrm>
            <a:off x="5323874" y="4669588"/>
            <a:ext cx="865505" cy="2387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400">
                <a:latin typeface="Arial"/>
                <a:ea typeface="Arial"/>
                <a:cs typeface="Arial"/>
                <a:sym typeface="Arial"/>
              </a:rPr>
              <a:t>Assembler</a:t>
            </a:r>
            <a:endParaRPr sz="1400">
              <a:latin typeface="Arial"/>
              <a:ea typeface="Arial"/>
              <a:cs typeface="Arial"/>
              <a:sym typeface="Arial"/>
            </a:endParaRPr>
          </a:p>
        </p:txBody>
      </p:sp>
      <p:grpSp>
        <p:nvGrpSpPr>
          <p:cNvPr id="148" name="Google Shape;148;p8"/>
          <p:cNvGrpSpPr/>
          <p:nvPr/>
        </p:nvGrpSpPr>
        <p:grpSpPr>
          <a:xfrm>
            <a:off x="1669737" y="4526574"/>
            <a:ext cx="1870710" cy="535305"/>
            <a:chOff x="1669737" y="4526574"/>
            <a:chExt cx="1870710" cy="535305"/>
          </a:xfrm>
        </p:grpSpPr>
        <p:sp>
          <p:nvSpPr>
            <p:cNvPr id="149" name="Google Shape;149;p8"/>
            <p:cNvSpPr/>
            <p:nvPr/>
          </p:nvSpPr>
          <p:spPr>
            <a:xfrm>
              <a:off x="1669737" y="4526574"/>
              <a:ext cx="1870710" cy="535305"/>
            </a:xfrm>
            <a:custGeom>
              <a:rect b="b" l="l" r="r" t="t"/>
              <a:pathLst>
                <a:path extrusionOk="0" h="535304" w="1870710">
                  <a:moveTo>
                    <a:pt x="1602899" y="535199"/>
                  </a:moveTo>
                  <a:lnTo>
                    <a:pt x="0" y="535199"/>
                  </a:lnTo>
                  <a:lnTo>
                    <a:pt x="267599" y="267599"/>
                  </a:lnTo>
                  <a:lnTo>
                    <a:pt x="0" y="0"/>
                  </a:lnTo>
                  <a:lnTo>
                    <a:pt x="1602899" y="0"/>
                  </a:lnTo>
                  <a:lnTo>
                    <a:pt x="1870499" y="267599"/>
                  </a:lnTo>
                  <a:lnTo>
                    <a:pt x="1602899" y="535199"/>
                  </a:lnTo>
                  <a:close/>
                </a:path>
              </a:pathLst>
            </a:custGeom>
            <a:solidFill>
              <a:srgbClr val="E9ED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50" name="Google Shape;150;p8"/>
            <p:cNvSpPr/>
            <p:nvPr/>
          </p:nvSpPr>
          <p:spPr>
            <a:xfrm>
              <a:off x="1669737" y="4526574"/>
              <a:ext cx="1870710" cy="535305"/>
            </a:xfrm>
            <a:custGeom>
              <a:rect b="b" l="l" r="r" t="t"/>
              <a:pathLst>
                <a:path extrusionOk="0" h="535304" w="1870710">
                  <a:moveTo>
                    <a:pt x="0" y="0"/>
                  </a:moveTo>
                  <a:lnTo>
                    <a:pt x="1602899" y="0"/>
                  </a:lnTo>
                  <a:lnTo>
                    <a:pt x="1870499" y="267599"/>
                  </a:lnTo>
                  <a:lnTo>
                    <a:pt x="1602899" y="535199"/>
                  </a:lnTo>
                  <a:lnTo>
                    <a:pt x="0" y="535199"/>
                  </a:lnTo>
                  <a:lnTo>
                    <a:pt x="267599" y="267599"/>
                  </a:lnTo>
                  <a:lnTo>
                    <a:pt x="0" y="0"/>
                  </a:lnTo>
                  <a:close/>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51" name="Google Shape;151;p8"/>
          <p:cNvSpPr txBox="1"/>
          <p:nvPr/>
        </p:nvSpPr>
        <p:spPr>
          <a:xfrm>
            <a:off x="2010362" y="4684891"/>
            <a:ext cx="932180"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200">
                <a:latin typeface="Arial"/>
                <a:ea typeface="Arial"/>
                <a:cs typeface="Arial"/>
                <a:sym typeface="Arial"/>
              </a:rPr>
              <a:t>Preprocessor</a:t>
            </a:r>
            <a:endParaRPr sz="1200">
              <a:latin typeface="Arial"/>
              <a:ea typeface="Arial"/>
              <a:cs typeface="Arial"/>
              <a:sym typeface="Arial"/>
            </a:endParaRPr>
          </a:p>
        </p:txBody>
      </p:sp>
      <p:grpSp>
        <p:nvGrpSpPr>
          <p:cNvPr id="152" name="Google Shape;152;p8"/>
          <p:cNvGrpSpPr/>
          <p:nvPr/>
        </p:nvGrpSpPr>
        <p:grpSpPr>
          <a:xfrm>
            <a:off x="6693049" y="4526574"/>
            <a:ext cx="1362710" cy="535305"/>
            <a:chOff x="6693049" y="4526574"/>
            <a:chExt cx="1362710" cy="535305"/>
          </a:xfrm>
        </p:grpSpPr>
        <p:sp>
          <p:nvSpPr>
            <p:cNvPr id="153" name="Google Shape;153;p8"/>
            <p:cNvSpPr/>
            <p:nvPr/>
          </p:nvSpPr>
          <p:spPr>
            <a:xfrm>
              <a:off x="6693049" y="4526574"/>
              <a:ext cx="1362710" cy="535305"/>
            </a:xfrm>
            <a:custGeom>
              <a:rect b="b" l="l" r="r" t="t"/>
              <a:pathLst>
                <a:path extrusionOk="0" h="535304" w="1362709">
                  <a:moveTo>
                    <a:pt x="1094999" y="535199"/>
                  </a:moveTo>
                  <a:lnTo>
                    <a:pt x="0" y="535199"/>
                  </a:lnTo>
                  <a:lnTo>
                    <a:pt x="267599" y="267599"/>
                  </a:lnTo>
                  <a:lnTo>
                    <a:pt x="0" y="0"/>
                  </a:lnTo>
                  <a:lnTo>
                    <a:pt x="1094999" y="0"/>
                  </a:lnTo>
                  <a:lnTo>
                    <a:pt x="1362599" y="267599"/>
                  </a:lnTo>
                  <a:lnTo>
                    <a:pt x="1094999" y="535199"/>
                  </a:lnTo>
                  <a:close/>
                </a:path>
              </a:pathLst>
            </a:custGeom>
            <a:solidFill>
              <a:srgbClr val="E9ED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54" name="Google Shape;154;p8"/>
            <p:cNvSpPr/>
            <p:nvPr/>
          </p:nvSpPr>
          <p:spPr>
            <a:xfrm>
              <a:off x="6693049" y="4526574"/>
              <a:ext cx="1362710" cy="535305"/>
            </a:xfrm>
            <a:custGeom>
              <a:rect b="b" l="l" r="r" t="t"/>
              <a:pathLst>
                <a:path extrusionOk="0" h="535304" w="1362709">
                  <a:moveTo>
                    <a:pt x="0" y="0"/>
                  </a:moveTo>
                  <a:lnTo>
                    <a:pt x="1094999" y="0"/>
                  </a:lnTo>
                  <a:lnTo>
                    <a:pt x="1362599" y="267599"/>
                  </a:lnTo>
                  <a:lnTo>
                    <a:pt x="1094999" y="535199"/>
                  </a:lnTo>
                  <a:lnTo>
                    <a:pt x="0" y="535199"/>
                  </a:lnTo>
                  <a:lnTo>
                    <a:pt x="267599" y="267599"/>
                  </a:lnTo>
                  <a:lnTo>
                    <a:pt x="0" y="0"/>
                  </a:lnTo>
                  <a:close/>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55" name="Google Shape;155;p8"/>
          <p:cNvSpPr txBox="1"/>
          <p:nvPr/>
        </p:nvSpPr>
        <p:spPr>
          <a:xfrm>
            <a:off x="7033675" y="4669588"/>
            <a:ext cx="509905" cy="2387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400">
                <a:latin typeface="Arial"/>
                <a:ea typeface="Arial"/>
                <a:cs typeface="Arial"/>
                <a:sym typeface="Arial"/>
              </a:rPr>
              <a:t>Linker</a:t>
            </a:r>
            <a:endParaRPr sz="1400">
              <a:latin typeface="Arial"/>
              <a:ea typeface="Arial"/>
              <a:cs typeface="Arial"/>
              <a:sym typeface="Arial"/>
            </a:endParaRPr>
          </a:p>
        </p:txBody>
      </p:sp>
      <p:grpSp>
        <p:nvGrpSpPr>
          <p:cNvPr id="156" name="Google Shape;156;p8"/>
          <p:cNvGrpSpPr/>
          <p:nvPr/>
        </p:nvGrpSpPr>
        <p:grpSpPr>
          <a:xfrm>
            <a:off x="729450" y="4526574"/>
            <a:ext cx="935355" cy="535305"/>
            <a:chOff x="729450" y="4526574"/>
            <a:chExt cx="935355" cy="535305"/>
          </a:xfrm>
        </p:grpSpPr>
        <p:sp>
          <p:nvSpPr>
            <p:cNvPr id="157" name="Google Shape;157;p8"/>
            <p:cNvSpPr/>
            <p:nvPr/>
          </p:nvSpPr>
          <p:spPr>
            <a:xfrm>
              <a:off x="729450" y="4526574"/>
              <a:ext cx="935355" cy="535305"/>
            </a:xfrm>
            <a:custGeom>
              <a:rect b="b" l="l" r="r" t="t"/>
              <a:pathLst>
                <a:path extrusionOk="0" h="535304" w="935355">
                  <a:moveTo>
                    <a:pt x="667499" y="535199"/>
                  </a:moveTo>
                  <a:lnTo>
                    <a:pt x="0" y="535199"/>
                  </a:lnTo>
                  <a:lnTo>
                    <a:pt x="0" y="0"/>
                  </a:lnTo>
                  <a:lnTo>
                    <a:pt x="667499" y="0"/>
                  </a:lnTo>
                  <a:lnTo>
                    <a:pt x="935099" y="267599"/>
                  </a:lnTo>
                  <a:lnTo>
                    <a:pt x="667499" y="535199"/>
                  </a:lnTo>
                  <a:close/>
                </a:path>
              </a:pathLst>
            </a:custGeom>
            <a:solidFill>
              <a:srgbClr val="F4CCCC"/>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58" name="Google Shape;158;p8"/>
            <p:cNvSpPr/>
            <p:nvPr/>
          </p:nvSpPr>
          <p:spPr>
            <a:xfrm>
              <a:off x="729450" y="4526574"/>
              <a:ext cx="935355" cy="535305"/>
            </a:xfrm>
            <a:custGeom>
              <a:rect b="b" l="l" r="r" t="t"/>
              <a:pathLst>
                <a:path extrusionOk="0" h="535304" w="935355">
                  <a:moveTo>
                    <a:pt x="0" y="0"/>
                  </a:moveTo>
                  <a:lnTo>
                    <a:pt x="667499" y="0"/>
                  </a:lnTo>
                  <a:lnTo>
                    <a:pt x="935099" y="267599"/>
                  </a:lnTo>
                  <a:lnTo>
                    <a:pt x="667499" y="535199"/>
                  </a:lnTo>
                  <a:lnTo>
                    <a:pt x="0" y="535199"/>
                  </a:lnTo>
                  <a:lnTo>
                    <a:pt x="0" y="0"/>
                  </a:lnTo>
                  <a:close/>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59" name="Google Shape;159;p8"/>
          <p:cNvSpPr txBox="1"/>
          <p:nvPr/>
        </p:nvSpPr>
        <p:spPr>
          <a:xfrm>
            <a:off x="802475" y="4674858"/>
            <a:ext cx="548640" cy="2235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300">
                <a:latin typeface="Arial"/>
                <a:ea typeface="Arial"/>
                <a:cs typeface="Arial"/>
                <a:sym typeface="Arial"/>
              </a:rPr>
              <a:t>Source</a:t>
            </a:r>
            <a:endParaRPr sz="1300">
              <a:latin typeface="Arial"/>
              <a:ea typeface="Arial"/>
              <a:cs typeface="Arial"/>
              <a:sym typeface="Arial"/>
            </a:endParaRPr>
          </a:p>
        </p:txBody>
      </p:sp>
      <p:grpSp>
        <p:nvGrpSpPr>
          <p:cNvPr id="160" name="Google Shape;160;p8"/>
          <p:cNvGrpSpPr/>
          <p:nvPr/>
        </p:nvGrpSpPr>
        <p:grpSpPr>
          <a:xfrm>
            <a:off x="8216249" y="4408725"/>
            <a:ext cx="734695" cy="653415"/>
            <a:chOff x="8216249" y="4408725"/>
            <a:chExt cx="734695" cy="653415"/>
          </a:xfrm>
        </p:grpSpPr>
        <p:sp>
          <p:nvSpPr>
            <p:cNvPr id="161" name="Google Shape;161;p8"/>
            <p:cNvSpPr/>
            <p:nvPr/>
          </p:nvSpPr>
          <p:spPr>
            <a:xfrm>
              <a:off x="8216249" y="4490362"/>
              <a:ext cx="734695" cy="571500"/>
            </a:xfrm>
            <a:custGeom>
              <a:rect b="b" l="l" r="r" t="t"/>
              <a:pathLst>
                <a:path extrusionOk="0" h="571500" w="734695">
                  <a:moveTo>
                    <a:pt x="367349" y="571462"/>
                  </a:moveTo>
                  <a:lnTo>
                    <a:pt x="293316" y="569803"/>
                  </a:lnTo>
                  <a:lnTo>
                    <a:pt x="224360" y="565046"/>
                  </a:lnTo>
                  <a:lnTo>
                    <a:pt x="161961" y="557520"/>
                  </a:lnTo>
                  <a:lnTo>
                    <a:pt x="107594" y="547551"/>
                  </a:lnTo>
                  <a:lnTo>
                    <a:pt x="62737" y="535469"/>
                  </a:lnTo>
                  <a:lnTo>
                    <a:pt x="7463" y="506277"/>
                  </a:lnTo>
                  <a:lnTo>
                    <a:pt x="0" y="489824"/>
                  </a:lnTo>
                  <a:lnTo>
                    <a:pt x="0" y="0"/>
                  </a:lnTo>
                  <a:lnTo>
                    <a:pt x="7463" y="16452"/>
                  </a:lnTo>
                  <a:lnTo>
                    <a:pt x="28868" y="31776"/>
                  </a:lnTo>
                  <a:lnTo>
                    <a:pt x="107594" y="57726"/>
                  </a:lnTo>
                  <a:lnTo>
                    <a:pt x="161961" y="67695"/>
                  </a:lnTo>
                  <a:lnTo>
                    <a:pt x="224360" y="75221"/>
                  </a:lnTo>
                  <a:lnTo>
                    <a:pt x="293316" y="79978"/>
                  </a:lnTo>
                  <a:lnTo>
                    <a:pt x="367349" y="81637"/>
                  </a:lnTo>
                  <a:lnTo>
                    <a:pt x="441383" y="79978"/>
                  </a:lnTo>
                  <a:lnTo>
                    <a:pt x="510339" y="75221"/>
                  </a:lnTo>
                  <a:lnTo>
                    <a:pt x="572738" y="67695"/>
                  </a:lnTo>
                  <a:lnTo>
                    <a:pt x="627105" y="57726"/>
                  </a:lnTo>
                  <a:lnTo>
                    <a:pt x="671962" y="45644"/>
                  </a:lnTo>
                  <a:lnTo>
                    <a:pt x="727236" y="16452"/>
                  </a:lnTo>
                  <a:lnTo>
                    <a:pt x="734699" y="0"/>
                  </a:lnTo>
                  <a:lnTo>
                    <a:pt x="734699" y="489824"/>
                  </a:lnTo>
                  <a:lnTo>
                    <a:pt x="705831" y="521601"/>
                  </a:lnTo>
                  <a:lnTo>
                    <a:pt x="627105" y="547551"/>
                  </a:lnTo>
                  <a:lnTo>
                    <a:pt x="572738" y="557520"/>
                  </a:lnTo>
                  <a:lnTo>
                    <a:pt x="510339" y="565046"/>
                  </a:lnTo>
                  <a:lnTo>
                    <a:pt x="441383" y="569803"/>
                  </a:lnTo>
                  <a:lnTo>
                    <a:pt x="367349" y="571462"/>
                  </a:lnTo>
                  <a:close/>
                </a:path>
              </a:pathLst>
            </a:custGeom>
            <a:solidFill>
              <a:srgbClr val="E9ED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62" name="Google Shape;162;p8"/>
            <p:cNvSpPr/>
            <p:nvPr/>
          </p:nvSpPr>
          <p:spPr>
            <a:xfrm>
              <a:off x="8216249" y="4408725"/>
              <a:ext cx="734695" cy="163830"/>
            </a:xfrm>
            <a:custGeom>
              <a:rect b="b" l="l" r="r" t="t"/>
              <a:pathLst>
                <a:path extrusionOk="0" h="163829" w="734695">
                  <a:moveTo>
                    <a:pt x="367349" y="163274"/>
                  </a:moveTo>
                  <a:lnTo>
                    <a:pt x="293316" y="161616"/>
                  </a:lnTo>
                  <a:lnTo>
                    <a:pt x="224360" y="156859"/>
                  </a:lnTo>
                  <a:lnTo>
                    <a:pt x="161961" y="149332"/>
                  </a:lnTo>
                  <a:lnTo>
                    <a:pt x="107594" y="139363"/>
                  </a:lnTo>
                  <a:lnTo>
                    <a:pt x="62737" y="127281"/>
                  </a:lnTo>
                  <a:lnTo>
                    <a:pt x="7463" y="98090"/>
                  </a:lnTo>
                  <a:lnTo>
                    <a:pt x="0" y="81637"/>
                  </a:lnTo>
                  <a:lnTo>
                    <a:pt x="7463" y="65184"/>
                  </a:lnTo>
                  <a:lnTo>
                    <a:pt x="62737" y="35993"/>
                  </a:lnTo>
                  <a:lnTo>
                    <a:pt x="107594" y="23911"/>
                  </a:lnTo>
                  <a:lnTo>
                    <a:pt x="161961" y="13942"/>
                  </a:lnTo>
                  <a:lnTo>
                    <a:pt x="224360" y="6415"/>
                  </a:lnTo>
                  <a:lnTo>
                    <a:pt x="293316" y="1658"/>
                  </a:lnTo>
                  <a:lnTo>
                    <a:pt x="367349" y="0"/>
                  </a:lnTo>
                  <a:lnTo>
                    <a:pt x="441383" y="1658"/>
                  </a:lnTo>
                  <a:lnTo>
                    <a:pt x="510339" y="6415"/>
                  </a:lnTo>
                  <a:lnTo>
                    <a:pt x="572738" y="13942"/>
                  </a:lnTo>
                  <a:lnTo>
                    <a:pt x="627105" y="23911"/>
                  </a:lnTo>
                  <a:lnTo>
                    <a:pt x="671962" y="35993"/>
                  </a:lnTo>
                  <a:lnTo>
                    <a:pt x="727236" y="65184"/>
                  </a:lnTo>
                  <a:lnTo>
                    <a:pt x="734699" y="81637"/>
                  </a:lnTo>
                  <a:lnTo>
                    <a:pt x="727236" y="98090"/>
                  </a:lnTo>
                  <a:lnTo>
                    <a:pt x="671962" y="127281"/>
                  </a:lnTo>
                  <a:lnTo>
                    <a:pt x="627105" y="139363"/>
                  </a:lnTo>
                  <a:lnTo>
                    <a:pt x="572738" y="149332"/>
                  </a:lnTo>
                  <a:lnTo>
                    <a:pt x="510339" y="156859"/>
                  </a:lnTo>
                  <a:lnTo>
                    <a:pt x="441383" y="161616"/>
                  </a:lnTo>
                  <a:lnTo>
                    <a:pt x="367349" y="163274"/>
                  </a:lnTo>
                  <a:close/>
                </a:path>
              </a:pathLst>
            </a:custGeom>
            <a:solidFill>
              <a:srgbClr val="F1F4F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63" name="Google Shape;163;p8"/>
            <p:cNvSpPr/>
            <p:nvPr/>
          </p:nvSpPr>
          <p:spPr>
            <a:xfrm>
              <a:off x="8216249" y="4408725"/>
              <a:ext cx="734695" cy="653415"/>
            </a:xfrm>
            <a:custGeom>
              <a:rect b="b" l="l" r="r" t="t"/>
              <a:pathLst>
                <a:path extrusionOk="0" h="653414" w="734695">
                  <a:moveTo>
                    <a:pt x="734699" y="81637"/>
                  </a:moveTo>
                  <a:lnTo>
                    <a:pt x="727236" y="98090"/>
                  </a:lnTo>
                  <a:lnTo>
                    <a:pt x="705831" y="113414"/>
                  </a:lnTo>
                  <a:lnTo>
                    <a:pt x="627105" y="139363"/>
                  </a:lnTo>
                  <a:lnTo>
                    <a:pt x="572738" y="149332"/>
                  </a:lnTo>
                  <a:lnTo>
                    <a:pt x="510339" y="156859"/>
                  </a:lnTo>
                  <a:lnTo>
                    <a:pt x="441383" y="161616"/>
                  </a:lnTo>
                  <a:lnTo>
                    <a:pt x="367349" y="163274"/>
                  </a:lnTo>
                  <a:lnTo>
                    <a:pt x="293316" y="161616"/>
                  </a:lnTo>
                  <a:lnTo>
                    <a:pt x="224360" y="156859"/>
                  </a:lnTo>
                  <a:lnTo>
                    <a:pt x="161961" y="149332"/>
                  </a:lnTo>
                  <a:lnTo>
                    <a:pt x="107594" y="139363"/>
                  </a:lnTo>
                  <a:lnTo>
                    <a:pt x="62737" y="127281"/>
                  </a:lnTo>
                  <a:lnTo>
                    <a:pt x="7463" y="98090"/>
                  </a:lnTo>
                  <a:lnTo>
                    <a:pt x="0" y="81637"/>
                  </a:lnTo>
                  <a:lnTo>
                    <a:pt x="28868" y="49860"/>
                  </a:lnTo>
                  <a:lnTo>
                    <a:pt x="107594" y="23911"/>
                  </a:lnTo>
                  <a:lnTo>
                    <a:pt x="161961" y="13942"/>
                  </a:lnTo>
                  <a:lnTo>
                    <a:pt x="224360" y="6415"/>
                  </a:lnTo>
                  <a:lnTo>
                    <a:pt x="293316" y="1658"/>
                  </a:lnTo>
                  <a:lnTo>
                    <a:pt x="367349" y="0"/>
                  </a:lnTo>
                  <a:lnTo>
                    <a:pt x="441383" y="1658"/>
                  </a:lnTo>
                  <a:lnTo>
                    <a:pt x="510339" y="6415"/>
                  </a:lnTo>
                  <a:lnTo>
                    <a:pt x="572738" y="13942"/>
                  </a:lnTo>
                  <a:lnTo>
                    <a:pt x="627105" y="23911"/>
                  </a:lnTo>
                  <a:lnTo>
                    <a:pt x="671962" y="35993"/>
                  </a:lnTo>
                  <a:lnTo>
                    <a:pt x="727236" y="65184"/>
                  </a:lnTo>
                  <a:lnTo>
                    <a:pt x="734699" y="81637"/>
                  </a:lnTo>
                  <a:lnTo>
                    <a:pt x="734699" y="571462"/>
                  </a:lnTo>
                  <a:lnTo>
                    <a:pt x="705831" y="603239"/>
                  </a:lnTo>
                  <a:lnTo>
                    <a:pt x="627105" y="629188"/>
                  </a:lnTo>
                  <a:lnTo>
                    <a:pt x="572738" y="639157"/>
                  </a:lnTo>
                  <a:lnTo>
                    <a:pt x="510339" y="646684"/>
                  </a:lnTo>
                  <a:lnTo>
                    <a:pt x="441383" y="651441"/>
                  </a:lnTo>
                  <a:lnTo>
                    <a:pt x="367349" y="653099"/>
                  </a:lnTo>
                  <a:lnTo>
                    <a:pt x="293316" y="651441"/>
                  </a:lnTo>
                  <a:lnTo>
                    <a:pt x="224360" y="646684"/>
                  </a:lnTo>
                  <a:lnTo>
                    <a:pt x="161961" y="639157"/>
                  </a:lnTo>
                  <a:lnTo>
                    <a:pt x="107594" y="629188"/>
                  </a:lnTo>
                  <a:lnTo>
                    <a:pt x="62737" y="617106"/>
                  </a:lnTo>
                  <a:lnTo>
                    <a:pt x="7463" y="587915"/>
                  </a:lnTo>
                  <a:lnTo>
                    <a:pt x="0" y="571462"/>
                  </a:lnTo>
                  <a:lnTo>
                    <a:pt x="0" y="81637"/>
                  </a:lnTo>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9"/>
          <p:cNvSpPr txBox="1"/>
          <p:nvPr>
            <p:ph type="title"/>
          </p:nvPr>
        </p:nvSpPr>
        <p:spPr>
          <a:xfrm>
            <a:off x="73025" y="12837"/>
            <a:ext cx="7791285" cy="476369"/>
          </a:xfrm>
          <a:prstGeom prst="rect">
            <a:avLst/>
          </a:prstGeom>
          <a:noFill/>
          <a:ln>
            <a:noFill/>
          </a:ln>
        </p:spPr>
        <p:txBody>
          <a:bodyPr anchorCtr="0" anchor="t" bIns="0" lIns="0" spcFirstLastPara="1" rIns="0" wrap="square" tIns="66075">
            <a:spAutoFit/>
          </a:bodyPr>
          <a:lstStyle/>
          <a:p>
            <a:pPr indent="0" lvl="0" marL="739775" rtl="0" algn="l">
              <a:lnSpc>
                <a:spcPct val="100000"/>
              </a:lnSpc>
              <a:spcBef>
                <a:spcPts val="0"/>
              </a:spcBef>
              <a:spcAft>
                <a:spcPts val="0"/>
              </a:spcAft>
              <a:buNone/>
            </a:pPr>
            <a:r>
              <a:rPr lang="en-US"/>
              <a:t>El Programa: Compilación</a:t>
            </a:r>
            <a:endParaRPr/>
          </a:p>
        </p:txBody>
      </p:sp>
      <p:sp>
        <p:nvSpPr>
          <p:cNvPr id="169" name="Google Shape;169;p9"/>
          <p:cNvSpPr txBox="1"/>
          <p:nvPr/>
        </p:nvSpPr>
        <p:spPr>
          <a:xfrm>
            <a:off x="708400" y="601078"/>
            <a:ext cx="7540625" cy="2121535"/>
          </a:xfrm>
          <a:prstGeom prst="rect">
            <a:avLst/>
          </a:prstGeom>
          <a:noFill/>
          <a:ln>
            <a:noFill/>
          </a:ln>
        </p:spPr>
        <p:txBody>
          <a:bodyPr anchorCtr="0" anchor="t" bIns="0" lIns="0" spcFirstLastPara="1" rIns="0" wrap="square" tIns="1250">
            <a:spAutoFit/>
          </a:bodyPr>
          <a:lstStyle/>
          <a:p>
            <a:pPr indent="0" lvl="0" marL="12700" marR="15240" rtl="0" algn="just">
              <a:lnSpc>
                <a:spcPct val="105600"/>
              </a:lnSpc>
              <a:spcBef>
                <a:spcPts val="0"/>
              </a:spcBef>
              <a:spcAft>
                <a:spcPts val="0"/>
              </a:spcAft>
              <a:buNone/>
            </a:pPr>
            <a:r>
              <a:rPr lang="en-US" sz="1400">
                <a:solidFill>
                  <a:srgbClr val="595959"/>
                </a:solidFill>
                <a:latin typeface="Tahoma"/>
                <a:ea typeface="Tahoma"/>
                <a:cs typeface="Tahoma"/>
                <a:sym typeface="Tahoma"/>
              </a:rPr>
              <a:t>Un </a:t>
            </a:r>
            <a:r>
              <a:rPr b="1" lang="en-US" sz="1400">
                <a:solidFill>
                  <a:srgbClr val="595959"/>
                </a:solidFill>
                <a:latin typeface="Tahoma"/>
                <a:ea typeface="Tahoma"/>
                <a:cs typeface="Tahoma"/>
                <a:sym typeface="Tahoma"/>
              </a:rPr>
              <a:t>archivo reubicable (relocatable) </a:t>
            </a:r>
            <a:r>
              <a:rPr lang="en-US" sz="1400">
                <a:solidFill>
                  <a:srgbClr val="595959"/>
                </a:solidFill>
                <a:latin typeface="Tahoma"/>
                <a:ea typeface="Tahoma"/>
                <a:cs typeface="Tahoma"/>
                <a:sym typeface="Tahoma"/>
              </a:rPr>
              <a:t>es un tipo de archivo que, como su nombre indica, puede ser movido o reubicado en diferentes áreas de la memoria sin afectar su ejecución o funcionamiento.</a:t>
            </a:r>
            <a:endParaRPr sz="1400">
              <a:latin typeface="Tahoma"/>
              <a:ea typeface="Tahoma"/>
              <a:cs typeface="Tahoma"/>
              <a:sym typeface="Tahoma"/>
            </a:endParaRPr>
          </a:p>
          <a:p>
            <a:pPr indent="0" lvl="0" marL="12700" marR="5080" rtl="0" algn="just">
              <a:lnSpc>
                <a:spcPct val="105600"/>
              </a:lnSpc>
              <a:spcBef>
                <a:spcPts val="1200"/>
              </a:spcBef>
              <a:spcAft>
                <a:spcPts val="0"/>
              </a:spcAft>
              <a:buNone/>
            </a:pPr>
            <a:r>
              <a:rPr lang="en-US" sz="1400">
                <a:solidFill>
                  <a:srgbClr val="595959"/>
                </a:solidFill>
                <a:latin typeface="Tahoma"/>
                <a:ea typeface="Tahoma"/>
                <a:cs typeface="Tahoma"/>
                <a:sym typeface="Tahoma"/>
              </a:rPr>
              <a:t>Los archivos objeto se compilan independientemente unos de otros, por lo que el ensamblador no tiene forma de conocer las direcciones de memoria de otros archivos objeto al ensamblar un archivo objeto.</a:t>
            </a:r>
            <a:endParaRPr sz="1400">
              <a:latin typeface="Tahoma"/>
              <a:ea typeface="Tahoma"/>
              <a:cs typeface="Tahoma"/>
              <a:sym typeface="Tahoma"/>
            </a:endParaRPr>
          </a:p>
          <a:p>
            <a:pPr indent="0" lvl="0" marL="12700" marR="10795" rtl="0" algn="just">
              <a:lnSpc>
                <a:spcPct val="105600"/>
              </a:lnSpc>
              <a:spcBef>
                <a:spcPts val="1200"/>
              </a:spcBef>
              <a:spcAft>
                <a:spcPts val="0"/>
              </a:spcAft>
              <a:buNone/>
            </a:pPr>
            <a:r>
              <a:rPr lang="en-US" sz="1400">
                <a:solidFill>
                  <a:srgbClr val="595959"/>
                </a:solidFill>
                <a:latin typeface="Tahoma"/>
                <a:ea typeface="Tahoma"/>
                <a:cs typeface="Tahoma"/>
                <a:sym typeface="Tahoma"/>
              </a:rPr>
              <a:t>Por eso los archivos objeto necesitan ser reubicables; de esa manera, puedes enlazarlos juntos en cualquier orden para formar un ejecutable binario completo. Si los archivos objeto no fueran reubicables, esto no sería posible.</a:t>
            </a:r>
            <a:endParaRPr sz="1400">
              <a:latin typeface="Tahoma"/>
              <a:ea typeface="Tahoma"/>
              <a:cs typeface="Tahoma"/>
              <a:sym typeface="Tahoma"/>
            </a:endParaRPr>
          </a:p>
        </p:txBody>
      </p:sp>
      <p:grpSp>
        <p:nvGrpSpPr>
          <p:cNvPr id="170" name="Google Shape;170;p9"/>
          <p:cNvGrpSpPr/>
          <p:nvPr/>
        </p:nvGrpSpPr>
        <p:grpSpPr>
          <a:xfrm>
            <a:off x="3540237" y="4526574"/>
            <a:ext cx="1443355" cy="535305"/>
            <a:chOff x="3540237" y="4526574"/>
            <a:chExt cx="1443355" cy="535305"/>
          </a:xfrm>
        </p:grpSpPr>
        <p:sp>
          <p:nvSpPr>
            <p:cNvPr id="171" name="Google Shape;171;p9"/>
            <p:cNvSpPr/>
            <p:nvPr/>
          </p:nvSpPr>
          <p:spPr>
            <a:xfrm>
              <a:off x="3540237" y="4526574"/>
              <a:ext cx="1443355" cy="535305"/>
            </a:xfrm>
            <a:custGeom>
              <a:rect b="b" l="l" r="r" t="t"/>
              <a:pathLst>
                <a:path extrusionOk="0" h="535304" w="1443354">
                  <a:moveTo>
                    <a:pt x="1175399" y="535199"/>
                  </a:moveTo>
                  <a:lnTo>
                    <a:pt x="0" y="535199"/>
                  </a:lnTo>
                  <a:lnTo>
                    <a:pt x="267599" y="267599"/>
                  </a:lnTo>
                  <a:lnTo>
                    <a:pt x="0" y="0"/>
                  </a:lnTo>
                  <a:lnTo>
                    <a:pt x="1175399" y="0"/>
                  </a:lnTo>
                  <a:lnTo>
                    <a:pt x="1442999" y="267599"/>
                  </a:lnTo>
                  <a:lnTo>
                    <a:pt x="1175399" y="535199"/>
                  </a:lnTo>
                  <a:close/>
                </a:path>
              </a:pathLst>
            </a:custGeom>
            <a:solidFill>
              <a:srgbClr val="E9ED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2" name="Google Shape;172;p9"/>
            <p:cNvSpPr/>
            <p:nvPr/>
          </p:nvSpPr>
          <p:spPr>
            <a:xfrm>
              <a:off x="3540237" y="4526574"/>
              <a:ext cx="1443355" cy="535305"/>
            </a:xfrm>
            <a:custGeom>
              <a:rect b="b" l="l" r="r" t="t"/>
              <a:pathLst>
                <a:path extrusionOk="0" h="535304" w="1443354">
                  <a:moveTo>
                    <a:pt x="0" y="0"/>
                  </a:moveTo>
                  <a:lnTo>
                    <a:pt x="1175399" y="0"/>
                  </a:lnTo>
                  <a:lnTo>
                    <a:pt x="1442999" y="267599"/>
                  </a:lnTo>
                  <a:lnTo>
                    <a:pt x="1175399" y="535199"/>
                  </a:lnTo>
                  <a:lnTo>
                    <a:pt x="0" y="535199"/>
                  </a:lnTo>
                  <a:lnTo>
                    <a:pt x="267599" y="267599"/>
                  </a:lnTo>
                  <a:lnTo>
                    <a:pt x="0" y="0"/>
                  </a:lnTo>
                  <a:close/>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73" name="Google Shape;173;p9"/>
          <p:cNvSpPr txBox="1"/>
          <p:nvPr/>
        </p:nvSpPr>
        <p:spPr>
          <a:xfrm>
            <a:off x="3880862" y="4684891"/>
            <a:ext cx="635635"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200">
                <a:latin typeface="Arial"/>
                <a:ea typeface="Arial"/>
                <a:cs typeface="Arial"/>
                <a:sym typeface="Arial"/>
              </a:rPr>
              <a:t>Compiler</a:t>
            </a:r>
            <a:endParaRPr sz="1200">
              <a:latin typeface="Arial"/>
              <a:ea typeface="Arial"/>
              <a:cs typeface="Arial"/>
              <a:sym typeface="Arial"/>
            </a:endParaRPr>
          </a:p>
        </p:txBody>
      </p:sp>
      <p:grpSp>
        <p:nvGrpSpPr>
          <p:cNvPr id="174" name="Google Shape;174;p9"/>
          <p:cNvGrpSpPr/>
          <p:nvPr/>
        </p:nvGrpSpPr>
        <p:grpSpPr>
          <a:xfrm>
            <a:off x="4983250" y="4526574"/>
            <a:ext cx="1710055" cy="535305"/>
            <a:chOff x="4983250" y="4526574"/>
            <a:chExt cx="1710055" cy="535305"/>
          </a:xfrm>
        </p:grpSpPr>
        <p:sp>
          <p:nvSpPr>
            <p:cNvPr id="175" name="Google Shape;175;p9"/>
            <p:cNvSpPr/>
            <p:nvPr/>
          </p:nvSpPr>
          <p:spPr>
            <a:xfrm>
              <a:off x="4983250" y="4526574"/>
              <a:ext cx="1710055" cy="535305"/>
            </a:xfrm>
            <a:custGeom>
              <a:rect b="b" l="l" r="r" t="t"/>
              <a:pathLst>
                <a:path extrusionOk="0" h="535304" w="1710054">
                  <a:moveTo>
                    <a:pt x="1442099" y="535199"/>
                  </a:moveTo>
                  <a:lnTo>
                    <a:pt x="0" y="535199"/>
                  </a:lnTo>
                  <a:lnTo>
                    <a:pt x="267599" y="267599"/>
                  </a:lnTo>
                  <a:lnTo>
                    <a:pt x="0" y="0"/>
                  </a:lnTo>
                  <a:lnTo>
                    <a:pt x="1442099" y="0"/>
                  </a:lnTo>
                  <a:lnTo>
                    <a:pt x="1709699" y="267599"/>
                  </a:lnTo>
                  <a:lnTo>
                    <a:pt x="1442099" y="535199"/>
                  </a:lnTo>
                  <a:close/>
                </a:path>
              </a:pathLst>
            </a:custGeom>
            <a:solidFill>
              <a:srgbClr val="FFB8A2"/>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6" name="Google Shape;176;p9"/>
            <p:cNvSpPr/>
            <p:nvPr/>
          </p:nvSpPr>
          <p:spPr>
            <a:xfrm>
              <a:off x="4983250" y="4526574"/>
              <a:ext cx="1710055" cy="535305"/>
            </a:xfrm>
            <a:custGeom>
              <a:rect b="b" l="l" r="r" t="t"/>
              <a:pathLst>
                <a:path extrusionOk="0" h="535304" w="1710054">
                  <a:moveTo>
                    <a:pt x="0" y="0"/>
                  </a:moveTo>
                  <a:lnTo>
                    <a:pt x="1442099" y="0"/>
                  </a:lnTo>
                  <a:lnTo>
                    <a:pt x="1709699" y="267599"/>
                  </a:lnTo>
                  <a:lnTo>
                    <a:pt x="1442099" y="535199"/>
                  </a:lnTo>
                  <a:lnTo>
                    <a:pt x="0" y="535199"/>
                  </a:lnTo>
                  <a:lnTo>
                    <a:pt x="267599" y="267599"/>
                  </a:lnTo>
                  <a:lnTo>
                    <a:pt x="0" y="0"/>
                  </a:lnTo>
                  <a:close/>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77" name="Google Shape;177;p9"/>
          <p:cNvSpPr txBox="1"/>
          <p:nvPr/>
        </p:nvSpPr>
        <p:spPr>
          <a:xfrm>
            <a:off x="5323874" y="4669588"/>
            <a:ext cx="865505" cy="2387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400">
                <a:latin typeface="Arial"/>
                <a:ea typeface="Arial"/>
                <a:cs typeface="Arial"/>
                <a:sym typeface="Arial"/>
              </a:rPr>
              <a:t>Assembler</a:t>
            </a:r>
            <a:endParaRPr sz="1400">
              <a:latin typeface="Arial"/>
              <a:ea typeface="Arial"/>
              <a:cs typeface="Arial"/>
              <a:sym typeface="Arial"/>
            </a:endParaRPr>
          </a:p>
        </p:txBody>
      </p:sp>
      <p:grpSp>
        <p:nvGrpSpPr>
          <p:cNvPr id="178" name="Google Shape;178;p9"/>
          <p:cNvGrpSpPr/>
          <p:nvPr/>
        </p:nvGrpSpPr>
        <p:grpSpPr>
          <a:xfrm>
            <a:off x="1669737" y="4526574"/>
            <a:ext cx="1870710" cy="535305"/>
            <a:chOff x="1669737" y="4526574"/>
            <a:chExt cx="1870710" cy="535305"/>
          </a:xfrm>
        </p:grpSpPr>
        <p:sp>
          <p:nvSpPr>
            <p:cNvPr id="179" name="Google Shape;179;p9"/>
            <p:cNvSpPr/>
            <p:nvPr/>
          </p:nvSpPr>
          <p:spPr>
            <a:xfrm>
              <a:off x="1669737" y="4526574"/>
              <a:ext cx="1870710" cy="535305"/>
            </a:xfrm>
            <a:custGeom>
              <a:rect b="b" l="l" r="r" t="t"/>
              <a:pathLst>
                <a:path extrusionOk="0" h="535304" w="1870710">
                  <a:moveTo>
                    <a:pt x="1602899" y="535199"/>
                  </a:moveTo>
                  <a:lnTo>
                    <a:pt x="0" y="535199"/>
                  </a:lnTo>
                  <a:lnTo>
                    <a:pt x="267599" y="267599"/>
                  </a:lnTo>
                  <a:lnTo>
                    <a:pt x="0" y="0"/>
                  </a:lnTo>
                  <a:lnTo>
                    <a:pt x="1602899" y="0"/>
                  </a:lnTo>
                  <a:lnTo>
                    <a:pt x="1870499" y="267599"/>
                  </a:lnTo>
                  <a:lnTo>
                    <a:pt x="1602899" y="535199"/>
                  </a:lnTo>
                  <a:close/>
                </a:path>
              </a:pathLst>
            </a:custGeom>
            <a:solidFill>
              <a:srgbClr val="E9ED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80" name="Google Shape;180;p9"/>
            <p:cNvSpPr/>
            <p:nvPr/>
          </p:nvSpPr>
          <p:spPr>
            <a:xfrm>
              <a:off x="1669737" y="4526574"/>
              <a:ext cx="1870710" cy="535305"/>
            </a:xfrm>
            <a:custGeom>
              <a:rect b="b" l="l" r="r" t="t"/>
              <a:pathLst>
                <a:path extrusionOk="0" h="535304" w="1870710">
                  <a:moveTo>
                    <a:pt x="0" y="0"/>
                  </a:moveTo>
                  <a:lnTo>
                    <a:pt x="1602899" y="0"/>
                  </a:lnTo>
                  <a:lnTo>
                    <a:pt x="1870499" y="267599"/>
                  </a:lnTo>
                  <a:lnTo>
                    <a:pt x="1602899" y="535199"/>
                  </a:lnTo>
                  <a:lnTo>
                    <a:pt x="0" y="535199"/>
                  </a:lnTo>
                  <a:lnTo>
                    <a:pt x="267599" y="267599"/>
                  </a:lnTo>
                  <a:lnTo>
                    <a:pt x="0" y="0"/>
                  </a:lnTo>
                  <a:close/>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81" name="Google Shape;181;p9"/>
          <p:cNvSpPr txBox="1"/>
          <p:nvPr/>
        </p:nvSpPr>
        <p:spPr>
          <a:xfrm>
            <a:off x="2010362" y="4684891"/>
            <a:ext cx="932180"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200">
                <a:latin typeface="Arial"/>
                <a:ea typeface="Arial"/>
                <a:cs typeface="Arial"/>
                <a:sym typeface="Arial"/>
              </a:rPr>
              <a:t>Preprocessor</a:t>
            </a:r>
            <a:endParaRPr sz="1200">
              <a:latin typeface="Arial"/>
              <a:ea typeface="Arial"/>
              <a:cs typeface="Arial"/>
              <a:sym typeface="Arial"/>
            </a:endParaRPr>
          </a:p>
        </p:txBody>
      </p:sp>
      <p:grpSp>
        <p:nvGrpSpPr>
          <p:cNvPr id="182" name="Google Shape;182;p9"/>
          <p:cNvGrpSpPr/>
          <p:nvPr/>
        </p:nvGrpSpPr>
        <p:grpSpPr>
          <a:xfrm>
            <a:off x="6693049" y="4526574"/>
            <a:ext cx="1362710" cy="535305"/>
            <a:chOff x="6693049" y="4526574"/>
            <a:chExt cx="1362710" cy="535305"/>
          </a:xfrm>
        </p:grpSpPr>
        <p:sp>
          <p:nvSpPr>
            <p:cNvPr id="183" name="Google Shape;183;p9"/>
            <p:cNvSpPr/>
            <p:nvPr/>
          </p:nvSpPr>
          <p:spPr>
            <a:xfrm>
              <a:off x="6693049" y="4526574"/>
              <a:ext cx="1362710" cy="535305"/>
            </a:xfrm>
            <a:custGeom>
              <a:rect b="b" l="l" r="r" t="t"/>
              <a:pathLst>
                <a:path extrusionOk="0" h="535304" w="1362709">
                  <a:moveTo>
                    <a:pt x="1094999" y="535199"/>
                  </a:moveTo>
                  <a:lnTo>
                    <a:pt x="0" y="535199"/>
                  </a:lnTo>
                  <a:lnTo>
                    <a:pt x="267599" y="267599"/>
                  </a:lnTo>
                  <a:lnTo>
                    <a:pt x="0" y="0"/>
                  </a:lnTo>
                  <a:lnTo>
                    <a:pt x="1094999" y="0"/>
                  </a:lnTo>
                  <a:lnTo>
                    <a:pt x="1362599" y="267599"/>
                  </a:lnTo>
                  <a:lnTo>
                    <a:pt x="1094999" y="535199"/>
                  </a:lnTo>
                  <a:close/>
                </a:path>
              </a:pathLst>
            </a:custGeom>
            <a:solidFill>
              <a:srgbClr val="E9ED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84" name="Google Shape;184;p9"/>
            <p:cNvSpPr/>
            <p:nvPr/>
          </p:nvSpPr>
          <p:spPr>
            <a:xfrm>
              <a:off x="6693049" y="4526574"/>
              <a:ext cx="1362710" cy="535305"/>
            </a:xfrm>
            <a:custGeom>
              <a:rect b="b" l="l" r="r" t="t"/>
              <a:pathLst>
                <a:path extrusionOk="0" h="535304" w="1362709">
                  <a:moveTo>
                    <a:pt x="0" y="0"/>
                  </a:moveTo>
                  <a:lnTo>
                    <a:pt x="1094999" y="0"/>
                  </a:lnTo>
                  <a:lnTo>
                    <a:pt x="1362599" y="267599"/>
                  </a:lnTo>
                  <a:lnTo>
                    <a:pt x="1094999" y="535199"/>
                  </a:lnTo>
                  <a:lnTo>
                    <a:pt x="0" y="535199"/>
                  </a:lnTo>
                  <a:lnTo>
                    <a:pt x="267599" y="267599"/>
                  </a:lnTo>
                  <a:lnTo>
                    <a:pt x="0" y="0"/>
                  </a:lnTo>
                  <a:close/>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85" name="Google Shape;185;p9"/>
          <p:cNvSpPr txBox="1"/>
          <p:nvPr/>
        </p:nvSpPr>
        <p:spPr>
          <a:xfrm>
            <a:off x="7033675" y="4669588"/>
            <a:ext cx="509905" cy="2387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400">
                <a:latin typeface="Arial"/>
                <a:ea typeface="Arial"/>
                <a:cs typeface="Arial"/>
                <a:sym typeface="Arial"/>
              </a:rPr>
              <a:t>Linker</a:t>
            </a:r>
            <a:endParaRPr sz="1400">
              <a:latin typeface="Arial"/>
              <a:ea typeface="Arial"/>
              <a:cs typeface="Arial"/>
              <a:sym typeface="Arial"/>
            </a:endParaRPr>
          </a:p>
        </p:txBody>
      </p:sp>
      <p:grpSp>
        <p:nvGrpSpPr>
          <p:cNvPr id="186" name="Google Shape;186;p9"/>
          <p:cNvGrpSpPr/>
          <p:nvPr/>
        </p:nvGrpSpPr>
        <p:grpSpPr>
          <a:xfrm>
            <a:off x="729450" y="4526574"/>
            <a:ext cx="935355" cy="535305"/>
            <a:chOff x="729450" y="4526574"/>
            <a:chExt cx="935355" cy="535305"/>
          </a:xfrm>
        </p:grpSpPr>
        <p:sp>
          <p:nvSpPr>
            <p:cNvPr id="187" name="Google Shape;187;p9"/>
            <p:cNvSpPr/>
            <p:nvPr/>
          </p:nvSpPr>
          <p:spPr>
            <a:xfrm>
              <a:off x="729450" y="4526574"/>
              <a:ext cx="935355" cy="535305"/>
            </a:xfrm>
            <a:custGeom>
              <a:rect b="b" l="l" r="r" t="t"/>
              <a:pathLst>
                <a:path extrusionOk="0" h="535304" w="935355">
                  <a:moveTo>
                    <a:pt x="667499" y="535199"/>
                  </a:moveTo>
                  <a:lnTo>
                    <a:pt x="0" y="535199"/>
                  </a:lnTo>
                  <a:lnTo>
                    <a:pt x="0" y="0"/>
                  </a:lnTo>
                  <a:lnTo>
                    <a:pt x="667499" y="0"/>
                  </a:lnTo>
                  <a:lnTo>
                    <a:pt x="935099" y="267599"/>
                  </a:lnTo>
                  <a:lnTo>
                    <a:pt x="667499" y="535199"/>
                  </a:lnTo>
                  <a:close/>
                </a:path>
              </a:pathLst>
            </a:custGeom>
            <a:solidFill>
              <a:srgbClr val="F4CCCC"/>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88" name="Google Shape;188;p9"/>
            <p:cNvSpPr/>
            <p:nvPr/>
          </p:nvSpPr>
          <p:spPr>
            <a:xfrm>
              <a:off x="729450" y="4526574"/>
              <a:ext cx="935355" cy="535305"/>
            </a:xfrm>
            <a:custGeom>
              <a:rect b="b" l="l" r="r" t="t"/>
              <a:pathLst>
                <a:path extrusionOk="0" h="535304" w="935355">
                  <a:moveTo>
                    <a:pt x="0" y="0"/>
                  </a:moveTo>
                  <a:lnTo>
                    <a:pt x="667499" y="0"/>
                  </a:lnTo>
                  <a:lnTo>
                    <a:pt x="935099" y="267599"/>
                  </a:lnTo>
                  <a:lnTo>
                    <a:pt x="667499" y="535199"/>
                  </a:lnTo>
                  <a:lnTo>
                    <a:pt x="0" y="535199"/>
                  </a:lnTo>
                  <a:lnTo>
                    <a:pt x="0" y="0"/>
                  </a:lnTo>
                  <a:close/>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89" name="Google Shape;189;p9"/>
          <p:cNvSpPr txBox="1"/>
          <p:nvPr/>
        </p:nvSpPr>
        <p:spPr>
          <a:xfrm>
            <a:off x="802475" y="4674858"/>
            <a:ext cx="548640" cy="2235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300">
                <a:latin typeface="Arial"/>
                <a:ea typeface="Arial"/>
                <a:cs typeface="Arial"/>
                <a:sym typeface="Arial"/>
              </a:rPr>
              <a:t>Source</a:t>
            </a:r>
            <a:endParaRPr sz="1300">
              <a:latin typeface="Arial"/>
              <a:ea typeface="Arial"/>
              <a:cs typeface="Arial"/>
              <a:sym typeface="Arial"/>
            </a:endParaRPr>
          </a:p>
        </p:txBody>
      </p:sp>
      <p:grpSp>
        <p:nvGrpSpPr>
          <p:cNvPr id="190" name="Google Shape;190;p9"/>
          <p:cNvGrpSpPr/>
          <p:nvPr/>
        </p:nvGrpSpPr>
        <p:grpSpPr>
          <a:xfrm>
            <a:off x="8216249" y="4408725"/>
            <a:ext cx="734695" cy="653415"/>
            <a:chOff x="8216249" y="4408725"/>
            <a:chExt cx="734695" cy="653415"/>
          </a:xfrm>
        </p:grpSpPr>
        <p:sp>
          <p:nvSpPr>
            <p:cNvPr id="191" name="Google Shape;191;p9"/>
            <p:cNvSpPr/>
            <p:nvPr/>
          </p:nvSpPr>
          <p:spPr>
            <a:xfrm>
              <a:off x="8216249" y="4490362"/>
              <a:ext cx="734695" cy="571500"/>
            </a:xfrm>
            <a:custGeom>
              <a:rect b="b" l="l" r="r" t="t"/>
              <a:pathLst>
                <a:path extrusionOk="0" h="571500" w="734695">
                  <a:moveTo>
                    <a:pt x="367349" y="571462"/>
                  </a:moveTo>
                  <a:lnTo>
                    <a:pt x="293316" y="569803"/>
                  </a:lnTo>
                  <a:lnTo>
                    <a:pt x="224360" y="565046"/>
                  </a:lnTo>
                  <a:lnTo>
                    <a:pt x="161961" y="557520"/>
                  </a:lnTo>
                  <a:lnTo>
                    <a:pt x="107594" y="547551"/>
                  </a:lnTo>
                  <a:lnTo>
                    <a:pt x="62737" y="535469"/>
                  </a:lnTo>
                  <a:lnTo>
                    <a:pt x="7463" y="506277"/>
                  </a:lnTo>
                  <a:lnTo>
                    <a:pt x="0" y="489824"/>
                  </a:lnTo>
                  <a:lnTo>
                    <a:pt x="0" y="0"/>
                  </a:lnTo>
                  <a:lnTo>
                    <a:pt x="7463" y="16452"/>
                  </a:lnTo>
                  <a:lnTo>
                    <a:pt x="28868" y="31776"/>
                  </a:lnTo>
                  <a:lnTo>
                    <a:pt x="107594" y="57726"/>
                  </a:lnTo>
                  <a:lnTo>
                    <a:pt x="161961" y="67695"/>
                  </a:lnTo>
                  <a:lnTo>
                    <a:pt x="224360" y="75221"/>
                  </a:lnTo>
                  <a:lnTo>
                    <a:pt x="293316" y="79978"/>
                  </a:lnTo>
                  <a:lnTo>
                    <a:pt x="367349" y="81637"/>
                  </a:lnTo>
                  <a:lnTo>
                    <a:pt x="441383" y="79978"/>
                  </a:lnTo>
                  <a:lnTo>
                    <a:pt x="510339" y="75221"/>
                  </a:lnTo>
                  <a:lnTo>
                    <a:pt x="572738" y="67695"/>
                  </a:lnTo>
                  <a:lnTo>
                    <a:pt x="627105" y="57726"/>
                  </a:lnTo>
                  <a:lnTo>
                    <a:pt x="671962" y="45644"/>
                  </a:lnTo>
                  <a:lnTo>
                    <a:pt x="727236" y="16452"/>
                  </a:lnTo>
                  <a:lnTo>
                    <a:pt x="734699" y="0"/>
                  </a:lnTo>
                  <a:lnTo>
                    <a:pt x="734699" y="489824"/>
                  </a:lnTo>
                  <a:lnTo>
                    <a:pt x="705831" y="521601"/>
                  </a:lnTo>
                  <a:lnTo>
                    <a:pt x="627105" y="547551"/>
                  </a:lnTo>
                  <a:lnTo>
                    <a:pt x="572738" y="557520"/>
                  </a:lnTo>
                  <a:lnTo>
                    <a:pt x="510339" y="565046"/>
                  </a:lnTo>
                  <a:lnTo>
                    <a:pt x="441383" y="569803"/>
                  </a:lnTo>
                  <a:lnTo>
                    <a:pt x="367349" y="571462"/>
                  </a:lnTo>
                  <a:close/>
                </a:path>
              </a:pathLst>
            </a:custGeom>
            <a:solidFill>
              <a:srgbClr val="E9ED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92" name="Google Shape;192;p9"/>
            <p:cNvSpPr/>
            <p:nvPr/>
          </p:nvSpPr>
          <p:spPr>
            <a:xfrm>
              <a:off x="8216249" y="4408725"/>
              <a:ext cx="734695" cy="163830"/>
            </a:xfrm>
            <a:custGeom>
              <a:rect b="b" l="l" r="r" t="t"/>
              <a:pathLst>
                <a:path extrusionOk="0" h="163829" w="734695">
                  <a:moveTo>
                    <a:pt x="367349" y="163274"/>
                  </a:moveTo>
                  <a:lnTo>
                    <a:pt x="293316" y="161616"/>
                  </a:lnTo>
                  <a:lnTo>
                    <a:pt x="224360" y="156859"/>
                  </a:lnTo>
                  <a:lnTo>
                    <a:pt x="161961" y="149332"/>
                  </a:lnTo>
                  <a:lnTo>
                    <a:pt x="107594" y="139363"/>
                  </a:lnTo>
                  <a:lnTo>
                    <a:pt x="62737" y="127281"/>
                  </a:lnTo>
                  <a:lnTo>
                    <a:pt x="7463" y="98090"/>
                  </a:lnTo>
                  <a:lnTo>
                    <a:pt x="0" y="81637"/>
                  </a:lnTo>
                  <a:lnTo>
                    <a:pt x="7463" y="65184"/>
                  </a:lnTo>
                  <a:lnTo>
                    <a:pt x="62737" y="35993"/>
                  </a:lnTo>
                  <a:lnTo>
                    <a:pt x="107594" y="23911"/>
                  </a:lnTo>
                  <a:lnTo>
                    <a:pt x="161961" y="13942"/>
                  </a:lnTo>
                  <a:lnTo>
                    <a:pt x="224360" y="6415"/>
                  </a:lnTo>
                  <a:lnTo>
                    <a:pt x="293316" y="1658"/>
                  </a:lnTo>
                  <a:lnTo>
                    <a:pt x="367349" y="0"/>
                  </a:lnTo>
                  <a:lnTo>
                    <a:pt x="441383" y="1658"/>
                  </a:lnTo>
                  <a:lnTo>
                    <a:pt x="510339" y="6415"/>
                  </a:lnTo>
                  <a:lnTo>
                    <a:pt x="572738" y="13942"/>
                  </a:lnTo>
                  <a:lnTo>
                    <a:pt x="627105" y="23911"/>
                  </a:lnTo>
                  <a:lnTo>
                    <a:pt x="671962" y="35993"/>
                  </a:lnTo>
                  <a:lnTo>
                    <a:pt x="727236" y="65184"/>
                  </a:lnTo>
                  <a:lnTo>
                    <a:pt x="734699" y="81637"/>
                  </a:lnTo>
                  <a:lnTo>
                    <a:pt x="727236" y="98090"/>
                  </a:lnTo>
                  <a:lnTo>
                    <a:pt x="671962" y="127281"/>
                  </a:lnTo>
                  <a:lnTo>
                    <a:pt x="627105" y="139363"/>
                  </a:lnTo>
                  <a:lnTo>
                    <a:pt x="572738" y="149332"/>
                  </a:lnTo>
                  <a:lnTo>
                    <a:pt x="510339" y="156859"/>
                  </a:lnTo>
                  <a:lnTo>
                    <a:pt x="441383" y="161616"/>
                  </a:lnTo>
                  <a:lnTo>
                    <a:pt x="367349" y="163274"/>
                  </a:lnTo>
                  <a:close/>
                </a:path>
              </a:pathLst>
            </a:custGeom>
            <a:solidFill>
              <a:srgbClr val="F1F4F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93" name="Google Shape;193;p9"/>
            <p:cNvSpPr/>
            <p:nvPr/>
          </p:nvSpPr>
          <p:spPr>
            <a:xfrm>
              <a:off x="8216249" y="4408725"/>
              <a:ext cx="734695" cy="653415"/>
            </a:xfrm>
            <a:custGeom>
              <a:rect b="b" l="l" r="r" t="t"/>
              <a:pathLst>
                <a:path extrusionOk="0" h="653414" w="734695">
                  <a:moveTo>
                    <a:pt x="734699" y="81637"/>
                  </a:moveTo>
                  <a:lnTo>
                    <a:pt x="727236" y="98090"/>
                  </a:lnTo>
                  <a:lnTo>
                    <a:pt x="705831" y="113414"/>
                  </a:lnTo>
                  <a:lnTo>
                    <a:pt x="627105" y="139363"/>
                  </a:lnTo>
                  <a:lnTo>
                    <a:pt x="572738" y="149332"/>
                  </a:lnTo>
                  <a:lnTo>
                    <a:pt x="510339" y="156859"/>
                  </a:lnTo>
                  <a:lnTo>
                    <a:pt x="441383" y="161616"/>
                  </a:lnTo>
                  <a:lnTo>
                    <a:pt x="367349" y="163274"/>
                  </a:lnTo>
                  <a:lnTo>
                    <a:pt x="293316" y="161616"/>
                  </a:lnTo>
                  <a:lnTo>
                    <a:pt x="224360" y="156859"/>
                  </a:lnTo>
                  <a:lnTo>
                    <a:pt x="161961" y="149332"/>
                  </a:lnTo>
                  <a:lnTo>
                    <a:pt x="107594" y="139363"/>
                  </a:lnTo>
                  <a:lnTo>
                    <a:pt x="62737" y="127281"/>
                  </a:lnTo>
                  <a:lnTo>
                    <a:pt x="7463" y="98090"/>
                  </a:lnTo>
                  <a:lnTo>
                    <a:pt x="0" y="81637"/>
                  </a:lnTo>
                  <a:lnTo>
                    <a:pt x="28868" y="49860"/>
                  </a:lnTo>
                  <a:lnTo>
                    <a:pt x="107594" y="23911"/>
                  </a:lnTo>
                  <a:lnTo>
                    <a:pt x="161961" y="13942"/>
                  </a:lnTo>
                  <a:lnTo>
                    <a:pt x="224360" y="6415"/>
                  </a:lnTo>
                  <a:lnTo>
                    <a:pt x="293316" y="1658"/>
                  </a:lnTo>
                  <a:lnTo>
                    <a:pt x="367349" y="0"/>
                  </a:lnTo>
                  <a:lnTo>
                    <a:pt x="441383" y="1658"/>
                  </a:lnTo>
                  <a:lnTo>
                    <a:pt x="510339" y="6415"/>
                  </a:lnTo>
                  <a:lnTo>
                    <a:pt x="572738" y="13942"/>
                  </a:lnTo>
                  <a:lnTo>
                    <a:pt x="627105" y="23911"/>
                  </a:lnTo>
                  <a:lnTo>
                    <a:pt x="671962" y="35993"/>
                  </a:lnTo>
                  <a:lnTo>
                    <a:pt x="727236" y="65184"/>
                  </a:lnTo>
                  <a:lnTo>
                    <a:pt x="734699" y="81637"/>
                  </a:lnTo>
                  <a:lnTo>
                    <a:pt x="734699" y="571462"/>
                  </a:lnTo>
                  <a:lnTo>
                    <a:pt x="705831" y="603239"/>
                  </a:lnTo>
                  <a:lnTo>
                    <a:pt x="627105" y="629188"/>
                  </a:lnTo>
                  <a:lnTo>
                    <a:pt x="572738" y="639157"/>
                  </a:lnTo>
                  <a:lnTo>
                    <a:pt x="510339" y="646684"/>
                  </a:lnTo>
                  <a:lnTo>
                    <a:pt x="441383" y="651441"/>
                  </a:lnTo>
                  <a:lnTo>
                    <a:pt x="367349" y="653099"/>
                  </a:lnTo>
                  <a:lnTo>
                    <a:pt x="293316" y="651441"/>
                  </a:lnTo>
                  <a:lnTo>
                    <a:pt x="224360" y="646684"/>
                  </a:lnTo>
                  <a:lnTo>
                    <a:pt x="161961" y="639157"/>
                  </a:lnTo>
                  <a:lnTo>
                    <a:pt x="107594" y="629188"/>
                  </a:lnTo>
                  <a:lnTo>
                    <a:pt x="62737" y="617106"/>
                  </a:lnTo>
                  <a:lnTo>
                    <a:pt x="7463" y="587915"/>
                  </a:lnTo>
                  <a:lnTo>
                    <a:pt x="0" y="571462"/>
                  </a:lnTo>
                  <a:lnTo>
                    <a:pt x="0" y="81637"/>
                  </a:lnTo>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0"/>
          <p:cNvSpPr txBox="1"/>
          <p:nvPr>
            <p:ph type="title"/>
          </p:nvPr>
        </p:nvSpPr>
        <p:spPr>
          <a:xfrm>
            <a:off x="73025" y="12837"/>
            <a:ext cx="7791285" cy="476369"/>
          </a:xfrm>
          <a:prstGeom prst="rect">
            <a:avLst/>
          </a:prstGeom>
          <a:noFill/>
          <a:ln>
            <a:noFill/>
          </a:ln>
        </p:spPr>
        <p:txBody>
          <a:bodyPr anchorCtr="0" anchor="t" bIns="0" lIns="0" spcFirstLastPara="1" rIns="0" wrap="square" tIns="66075">
            <a:spAutoFit/>
          </a:bodyPr>
          <a:lstStyle/>
          <a:p>
            <a:pPr indent="0" lvl="0" marL="739775" rtl="0" algn="l">
              <a:lnSpc>
                <a:spcPct val="100000"/>
              </a:lnSpc>
              <a:spcBef>
                <a:spcPts val="0"/>
              </a:spcBef>
              <a:spcAft>
                <a:spcPts val="0"/>
              </a:spcAft>
              <a:buNone/>
            </a:pPr>
            <a:r>
              <a:rPr lang="en-US"/>
              <a:t>El Programa: Compilación</a:t>
            </a:r>
            <a:endParaRPr/>
          </a:p>
        </p:txBody>
      </p:sp>
      <p:sp>
        <p:nvSpPr>
          <p:cNvPr id="199" name="Google Shape;199;p10"/>
          <p:cNvSpPr txBox="1"/>
          <p:nvPr/>
        </p:nvSpPr>
        <p:spPr>
          <a:xfrm>
            <a:off x="802475" y="585269"/>
            <a:ext cx="7530465" cy="2202815"/>
          </a:xfrm>
          <a:prstGeom prst="rect">
            <a:avLst/>
          </a:prstGeom>
          <a:noFill/>
          <a:ln>
            <a:noFill/>
          </a:ln>
        </p:spPr>
        <p:txBody>
          <a:bodyPr anchorCtr="0" anchor="t" bIns="0" lIns="0" spcFirstLastPara="1" rIns="0" wrap="square" tIns="12700">
            <a:spAutoFit/>
          </a:bodyPr>
          <a:lstStyle/>
          <a:p>
            <a:pPr indent="457200" lvl="0" marL="12700" marR="5080" rtl="0" algn="l">
              <a:lnSpc>
                <a:spcPct val="105400"/>
              </a:lnSpc>
              <a:spcBef>
                <a:spcPts val="0"/>
              </a:spcBef>
              <a:spcAft>
                <a:spcPts val="0"/>
              </a:spcAft>
              <a:buNone/>
            </a:pPr>
            <a:r>
              <a:rPr b="1" lang="en-US" sz="1800">
                <a:solidFill>
                  <a:srgbClr val="595959"/>
                </a:solidFill>
                <a:latin typeface="Tahoma"/>
                <a:ea typeface="Tahoma"/>
                <a:cs typeface="Tahoma"/>
                <a:sym typeface="Tahoma"/>
              </a:rPr>
              <a:t>La fase de link edición. </a:t>
            </a:r>
            <a:r>
              <a:rPr lang="en-US" sz="1800">
                <a:solidFill>
                  <a:srgbClr val="595959"/>
                </a:solidFill>
                <a:latin typeface="Tahoma"/>
                <a:ea typeface="Tahoma"/>
                <a:cs typeface="Tahoma"/>
                <a:sym typeface="Tahoma"/>
              </a:rPr>
              <a:t>El proceso de linkedición es la última de las fases del proceso de compilación. Esta fase enlaza todos los archivos objetos en un único archivo binario ejecutable. Aqui el link editor ordena los archivos objetos en un único y coherente archivo ejecutable.</a:t>
            </a:r>
            <a:endParaRPr sz="1800">
              <a:latin typeface="Tahoma"/>
              <a:ea typeface="Tahoma"/>
              <a:cs typeface="Tahoma"/>
              <a:sym typeface="Tahoma"/>
            </a:endParaRPr>
          </a:p>
          <a:p>
            <a:pPr indent="0" lvl="0" marL="12700" marR="212090" rtl="0" algn="l">
              <a:lnSpc>
                <a:spcPct val="105400"/>
              </a:lnSpc>
              <a:spcBef>
                <a:spcPts val="1200"/>
              </a:spcBef>
              <a:spcAft>
                <a:spcPts val="0"/>
              </a:spcAft>
              <a:buNone/>
            </a:pPr>
            <a:r>
              <a:rPr lang="en-US" sz="1800">
                <a:solidFill>
                  <a:srgbClr val="595959"/>
                </a:solidFill>
                <a:latin typeface="Tahoma"/>
                <a:ea typeface="Tahoma"/>
                <a:cs typeface="Tahoma"/>
                <a:sym typeface="Tahoma"/>
              </a:rPr>
              <a:t>Además se enlazan las funciones de las bibliotecas estáticas (en C .a) y por último deja referencias simbólicas a las bibliotecas compartidas (shared library)</a:t>
            </a:r>
            <a:endParaRPr sz="1800">
              <a:latin typeface="Tahoma"/>
              <a:ea typeface="Tahoma"/>
              <a:cs typeface="Tahoma"/>
              <a:sym typeface="Tahoma"/>
            </a:endParaRPr>
          </a:p>
        </p:txBody>
      </p:sp>
      <p:grpSp>
        <p:nvGrpSpPr>
          <p:cNvPr id="200" name="Google Shape;200;p10"/>
          <p:cNvGrpSpPr/>
          <p:nvPr/>
        </p:nvGrpSpPr>
        <p:grpSpPr>
          <a:xfrm>
            <a:off x="3540237" y="4526574"/>
            <a:ext cx="1443355" cy="535305"/>
            <a:chOff x="3540237" y="4526574"/>
            <a:chExt cx="1443355" cy="535305"/>
          </a:xfrm>
        </p:grpSpPr>
        <p:sp>
          <p:nvSpPr>
            <p:cNvPr id="201" name="Google Shape;201;p10"/>
            <p:cNvSpPr/>
            <p:nvPr/>
          </p:nvSpPr>
          <p:spPr>
            <a:xfrm>
              <a:off x="3540237" y="4526574"/>
              <a:ext cx="1443355" cy="535305"/>
            </a:xfrm>
            <a:custGeom>
              <a:rect b="b" l="l" r="r" t="t"/>
              <a:pathLst>
                <a:path extrusionOk="0" h="535304" w="1443354">
                  <a:moveTo>
                    <a:pt x="1175399" y="535199"/>
                  </a:moveTo>
                  <a:lnTo>
                    <a:pt x="0" y="535199"/>
                  </a:lnTo>
                  <a:lnTo>
                    <a:pt x="267599" y="267599"/>
                  </a:lnTo>
                  <a:lnTo>
                    <a:pt x="0" y="0"/>
                  </a:lnTo>
                  <a:lnTo>
                    <a:pt x="1175399" y="0"/>
                  </a:lnTo>
                  <a:lnTo>
                    <a:pt x="1442999" y="267599"/>
                  </a:lnTo>
                  <a:lnTo>
                    <a:pt x="1175399" y="535199"/>
                  </a:lnTo>
                  <a:close/>
                </a:path>
              </a:pathLst>
            </a:custGeom>
            <a:solidFill>
              <a:srgbClr val="E9ED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02" name="Google Shape;202;p10"/>
            <p:cNvSpPr/>
            <p:nvPr/>
          </p:nvSpPr>
          <p:spPr>
            <a:xfrm>
              <a:off x="3540237" y="4526574"/>
              <a:ext cx="1443355" cy="535305"/>
            </a:xfrm>
            <a:custGeom>
              <a:rect b="b" l="l" r="r" t="t"/>
              <a:pathLst>
                <a:path extrusionOk="0" h="535304" w="1443354">
                  <a:moveTo>
                    <a:pt x="0" y="0"/>
                  </a:moveTo>
                  <a:lnTo>
                    <a:pt x="1175399" y="0"/>
                  </a:lnTo>
                  <a:lnTo>
                    <a:pt x="1442999" y="267599"/>
                  </a:lnTo>
                  <a:lnTo>
                    <a:pt x="1175399" y="535199"/>
                  </a:lnTo>
                  <a:lnTo>
                    <a:pt x="0" y="535199"/>
                  </a:lnTo>
                  <a:lnTo>
                    <a:pt x="267599" y="267599"/>
                  </a:lnTo>
                  <a:lnTo>
                    <a:pt x="0" y="0"/>
                  </a:lnTo>
                  <a:close/>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203" name="Google Shape;203;p10"/>
          <p:cNvSpPr txBox="1"/>
          <p:nvPr/>
        </p:nvSpPr>
        <p:spPr>
          <a:xfrm>
            <a:off x="3880862" y="4690162"/>
            <a:ext cx="584835" cy="193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100">
                <a:latin typeface="Arial"/>
                <a:ea typeface="Arial"/>
                <a:cs typeface="Arial"/>
                <a:sym typeface="Arial"/>
              </a:rPr>
              <a:t>Compiler</a:t>
            </a:r>
            <a:endParaRPr sz="1100">
              <a:latin typeface="Arial"/>
              <a:ea typeface="Arial"/>
              <a:cs typeface="Arial"/>
              <a:sym typeface="Arial"/>
            </a:endParaRPr>
          </a:p>
        </p:txBody>
      </p:sp>
      <p:grpSp>
        <p:nvGrpSpPr>
          <p:cNvPr id="204" name="Google Shape;204;p10"/>
          <p:cNvGrpSpPr/>
          <p:nvPr/>
        </p:nvGrpSpPr>
        <p:grpSpPr>
          <a:xfrm>
            <a:off x="4983250" y="4526574"/>
            <a:ext cx="1710055" cy="535305"/>
            <a:chOff x="4983250" y="4526574"/>
            <a:chExt cx="1710055" cy="535305"/>
          </a:xfrm>
        </p:grpSpPr>
        <p:sp>
          <p:nvSpPr>
            <p:cNvPr id="205" name="Google Shape;205;p10"/>
            <p:cNvSpPr/>
            <p:nvPr/>
          </p:nvSpPr>
          <p:spPr>
            <a:xfrm>
              <a:off x="4983250" y="4526574"/>
              <a:ext cx="1710055" cy="535305"/>
            </a:xfrm>
            <a:custGeom>
              <a:rect b="b" l="l" r="r" t="t"/>
              <a:pathLst>
                <a:path extrusionOk="0" h="535304" w="1710054">
                  <a:moveTo>
                    <a:pt x="1442099" y="535199"/>
                  </a:moveTo>
                  <a:lnTo>
                    <a:pt x="0" y="535199"/>
                  </a:lnTo>
                  <a:lnTo>
                    <a:pt x="267599" y="267599"/>
                  </a:lnTo>
                  <a:lnTo>
                    <a:pt x="0" y="0"/>
                  </a:lnTo>
                  <a:lnTo>
                    <a:pt x="1442099" y="0"/>
                  </a:lnTo>
                  <a:lnTo>
                    <a:pt x="1709699" y="267599"/>
                  </a:lnTo>
                  <a:lnTo>
                    <a:pt x="1442099" y="535199"/>
                  </a:lnTo>
                  <a:close/>
                </a:path>
              </a:pathLst>
            </a:custGeom>
            <a:solidFill>
              <a:srgbClr val="E9ED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06" name="Google Shape;206;p10"/>
            <p:cNvSpPr/>
            <p:nvPr/>
          </p:nvSpPr>
          <p:spPr>
            <a:xfrm>
              <a:off x="4983250" y="4526574"/>
              <a:ext cx="1710055" cy="535305"/>
            </a:xfrm>
            <a:custGeom>
              <a:rect b="b" l="l" r="r" t="t"/>
              <a:pathLst>
                <a:path extrusionOk="0" h="535304" w="1710054">
                  <a:moveTo>
                    <a:pt x="0" y="0"/>
                  </a:moveTo>
                  <a:lnTo>
                    <a:pt x="1442099" y="0"/>
                  </a:lnTo>
                  <a:lnTo>
                    <a:pt x="1709699" y="267599"/>
                  </a:lnTo>
                  <a:lnTo>
                    <a:pt x="1442099" y="535199"/>
                  </a:lnTo>
                  <a:lnTo>
                    <a:pt x="0" y="535199"/>
                  </a:lnTo>
                  <a:lnTo>
                    <a:pt x="267599" y="267599"/>
                  </a:lnTo>
                  <a:lnTo>
                    <a:pt x="0" y="0"/>
                  </a:lnTo>
                  <a:close/>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207" name="Google Shape;207;p10"/>
          <p:cNvSpPr txBox="1"/>
          <p:nvPr/>
        </p:nvSpPr>
        <p:spPr>
          <a:xfrm>
            <a:off x="5323874" y="4669588"/>
            <a:ext cx="865505" cy="2387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400">
                <a:latin typeface="Arial"/>
                <a:ea typeface="Arial"/>
                <a:cs typeface="Arial"/>
                <a:sym typeface="Arial"/>
              </a:rPr>
              <a:t>Assembler</a:t>
            </a:r>
            <a:endParaRPr sz="1400">
              <a:latin typeface="Arial"/>
              <a:ea typeface="Arial"/>
              <a:cs typeface="Arial"/>
              <a:sym typeface="Arial"/>
            </a:endParaRPr>
          </a:p>
        </p:txBody>
      </p:sp>
      <p:grpSp>
        <p:nvGrpSpPr>
          <p:cNvPr id="208" name="Google Shape;208;p10"/>
          <p:cNvGrpSpPr/>
          <p:nvPr/>
        </p:nvGrpSpPr>
        <p:grpSpPr>
          <a:xfrm>
            <a:off x="1669737" y="4526574"/>
            <a:ext cx="1870710" cy="535305"/>
            <a:chOff x="1669737" y="4526574"/>
            <a:chExt cx="1870710" cy="535305"/>
          </a:xfrm>
        </p:grpSpPr>
        <p:sp>
          <p:nvSpPr>
            <p:cNvPr id="209" name="Google Shape;209;p10"/>
            <p:cNvSpPr/>
            <p:nvPr/>
          </p:nvSpPr>
          <p:spPr>
            <a:xfrm>
              <a:off x="1669737" y="4526574"/>
              <a:ext cx="1870710" cy="535305"/>
            </a:xfrm>
            <a:custGeom>
              <a:rect b="b" l="l" r="r" t="t"/>
              <a:pathLst>
                <a:path extrusionOk="0" h="535304" w="1870710">
                  <a:moveTo>
                    <a:pt x="1602899" y="535199"/>
                  </a:moveTo>
                  <a:lnTo>
                    <a:pt x="0" y="535199"/>
                  </a:lnTo>
                  <a:lnTo>
                    <a:pt x="267599" y="267599"/>
                  </a:lnTo>
                  <a:lnTo>
                    <a:pt x="0" y="0"/>
                  </a:lnTo>
                  <a:lnTo>
                    <a:pt x="1602899" y="0"/>
                  </a:lnTo>
                  <a:lnTo>
                    <a:pt x="1870499" y="267599"/>
                  </a:lnTo>
                  <a:lnTo>
                    <a:pt x="1602899" y="535199"/>
                  </a:lnTo>
                  <a:close/>
                </a:path>
              </a:pathLst>
            </a:custGeom>
            <a:solidFill>
              <a:srgbClr val="E9ED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10" name="Google Shape;210;p10"/>
            <p:cNvSpPr/>
            <p:nvPr/>
          </p:nvSpPr>
          <p:spPr>
            <a:xfrm>
              <a:off x="1669737" y="4526574"/>
              <a:ext cx="1870710" cy="535305"/>
            </a:xfrm>
            <a:custGeom>
              <a:rect b="b" l="l" r="r" t="t"/>
              <a:pathLst>
                <a:path extrusionOk="0" h="535304" w="1870710">
                  <a:moveTo>
                    <a:pt x="0" y="0"/>
                  </a:moveTo>
                  <a:lnTo>
                    <a:pt x="1602899" y="0"/>
                  </a:lnTo>
                  <a:lnTo>
                    <a:pt x="1870499" y="267599"/>
                  </a:lnTo>
                  <a:lnTo>
                    <a:pt x="1602899" y="535199"/>
                  </a:lnTo>
                  <a:lnTo>
                    <a:pt x="0" y="535199"/>
                  </a:lnTo>
                  <a:lnTo>
                    <a:pt x="267599" y="267599"/>
                  </a:lnTo>
                  <a:lnTo>
                    <a:pt x="0" y="0"/>
                  </a:lnTo>
                  <a:close/>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211" name="Google Shape;211;p10"/>
          <p:cNvSpPr txBox="1"/>
          <p:nvPr/>
        </p:nvSpPr>
        <p:spPr>
          <a:xfrm>
            <a:off x="2010362" y="4684891"/>
            <a:ext cx="932180"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200">
                <a:latin typeface="Arial"/>
                <a:ea typeface="Arial"/>
                <a:cs typeface="Arial"/>
                <a:sym typeface="Arial"/>
              </a:rPr>
              <a:t>Preprocessor</a:t>
            </a:r>
            <a:endParaRPr sz="1200">
              <a:latin typeface="Arial"/>
              <a:ea typeface="Arial"/>
              <a:cs typeface="Arial"/>
              <a:sym typeface="Arial"/>
            </a:endParaRPr>
          </a:p>
        </p:txBody>
      </p:sp>
      <p:grpSp>
        <p:nvGrpSpPr>
          <p:cNvPr id="212" name="Google Shape;212;p10"/>
          <p:cNvGrpSpPr/>
          <p:nvPr/>
        </p:nvGrpSpPr>
        <p:grpSpPr>
          <a:xfrm>
            <a:off x="6693049" y="4526574"/>
            <a:ext cx="1362710" cy="535305"/>
            <a:chOff x="6693049" y="4526574"/>
            <a:chExt cx="1362710" cy="535305"/>
          </a:xfrm>
        </p:grpSpPr>
        <p:sp>
          <p:nvSpPr>
            <p:cNvPr id="213" name="Google Shape;213;p10"/>
            <p:cNvSpPr/>
            <p:nvPr/>
          </p:nvSpPr>
          <p:spPr>
            <a:xfrm>
              <a:off x="6693049" y="4526574"/>
              <a:ext cx="1362710" cy="535305"/>
            </a:xfrm>
            <a:custGeom>
              <a:rect b="b" l="l" r="r" t="t"/>
              <a:pathLst>
                <a:path extrusionOk="0" h="535304" w="1362709">
                  <a:moveTo>
                    <a:pt x="1094999" y="535199"/>
                  </a:moveTo>
                  <a:lnTo>
                    <a:pt x="0" y="535199"/>
                  </a:lnTo>
                  <a:lnTo>
                    <a:pt x="267599" y="267599"/>
                  </a:lnTo>
                  <a:lnTo>
                    <a:pt x="0" y="0"/>
                  </a:lnTo>
                  <a:lnTo>
                    <a:pt x="1094999" y="0"/>
                  </a:lnTo>
                  <a:lnTo>
                    <a:pt x="1362599" y="267599"/>
                  </a:lnTo>
                  <a:lnTo>
                    <a:pt x="1094999" y="535199"/>
                  </a:lnTo>
                  <a:close/>
                </a:path>
              </a:pathLst>
            </a:custGeom>
            <a:solidFill>
              <a:srgbClr val="FFB8A2"/>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14" name="Google Shape;214;p10"/>
            <p:cNvSpPr/>
            <p:nvPr/>
          </p:nvSpPr>
          <p:spPr>
            <a:xfrm>
              <a:off x="6693049" y="4526574"/>
              <a:ext cx="1362710" cy="535305"/>
            </a:xfrm>
            <a:custGeom>
              <a:rect b="b" l="l" r="r" t="t"/>
              <a:pathLst>
                <a:path extrusionOk="0" h="535304" w="1362709">
                  <a:moveTo>
                    <a:pt x="0" y="0"/>
                  </a:moveTo>
                  <a:lnTo>
                    <a:pt x="1094999" y="0"/>
                  </a:lnTo>
                  <a:lnTo>
                    <a:pt x="1362599" y="267599"/>
                  </a:lnTo>
                  <a:lnTo>
                    <a:pt x="1094999" y="535199"/>
                  </a:lnTo>
                  <a:lnTo>
                    <a:pt x="0" y="535199"/>
                  </a:lnTo>
                  <a:lnTo>
                    <a:pt x="267599" y="267599"/>
                  </a:lnTo>
                  <a:lnTo>
                    <a:pt x="0" y="0"/>
                  </a:lnTo>
                  <a:close/>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215" name="Google Shape;215;p10"/>
          <p:cNvSpPr txBox="1"/>
          <p:nvPr/>
        </p:nvSpPr>
        <p:spPr>
          <a:xfrm>
            <a:off x="7033675" y="4669588"/>
            <a:ext cx="509905" cy="2387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400">
                <a:latin typeface="Arial"/>
                <a:ea typeface="Arial"/>
                <a:cs typeface="Arial"/>
                <a:sym typeface="Arial"/>
              </a:rPr>
              <a:t>Linker</a:t>
            </a:r>
            <a:endParaRPr sz="1400">
              <a:latin typeface="Arial"/>
              <a:ea typeface="Arial"/>
              <a:cs typeface="Arial"/>
              <a:sym typeface="Arial"/>
            </a:endParaRPr>
          </a:p>
        </p:txBody>
      </p:sp>
      <p:grpSp>
        <p:nvGrpSpPr>
          <p:cNvPr id="216" name="Google Shape;216;p10"/>
          <p:cNvGrpSpPr/>
          <p:nvPr/>
        </p:nvGrpSpPr>
        <p:grpSpPr>
          <a:xfrm>
            <a:off x="729450" y="4526574"/>
            <a:ext cx="935355" cy="535305"/>
            <a:chOff x="729450" y="4526574"/>
            <a:chExt cx="935355" cy="535305"/>
          </a:xfrm>
        </p:grpSpPr>
        <p:sp>
          <p:nvSpPr>
            <p:cNvPr id="217" name="Google Shape;217;p10"/>
            <p:cNvSpPr/>
            <p:nvPr/>
          </p:nvSpPr>
          <p:spPr>
            <a:xfrm>
              <a:off x="729450" y="4526574"/>
              <a:ext cx="935355" cy="535305"/>
            </a:xfrm>
            <a:custGeom>
              <a:rect b="b" l="l" r="r" t="t"/>
              <a:pathLst>
                <a:path extrusionOk="0" h="535304" w="935355">
                  <a:moveTo>
                    <a:pt x="667499" y="535199"/>
                  </a:moveTo>
                  <a:lnTo>
                    <a:pt x="0" y="535199"/>
                  </a:lnTo>
                  <a:lnTo>
                    <a:pt x="0" y="0"/>
                  </a:lnTo>
                  <a:lnTo>
                    <a:pt x="667499" y="0"/>
                  </a:lnTo>
                  <a:lnTo>
                    <a:pt x="935099" y="267599"/>
                  </a:lnTo>
                  <a:lnTo>
                    <a:pt x="667499" y="535199"/>
                  </a:lnTo>
                  <a:close/>
                </a:path>
              </a:pathLst>
            </a:custGeom>
            <a:solidFill>
              <a:srgbClr val="F4CCCC"/>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18" name="Google Shape;218;p10"/>
            <p:cNvSpPr/>
            <p:nvPr/>
          </p:nvSpPr>
          <p:spPr>
            <a:xfrm>
              <a:off x="729450" y="4526574"/>
              <a:ext cx="935355" cy="535305"/>
            </a:xfrm>
            <a:custGeom>
              <a:rect b="b" l="l" r="r" t="t"/>
              <a:pathLst>
                <a:path extrusionOk="0" h="535304" w="935355">
                  <a:moveTo>
                    <a:pt x="0" y="0"/>
                  </a:moveTo>
                  <a:lnTo>
                    <a:pt x="667499" y="0"/>
                  </a:lnTo>
                  <a:lnTo>
                    <a:pt x="935099" y="267599"/>
                  </a:lnTo>
                  <a:lnTo>
                    <a:pt x="667499" y="535199"/>
                  </a:lnTo>
                  <a:lnTo>
                    <a:pt x="0" y="535199"/>
                  </a:lnTo>
                  <a:lnTo>
                    <a:pt x="0" y="0"/>
                  </a:lnTo>
                  <a:close/>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219" name="Google Shape;219;p10"/>
          <p:cNvSpPr txBox="1"/>
          <p:nvPr/>
        </p:nvSpPr>
        <p:spPr>
          <a:xfrm>
            <a:off x="802475" y="4674858"/>
            <a:ext cx="548640" cy="2235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300">
                <a:latin typeface="Arial"/>
                <a:ea typeface="Arial"/>
                <a:cs typeface="Arial"/>
                <a:sym typeface="Arial"/>
              </a:rPr>
              <a:t>Source</a:t>
            </a:r>
            <a:endParaRPr sz="1300">
              <a:latin typeface="Arial"/>
              <a:ea typeface="Arial"/>
              <a:cs typeface="Arial"/>
              <a:sym typeface="Arial"/>
            </a:endParaRPr>
          </a:p>
        </p:txBody>
      </p:sp>
      <p:grpSp>
        <p:nvGrpSpPr>
          <p:cNvPr id="220" name="Google Shape;220;p10"/>
          <p:cNvGrpSpPr/>
          <p:nvPr/>
        </p:nvGrpSpPr>
        <p:grpSpPr>
          <a:xfrm>
            <a:off x="8216249" y="4408725"/>
            <a:ext cx="734695" cy="653415"/>
            <a:chOff x="8216249" y="4408725"/>
            <a:chExt cx="734695" cy="653415"/>
          </a:xfrm>
        </p:grpSpPr>
        <p:sp>
          <p:nvSpPr>
            <p:cNvPr id="221" name="Google Shape;221;p10"/>
            <p:cNvSpPr/>
            <p:nvPr/>
          </p:nvSpPr>
          <p:spPr>
            <a:xfrm>
              <a:off x="8216249" y="4490362"/>
              <a:ext cx="734695" cy="571500"/>
            </a:xfrm>
            <a:custGeom>
              <a:rect b="b" l="l" r="r" t="t"/>
              <a:pathLst>
                <a:path extrusionOk="0" h="571500" w="734695">
                  <a:moveTo>
                    <a:pt x="367349" y="571462"/>
                  </a:moveTo>
                  <a:lnTo>
                    <a:pt x="293316" y="569803"/>
                  </a:lnTo>
                  <a:lnTo>
                    <a:pt x="224360" y="565046"/>
                  </a:lnTo>
                  <a:lnTo>
                    <a:pt x="161961" y="557520"/>
                  </a:lnTo>
                  <a:lnTo>
                    <a:pt x="107594" y="547551"/>
                  </a:lnTo>
                  <a:lnTo>
                    <a:pt x="62737" y="535469"/>
                  </a:lnTo>
                  <a:lnTo>
                    <a:pt x="7463" y="506277"/>
                  </a:lnTo>
                  <a:lnTo>
                    <a:pt x="0" y="489824"/>
                  </a:lnTo>
                  <a:lnTo>
                    <a:pt x="0" y="0"/>
                  </a:lnTo>
                  <a:lnTo>
                    <a:pt x="7463" y="16452"/>
                  </a:lnTo>
                  <a:lnTo>
                    <a:pt x="28868" y="31776"/>
                  </a:lnTo>
                  <a:lnTo>
                    <a:pt x="107594" y="57726"/>
                  </a:lnTo>
                  <a:lnTo>
                    <a:pt x="161961" y="67695"/>
                  </a:lnTo>
                  <a:lnTo>
                    <a:pt x="224360" y="75221"/>
                  </a:lnTo>
                  <a:lnTo>
                    <a:pt x="293316" y="79978"/>
                  </a:lnTo>
                  <a:lnTo>
                    <a:pt x="367349" y="81637"/>
                  </a:lnTo>
                  <a:lnTo>
                    <a:pt x="441383" y="79978"/>
                  </a:lnTo>
                  <a:lnTo>
                    <a:pt x="510339" y="75221"/>
                  </a:lnTo>
                  <a:lnTo>
                    <a:pt x="572738" y="67695"/>
                  </a:lnTo>
                  <a:lnTo>
                    <a:pt x="627105" y="57726"/>
                  </a:lnTo>
                  <a:lnTo>
                    <a:pt x="671962" y="45644"/>
                  </a:lnTo>
                  <a:lnTo>
                    <a:pt x="727236" y="16452"/>
                  </a:lnTo>
                  <a:lnTo>
                    <a:pt x="734699" y="0"/>
                  </a:lnTo>
                  <a:lnTo>
                    <a:pt x="734699" y="489824"/>
                  </a:lnTo>
                  <a:lnTo>
                    <a:pt x="705831" y="521601"/>
                  </a:lnTo>
                  <a:lnTo>
                    <a:pt x="627105" y="547551"/>
                  </a:lnTo>
                  <a:lnTo>
                    <a:pt x="572738" y="557520"/>
                  </a:lnTo>
                  <a:lnTo>
                    <a:pt x="510339" y="565046"/>
                  </a:lnTo>
                  <a:lnTo>
                    <a:pt x="441383" y="569803"/>
                  </a:lnTo>
                  <a:lnTo>
                    <a:pt x="367349" y="571462"/>
                  </a:lnTo>
                  <a:close/>
                </a:path>
              </a:pathLst>
            </a:custGeom>
            <a:solidFill>
              <a:srgbClr val="E9ED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22" name="Google Shape;222;p10"/>
            <p:cNvSpPr/>
            <p:nvPr/>
          </p:nvSpPr>
          <p:spPr>
            <a:xfrm>
              <a:off x="8216249" y="4408725"/>
              <a:ext cx="734695" cy="163830"/>
            </a:xfrm>
            <a:custGeom>
              <a:rect b="b" l="l" r="r" t="t"/>
              <a:pathLst>
                <a:path extrusionOk="0" h="163829" w="734695">
                  <a:moveTo>
                    <a:pt x="367349" y="163274"/>
                  </a:moveTo>
                  <a:lnTo>
                    <a:pt x="293316" y="161616"/>
                  </a:lnTo>
                  <a:lnTo>
                    <a:pt x="224360" y="156859"/>
                  </a:lnTo>
                  <a:lnTo>
                    <a:pt x="161961" y="149332"/>
                  </a:lnTo>
                  <a:lnTo>
                    <a:pt x="107594" y="139363"/>
                  </a:lnTo>
                  <a:lnTo>
                    <a:pt x="62737" y="127281"/>
                  </a:lnTo>
                  <a:lnTo>
                    <a:pt x="7463" y="98090"/>
                  </a:lnTo>
                  <a:lnTo>
                    <a:pt x="0" y="81637"/>
                  </a:lnTo>
                  <a:lnTo>
                    <a:pt x="7463" y="65184"/>
                  </a:lnTo>
                  <a:lnTo>
                    <a:pt x="62737" y="35993"/>
                  </a:lnTo>
                  <a:lnTo>
                    <a:pt x="107594" y="23911"/>
                  </a:lnTo>
                  <a:lnTo>
                    <a:pt x="161961" y="13942"/>
                  </a:lnTo>
                  <a:lnTo>
                    <a:pt x="224360" y="6415"/>
                  </a:lnTo>
                  <a:lnTo>
                    <a:pt x="293316" y="1658"/>
                  </a:lnTo>
                  <a:lnTo>
                    <a:pt x="367349" y="0"/>
                  </a:lnTo>
                  <a:lnTo>
                    <a:pt x="441383" y="1658"/>
                  </a:lnTo>
                  <a:lnTo>
                    <a:pt x="510339" y="6415"/>
                  </a:lnTo>
                  <a:lnTo>
                    <a:pt x="572738" y="13942"/>
                  </a:lnTo>
                  <a:lnTo>
                    <a:pt x="627105" y="23911"/>
                  </a:lnTo>
                  <a:lnTo>
                    <a:pt x="671962" y="35993"/>
                  </a:lnTo>
                  <a:lnTo>
                    <a:pt x="727236" y="65184"/>
                  </a:lnTo>
                  <a:lnTo>
                    <a:pt x="734699" y="81637"/>
                  </a:lnTo>
                  <a:lnTo>
                    <a:pt x="727236" y="98090"/>
                  </a:lnTo>
                  <a:lnTo>
                    <a:pt x="671962" y="127281"/>
                  </a:lnTo>
                  <a:lnTo>
                    <a:pt x="627105" y="139363"/>
                  </a:lnTo>
                  <a:lnTo>
                    <a:pt x="572738" y="149332"/>
                  </a:lnTo>
                  <a:lnTo>
                    <a:pt x="510339" y="156859"/>
                  </a:lnTo>
                  <a:lnTo>
                    <a:pt x="441383" y="161616"/>
                  </a:lnTo>
                  <a:lnTo>
                    <a:pt x="367349" y="163274"/>
                  </a:lnTo>
                  <a:close/>
                </a:path>
              </a:pathLst>
            </a:custGeom>
            <a:solidFill>
              <a:srgbClr val="F1F4F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23" name="Google Shape;223;p10"/>
            <p:cNvSpPr/>
            <p:nvPr/>
          </p:nvSpPr>
          <p:spPr>
            <a:xfrm>
              <a:off x="8216249" y="4408725"/>
              <a:ext cx="734695" cy="653415"/>
            </a:xfrm>
            <a:custGeom>
              <a:rect b="b" l="l" r="r" t="t"/>
              <a:pathLst>
                <a:path extrusionOk="0" h="653414" w="734695">
                  <a:moveTo>
                    <a:pt x="734699" y="81637"/>
                  </a:moveTo>
                  <a:lnTo>
                    <a:pt x="727236" y="98090"/>
                  </a:lnTo>
                  <a:lnTo>
                    <a:pt x="705831" y="113414"/>
                  </a:lnTo>
                  <a:lnTo>
                    <a:pt x="627105" y="139363"/>
                  </a:lnTo>
                  <a:lnTo>
                    <a:pt x="572738" y="149332"/>
                  </a:lnTo>
                  <a:lnTo>
                    <a:pt x="510339" y="156859"/>
                  </a:lnTo>
                  <a:lnTo>
                    <a:pt x="441383" y="161616"/>
                  </a:lnTo>
                  <a:lnTo>
                    <a:pt x="367349" y="163274"/>
                  </a:lnTo>
                  <a:lnTo>
                    <a:pt x="293316" y="161616"/>
                  </a:lnTo>
                  <a:lnTo>
                    <a:pt x="224360" y="156859"/>
                  </a:lnTo>
                  <a:lnTo>
                    <a:pt x="161961" y="149332"/>
                  </a:lnTo>
                  <a:lnTo>
                    <a:pt x="107594" y="139363"/>
                  </a:lnTo>
                  <a:lnTo>
                    <a:pt x="62737" y="127281"/>
                  </a:lnTo>
                  <a:lnTo>
                    <a:pt x="7463" y="98090"/>
                  </a:lnTo>
                  <a:lnTo>
                    <a:pt x="0" y="81637"/>
                  </a:lnTo>
                  <a:lnTo>
                    <a:pt x="28868" y="49860"/>
                  </a:lnTo>
                  <a:lnTo>
                    <a:pt x="107594" y="23911"/>
                  </a:lnTo>
                  <a:lnTo>
                    <a:pt x="161961" y="13942"/>
                  </a:lnTo>
                  <a:lnTo>
                    <a:pt x="224360" y="6415"/>
                  </a:lnTo>
                  <a:lnTo>
                    <a:pt x="293316" y="1658"/>
                  </a:lnTo>
                  <a:lnTo>
                    <a:pt x="367349" y="0"/>
                  </a:lnTo>
                  <a:lnTo>
                    <a:pt x="441383" y="1658"/>
                  </a:lnTo>
                  <a:lnTo>
                    <a:pt x="510339" y="6415"/>
                  </a:lnTo>
                  <a:lnTo>
                    <a:pt x="572738" y="13942"/>
                  </a:lnTo>
                  <a:lnTo>
                    <a:pt x="627105" y="23911"/>
                  </a:lnTo>
                  <a:lnTo>
                    <a:pt x="671962" y="35993"/>
                  </a:lnTo>
                  <a:lnTo>
                    <a:pt x="727236" y="65184"/>
                  </a:lnTo>
                  <a:lnTo>
                    <a:pt x="734699" y="81637"/>
                  </a:lnTo>
                  <a:lnTo>
                    <a:pt x="734699" y="571462"/>
                  </a:lnTo>
                  <a:lnTo>
                    <a:pt x="705831" y="603239"/>
                  </a:lnTo>
                  <a:lnTo>
                    <a:pt x="627105" y="629188"/>
                  </a:lnTo>
                  <a:lnTo>
                    <a:pt x="572738" y="639157"/>
                  </a:lnTo>
                  <a:lnTo>
                    <a:pt x="510339" y="646684"/>
                  </a:lnTo>
                  <a:lnTo>
                    <a:pt x="441383" y="651441"/>
                  </a:lnTo>
                  <a:lnTo>
                    <a:pt x="367349" y="653099"/>
                  </a:lnTo>
                  <a:lnTo>
                    <a:pt x="293316" y="651441"/>
                  </a:lnTo>
                  <a:lnTo>
                    <a:pt x="224360" y="646684"/>
                  </a:lnTo>
                  <a:lnTo>
                    <a:pt x="161961" y="639157"/>
                  </a:lnTo>
                  <a:lnTo>
                    <a:pt x="107594" y="629188"/>
                  </a:lnTo>
                  <a:lnTo>
                    <a:pt x="62737" y="617106"/>
                  </a:lnTo>
                  <a:lnTo>
                    <a:pt x="7463" y="587915"/>
                  </a:lnTo>
                  <a:lnTo>
                    <a:pt x="0" y="571462"/>
                  </a:lnTo>
                  <a:lnTo>
                    <a:pt x="0" y="81637"/>
                  </a:lnTo>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1"/>
          <p:cNvSpPr txBox="1"/>
          <p:nvPr>
            <p:ph type="ctrTitle"/>
          </p:nvPr>
        </p:nvSpPr>
        <p:spPr>
          <a:xfrm>
            <a:off x="323825" y="61137"/>
            <a:ext cx="5718175" cy="382270"/>
          </a:xfrm>
          <a:prstGeom prst="rect">
            <a:avLst/>
          </a:prstGeom>
          <a:noFill/>
          <a:ln>
            <a:noFill/>
          </a:ln>
        </p:spPr>
        <p:txBody>
          <a:bodyPr anchorCtr="0" anchor="t" bIns="0" lIns="0" spcFirstLastPara="1" rIns="0" wrap="square" tIns="17775">
            <a:spAutoFit/>
          </a:bodyPr>
          <a:lstStyle/>
          <a:p>
            <a:pPr indent="0" lvl="0" marL="488950" rtl="0" algn="l">
              <a:lnSpc>
                <a:spcPct val="100000"/>
              </a:lnSpc>
              <a:spcBef>
                <a:spcPts val="0"/>
              </a:spcBef>
              <a:spcAft>
                <a:spcPts val="0"/>
              </a:spcAft>
              <a:buNone/>
            </a:pPr>
            <a:r>
              <a:rPr lang="en-US"/>
              <a:t>El Programa: Compilación</a:t>
            </a:r>
            <a:endParaRPr/>
          </a:p>
        </p:txBody>
      </p:sp>
      <p:pic>
        <p:nvPicPr>
          <p:cNvPr id="229" name="Google Shape;229;p11"/>
          <p:cNvPicPr preferRelativeResize="0"/>
          <p:nvPr/>
        </p:nvPicPr>
        <p:blipFill rotWithShape="1">
          <a:blip r:embed="rId3">
            <a:alphaModFix/>
          </a:blip>
          <a:srcRect b="0" l="0" r="0" t="0"/>
          <a:stretch/>
        </p:blipFill>
        <p:spPr>
          <a:xfrm>
            <a:off x="772362" y="480725"/>
            <a:ext cx="5289019" cy="4662774"/>
          </a:xfrm>
          <a:prstGeom prst="rect">
            <a:avLst/>
          </a:prstGeom>
          <a:noFill/>
          <a:ln>
            <a:noFill/>
          </a:ln>
        </p:spPr>
      </p:pic>
      <p:sp>
        <p:nvSpPr>
          <p:cNvPr id="230" name="Google Shape;230;p11"/>
          <p:cNvSpPr txBox="1"/>
          <p:nvPr/>
        </p:nvSpPr>
        <p:spPr>
          <a:xfrm>
            <a:off x="6134399" y="2396623"/>
            <a:ext cx="2458720" cy="314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i="1" lang="en-US" sz="1900">
                <a:solidFill>
                  <a:srgbClr val="595959"/>
                </a:solidFill>
                <a:latin typeface="Trebuchet MS"/>
                <a:ea typeface="Trebuchet MS"/>
                <a:cs typeface="Trebuchet MS"/>
                <a:sym typeface="Trebuchet MS"/>
              </a:rPr>
              <a:t>El proceso de link edicion</a:t>
            </a:r>
            <a:endParaRPr sz="1900">
              <a:latin typeface="Trebuchet MS"/>
              <a:ea typeface="Trebuchet MS"/>
              <a:cs typeface="Trebuchet MS"/>
              <a:sym typeface="Trebuchet M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2"/>
          <p:cNvSpPr txBox="1"/>
          <p:nvPr>
            <p:ph type="title"/>
          </p:nvPr>
        </p:nvSpPr>
        <p:spPr>
          <a:xfrm>
            <a:off x="73025" y="12837"/>
            <a:ext cx="7791285" cy="476369"/>
          </a:xfrm>
          <a:prstGeom prst="rect">
            <a:avLst/>
          </a:prstGeom>
          <a:noFill/>
          <a:ln>
            <a:noFill/>
          </a:ln>
        </p:spPr>
        <p:txBody>
          <a:bodyPr anchorCtr="0" anchor="t" bIns="0" lIns="0" spcFirstLastPara="1" rIns="0" wrap="square" tIns="111875">
            <a:spAutoFit/>
          </a:bodyPr>
          <a:lstStyle/>
          <a:p>
            <a:pPr indent="0" lvl="0" marL="739775" rtl="0" algn="l">
              <a:lnSpc>
                <a:spcPct val="100000"/>
              </a:lnSpc>
              <a:spcBef>
                <a:spcPts val="0"/>
              </a:spcBef>
              <a:spcAft>
                <a:spcPts val="0"/>
              </a:spcAft>
              <a:buNone/>
            </a:pPr>
            <a:r>
              <a:rPr lang="en-US"/>
              <a:t>El Programa: Compilación</a:t>
            </a:r>
            <a:endParaRPr/>
          </a:p>
        </p:txBody>
      </p:sp>
      <p:grpSp>
        <p:nvGrpSpPr>
          <p:cNvPr id="236" name="Google Shape;236;p12"/>
          <p:cNvGrpSpPr/>
          <p:nvPr/>
        </p:nvGrpSpPr>
        <p:grpSpPr>
          <a:xfrm>
            <a:off x="3540237" y="4526574"/>
            <a:ext cx="1443355" cy="535305"/>
            <a:chOff x="3540237" y="4526574"/>
            <a:chExt cx="1443355" cy="535305"/>
          </a:xfrm>
        </p:grpSpPr>
        <p:sp>
          <p:nvSpPr>
            <p:cNvPr id="237" name="Google Shape;237;p12"/>
            <p:cNvSpPr/>
            <p:nvPr/>
          </p:nvSpPr>
          <p:spPr>
            <a:xfrm>
              <a:off x="3540237" y="4526574"/>
              <a:ext cx="1443355" cy="535305"/>
            </a:xfrm>
            <a:custGeom>
              <a:rect b="b" l="l" r="r" t="t"/>
              <a:pathLst>
                <a:path extrusionOk="0" h="535304" w="1443354">
                  <a:moveTo>
                    <a:pt x="1175399" y="535199"/>
                  </a:moveTo>
                  <a:lnTo>
                    <a:pt x="0" y="535199"/>
                  </a:lnTo>
                  <a:lnTo>
                    <a:pt x="267599" y="267599"/>
                  </a:lnTo>
                  <a:lnTo>
                    <a:pt x="0" y="0"/>
                  </a:lnTo>
                  <a:lnTo>
                    <a:pt x="1175399" y="0"/>
                  </a:lnTo>
                  <a:lnTo>
                    <a:pt x="1442999" y="267599"/>
                  </a:lnTo>
                  <a:lnTo>
                    <a:pt x="1175399" y="535199"/>
                  </a:lnTo>
                  <a:close/>
                </a:path>
              </a:pathLst>
            </a:custGeom>
            <a:solidFill>
              <a:srgbClr val="E9ED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38" name="Google Shape;238;p12"/>
            <p:cNvSpPr/>
            <p:nvPr/>
          </p:nvSpPr>
          <p:spPr>
            <a:xfrm>
              <a:off x="3540237" y="4526574"/>
              <a:ext cx="1443355" cy="535305"/>
            </a:xfrm>
            <a:custGeom>
              <a:rect b="b" l="l" r="r" t="t"/>
              <a:pathLst>
                <a:path extrusionOk="0" h="535304" w="1443354">
                  <a:moveTo>
                    <a:pt x="0" y="0"/>
                  </a:moveTo>
                  <a:lnTo>
                    <a:pt x="1175399" y="0"/>
                  </a:lnTo>
                  <a:lnTo>
                    <a:pt x="1442999" y="267599"/>
                  </a:lnTo>
                  <a:lnTo>
                    <a:pt x="1175399" y="535199"/>
                  </a:lnTo>
                  <a:lnTo>
                    <a:pt x="0" y="535199"/>
                  </a:lnTo>
                  <a:lnTo>
                    <a:pt x="267599" y="267599"/>
                  </a:lnTo>
                  <a:lnTo>
                    <a:pt x="0" y="0"/>
                  </a:lnTo>
                  <a:close/>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239" name="Google Shape;239;p12"/>
          <p:cNvSpPr txBox="1"/>
          <p:nvPr/>
        </p:nvSpPr>
        <p:spPr>
          <a:xfrm>
            <a:off x="3880862" y="4684891"/>
            <a:ext cx="635635"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200">
                <a:latin typeface="Arial"/>
                <a:ea typeface="Arial"/>
                <a:cs typeface="Arial"/>
                <a:sym typeface="Arial"/>
              </a:rPr>
              <a:t>Compiler</a:t>
            </a:r>
            <a:endParaRPr sz="1200">
              <a:latin typeface="Arial"/>
              <a:ea typeface="Arial"/>
              <a:cs typeface="Arial"/>
              <a:sym typeface="Arial"/>
            </a:endParaRPr>
          </a:p>
        </p:txBody>
      </p:sp>
      <p:grpSp>
        <p:nvGrpSpPr>
          <p:cNvPr id="240" name="Google Shape;240;p12"/>
          <p:cNvGrpSpPr/>
          <p:nvPr/>
        </p:nvGrpSpPr>
        <p:grpSpPr>
          <a:xfrm>
            <a:off x="4983250" y="4526574"/>
            <a:ext cx="1710055" cy="535305"/>
            <a:chOff x="4983250" y="4526574"/>
            <a:chExt cx="1710055" cy="535305"/>
          </a:xfrm>
        </p:grpSpPr>
        <p:sp>
          <p:nvSpPr>
            <p:cNvPr id="241" name="Google Shape;241;p12"/>
            <p:cNvSpPr/>
            <p:nvPr/>
          </p:nvSpPr>
          <p:spPr>
            <a:xfrm>
              <a:off x="4983250" y="4526574"/>
              <a:ext cx="1710055" cy="535305"/>
            </a:xfrm>
            <a:custGeom>
              <a:rect b="b" l="l" r="r" t="t"/>
              <a:pathLst>
                <a:path extrusionOk="0" h="535304" w="1710054">
                  <a:moveTo>
                    <a:pt x="1442099" y="535199"/>
                  </a:moveTo>
                  <a:lnTo>
                    <a:pt x="0" y="535199"/>
                  </a:lnTo>
                  <a:lnTo>
                    <a:pt x="267599" y="267599"/>
                  </a:lnTo>
                  <a:lnTo>
                    <a:pt x="0" y="0"/>
                  </a:lnTo>
                  <a:lnTo>
                    <a:pt x="1442099" y="0"/>
                  </a:lnTo>
                  <a:lnTo>
                    <a:pt x="1709699" y="267599"/>
                  </a:lnTo>
                  <a:lnTo>
                    <a:pt x="1442099" y="535199"/>
                  </a:lnTo>
                  <a:close/>
                </a:path>
              </a:pathLst>
            </a:custGeom>
            <a:solidFill>
              <a:srgbClr val="FFB8A2"/>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42" name="Google Shape;242;p12"/>
            <p:cNvSpPr/>
            <p:nvPr/>
          </p:nvSpPr>
          <p:spPr>
            <a:xfrm>
              <a:off x="4983250" y="4526574"/>
              <a:ext cx="1710055" cy="535305"/>
            </a:xfrm>
            <a:custGeom>
              <a:rect b="b" l="l" r="r" t="t"/>
              <a:pathLst>
                <a:path extrusionOk="0" h="535304" w="1710054">
                  <a:moveTo>
                    <a:pt x="0" y="0"/>
                  </a:moveTo>
                  <a:lnTo>
                    <a:pt x="1442099" y="0"/>
                  </a:lnTo>
                  <a:lnTo>
                    <a:pt x="1709699" y="267599"/>
                  </a:lnTo>
                  <a:lnTo>
                    <a:pt x="1442099" y="535199"/>
                  </a:lnTo>
                  <a:lnTo>
                    <a:pt x="0" y="535199"/>
                  </a:lnTo>
                  <a:lnTo>
                    <a:pt x="267599" y="267599"/>
                  </a:lnTo>
                  <a:lnTo>
                    <a:pt x="0" y="0"/>
                  </a:lnTo>
                  <a:close/>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243" name="Google Shape;243;p12"/>
          <p:cNvSpPr txBox="1"/>
          <p:nvPr/>
        </p:nvSpPr>
        <p:spPr>
          <a:xfrm>
            <a:off x="5323874" y="4669588"/>
            <a:ext cx="865505" cy="2387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400">
                <a:latin typeface="Arial"/>
                <a:ea typeface="Arial"/>
                <a:cs typeface="Arial"/>
                <a:sym typeface="Arial"/>
              </a:rPr>
              <a:t>Assembler</a:t>
            </a:r>
            <a:endParaRPr sz="1400">
              <a:latin typeface="Arial"/>
              <a:ea typeface="Arial"/>
              <a:cs typeface="Arial"/>
              <a:sym typeface="Arial"/>
            </a:endParaRPr>
          </a:p>
        </p:txBody>
      </p:sp>
      <p:grpSp>
        <p:nvGrpSpPr>
          <p:cNvPr id="244" name="Google Shape;244;p12"/>
          <p:cNvGrpSpPr/>
          <p:nvPr/>
        </p:nvGrpSpPr>
        <p:grpSpPr>
          <a:xfrm>
            <a:off x="1669737" y="4526574"/>
            <a:ext cx="1870710" cy="535305"/>
            <a:chOff x="1669737" y="4526574"/>
            <a:chExt cx="1870710" cy="535305"/>
          </a:xfrm>
        </p:grpSpPr>
        <p:sp>
          <p:nvSpPr>
            <p:cNvPr id="245" name="Google Shape;245;p12"/>
            <p:cNvSpPr/>
            <p:nvPr/>
          </p:nvSpPr>
          <p:spPr>
            <a:xfrm>
              <a:off x="1669737" y="4526574"/>
              <a:ext cx="1870710" cy="535305"/>
            </a:xfrm>
            <a:custGeom>
              <a:rect b="b" l="l" r="r" t="t"/>
              <a:pathLst>
                <a:path extrusionOk="0" h="535304" w="1870710">
                  <a:moveTo>
                    <a:pt x="1602899" y="535199"/>
                  </a:moveTo>
                  <a:lnTo>
                    <a:pt x="0" y="535199"/>
                  </a:lnTo>
                  <a:lnTo>
                    <a:pt x="267599" y="267599"/>
                  </a:lnTo>
                  <a:lnTo>
                    <a:pt x="0" y="0"/>
                  </a:lnTo>
                  <a:lnTo>
                    <a:pt x="1602899" y="0"/>
                  </a:lnTo>
                  <a:lnTo>
                    <a:pt x="1870499" y="267599"/>
                  </a:lnTo>
                  <a:lnTo>
                    <a:pt x="1602899" y="535199"/>
                  </a:lnTo>
                  <a:close/>
                </a:path>
              </a:pathLst>
            </a:custGeom>
            <a:solidFill>
              <a:srgbClr val="E9ED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46" name="Google Shape;246;p12"/>
            <p:cNvSpPr/>
            <p:nvPr/>
          </p:nvSpPr>
          <p:spPr>
            <a:xfrm>
              <a:off x="1669737" y="4526574"/>
              <a:ext cx="1870710" cy="535305"/>
            </a:xfrm>
            <a:custGeom>
              <a:rect b="b" l="l" r="r" t="t"/>
              <a:pathLst>
                <a:path extrusionOk="0" h="535304" w="1870710">
                  <a:moveTo>
                    <a:pt x="0" y="0"/>
                  </a:moveTo>
                  <a:lnTo>
                    <a:pt x="1602899" y="0"/>
                  </a:lnTo>
                  <a:lnTo>
                    <a:pt x="1870499" y="267599"/>
                  </a:lnTo>
                  <a:lnTo>
                    <a:pt x="1602899" y="535199"/>
                  </a:lnTo>
                  <a:lnTo>
                    <a:pt x="0" y="535199"/>
                  </a:lnTo>
                  <a:lnTo>
                    <a:pt x="267599" y="267599"/>
                  </a:lnTo>
                  <a:lnTo>
                    <a:pt x="0" y="0"/>
                  </a:lnTo>
                  <a:close/>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247" name="Google Shape;247;p12"/>
          <p:cNvSpPr txBox="1"/>
          <p:nvPr/>
        </p:nvSpPr>
        <p:spPr>
          <a:xfrm>
            <a:off x="2010362" y="4684891"/>
            <a:ext cx="932180"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200">
                <a:latin typeface="Arial"/>
                <a:ea typeface="Arial"/>
                <a:cs typeface="Arial"/>
                <a:sym typeface="Arial"/>
              </a:rPr>
              <a:t>Preprocessor</a:t>
            </a:r>
            <a:endParaRPr sz="1200">
              <a:latin typeface="Arial"/>
              <a:ea typeface="Arial"/>
              <a:cs typeface="Arial"/>
              <a:sym typeface="Arial"/>
            </a:endParaRPr>
          </a:p>
        </p:txBody>
      </p:sp>
      <p:grpSp>
        <p:nvGrpSpPr>
          <p:cNvPr id="248" name="Google Shape;248;p12"/>
          <p:cNvGrpSpPr/>
          <p:nvPr/>
        </p:nvGrpSpPr>
        <p:grpSpPr>
          <a:xfrm>
            <a:off x="6693049" y="4526574"/>
            <a:ext cx="1362710" cy="535305"/>
            <a:chOff x="6693049" y="4526574"/>
            <a:chExt cx="1362710" cy="535305"/>
          </a:xfrm>
        </p:grpSpPr>
        <p:sp>
          <p:nvSpPr>
            <p:cNvPr id="249" name="Google Shape;249;p12"/>
            <p:cNvSpPr/>
            <p:nvPr/>
          </p:nvSpPr>
          <p:spPr>
            <a:xfrm>
              <a:off x="6693049" y="4526574"/>
              <a:ext cx="1362710" cy="535305"/>
            </a:xfrm>
            <a:custGeom>
              <a:rect b="b" l="l" r="r" t="t"/>
              <a:pathLst>
                <a:path extrusionOk="0" h="535304" w="1362709">
                  <a:moveTo>
                    <a:pt x="1094999" y="535199"/>
                  </a:moveTo>
                  <a:lnTo>
                    <a:pt x="0" y="535199"/>
                  </a:lnTo>
                  <a:lnTo>
                    <a:pt x="267599" y="267599"/>
                  </a:lnTo>
                  <a:lnTo>
                    <a:pt x="0" y="0"/>
                  </a:lnTo>
                  <a:lnTo>
                    <a:pt x="1094999" y="0"/>
                  </a:lnTo>
                  <a:lnTo>
                    <a:pt x="1362599" y="267599"/>
                  </a:lnTo>
                  <a:lnTo>
                    <a:pt x="1094999" y="535199"/>
                  </a:lnTo>
                  <a:close/>
                </a:path>
              </a:pathLst>
            </a:custGeom>
            <a:solidFill>
              <a:srgbClr val="E9ED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50" name="Google Shape;250;p12"/>
            <p:cNvSpPr/>
            <p:nvPr/>
          </p:nvSpPr>
          <p:spPr>
            <a:xfrm>
              <a:off x="6693049" y="4526574"/>
              <a:ext cx="1362710" cy="535305"/>
            </a:xfrm>
            <a:custGeom>
              <a:rect b="b" l="l" r="r" t="t"/>
              <a:pathLst>
                <a:path extrusionOk="0" h="535304" w="1362709">
                  <a:moveTo>
                    <a:pt x="0" y="0"/>
                  </a:moveTo>
                  <a:lnTo>
                    <a:pt x="1094999" y="0"/>
                  </a:lnTo>
                  <a:lnTo>
                    <a:pt x="1362599" y="267599"/>
                  </a:lnTo>
                  <a:lnTo>
                    <a:pt x="1094999" y="535199"/>
                  </a:lnTo>
                  <a:lnTo>
                    <a:pt x="0" y="535199"/>
                  </a:lnTo>
                  <a:lnTo>
                    <a:pt x="267599" y="267599"/>
                  </a:lnTo>
                  <a:lnTo>
                    <a:pt x="0" y="0"/>
                  </a:lnTo>
                  <a:close/>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251" name="Google Shape;251;p12"/>
          <p:cNvSpPr txBox="1"/>
          <p:nvPr/>
        </p:nvSpPr>
        <p:spPr>
          <a:xfrm>
            <a:off x="7033675" y="4669588"/>
            <a:ext cx="509905" cy="2387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400">
                <a:latin typeface="Arial"/>
                <a:ea typeface="Arial"/>
                <a:cs typeface="Arial"/>
                <a:sym typeface="Arial"/>
              </a:rPr>
              <a:t>Linker</a:t>
            </a:r>
            <a:endParaRPr sz="1400">
              <a:latin typeface="Arial"/>
              <a:ea typeface="Arial"/>
              <a:cs typeface="Arial"/>
              <a:sym typeface="Arial"/>
            </a:endParaRPr>
          </a:p>
        </p:txBody>
      </p:sp>
      <p:grpSp>
        <p:nvGrpSpPr>
          <p:cNvPr id="252" name="Google Shape;252;p12"/>
          <p:cNvGrpSpPr/>
          <p:nvPr/>
        </p:nvGrpSpPr>
        <p:grpSpPr>
          <a:xfrm>
            <a:off x="729450" y="4526574"/>
            <a:ext cx="935355" cy="535305"/>
            <a:chOff x="729450" y="4526574"/>
            <a:chExt cx="935355" cy="535305"/>
          </a:xfrm>
        </p:grpSpPr>
        <p:sp>
          <p:nvSpPr>
            <p:cNvPr id="253" name="Google Shape;253;p12"/>
            <p:cNvSpPr/>
            <p:nvPr/>
          </p:nvSpPr>
          <p:spPr>
            <a:xfrm>
              <a:off x="729450" y="4526574"/>
              <a:ext cx="935355" cy="535305"/>
            </a:xfrm>
            <a:custGeom>
              <a:rect b="b" l="l" r="r" t="t"/>
              <a:pathLst>
                <a:path extrusionOk="0" h="535304" w="935355">
                  <a:moveTo>
                    <a:pt x="667499" y="535199"/>
                  </a:moveTo>
                  <a:lnTo>
                    <a:pt x="0" y="535199"/>
                  </a:lnTo>
                  <a:lnTo>
                    <a:pt x="0" y="0"/>
                  </a:lnTo>
                  <a:lnTo>
                    <a:pt x="667499" y="0"/>
                  </a:lnTo>
                  <a:lnTo>
                    <a:pt x="935099" y="267599"/>
                  </a:lnTo>
                  <a:lnTo>
                    <a:pt x="667499" y="535199"/>
                  </a:lnTo>
                  <a:close/>
                </a:path>
              </a:pathLst>
            </a:custGeom>
            <a:solidFill>
              <a:srgbClr val="F4CCCC"/>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54" name="Google Shape;254;p12"/>
            <p:cNvSpPr/>
            <p:nvPr/>
          </p:nvSpPr>
          <p:spPr>
            <a:xfrm>
              <a:off x="729450" y="4526574"/>
              <a:ext cx="935355" cy="535305"/>
            </a:xfrm>
            <a:custGeom>
              <a:rect b="b" l="l" r="r" t="t"/>
              <a:pathLst>
                <a:path extrusionOk="0" h="535304" w="935355">
                  <a:moveTo>
                    <a:pt x="0" y="0"/>
                  </a:moveTo>
                  <a:lnTo>
                    <a:pt x="667499" y="0"/>
                  </a:lnTo>
                  <a:lnTo>
                    <a:pt x="935099" y="267599"/>
                  </a:lnTo>
                  <a:lnTo>
                    <a:pt x="667499" y="535199"/>
                  </a:lnTo>
                  <a:lnTo>
                    <a:pt x="0" y="535199"/>
                  </a:lnTo>
                  <a:lnTo>
                    <a:pt x="0" y="0"/>
                  </a:lnTo>
                  <a:close/>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255" name="Google Shape;255;p12"/>
          <p:cNvSpPr txBox="1"/>
          <p:nvPr/>
        </p:nvSpPr>
        <p:spPr>
          <a:xfrm>
            <a:off x="802475" y="4674858"/>
            <a:ext cx="548640" cy="2235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300">
                <a:latin typeface="Arial"/>
                <a:ea typeface="Arial"/>
                <a:cs typeface="Arial"/>
                <a:sym typeface="Arial"/>
              </a:rPr>
              <a:t>Source</a:t>
            </a:r>
            <a:endParaRPr sz="1300">
              <a:latin typeface="Arial"/>
              <a:ea typeface="Arial"/>
              <a:cs typeface="Arial"/>
              <a:sym typeface="Arial"/>
            </a:endParaRPr>
          </a:p>
        </p:txBody>
      </p:sp>
      <p:grpSp>
        <p:nvGrpSpPr>
          <p:cNvPr id="256" name="Google Shape;256;p12"/>
          <p:cNvGrpSpPr/>
          <p:nvPr/>
        </p:nvGrpSpPr>
        <p:grpSpPr>
          <a:xfrm>
            <a:off x="8216249" y="4408725"/>
            <a:ext cx="734695" cy="653415"/>
            <a:chOff x="8216249" y="4408725"/>
            <a:chExt cx="734695" cy="653415"/>
          </a:xfrm>
        </p:grpSpPr>
        <p:sp>
          <p:nvSpPr>
            <p:cNvPr id="257" name="Google Shape;257;p12"/>
            <p:cNvSpPr/>
            <p:nvPr/>
          </p:nvSpPr>
          <p:spPr>
            <a:xfrm>
              <a:off x="8216249" y="4490362"/>
              <a:ext cx="734695" cy="571500"/>
            </a:xfrm>
            <a:custGeom>
              <a:rect b="b" l="l" r="r" t="t"/>
              <a:pathLst>
                <a:path extrusionOk="0" h="571500" w="734695">
                  <a:moveTo>
                    <a:pt x="367349" y="571462"/>
                  </a:moveTo>
                  <a:lnTo>
                    <a:pt x="293316" y="569803"/>
                  </a:lnTo>
                  <a:lnTo>
                    <a:pt x="224360" y="565046"/>
                  </a:lnTo>
                  <a:lnTo>
                    <a:pt x="161961" y="557520"/>
                  </a:lnTo>
                  <a:lnTo>
                    <a:pt x="107594" y="547551"/>
                  </a:lnTo>
                  <a:lnTo>
                    <a:pt x="62737" y="535469"/>
                  </a:lnTo>
                  <a:lnTo>
                    <a:pt x="7463" y="506277"/>
                  </a:lnTo>
                  <a:lnTo>
                    <a:pt x="0" y="489824"/>
                  </a:lnTo>
                  <a:lnTo>
                    <a:pt x="0" y="0"/>
                  </a:lnTo>
                  <a:lnTo>
                    <a:pt x="7463" y="16452"/>
                  </a:lnTo>
                  <a:lnTo>
                    <a:pt x="28868" y="31776"/>
                  </a:lnTo>
                  <a:lnTo>
                    <a:pt x="107594" y="57726"/>
                  </a:lnTo>
                  <a:lnTo>
                    <a:pt x="161961" y="67695"/>
                  </a:lnTo>
                  <a:lnTo>
                    <a:pt x="224360" y="75221"/>
                  </a:lnTo>
                  <a:lnTo>
                    <a:pt x="293316" y="79978"/>
                  </a:lnTo>
                  <a:lnTo>
                    <a:pt x="367349" y="81637"/>
                  </a:lnTo>
                  <a:lnTo>
                    <a:pt x="441383" y="79978"/>
                  </a:lnTo>
                  <a:lnTo>
                    <a:pt x="510339" y="75221"/>
                  </a:lnTo>
                  <a:lnTo>
                    <a:pt x="572738" y="67695"/>
                  </a:lnTo>
                  <a:lnTo>
                    <a:pt x="627105" y="57726"/>
                  </a:lnTo>
                  <a:lnTo>
                    <a:pt x="671962" y="45644"/>
                  </a:lnTo>
                  <a:lnTo>
                    <a:pt x="727236" y="16452"/>
                  </a:lnTo>
                  <a:lnTo>
                    <a:pt x="734699" y="0"/>
                  </a:lnTo>
                  <a:lnTo>
                    <a:pt x="734699" y="489824"/>
                  </a:lnTo>
                  <a:lnTo>
                    <a:pt x="705831" y="521601"/>
                  </a:lnTo>
                  <a:lnTo>
                    <a:pt x="627105" y="547551"/>
                  </a:lnTo>
                  <a:lnTo>
                    <a:pt x="572738" y="557520"/>
                  </a:lnTo>
                  <a:lnTo>
                    <a:pt x="510339" y="565046"/>
                  </a:lnTo>
                  <a:lnTo>
                    <a:pt x="441383" y="569803"/>
                  </a:lnTo>
                  <a:lnTo>
                    <a:pt x="367349" y="571462"/>
                  </a:lnTo>
                  <a:close/>
                </a:path>
              </a:pathLst>
            </a:custGeom>
            <a:solidFill>
              <a:srgbClr val="E9ED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58" name="Google Shape;258;p12"/>
            <p:cNvSpPr/>
            <p:nvPr/>
          </p:nvSpPr>
          <p:spPr>
            <a:xfrm>
              <a:off x="8216249" y="4408725"/>
              <a:ext cx="734695" cy="163830"/>
            </a:xfrm>
            <a:custGeom>
              <a:rect b="b" l="l" r="r" t="t"/>
              <a:pathLst>
                <a:path extrusionOk="0" h="163829" w="734695">
                  <a:moveTo>
                    <a:pt x="367349" y="163274"/>
                  </a:moveTo>
                  <a:lnTo>
                    <a:pt x="293316" y="161616"/>
                  </a:lnTo>
                  <a:lnTo>
                    <a:pt x="224360" y="156859"/>
                  </a:lnTo>
                  <a:lnTo>
                    <a:pt x="161961" y="149332"/>
                  </a:lnTo>
                  <a:lnTo>
                    <a:pt x="107594" y="139363"/>
                  </a:lnTo>
                  <a:lnTo>
                    <a:pt x="62737" y="127281"/>
                  </a:lnTo>
                  <a:lnTo>
                    <a:pt x="7463" y="98090"/>
                  </a:lnTo>
                  <a:lnTo>
                    <a:pt x="0" y="81637"/>
                  </a:lnTo>
                  <a:lnTo>
                    <a:pt x="7463" y="65184"/>
                  </a:lnTo>
                  <a:lnTo>
                    <a:pt x="62737" y="35993"/>
                  </a:lnTo>
                  <a:lnTo>
                    <a:pt x="107594" y="23911"/>
                  </a:lnTo>
                  <a:lnTo>
                    <a:pt x="161961" y="13942"/>
                  </a:lnTo>
                  <a:lnTo>
                    <a:pt x="224360" y="6415"/>
                  </a:lnTo>
                  <a:lnTo>
                    <a:pt x="293316" y="1658"/>
                  </a:lnTo>
                  <a:lnTo>
                    <a:pt x="367349" y="0"/>
                  </a:lnTo>
                  <a:lnTo>
                    <a:pt x="441383" y="1658"/>
                  </a:lnTo>
                  <a:lnTo>
                    <a:pt x="510339" y="6415"/>
                  </a:lnTo>
                  <a:lnTo>
                    <a:pt x="572738" y="13942"/>
                  </a:lnTo>
                  <a:lnTo>
                    <a:pt x="627105" y="23911"/>
                  </a:lnTo>
                  <a:lnTo>
                    <a:pt x="671962" y="35993"/>
                  </a:lnTo>
                  <a:lnTo>
                    <a:pt x="727236" y="65184"/>
                  </a:lnTo>
                  <a:lnTo>
                    <a:pt x="734699" y="81637"/>
                  </a:lnTo>
                  <a:lnTo>
                    <a:pt x="727236" y="98090"/>
                  </a:lnTo>
                  <a:lnTo>
                    <a:pt x="671962" y="127281"/>
                  </a:lnTo>
                  <a:lnTo>
                    <a:pt x="627105" y="139363"/>
                  </a:lnTo>
                  <a:lnTo>
                    <a:pt x="572738" y="149332"/>
                  </a:lnTo>
                  <a:lnTo>
                    <a:pt x="510339" y="156859"/>
                  </a:lnTo>
                  <a:lnTo>
                    <a:pt x="441383" y="161616"/>
                  </a:lnTo>
                  <a:lnTo>
                    <a:pt x="367349" y="163274"/>
                  </a:lnTo>
                  <a:close/>
                </a:path>
              </a:pathLst>
            </a:custGeom>
            <a:solidFill>
              <a:srgbClr val="F1F4F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59" name="Google Shape;259;p12"/>
            <p:cNvSpPr/>
            <p:nvPr/>
          </p:nvSpPr>
          <p:spPr>
            <a:xfrm>
              <a:off x="8216249" y="4408725"/>
              <a:ext cx="734695" cy="653415"/>
            </a:xfrm>
            <a:custGeom>
              <a:rect b="b" l="l" r="r" t="t"/>
              <a:pathLst>
                <a:path extrusionOk="0" h="653414" w="734695">
                  <a:moveTo>
                    <a:pt x="734699" y="81637"/>
                  </a:moveTo>
                  <a:lnTo>
                    <a:pt x="727236" y="98090"/>
                  </a:lnTo>
                  <a:lnTo>
                    <a:pt x="705831" y="113414"/>
                  </a:lnTo>
                  <a:lnTo>
                    <a:pt x="627105" y="139363"/>
                  </a:lnTo>
                  <a:lnTo>
                    <a:pt x="572738" y="149332"/>
                  </a:lnTo>
                  <a:lnTo>
                    <a:pt x="510339" y="156859"/>
                  </a:lnTo>
                  <a:lnTo>
                    <a:pt x="441383" y="161616"/>
                  </a:lnTo>
                  <a:lnTo>
                    <a:pt x="367349" y="163274"/>
                  </a:lnTo>
                  <a:lnTo>
                    <a:pt x="293316" y="161616"/>
                  </a:lnTo>
                  <a:lnTo>
                    <a:pt x="224360" y="156859"/>
                  </a:lnTo>
                  <a:lnTo>
                    <a:pt x="161961" y="149332"/>
                  </a:lnTo>
                  <a:lnTo>
                    <a:pt x="107594" y="139363"/>
                  </a:lnTo>
                  <a:lnTo>
                    <a:pt x="62737" y="127281"/>
                  </a:lnTo>
                  <a:lnTo>
                    <a:pt x="7463" y="98090"/>
                  </a:lnTo>
                  <a:lnTo>
                    <a:pt x="0" y="81637"/>
                  </a:lnTo>
                  <a:lnTo>
                    <a:pt x="28868" y="49860"/>
                  </a:lnTo>
                  <a:lnTo>
                    <a:pt x="107594" y="23911"/>
                  </a:lnTo>
                  <a:lnTo>
                    <a:pt x="161961" y="13942"/>
                  </a:lnTo>
                  <a:lnTo>
                    <a:pt x="224360" y="6415"/>
                  </a:lnTo>
                  <a:lnTo>
                    <a:pt x="293316" y="1658"/>
                  </a:lnTo>
                  <a:lnTo>
                    <a:pt x="367349" y="0"/>
                  </a:lnTo>
                  <a:lnTo>
                    <a:pt x="441383" y="1658"/>
                  </a:lnTo>
                  <a:lnTo>
                    <a:pt x="510339" y="6415"/>
                  </a:lnTo>
                  <a:lnTo>
                    <a:pt x="572738" y="13942"/>
                  </a:lnTo>
                  <a:lnTo>
                    <a:pt x="627105" y="23911"/>
                  </a:lnTo>
                  <a:lnTo>
                    <a:pt x="671962" y="35993"/>
                  </a:lnTo>
                  <a:lnTo>
                    <a:pt x="727236" y="65184"/>
                  </a:lnTo>
                  <a:lnTo>
                    <a:pt x="734699" y="81637"/>
                  </a:lnTo>
                  <a:lnTo>
                    <a:pt x="734699" y="571462"/>
                  </a:lnTo>
                  <a:lnTo>
                    <a:pt x="705831" y="603239"/>
                  </a:lnTo>
                  <a:lnTo>
                    <a:pt x="627105" y="629188"/>
                  </a:lnTo>
                  <a:lnTo>
                    <a:pt x="572738" y="639157"/>
                  </a:lnTo>
                  <a:lnTo>
                    <a:pt x="510339" y="646684"/>
                  </a:lnTo>
                  <a:lnTo>
                    <a:pt x="441383" y="651441"/>
                  </a:lnTo>
                  <a:lnTo>
                    <a:pt x="367349" y="653099"/>
                  </a:lnTo>
                  <a:lnTo>
                    <a:pt x="293316" y="651441"/>
                  </a:lnTo>
                  <a:lnTo>
                    <a:pt x="224360" y="646684"/>
                  </a:lnTo>
                  <a:lnTo>
                    <a:pt x="161961" y="639157"/>
                  </a:lnTo>
                  <a:lnTo>
                    <a:pt x="107594" y="629188"/>
                  </a:lnTo>
                  <a:lnTo>
                    <a:pt x="62737" y="617106"/>
                  </a:lnTo>
                  <a:lnTo>
                    <a:pt x="7463" y="587915"/>
                  </a:lnTo>
                  <a:lnTo>
                    <a:pt x="0" y="571462"/>
                  </a:lnTo>
                  <a:lnTo>
                    <a:pt x="0" y="81637"/>
                  </a:lnTo>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pic>
        <p:nvPicPr>
          <p:cNvPr id="260" name="Google Shape;260;p12"/>
          <p:cNvPicPr preferRelativeResize="0"/>
          <p:nvPr/>
        </p:nvPicPr>
        <p:blipFill rotWithShape="1">
          <a:blip r:embed="rId3">
            <a:alphaModFix/>
          </a:blip>
          <a:srcRect b="0" l="0" r="0" t="0"/>
          <a:stretch/>
        </p:blipFill>
        <p:spPr>
          <a:xfrm>
            <a:off x="1254812" y="523747"/>
            <a:ext cx="6449812" cy="379724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3"/>
          <p:cNvSpPr txBox="1"/>
          <p:nvPr>
            <p:ph type="title"/>
          </p:nvPr>
        </p:nvSpPr>
        <p:spPr>
          <a:xfrm>
            <a:off x="73025" y="12837"/>
            <a:ext cx="7791285" cy="476369"/>
          </a:xfrm>
          <a:prstGeom prst="rect">
            <a:avLst/>
          </a:prstGeom>
          <a:noFill/>
          <a:ln>
            <a:noFill/>
          </a:ln>
        </p:spPr>
        <p:txBody>
          <a:bodyPr anchorCtr="0" anchor="t" bIns="0" lIns="0" spcFirstLastPara="1" rIns="0" wrap="square" tIns="66075">
            <a:spAutoFit/>
          </a:bodyPr>
          <a:lstStyle/>
          <a:p>
            <a:pPr indent="0" lvl="0" marL="739775" rtl="0" algn="l">
              <a:lnSpc>
                <a:spcPct val="100000"/>
              </a:lnSpc>
              <a:spcBef>
                <a:spcPts val="0"/>
              </a:spcBef>
              <a:spcAft>
                <a:spcPts val="0"/>
              </a:spcAft>
              <a:buNone/>
            </a:pPr>
            <a:r>
              <a:rPr lang="en-US"/>
              <a:t>El Programa: Compilación</a:t>
            </a:r>
            <a:endParaRPr/>
          </a:p>
        </p:txBody>
      </p:sp>
      <p:sp>
        <p:nvSpPr>
          <p:cNvPr id="266" name="Google Shape;266;p13"/>
          <p:cNvSpPr txBox="1"/>
          <p:nvPr/>
        </p:nvSpPr>
        <p:spPr>
          <a:xfrm>
            <a:off x="802475" y="599043"/>
            <a:ext cx="7535545" cy="249364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b="1" lang="en-US" sz="1800">
                <a:solidFill>
                  <a:srgbClr val="595959"/>
                </a:solidFill>
                <a:latin typeface="Tahoma"/>
                <a:ea typeface="Tahoma"/>
                <a:cs typeface="Tahoma"/>
                <a:sym typeface="Tahoma"/>
              </a:rPr>
              <a:t>$ gcc ejemplo.c</a:t>
            </a:r>
            <a:endParaRPr sz="1800">
              <a:latin typeface="Tahoma"/>
              <a:ea typeface="Tahoma"/>
              <a:cs typeface="Tahoma"/>
              <a:sym typeface="Tahoma"/>
            </a:endParaRPr>
          </a:p>
          <a:p>
            <a:pPr indent="0" lvl="0" marL="12700" rtl="0" algn="l">
              <a:lnSpc>
                <a:spcPct val="100000"/>
              </a:lnSpc>
              <a:spcBef>
                <a:spcPts val="1320"/>
              </a:spcBef>
              <a:spcAft>
                <a:spcPts val="0"/>
              </a:spcAft>
              <a:buNone/>
            </a:pPr>
            <a:r>
              <a:rPr b="1" lang="en-US" sz="1800">
                <a:solidFill>
                  <a:srgbClr val="595959"/>
                </a:solidFill>
                <a:latin typeface="Tahoma"/>
                <a:ea typeface="Tahoma"/>
                <a:cs typeface="Tahoma"/>
                <a:sym typeface="Tahoma"/>
              </a:rPr>
              <a:t>$ file a.out</a:t>
            </a:r>
            <a:endParaRPr sz="1800">
              <a:latin typeface="Tahoma"/>
              <a:ea typeface="Tahoma"/>
              <a:cs typeface="Tahoma"/>
              <a:sym typeface="Tahoma"/>
            </a:endParaRPr>
          </a:p>
          <a:p>
            <a:pPr indent="0" lvl="0" marL="12700" rtl="0" algn="l">
              <a:lnSpc>
                <a:spcPct val="100000"/>
              </a:lnSpc>
              <a:spcBef>
                <a:spcPts val="1315"/>
              </a:spcBef>
              <a:spcAft>
                <a:spcPts val="0"/>
              </a:spcAft>
              <a:buNone/>
            </a:pPr>
            <a:r>
              <a:rPr lang="en-US" sz="1800">
                <a:solidFill>
                  <a:srgbClr val="595959"/>
                </a:solidFill>
                <a:latin typeface="Tahoma"/>
                <a:ea typeface="Tahoma"/>
                <a:cs typeface="Tahoma"/>
                <a:sym typeface="Tahoma"/>
              </a:rPr>
              <a:t>Salida:</a:t>
            </a:r>
            <a:endParaRPr sz="1800">
              <a:latin typeface="Tahoma"/>
              <a:ea typeface="Tahoma"/>
              <a:cs typeface="Tahoma"/>
              <a:sym typeface="Tahoma"/>
            </a:endParaRPr>
          </a:p>
          <a:p>
            <a:pPr indent="0" lvl="0" marL="12700" marR="5080" rtl="0" algn="l">
              <a:lnSpc>
                <a:spcPct val="105400"/>
              </a:lnSpc>
              <a:spcBef>
                <a:spcPts val="1200"/>
              </a:spcBef>
              <a:spcAft>
                <a:spcPts val="0"/>
              </a:spcAft>
              <a:buNone/>
            </a:pPr>
            <a:r>
              <a:rPr b="1" lang="en-US" sz="1800">
                <a:solidFill>
                  <a:srgbClr val="595959"/>
                </a:solidFill>
                <a:latin typeface="Tahoma"/>
                <a:ea typeface="Tahoma"/>
                <a:cs typeface="Tahoma"/>
                <a:sym typeface="Tahoma"/>
              </a:rPr>
              <a:t>a.out: ELF 64-bit LSB executable, x86-64, version 1 (SYSV), dynamically linked, interpreter /lib64/ld-linux-x86-64.so.2, for GNU/Linux 2.6.32,BuildID[sha1]=d0e23ea731bce9de65619cadd58b14ecd8c015c7,n ot stripped</a:t>
            </a:r>
            <a:endParaRPr sz="1800">
              <a:latin typeface="Tahoma"/>
              <a:ea typeface="Tahoma"/>
              <a:cs typeface="Tahoma"/>
              <a:sym typeface="Tahoma"/>
            </a:endParaRPr>
          </a:p>
        </p:txBody>
      </p:sp>
      <p:grpSp>
        <p:nvGrpSpPr>
          <p:cNvPr id="267" name="Google Shape;267;p13"/>
          <p:cNvGrpSpPr/>
          <p:nvPr/>
        </p:nvGrpSpPr>
        <p:grpSpPr>
          <a:xfrm>
            <a:off x="3540237" y="4526574"/>
            <a:ext cx="1443355" cy="535305"/>
            <a:chOff x="3540237" y="4526574"/>
            <a:chExt cx="1443355" cy="535305"/>
          </a:xfrm>
        </p:grpSpPr>
        <p:sp>
          <p:nvSpPr>
            <p:cNvPr id="268" name="Google Shape;268;p13"/>
            <p:cNvSpPr/>
            <p:nvPr/>
          </p:nvSpPr>
          <p:spPr>
            <a:xfrm>
              <a:off x="3540237" y="4526574"/>
              <a:ext cx="1443355" cy="535305"/>
            </a:xfrm>
            <a:custGeom>
              <a:rect b="b" l="l" r="r" t="t"/>
              <a:pathLst>
                <a:path extrusionOk="0" h="535304" w="1443354">
                  <a:moveTo>
                    <a:pt x="1175399" y="535199"/>
                  </a:moveTo>
                  <a:lnTo>
                    <a:pt x="0" y="535199"/>
                  </a:lnTo>
                  <a:lnTo>
                    <a:pt x="267599" y="267599"/>
                  </a:lnTo>
                  <a:lnTo>
                    <a:pt x="0" y="0"/>
                  </a:lnTo>
                  <a:lnTo>
                    <a:pt x="1175399" y="0"/>
                  </a:lnTo>
                  <a:lnTo>
                    <a:pt x="1442999" y="267599"/>
                  </a:lnTo>
                  <a:lnTo>
                    <a:pt x="1175399" y="535199"/>
                  </a:lnTo>
                  <a:close/>
                </a:path>
              </a:pathLst>
            </a:custGeom>
            <a:solidFill>
              <a:srgbClr val="E9ED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69" name="Google Shape;269;p13"/>
            <p:cNvSpPr/>
            <p:nvPr/>
          </p:nvSpPr>
          <p:spPr>
            <a:xfrm>
              <a:off x="3540237" y="4526574"/>
              <a:ext cx="1443355" cy="535305"/>
            </a:xfrm>
            <a:custGeom>
              <a:rect b="b" l="l" r="r" t="t"/>
              <a:pathLst>
                <a:path extrusionOk="0" h="535304" w="1443354">
                  <a:moveTo>
                    <a:pt x="0" y="0"/>
                  </a:moveTo>
                  <a:lnTo>
                    <a:pt x="1175399" y="0"/>
                  </a:lnTo>
                  <a:lnTo>
                    <a:pt x="1442999" y="267599"/>
                  </a:lnTo>
                  <a:lnTo>
                    <a:pt x="1175399" y="535199"/>
                  </a:lnTo>
                  <a:lnTo>
                    <a:pt x="0" y="535199"/>
                  </a:lnTo>
                  <a:lnTo>
                    <a:pt x="267599" y="267599"/>
                  </a:lnTo>
                  <a:lnTo>
                    <a:pt x="0" y="0"/>
                  </a:lnTo>
                  <a:close/>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270" name="Google Shape;270;p13"/>
          <p:cNvSpPr txBox="1"/>
          <p:nvPr/>
        </p:nvSpPr>
        <p:spPr>
          <a:xfrm>
            <a:off x="3880862" y="4690162"/>
            <a:ext cx="584835" cy="193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100">
                <a:latin typeface="Arial"/>
                <a:ea typeface="Arial"/>
                <a:cs typeface="Arial"/>
                <a:sym typeface="Arial"/>
              </a:rPr>
              <a:t>Compiler</a:t>
            </a:r>
            <a:endParaRPr sz="1100">
              <a:latin typeface="Arial"/>
              <a:ea typeface="Arial"/>
              <a:cs typeface="Arial"/>
              <a:sym typeface="Arial"/>
            </a:endParaRPr>
          </a:p>
        </p:txBody>
      </p:sp>
      <p:grpSp>
        <p:nvGrpSpPr>
          <p:cNvPr id="271" name="Google Shape;271;p13"/>
          <p:cNvGrpSpPr/>
          <p:nvPr/>
        </p:nvGrpSpPr>
        <p:grpSpPr>
          <a:xfrm>
            <a:off x="4983250" y="4526574"/>
            <a:ext cx="1710055" cy="535305"/>
            <a:chOff x="4983250" y="4526574"/>
            <a:chExt cx="1710055" cy="535305"/>
          </a:xfrm>
        </p:grpSpPr>
        <p:sp>
          <p:nvSpPr>
            <p:cNvPr id="272" name="Google Shape;272;p13"/>
            <p:cNvSpPr/>
            <p:nvPr/>
          </p:nvSpPr>
          <p:spPr>
            <a:xfrm>
              <a:off x="4983250" y="4526574"/>
              <a:ext cx="1710055" cy="535305"/>
            </a:xfrm>
            <a:custGeom>
              <a:rect b="b" l="l" r="r" t="t"/>
              <a:pathLst>
                <a:path extrusionOk="0" h="535304" w="1710054">
                  <a:moveTo>
                    <a:pt x="1442099" y="535199"/>
                  </a:moveTo>
                  <a:lnTo>
                    <a:pt x="0" y="535199"/>
                  </a:lnTo>
                  <a:lnTo>
                    <a:pt x="267599" y="267599"/>
                  </a:lnTo>
                  <a:lnTo>
                    <a:pt x="0" y="0"/>
                  </a:lnTo>
                  <a:lnTo>
                    <a:pt x="1442099" y="0"/>
                  </a:lnTo>
                  <a:lnTo>
                    <a:pt x="1709699" y="267599"/>
                  </a:lnTo>
                  <a:lnTo>
                    <a:pt x="1442099" y="535199"/>
                  </a:lnTo>
                  <a:close/>
                </a:path>
              </a:pathLst>
            </a:custGeom>
            <a:solidFill>
              <a:srgbClr val="E9ED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73" name="Google Shape;273;p13"/>
            <p:cNvSpPr/>
            <p:nvPr/>
          </p:nvSpPr>
          <p:spPr>
            <a:xfrm>
              <a:off x="4983250" y="4526574"/>
              <a:ext cx="1710055" cy="535305"/>
            </a:xfrm>
            <a:custGeom>
              <a:rect b="b" l="l" r="r" t="t"/>
              <a:pathLst>
                <a:path extrusionOk="0" h="535304" w="1710054">
                  <a:moveTo>
                    <a:pt x="0" y="0"/>
                  </a:moveTo>
                  <a:lnTo>
                    <a:pt x="1442099" y="0"/>
                  </a:lnTo>
                  <a:lnTo>
                    <a:pt x="1709699" y="267599"/>
                  </a:lnTo>
                  <a:lnTo>
                    <a:pt x="1442099" y="535199"/>
                  </a:lnTo>
                  <a:lnTo>
                    <a:pt x="0" y="535199"/>
                  </a:lnTo>
                  <a:lnTo>
                    <a:pt x="267599" y="267599"/>
                  </a:lnTo>
                  <a:lnTo>
                    <a:pt x="0" y="0"/>
                  </a:lnTo>
                  <a:close/>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274" name="Google Shape;274;p13"/>
          <p:cNvSpPr txBox="1"/>
          <p:nvPr/>
        </p:nvSpPr>
        <p:spPr>
          <a:xfrm>
            <a:off x="5323874" y="4669588"/>
            <a:ext cx="865505" cy="2387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400">
                <a:latin typeface="Arial"/>
                <a:ea typeface="Arial"/>
                <a:cs typeface="Arial"/>
                <a:sym typeface="Arial"/>
              </a:rPr>
              <a:t>Assembler</a:t>
            </a:r>
            <a:endParaRPr sz="1400">
              <a:latin typeface="Arial"/>
              <a:ea typeface="Arial"/>
              <a:cs typeface="Arial"/>
              <a:sym typeface="Arial"/>
            </a:endParaRPr>
          </a:p>
        </p:txBody>
      </p:sp>
      <p:grpSp>
        <p:nvGrpSpPr>
          <p:cNvPr id="275" name="Google Shape;275;p13"/>
          <p:cNvGrpSpPr/>
          <p:nvPr/>
        </p:nvGrpSpPr>
        <p:grpSpPr>
          <a:xfrm>
            <a:off x="1669737" y="4526574"/>
            <a:ext cx="1870710" cy="535305"/>
            <a:chOff x="1669737" y="4526574"/>
            <a:chExt cx="1870710" cy="535305"/>
          </a:xfrm>
        </p:grpSpPr>
        <p:sp>
          <p:nvSpPr>
            <p:cNvPr id="276" name="Google Shape;276;p13"/>
            <p:cNvSpPr/>
            <p:nvPr/>
          </p:nvSpPr>
          <p:spPr>
            <a:xfrm>
              <a:off x="1669737" y="4526574"/>
              <a:ext cx="1870710" cy="535305"/>
            </a:xfrm>
            <a:custGeom>
              <a:rect b="b" l="l" r="r" t="t"/>
              <a:pathLst>
                <a:path extrusionOk="0" h="535304" w="1870710">
                  <a:moveTo>
                    <a:pt x="1602899" y="535199"/>
                  </a:moveTo>
                  <a:lnTo>
                    <a:pt x="0" y="535199"/>
                  </a:lnTo>
                  <a:lnTo>
                    <a:pt x="267599" y="267599"/>
                  </a:lnTo>
                  <a:lnTo>
                    <a:pt x="0" y="0"/>
                  </a:lnTo>
                  <a:lnTo>
                    <a:pt x="1602899" y="0"/>
                  </a:lnTo>
                  <a:lnTo>
                    <a:pt x="1870499" y="267599"/>
                  </a:lnTo>
                  <a:lnTo>
                    <a:pt x="1602899" y="535199"/>
                  </a:lnTo>
                  <a:close/>
                </a:path>
              </a:pathLst>
            </a:custGeom>
            <a:solidFill>
              <a:srgbClr val="E9ED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77" name="Google Shape;277;p13"/>
            <p:cNvSpPr/>
            <p:nvPr/>
          </p:nvSpPr>
          <p:spPr>
            <a:xfrm>
              <a:off x="1669737" y="4526574"/>
              <a:ext cx="1870710" cy="535305"/>
            </a:xfrm>
            <a:custGeom>
              <a:rect b="b" l="l" r="r" t="t"/>
              <a:pathLst>
                <a:path extrusionOk="0" h="535304" w="1870710">
                  <a:moveTo>
                    <a:pt x="0" y="0"/>
                  </a:moveTo>
                  <a:lnTo>
                    <a:pt x="1602899" y="0"/>
                  </a:lnTo>
                  <a:lnTo>
                    <a:pt x="1870499" y="267599"/>
                  </a:lnTo>
                  <a:lnTo>
                    <a:pt x="1602899" y="535199"/>
                  </a:lnTo>
                  <a:lnTo>
                    <a:pt x="0" y="535199"/>
                  </a:lnTo>
                  <a:lnTo>
                    <a:pt x="267599" y="267599"/>
                  </a:lnTo>
                  <a:lnTo>
                    <a:pt x="0" y="0"/>
                  </a:lnTo>
                  <a:close/>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278" name="Google Shape;278;p13"/>
          <p:cNvSpPr txBox="1"/>
          <p:nvPr/>
        </p:nvSpPr>
        <p:spPr>
          <a:xfrm>
            <a:off x="2010362" y="4684891"/>
            <a:ext cx="932180"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200">
                <a:latin typeface="Arial"/>
                <a:ea typeface="Arial"/>
                <a:cs typeface="Arial"/>
                <a:sym typeface="Arial"/>
              </a:rPr>
              <a:t>Preprocessor</a:t>
            </a:r>
            <a:endParaRPr sz="1200">
              <a:latin typeface="Arial"/>
              <a:ea typeface="Arial"/>
              <a:cs typeface="Arial"/>
              <a:sym typeface="Arial"/>
            </a:endParaRPr>
          </a:p>
        </p:txBody>
      </p:sp>
      <p:grpSp>
        <p:nvGrpSpPr>
          <p:cNvPr id="279" name="Google Shape;279;p13"/>
          <p:cNvGrpSpPr/>
          <p:nvPr/>
        </p:nvGrpSpPr>
        <p:grpSpPr>
          <a:xfrm>
            <a:off x="6693049" y="4526574"/>
            <a:ext cx="1362710" cy="535305"/>
            <a:chOff x="6693049" y="4526574"/>
            <a:chExt cx="1362710" cy="535305"/>
          </a:xfrm>
        </p:grpSpPr>
        <p:sp>
          <p:nvSpPr>
            <p:cNvPr id="280" name="Google Shape;280;p13"/>
            <p:cNvSpPr/>
            <p:nvPr/>
          </p:nvSpPr>
          <p:spPr>
            <a:xfrm>
              <a:off x="6693049" y="4526574"/>
              <a:ext cx="1362710" cy="535305"/>
            </a:xfrm>
            <a:custGeom>
              <a:rect b="b" l="l" r="r" t="t"/>
              <a:pathLst>
                <a:path extrusionOk="0" h="535304" w="1362709">
                  <a:moveTo>
                    <a:pt x="1094999" y="535199"/>
                  </a:moveTo>
                  <a:lnTo>
                    <a:pt x="0" y="535199"/>
                  </a:lnTo>
                  <a:lnTo>
                    <a:pt x="267599" y="267599"/>
                  </a:lnTo>
                  <a:lnTo>
                    <a:pt x="0" y="0"/>
                  </a:lnTo>
                  <a:lnTo>
                    <a:pt x="1094999" y="0"/>
                  </a:lnTo>
                  <a:lnTo>
                    <a:pt x="1362599" y="267599"/>
                  </a:lnTo>
                  <a:lnTo>
                    <a:pt x="1094999" y="535199"/>
                  </a:lnTo>
                  <a:close/>
                </a:path>
              </a:pathLst>
            </a:custGeom>
            <a:solidFill>
              <a:srgbClr val="FFB8A2"/>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81" name="Google Shape;281;p13"/>
            <p:cNvSpPr/>
            <p:nvPr/>
          </p:nvSpPr>
          <p:spPr>
            <a:xfrm>
              <a:off x="6693049" y="4526574"/>
              <a:ext cx="1362710" cy="535305"/>
            </a:xfrm>
            <a:custGeom>
              <a:rect b="b" l="l" r="r" t="t"/>
              <a:pathLst>
                <a:path extrusionOk="0" h="535304" w="1362709">
                  <a:moveTo>
                    <a:pt x="0" y="0"/>
                  </a:moveTo>
                  <a:lnTo>
                    <a:pt x="1094999" y="0"/>
                  </a:lnTo>
                  <a:lnTo>
                    <a:pt x="1362599" y="267599"/>
                  </a:lnTo>
                  <a:lnTo>
                    <a:pt x="1094999" y="535199"/>
                  </a:lnTo>
                  <a:lnTo>
                    <a:pt x="0" y="535199"/>
                  </a:lnTo>
                  <a:lnTo>
                    <a:pt x="267599" y="267599"/>
                  </a:lnTo>
                  <a:lnTo>
                    <a:pt x="0" y="0"/>
                  </a:lnTo>
                  <a:close/>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282" name="Google Shape;282;p13"/>
          <p:cNvSpPr txBox="1"/>
          <p:nvPr/>
        </p:nvSpPr>
        <p:spPr>
          <a:xfrm>
            <a:off x="7033675" y="4669588"/>
            <a:ext cx="509905" cy="2387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400">
                <a:latin typeface="Arial"/>
                <a:ea typeface="Arial"/>
                <a:cs typeface="Arial"/>
                <a:sym typeface="Arial"/>
              </a:rPr>
              <a:t>Linker</a:t>
            </a:r>
            <a:endParaRPr sz="1400">
              <a:latin typeface="Arial"/>
              <a:ea typeface="Arial"/>
              <a:cs typeface="Arial"/>
              <a:sym typeface="Arial"/>
            </a:endParaRPr>
          </a:p>
        </p:txBody>
      </p:sp>
      <p:grpSp>
        <p:nvGrpSpPr>
          <p:cNvPr id="283" name="Google Shape;283;p13"/>
          <p:cNvGrpSpPr/>
          <p:nvPr/>
        </p:nvGrpSpPr>
        <p:grpSpPr>
          <a:xfrm>
            <a:off x="729450" y="4526574"/>
            <a:ext cx="935355" cy="535305"/>
            <a:chOff x="729450" y="4526574"/>
            <a:chExt cx="935355" cy="535305"/>
          </a:xfrm>
        </p:grpSpPr>
        <p:sp>
          <p:nvSpPr>
            <p:cNvPr id="284" name="Google Shape;284;p13"/>
            <p:cNvSpPr/>
            <p:nvPr/>
          </p:nvSpPr>
          <p:spPr>
            <a:xfrm>
              <a:off x="729450" y="4526574"/>
              <a:ext cx="935355" cy="535305"/>
            </a:xfrm>
            <a:custGeom>
              <a:rect b="b" l="l" r="r" t="t"/>
              <a:pathLst>
                <a:path extrusionOk="0" h="535304" w="935355">
                  <a:moveTo>
                    <a:pt x="667499" y="535199"/>
                  </a:moveTo>
                  <a:lnTo>
                    <a:pt x="0" y="535199"/>
                  </a:lnTo>
                  <a:lnTo>
                    <a:pt x="0" y="0"/>
                  </a:lnTo>
                  <a:lnTo>
                    <a:pt x="667499" y="0"/>
                  </a:lnTo>
                  <a:lnTo>
                    <a:pt x="935099" y="267599"/>
                  </a:lnTo>
                  <a:lnTo>
                    <a:pt x="667499" y="535199"/>
                  </a:lnTo>
                  <a:close/>
                </a:path>
              </a:pathLst>
            </a:custGeom>
            <a:solidFill>
              <a:srgbClr val="F4CCCC"/>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85" name="Google Shape;285;p13"/>
            <p:cNvSpPr/>
            <p:nvPr/>
          </p:nvSpPr>
          <p:spPr>
            <a:xfrm>
              <a:off x="729450" y="4526574"/>
              <a:ext cx="935355" cy="535305"/>
            </a:xfrm>
            <a:custGeom>
              <a:rect b="b" l="l" r="r" t="t"/>
              <a:pathLst>
                <a:path extrusionOk="0" h="535304" w="935355">
                  <a:moveTo>
                    <a:pt x="0" y="0"/>
                  </a:moveTo>
                  <a:lnTo>
                    <a:pt x="667499" y="0"/>
                  </a:lnTo>
                  <a:lnTo>
                    <a:pt x="935099" y="267599"/>
                  </a:lnTo>
                  <a:lnTo>
                    <a:pt x="667499" y="535199"/>
                  </a:lnTo>
                  <a:lnTo>
                    <a:pt x="0" y="535199"/>
                  </a:lnTo>
                  <a:lnTo>
                    <a:pt x="0" y="0"/>
                  </a:lnTo>
                  <a:close/>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286" name="Google Shape;286;p13"/>
          <p:cNvSpPr txBox="1"/>
          <p:nvPr/>
        </p:nvSpPr>
        <p:spPr>
          <a:xfrm>
            <a:off x="802475" y="4674858"/>
            <a:ext cx="548640" cy="2235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300">
                <a:latin typeface="Arial"/>
                <a:ea typeface="Arial"/>
                <a:cs typeface="Arial"/>
                <a:sym typeface="Arial"/>
              </a:rPr>
              <a:t>Source</a:t>
            </a:r>
            <a:endParaRPr sz="1300">
              <a:latin typeface="Arial"/>
              <a:ea typeface="Arial"/>
              <a:cs typeface="Arial"/>
              <a:sym typeface="Arial"/>
            </a:endParaRPr>
          </a:p>
        </p:txBody>
      </p:sp>
      <p:grpSp>
        <p:nvGrpSpPr>
          <p:cNvPr id="287" name="Google Shape;287;p13"/>
          <p:cNvGrpSpPr/>
          <p:nvPr/>
        </p:nvGrpSpPr>
        <p:grpSpPr>
          <a:xfrm>
            <a:off x="8216249" y="4408725"/>
            <a:ext cx="734695" cy="653415"/>
            <a:chOff x="8216249" y="4408725"/>
            <a:chExt cx="734695" cy="653415"/>
          </a:xfrm>
        </p:grpSpPr>
        <p:sp>
          <p:nvSpPr>
            <p:cNvPr id="288" name="Google Shape;288;p13"/>
            <p:cNvSpPr/>
            <p:nvPr/>
          </p:nvSpPr>
          <p:spPr>
            <a:xfrm>
              <a:off x="8216249" y="4490362"/>
              <a:ext cx="734695" cy="571500"/>
            </a:xfrm>
            <a:custGeom>
              <a:rect b="b" l="l" r="r" t="t"/>
              <a:pathLst>
                <a:path extrusionOk="0" h="571500" w="734695">
                  <a:moveTo>
                    <a:pt x="367349" y="571462"/>
                  </a:moveTo>
                  <a:lnTo>
                    <a:pt x="293316" y="569803"/>
                  </a:lnTo>
                  <a:lnTo>
                    <a:pt x="224360" y="565046"/>
                  </a:lnTo>
                  <a:lnTo>
                    <a:pt x="161961" y="557520"/>
                  </a:lnTo>
                  <a:lnTo>
                    <a:pt x="107594" y="547551"/>
                  </a:lnTo>
                  <a:lnTo>
                    <a:pt x="62737" y="535469"/>
                  </a:lnTo>
                  <a:lnTo>
                    <a:pt x="7463" y="506277"/>
                  </a:lnTo>
                  <a:lnTo>
                    <a:pt x="0" y="489824"/>
                  </a:lnTo>
                  <a:lnTo>
                    <a:pt x="0" y="0"/>
                  </a:lnTo>
                  <a:lnTo>
                    <a:pt x="7463" y="16452"/>
                  </a:lnTo>
                  <a:lnTo>
                    <a:pt x="28868" y="31776"/>
                  </a:lnTo>
                  <a:lnTo>
                    <a:pt x="107594" y="57726"/>
                  </a:lnTo>
                  <a:lnTo>
                    <a:pt x="161961" y="67695"/>
                  </a:lnTo>
                  <a:lnTo>
                    <a:pt x="224360" y="75221"/>
                  </a:lnTo>
                  <a:lnTo>
                    <a:pt x="293316" y="79978"/>
                  </a:lnTo>
                  <a:lnTo>
                    <a:pt x="367349" y="81637"/>
                  </a:lnTo>
                  <a:lnTo>
                    <a:pt x="441383" y="79978"/>
                  </a:lnTo>
                  <a:lnTo>
                    <a:pt x="510339" y="75221"/>
                  </a:lnTo>
                  <a:lnTo>
                    <a:pt x="572738" y="67695"/>
                  </a:lnTo>
                  <a:lnTo>
                    <a:pt x="627105" y="57726"/>
                  </a:lnTo>
                  <a:lnTo>
                    <a:pt x="671962" y="45644"/>
                  </a:lnTo>
                  <a:lnTo>
                    <a:pt x="727236" y="16452"/>
                  </a:lnTo>
                  <a:lnTo>
                    <a:pt x="734699" y="0"/>
                  </a:lnTo>
                  <a:lnTo>
                    <a:pt x="734699" y="489824"/>
                  </a:lnTo>
                  <a:lnTo>
                    <a:pt x="705831" y="521601"/>
                  </a:lnTo>
                  <a:lnTo>
                    <a:pt x="627105" y="547551"/>
                  </a:lnTo>
                  <a:lnTo>
                    <a:pt x="572738" y="557520"/>
                  </a:lnTo>
                  <a:lnTo>
                    <a:pt x="510339" y="565046"/>
                  </a:lnTo>
                  <a:lnTo>
                    <a:pt x="441383" y="569803"/>
                  </a:lnTo>
                  <a:lnTo>
                    <a:pt x="367349" y="571462"/>
                  </a:lnTo>
                  <a:close/>
                </a:path>
              </a:pathLst>
            </a:custGeom>
            <a:solidFill>
              <a:srgbClr val="E9ED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89" name="Google Shape;289;p13"/>
            <p:cNvSpPr/>
            <p:nvPr/>
          </p:nvSpPr>
          <p:spPr>
            <a:xfrm>
              <a:off x="8216249" y="4408725"/>
              <a:ext cx="734695" cy="163830"/>
            </a:xfrm>
            <a:custGeom>
              <a:rect b="b" l="l" r="r" t="t"/>
              <a:pathLst>
                <a:path extrusionOk="0" h="163829" w="734695">
                  <a:moveTo>
                    <a:pt x="367349" y="163274"/>
                  </a:moveTo>
                  <a:lnTo>
                    <a:pt x="293316" y="161616"/>
                  </a:lnTo>
                  <a:lnTo>
                    <a:pt x="224360" y="156859"/>
                  </a:lnTo>
                  <a:lnTo>
                    <a:pt x="161961" y="149332"/>
                  </a:lnTo>
                  <a:lnTo>
                    <a:pt x="107594" y="139363"/>
                  </a:lnTo>
                  <a:lnTo>
                    <a:pt x="62737" y="127281"/>
                  </a:lnTo>
                  <a:lnTo>
                    <a:pt x="7463" y="98090"/>
                  </a:lnTo>
                  <a:lnTo>
                    <a:pt x="0" y="81637"/>
                  </a:lnTo>
                  <a:lnTo>
                    <a:pt x="7463" y="65184"/>
                  </a:lnTo>
                  <a:lnTo>
                    <a:pt x="62737" y="35993"/>
                  </a:lnTo>
                  <a:lnTo>
                    <a:pt x="107594" y="23911"/>
                  </a:lnTo>
                  <a:lnTo>
                    <a:pt x="161961" y="13942"/>
                  </a:lnTo>
                  <a:lnTo>
                    <a:pt x="224360" y="6415"/>
                  </a:lnTo>
                  <a:lnTo>
                    <a:pt x="293316" y="1658"/>
                  </a:lnTo>
                  <a:lnTo>
                    <a:pt x="367349" y="0"/>
                  </a:lnTo>
                  <a:lnTo>
                    <a:pt x="441383" y="1658"/>
                  </a:lnTo>
                  <a:lnTo>
                    <a:pt x="510339" y="6415"/>
                  </a:lnTo>
                  <a:lnTo>
                    <a:pt x="572738" y="13942"/>
                  </a:lnTo>
                  <a:lnTo>
                    <a:pt x="627105" y="23911"/>
                  </a:lnTo>
                  <a:lnTo>
                    <a:pt x="671962" y="35993"/>
                  </a:lnTo>
                  <a:lnTo>
                    <a:pt x="727236" y="65184"/>
                  </a:lnTo>
                  <a:lnTo>
                    <a:pt x="734699" y="81637"/>
                  </a:lnTo>
                  <a:lnTo>
                    <a:pt x="727236" y="98090"/>
                  </a:lnTo>
                  <a:lnTo>
                    <a:pt x="671962" y="127281"/>
                  </a:lnTo>
                  <a:lnTo>
                    <a:pt x="627105" y="139363"/>
                  </a:lnTo>
                  <a:lnTo>
                    <a:pt x="572738" y="149332"/>
                  </a:lnTo>
                  <a:lnTo>
                    <a:pt x="510339" y="156859"/>
                  </a:lnTo>
                  <a:lnTo>
                    <a:pt x="441383" y="161616"/>
                  </a:lnTo>
                  <a:lnTo>
                    <a:pt x="367349" y="163274"/>
                  </a:lnTo>
                  <a:close/>
                </a:path>
              </a:pathLst>
            </a:custGeom>
            <a:solidFill>
              <a:srgbClr val="F1F4F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90" name="Google Shape;290;p13"/>
            <p:cNvSpPr/>
            <p:nvPr/>
          </p:nvSpPr>
          <p:spPr>
            <a:xfrm>
              <a:off x="8216249" y="4408725"/>
              <a:ext cx="734695" cy="653415"/>
            </a:xfrm>
            <a:custGeom>
              <a:rect b="b" l="l" r="r" t="t"/>
              <a:pathLst>
                <a:path extrusionOk="0" h="653414" w="734695">
                  <a:moveTo>
                    <a:pt x="734699" y="81637"/>
                  </a:moveTo>
                  <a:lnTo>
                    <a:pt x="727236" y="98090"/>
                  </a:lnTo>
                  <a:lnTo>
                    <a:pt x="705831" y="113414"/>
                  </a:lnTo>
                  <a:lnTo>
                    <a:pt x="627105" y="139363"/>
                  </a:lnTo>
                  <a:lnTo>
                    <a:pt x="572738" y="149332"/>
                  </a:lnTo>
                  <a:lnTo>
                    <a:pt x="510339" y="156859"/>
                  </a:lnTo>
                  <a:lnTo>
                    <a:pt x="441383" y="161616"/>
                  </a:lnTo>
                  <a:lnTo>
                    <a:pt x="367349" y="163274"/>
                  </a:lnTo>
                  <a:lnTo>
                    <a:pt x="293316" y="161616"/>
                  </a:lnTo>
                  <a:lnTo>
                    <a:pt x="224360" y="156859"/>
                  </a:lnTo>
                  <a:lnTo>
                    <a:pt x="161961" y="149332"/>
                  </a:lnTo>
                  <a:lnTo>
                    <a:pt x="107594" y="139363"/>
                  </a:lnTo>
                  <a:lnTo>
                    <a:pt x="62737" y="127281"/>
                  </a:lnTo>
                  <a:lnTo>
                    <a:pt x="7463" y="98090"/>
                  </a:lnTo>
                  <a:lnTo>
                    <a:pt x="0" y="81637"/>
                  </a:lnTo>
                  <a:lnTo>
                    <a:pt x="28868" y="49860"/>
                  </a:lnTo>
                  <a:lnTo>
                    <a:pt x="107594" y="23911"/>
                  </a:lnTo>
                  <a:lnTo>
                    <a:pt x="161961" y="13942"/>
                  </a:lnTo>
                  <a:lnTo>
                    <a:pt x="224360" y="6415"/>
                  </a:lnTo>
                  <a:lnTo>
                    <a:pt x="293316" y="1658"/>
                  </a:lnTo>
                  <a:lnTo>
                    <a:pt x="367349" y="0"/>
                  </a:lnTo>
                  <a:lnTo>
                    <a:pt x="441383" y="1658"/>
                  </a:lnTo>
                  <a:lnTo>
                    <a:pt x="510339" y="6415"/>
                  </a:lnTo>
                  <a:lnTo>
                    <a:pt x="572738" y="13942"/>
                  </a:lnTo>
                  <a:lnTo>
                    <a:pt x="627105" y="23911"/>
                  </a:lnTo>
                  <a:lnTo>
                    <a:pt x="671962" y="35993"/>
                  </a:lnTo>
                  <a:lnTo>
                    <a:pt x="727236" y="65184"/>
                  </a:lnTo>
                  <a:lnTo>
                    <a:pt x="734699" y="81637"/>
                  </a:lnTo>
                  <a:lnTo>
                    <a:pt x="734699" y="571462"/>
                  </a:lnTo>
                  <a:lnTo>
                    <a:pt x="705831" y="603239"/>
                  </a:lnTo>
                  <a:lnTo>
                    <a:pt x="627105" y="629188"/>
                  </a:lnTo>
                  <a:lnTo>
                    <a:pt x="572738" y="639157"/>
                  </a:lnTo>
                  <a:lnTo>
                    <a:pt x="510339" y="646684"/>
                  </a:lnTo>
                  <a:lnTo>
                    <a:pt x="441383" y="651441"/>
                  </a:lnTo>
                  <a:lnTo>
                    <a:pt x="367349" y="653099"/>
                  </a:lnTo>
                  <a:lnTo>
                    <a:pt x="293316" y="651441"/>
                  </a:lnTo>
                  <a:lnTo>
                    <a:pt x="224360" y="646684"/>
                  </a:lnTo>
                  <a:lnTo>
                    <a:pt x="161961" y="639157"/>
                  </a:lnTo>
                  <a:lnTo>
                    <a:pt x="107594" y="629188"/>
                  </a:lnTo>
                  <a:lnTo>
                    <a:pt x="62737" y="617106"/>
                  </a:lnTo>
                  <a:lnTo>
                    <a:pt x="7463" y="587915"/>
                  </a:lnTo>
                  <a:lnTo>
                    <a:pt x="0" y="571462"/>
                  </a:lnTo>
                  <a:lnTo>
                    <a:pt x="0" y="81637"/>
                  </a:lnTo>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4"/>
          <p:cNvSpPr txBox="1"/>
          <p:nvPr>
            <p:ph type="title"/>
          </p:nvPr>
        </p:nvSpPr>
        <p:spPr>
          <a:xfrm>
            <a:off x="73025" y="12837"/>
            <a:ext cx="7791285" cy="476369"/>
          </a:xfrm>
          <a:prstGeom prst="rect">
            <a:avLst/>
          </a:prstGeom>
          <a:noFill/>
          <a:ln>
            <a:noFill/>
          </a:ln>
        </p:spPr>
        <p:txBody>
          <a:bodyPr anchorCtr="0" anchor="t" bIns="0" lIns="0" spcFirstLastPara="1" rIns="0" wrap="square" tIns="66075">
            <a:spAutoFit/>
          </a:bodyPr>
          <a:lstStyle/>
          <a:p>
            <a:pPr indent="0" lvl="0" marL="739775" rtl="0" algn="l">
              <a:lnSpc>
                <a:spcPct val="100000"/>
              </a:lnSpc>
              <a:spcBef>
                <a:spcPts val="0"/>
              </a:spcBef>
              <a:spcAft>
                <a:spcPts val="0"/>
              </a:spcAft>
              <a:buNone/>
            </a:pPr>
            <a:r>
              <a:rPr lang="en-US"/>
              <a:t>El Programa: Formato Ejecutable</a:t>
            </a:r>
            <a:endParaRPr/>
          </a:p>
        </p:txBody>
      </p:sp>
      <p:sp>
        <p:nvSpPr>
          <p:cNvPr id="296" name="Google Shape;296;p14"/>
          <p:cNvSpPr txBox="1"/>
          <p:nvPr/>
        </p:nvSpPr>
        <p:spPr>
          <a:xfrm>
            <a:off x="802475" y="588080"/>
            <a:ext cx="7510780" cy="3171190"/>
          </a:xfrm>
          <a:prstGeom prst="rect">
            <a:avLst/>
          </a:prstGeom>
          <a:noFill/>
          <a:ln>
            <a:noFill/>
          </a:ln>
        </p:spPr>
        <p:txBody>
          <a:bodyPr anchorCtr="0" anchor="t" bIns="0" lIns="0" spcFirstLastPara="1" rIns="0" wrap="square" tIns="33000">
            <a:spAutoFit/>
          </a:bodyPr>
          <a:lstStyle/>
          <a:p>
            <a:pPr indent="0" lvl="0" marL="12700" marR="5080" rtl="0" algn="l">
              <a:lnSpc>
                <a:spcPct val="113888"/>
              </a:lnSpc>
              <a:spcBef>
                <a:spcPts val="0"/>
              </a:spcBef>
              <a:spcAft>
                <a:spcPts val="0"/>
              </a:spcAft>
              <a:buNone/>
            </a:pPr>
            <a:r>
              <a:rPr lang="en-US" sz="1800">
                <a:solidFill>
                  <a:srgbClr val="595959"/>
                </a:solidFill>
                <a:latin typeface="Tahoma"/>
                <a:ea typeface="Tahoma"/>
                <a:cs typeface="Tahoma"/>
                <a:sym typeface="Tahoma"/>
              </a:rPr>
              <a:t>Un </a:t>
            </a:r>
            <a:r>
              <a:rPr b="1" i="1" lang="en-US" sz="1800">
                <a:solidFill>
                  <a:srgbClr val="595959"/>
                </a:solidFill>
                <a:latin typeface="Trebuchet MS"/>
                <a:ea typeface="Trebuchet MS"/>
                <a:cs typeface="Trebuchet MS"/>
                <a:sym typeface="Trebuchet MS"/>
              </a:rPr>
              <a:t>programa </a:t>
            </a:r>
            <a:r>
              <a:rPr lang="en-US" sz="1800">
                <a:solidFill>
                  <a:srgbClr val="595959"/>
                </a:solidFill>
                <a:latin typeface="Tahoma"/>
                <a:ea typeface="Tahoma"/>
                <a:cs typeface="Tahoma"/>
                <a:sym typeface="Tahoma"/>
              </a:rPr>
              <a:t>es un archivo que posee toda la información de cómo construir un proceso en memoria [KER](cap. 6).</a:t>
            </a:r>
            <a:endParaRPr sz="1800">
              <a:latin typeface="Tahoma"/>
              <a:ea typeface="Tahoma"/>
              <a:cs typeface="Tahoma"/>
              <a:sym typeface="Tahoma"/>
            </a:endParaRPr>
          </a:p>
          <a:p>
            <a:pPr indent="-367030" lvl="0" marL="469900" marR="775970" rtl="0" algn="l">
              <a:lnSpc>
                <a:spcPct val="113888"/>
              </a:lnSpc>
              <a:spcBef>
                <a:spcPts val="2065"/>
              </a:spcBef>
              <a:spcAft>
                <a:spcPts val="0"/>
              </a:spcAft>
              <a:buClr>
                <a:srgbClr val="595959"/>
              </a:buClr>
              <a:buSzPts val="1800"/>
              <a:buFont typeface="Arial"/>
              <a:buChar char="●"/>
            </a:pPr>
            <a:r>
              <a:rPr b="1" lang="en-US" sz="1800">
                <a:solidFill>
                  <a:srgbClr val="595959"/>
                </a:solidFill>
                <a:latin typeface="Tahoma"/>
                <a:ea typeface="Tahoma"/>
                <a:cs typeface="Tahoma"/>
                <a:sym typeface="Tahoma"/>
              </a:rPr>
              <a:t>Instrucciones de Lenguaje de Máquina</a:t>
            </a:r>
            <a:r>
              <a:rPr lang="en-US" sz="1800">
                <a:solidFill>
                  <a:srgbClr val="595959"/>
                </a:solidFill>
                <a:latin typeface="Tahoma"/>
                <a:ea typeface="Tahoma"/>
                <a:cs typeface="Tahoma"/>
                <a:sym typeface="Tahoma"/>
              </a:rPr>
              <a:t>: Almacena el código del algoritmo del programa.</a:t>
            </a:r>
            <a:endParaRPr sz="1800">
              <a:latin typeface="Tahoma"/>
              <a:ea typeface="Tahoma"/>
              <a:cs typeface="Tahoma"/>
              <a:sym typeface="Tahoma"/>
            </a:endParaRPr>
          </a:p>
          <a:p>
            <a:pPr indent="-367030" lvl="0" marL="469900" marR="222250" rtl="0" algn="l">
              <a:lnSpc>
                <a:spcPct val="113888"/>
              </a:lnSpc>
              <a:spcBef>
                <a:spcPts val="2065"/>
              </a:spcBef>
              <a:spcAft>
                <a:spcPts val="0"/>
              </a:spcAft>
              <a:buClr>
                <a:srgbClr val="595959"/>
              </a:buClr>
              <a:buSzPts val="1800"/>
              <a:buFont typeface="Arial"/>
              <a:buChar char="●"/>
            </a:pPr>
            <a:r>
              <a:rPr b="1" lang="en-US" sz="1800">
                <a:solidFill>
                  <a:srgbClr val="595959"/>
                </a:solidFill>
                <a:latin typeface="Tahoma"/>
                <a:ea typeface="Tahoma"/>
                <a:cs typeface="Tahoma"/>
                <a:sym typeface="Tahoma"/>
              </a:rPr>
              <a:t>Dirección del Punto de Entrada del Programa</a:t>
            </a:r>
            <a:r>
              <a:rPr lang="en-US" sz="1800">
                <a:solidFill>
                  <a:srgbClr val="595959"/>
                </a:solidFill>
                <a:latin typeface="Tahoma"/>
                <a:ea typeface="Tahoma"/>
                <a:cs typeface="Tahoma"/>
                <a:sym typeface="Tahoma"/>
              </a:rPr>
              <a:t>: Identifica la dirección de la instrucción con la cual la ejecución del programa debe iniciar.</a:t>
            </a:r>
            <a:endParaRPr sz="1800">
              <a:latin typeface="Tahoma"/>
              <a:ea typeface="Tahoma"/>
              <a:cs typeface="Tahoma"/>
              <a:sym typeface="Tahoma"/>
            </a:endParaRPr>
          </a:p>
          <a:p>
            <a:pPr indent="-367030" lvl="0" marL="469900" marR="530225" rtl="0" algn="l">
              <a:lnSpc>
                <a:spcPct val="113888"/>
              </a:lnSpc>
              <a:spcBef>
                <a:spcPts val="2065"/>
              </a:spcBef>
              <a:spcAft>
                <a:spcPts val="0"/>
              </a:spcAft>
              <a:buClr>
                <a:srgbClr val="595959"/>
              </a:buClr>
              <a:buSzPts val="1800"/>
              <a:buFont typeface="Arial"/>
              <a:buChar char="●"/>
            </a:pPr>
            <a:r>
              <a:rPr b="1" lang="en-US" sz="1800">
                <a:solidFill>
                  <a:srgbClr val="595959"/>
                </a:solidFill>
                <a:latin typeface="Tahoma"/>
                <a:ea typeface="Tahoma"/>
                <a:cs typeface="Tahoma"/>
                <a:sym typeface="Tahoma"/>
              </a:rPr>
              <a:t>Datos</a:t>
            </a:r>
            <a:r>
              <a:rPr lang="en-US" sz="1800">
                <a:solidFill>
                  <a:srgbClr val="595959"/>
                </a:solidFill>
                <a:latin typeface="Tahoma"/>
                <a:ea typeface="Tahoma"/>
                <a:cs typeface="Tahoma"/>
                <a:sym typeface="Tahoma"/>
              </a:rPr>
              <a:t>: El programa contiene valores de los datos con los cuales se deben inicializar variables, valores de constantes y de literales utilizadas en el programa.</a:t>
            </a:r>
            <a:endParaRPr sz="1800">
              <a:latin typeface="Tahoma"/>
              <a:ea typeface="Tahoma"/>
              <a:cs typeface="Tahoma"/>
              <a:sym typeface="Tahom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5"/>
          <p:cNvSpPr txBox="1"/>
          <p:nvPr>
            <p:ph type="title"/>
          </p:nvPr>
        </p:nvSpPr>
        <p:spPr>
          <a:xfrm>
            <a:off x="73025" y="12837"/>
            <a:ext cx="7791285" cy="476369"/>
          </a:xfrm>
          <a:prstGeom prst="rect">
            <a:avLst/>
          </a:prstGeom>
          <a:noFill/>
          <a:ln>
            <a:noFill/>
          </a:ln>
        </p:spPr>
        <p:txBody>
          <a:bodyPr anchorCtr="0" anchor="t" bIns="0" lIns="0" spcFirstLastPara="1" rIns="0" wrap="square" tIns="66075">
            <a:spAutoFit/>
          </a:bodyPr>
          <a:lstStyle/>
          <a:p>
            <a:pPr indent="0" lvl="0" marL="685800" rtl="0" algn="l">
              <a:lnSpc>
                <a:spcPct val="100000"/>
              </a:lnSpc>
              <a:spcBef>
                <a:spcPts val="0"/>
              </a:spcBef>
              <a:spcAft>
                <a:spcPts val="0"/>
              </a:spcAft>
              <a:buNone/>
            </a:pPr>
            <a:r>
              <a:rPr lang="en-US"/>
              <a:t>El Programa: Formato Ejecutable</a:t>
            </a:r>
            <a:endParaRPr/>
          </a:p>
        </p:txBody>
      </p:sp>
      <p:sp>
        <p:nvSpPr>
          <p:cNvPr id="302" name="Google Shape;302;p15"/>
          <p:cNvSpPr txBox="1"/>
          <p:nvPr/>
        </p:nvSpPr>
        <p:spPr>
          <a:xfrm>
            <a:off x="892820" y="588080"/>
            <a:ext cx="7395845" cy="2910205"/>
          </a:xfrm>
          <a:prstGeom prst="rect">
            <a:avLst/>
          </a:prstGeom>
          <a:noFill/>
          <a:ln>
            <a:noFill/>
          </a:ln>
        </p:spPr>
        <p:txBody>
          <a:bodyPr anchorCtr="0" anchor="t" bIns="0" lIns="0" spcFirstLastPara="1" rIns="0" wrap="square" tIns="33000">
            <a:spAutoFit/>
          </a:bodyPr>
          <a:lstStyle/>
          <a:p>
            <a:pPr indent="-367030" lvl="0" marL="379095" marR="5080" rtl="0" algn="l">
              <a:lnSpc>
                <a:spcPct val="113888"/>
              </a:lnSpc>
              <a:spcBef>
                <a:spcPts val="0"/>
              </a:spcBef>
              <a:spcAft>
                <a:spcPts val="0"/>
              </a:spcAft>
              <a:buClr>
                <a:srgbClr val="595959"/>
              </a:buClr>
              <a:buSzPts val="1800"/>
              <a:buFont typeface="Arial"/>
              <a:buChar char="●"/>
            </a:pPr>
            <a:r>
              <a:rPr b="1" lang="en-US" sz="1800">
                <a:solidFill>
                  <a:srgbClr val="595959"/>
                </a:solidFill>
                <a:latin typeface="Tahoma"/>
                <a:ea typeface="Tahoma"/>
                <a:cs typeface="Tahoma"/>
                <a:sym typeface="Tahoma"/>
              </a:rPr>
              <a:t>Símbolos y Tablas de Realocación</a:t>
            </a:r>
            <a:r>
              <a:rPr lang="en-US" sz="1800">
                <a:solidFill>
                  <a:srgbClr val="595959"/>
                </a:solidFill>
                <a:latin typeface="Tahoma"/>
                <a:ea typeface="Tahoma"/>
                <a:cs typeface="Tahoma"/>
                <a:sym typeface="Tahoma"/>
              </a:rPr>
              <a:t>: Describe la ubicación y los nombres de las funciones y variables de todo el programa, así como otra información que es utilizada por ejemplo para debugg.</a:t>
            </a:r>
            <a:endParaRPr sz="1800">
              <a:latin typeface="Tahoma"/>
              <a:ea typeface="Tahoma"/>
              <a:cs typeface="Tahoma"/>
              <a:sym typeface="Tahoma"/>
            </a:endParaRPr>
          </a:p>
          <a:p>
            <a:pPr indent="-367030" lvl="0" marL="379095" marR="66040" rtl="0" algn="l">
              <a:lnSpc>
                <a:spcPct val="113888"/>
              </a:lnSpc>
              <a:spcBef>
                <a:spcPts val="2070"/>
              </a:spcBef>
              <a:spcAft>
                <a:spcPts val="0"/>
              </a:spcAft>
              <a:buClr>
                <a:srgbClr val="595959"/>
              </a:buClr>
              <a:buSzPts val="1800"/>
              <a:buFont typeface="Arial"/>
              <a:buChar char="●"/>
            </a:pPr>
            <a:r>
              <a:rPr b="1" lang="en-US" sz="1800">
                <a:solidFill>
                  <a:srgbClr val="595959"/>
                </a:solidFill>
                <a:latin typeface="Tahoma"/>
                <a:ea typeface="Tahoma"/>
                <a:cs typeface="Tahoma"/>
                <a:sym typeface="Tahoma"/>
              </a:rPr>
              <a:t>Bibliotecas Compartidas o Dinamicas</a:t>
            </a:r>
            <a:r>
              <a:rPr lang="en-US" sz="1800">
                <a:solidFill>
                  <a:srgbClr val="595959"/>
                </a:solidFill>
                <a:latin typeface="Tahoma"/>
                <a:ea typeface="Tahoma"/>
                <a:cs typeface="Tahoma"/>
                <a:sym typeface="Tahoma"/>
              </a:rPr>
              <a:t>: describe los nombres de las bibliotecas compartidas que son utilizadas por el programa en tiempo de ejecución así como también la ruta del linker dinámico que debe ser usado para cargar dicha biblioteca.</a:t>
            </a:r>
            <a:endParaRPr sz="1800">
              <a:latin typeface="Tahoma"/>
              <a:ea typeface="Tahoma"/>
              <a:cs typeface="Tahoma"/>
              <a:sym typeface="Tahoma"/>
            </a:endParaRPr>
          </a:p>
          <a:p>
            <a:pPr indent="-367030" lvl="0" marL="379095" marR="494030" rtl="0" algn="l">
              <a:lnSpc>
                <a:spcPct val="113888"/>
              </a:lnSpc>
              <a:spcBef>
                <a:spcPts val="2075"/>
              </a:spcBef>
              <a:spcAft>
                <a:spcPts val="0"/>
              </a:spcAft>
              <a:buClr>
                <a:srgbClr val="595959"/>
              </a:buClr>
              <a:buSzPts val="1800"/>
              <a:buFont typeface="Arial"/>
              <a:buChar char="●"/>
            </a:pPr>
            <a:r>
              <a:rPr b="1" lang="en-US" sz="1800">
                <a:solidFill>
                  <a:srgbClr val="595959"/>
                </a:solidFill>
                <a:latin typeface="Tahoma"/>
                <a:ea typeface="Tahoma"/>
                <a:cs typeface="Tahoma"/>
                <a:sym typeface="Tahoma"/>
              </a:rPr>
              <a:t>Otra información</a:t>
            </a:r>
            <a:r>
              <a:rPr lang="en-US" sz="1800">
                <a:solidFill>
                  <a:srgbClr val="595959"/>
                </a:solidFill>
                <a:latin typeface="Tahoma"/>
                <a:ea typeface="Tahoma"/>
                <a:cs typeface="Tahoma"/>
                <a:sym typeface="Tahoma"/>
              </a:rPr>
              <a:t>: El programa contiene además otra información necesaria para terminar de construir el proceso en memoria.</a:t>
            </a:r>
            <a:endParaRPr sz="1800">
              <a:latin typeface="Tahoma"/>
              <a:ea typeface="Tahoma"/>
              <a:cs typeface="Tahoma"/>
              <a:sym typeface="Tahom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6"/>
          <p:cNvSpPr txBox="1"/>
          <p:nvPr>
            <p:ph type="ctrTitle"/>
          </p:nvPr>
        </p:nvSpPr>
        <p:spPr>
          <a:xfrm>
            <a:off x="323825" y="61137"/>
            <a:ext cx="5718175" cy="382270"/>
          </a:xfrm>
          <a:prstGeom prst="rect">
            <a:avLst/>
          </a:prstGeom>
          <a:noFill/>
          <a:ln>
            <a:noFill/>
          </a:ln>
        </p:spPr>
        <p:txBody>
          <a:bodyPr anchorCtr="0" anchor="t" bIns="0" lIns="0" spcFirstLastPara="1" rIns="0" wrap="square" tIns="17775">
            <a:spAutoFit/>
          </a:bodyPr>
          <a:lstStyle/>
          <a:p>
            <a:pPr indent="0" lvl="0" marL="488950" rtl="0" algn="l">
              <a:lnSpc>
                <a:spcPct val="100000"/>
              </a:lnSpc>
              <a:spcBef>
                <a:spcPts val="0"/>
              </a:spcBef>
              <a:spcAft>
                <a:spcPts val="0"/>
              </a:spcAft>
              <a:buNone/>
            </a:pPr>
            <a:r>
              <a:rPr lang="en-US"/>
              <a:t>Un archivo ejecutable en Linux: ELF</a:t>
            </a:r>
            <a:endParaRPr/>
          </a:p>
        </p:txBody>
      </p:sp>
      <p:sp>
        <p:nvSpPr>
          <p:cNvPr id="308" name="Google Shape;308;p16"/>
          <p:cNvSpPr txBox="1"/>
          <p:nvPr/>
        </p:nvSpPr>
        <p:spPr>
          <a:xfrm>
            <a:off x="217225" y="1236420"/>
            <a:ext cx="3762375" cy="1395095"/>
          </a:xfrm>
          <a:prstGeom prst="rect">
            <a:avLst/>
          </a:prstGeom>
          <a:noFill/>
          <a:ln>
            <a:noFill/>
          </a:ln>
        </p:spPr>
        <p:txBody>
          <a:bodyPr anchorCtr="0" anchor="t" bIns="0" lIns="0" spcFirstLastPara="1" rIns="0" wrap="square" tIns="12700">
            <a:spAutoFit/>
          </a:bodyPr>
          <a:lstStyle/>
          <a:p>
            <a:pPr indent="0" lvl="0" marL="12700" marR="5080" rtl="0" algn="l">
              <a:lnSpc>
                <a:spcPct val="157600"/>
              </a:lnSpc>
              <a:spcBef>
                <a:spcPts val="0"/>
              </a:spcBef>
              <a:spcAft>
                <a:spcPts val="0"/>
              </a:spcAft>
              <a:buNone/>
            </a:pPr>
            <a:r>
              <a:rPr lang="en-US" sz="1900">
                <a:solidFill>
                  <a:srgbClr val="595959"/>
                </a:solidFill>
                <a:latin typeface="Tahoma"/>
                <a:ea typeface="Tahoma"/>
                <a:cs typeface="Tahoma"/>
                <a:sym typeface="Tahoma"/>
              </a:rPr>
              <a:t>ELF: </a:t>
            </a:r>
            <a:r>
              <a:rPr b="1" lang="en-US" sz="1900">
                <a:solidFill>
                  <a:srgbClr val="595959"/>
                </a:solidFill>
                <a:latin typeface="Tahoma"/>
                <a:ea typeface="Tahoma"/>
                <a:cs typeface="Tahoma"/>
                <a:sym typeface="Tahoma"/>
              </a:rPr>
              <a:t>E</a:t>
            </a:r>
            <a:r>
              <a:rPr lang="en-US" sz="1900">
                <a:solidFill>
                  <a:srgbClr val="595959"/>
                </a:solidFill>
                <a:latin typeface="Tahoma"/>
                <a:ea typeface="Tahoma"/>
                <a:cs typeface="Tahoma"/>
                <a:sym typeface="Tahoma"/>
              </a:rPr>
              <a:t>xecutable and </a:t>
            </a:r>
            <a:r>
              <a:rPr b="1" lang="en-US" sz="1900">
                <a:solidFill>
                  <a:srgbClr val="595959"/>
                </a:solidFill>
                <a:latin typeface="Tahoma"/>
                <a:ea typeface="Tahoma"/>
                <a:cs typeface="Tahoma"/>
                <a:sym typeface="Tahoma"/>
              </a:rPr>
              <a:t>L</a:t>
            </a:r>
            <a:r>
              <a:rPr lang="en-US" sz="1900">
                <a:solidFill>
                  <a:srgbClr val="595959"/>
                </a:solidFill>
                <a:latin typeface="Tahoma"/>
                <a:ea typeface="Tahoma"/>
                <a:cs typeface="Tahoma"/>
                <a:sym typeface="Tahoma"/>
              </a:rPr>
              <a:t>inking </a:t>
            </a:r>
            <a:r>
              <a:rPr b="1" lang="en-US" sz="1900">
                <a:solidFill>
                  <a:srgbClr val="595959"/>
                </a:solidFill>
                <a:latin typeface="Tahoma"/>
                <a:ea typeface="Tahoma"/>
                <a:cs typeface="Tahoma"/>
                <a:sym typeface="Tahoma"/>
              </a:rPr>
              <a:t>F</a:t>
            </a:r>
            <a:r>
              <a:rPr lang="en-US" sz="1900">
                <a:solidFill>
                  <a:srgbClr val="595959"/>
                </a:solidFill>
                <a:latin typeface="Tahoma"/>
                <a:ea typeface="Tahoma"/>
                <a:cs typeface="Tahoma"/>
                <a:sym typeface="Tahoma"/>
              </a:rPr>
              <a:t>ormat Magic number	0x7F 'E' 'L' 'F </a:t>
            </a:r>
            <a:r>
              <a:rPr lang="en-US" sz="1900" u="sng">
                <a:solidFill>
                  <a:srgbClr val="1B3678"/>
                </a:solidFill>
                <a:latin typeface="Tahoma"/>
                <a:ea typeface="Tahoma"/>
                <a:cs typeface="Tahoma"/>
                <a:sym typeface="Tahoma"/>
                <a:hlinkClick r:id="rId3">
                  <a:extLst>
                    <a:ext uri="{A12FA001-AC4F-418D-AE19-62706E023703}">
                      <ahyp:hlinkClr val="tx"/>
                    </a:ext>
                  </a:extLst>
                </a:hlinkClick>
              </a:rPr>
              <a:t>https://greek0.net/elf.html</a:t>
            </a:r>
            <a:endParaRPr sz="1900">
              <a:latin typeface="Tahoma"/>
              <a:ea typeface="Tahoma"/>
              <a:cs typeface="Tahoma"/>
              <a:sym typeface="Tahoma"/>
            </a:endParaRPr>
          </a:p>
        </p:txBody>
      </p:sp>
      <p:pic>
        <p:nvPicPr>
          <p:cNvPr id="309" name="Google Shape;309;p16"/>
          <p:cNvPicPr preferRelativeResize="0"/>
          <p:nvPr/>
        </p:nvPicPr>
        <p:blipFill rotWithShape="1">
          <a:blip r:embed="rId4">
            <a:alphaModFix/>
          </a:blip>
          <a:srcRect b="0" l="0" r="0" t="0"/>
          <a:stretch/>
        </p:blipFill>
        <p:spPr>
          <a:xfrm>
            <a:off x="5225075" y="675587"/>
            <a:ext cx="3792324" cy="379232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17"/>
          <p:cNvSpPr txBox="1"/>
          <p:nvPr>
            <p:ph type="title"/>
          </p:nvPr>
        </p:nvSpPr>
        <p:spPr>
          <a:xfrm>
            <a:off x="73025" y="12837"/>
            <a:ext cx="7791285" cy="476369"/>
          </a:xfrm>
          <a:prstGeom prst="rect">
            <a:avLst/>
          </a:prstGeom>
          <a:noFill/>
          <a:ln>
            <a:noFill/>
          </a:ln>
        </p:spPr>
        <p:txBody>
          <a:bodyPr anchorCtr="0" anchor="t" bIns="0" lIns="0" spcFirstLastPara="1" rIns="0" wrap="square" tIns="66075">
            <a:spAutoFit/>
          </a:bodyPr>
          <a:lstStyle/>
          <a:p>
            <a:pPr indent="0" lvl="0" marL="739775" rtl="0" algn="l">
              <a:lnSpc>
                <a:spcPct val="100000"/>
              </a:lnSpc>
              <a:spcBef>
                <a:spcPts val="0"/>
              </a:spcBef>
              <a:spcAft>
                <a:spcPts val="0"/>
              </a:spcAft>
              <a:buNone/>
            </a:pPr>
            <a:r>
              <a:rPr lang="en-US"/>
              <a:t>Un archivo ejecutable en Linux: ELF</a:t>
            </a:r>
            <a:endParaRPr/>
          </a:p>
        </p:txBody>
      </p:sp>
      <p:pic>
        <p:nvPicPr>
          <p:cNvPr id="315" name="Google Shape;315;p17"/>
          <p:cNvPicPr preferRelativeResize="0"/>
          <p:nvPr/>
        </p:nvPicPr>
        <p:blipFill rotWithShape="1">
          <a:blip r:embed="rId3">
            <a:alphaModFix/>
          </a:blip>
          <a:srcRect b="0" l="0" r="0" t="0"/>
          <a:stretch/>
        </p:blipFill>
        <p:spPr>
          <a:xfrm>
            <a:off x="3271475" y="478699"/>
            <a:ext cx="2012599" cy="46647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19" name="Shape 319"/>
        <p:cNvGrpSpPr/>
        <p:nvPr/>
      </p:nvGrpSpPr>
      <p:grpSpPr>
        <a:xfrm>
          <a:off x="0" y="0"/>
          <a:ext cx="0" cy="0"/>
          <a:chOff x="0" y="0"/>
          <a:chExt cx="0" cy="0"/>
        </a:xfrm>
      </p:grpSpPr>
      <p:grpSp>
        <p:nvGrpSpPr>
          <p:cNvPr id="320" name="Google Shape;320;p18"/>
          <p:cNvGrpSpPr/>
          <p:nvPr/>
        </p:nvGrpSpPr>
        <p:grpSpPr>
          <a:xfrm>
            <a:off x="0" y="0"/>
            <a:ext cx="9144000" cy="5143500"/>
            <a:chOff x="0" y="0"/>
            <a:chExt cx="9144000" cy="5143500"/>
          </a:xfrm>
        </p:grpSpPr>
        <p:sp>
          <p:nvSpPr>
            <p:cNvPr id="321" name="Google Shape;321;p18"/>
            <p:cNvSpPr/>
            <p:nvPr/>
          </p:nvSpPr>
          <p:spPr>
            <a:xfrm>
              <a:off x="0" y="0"/>
              <a:ext cx="9144000" cy="488315"/>
            </a:xfrm>
            <a:custGeom>
              <a:rect b="b" l="l" r="r" t="t"/>
              <a:pathLst>
                <a:path extrusionOk="0" h="488315" w="9144000">
                  <a:moveTo>
                    <a:pt x="9143999" y="487799"/>
                  </a:moveTo>
                  <a:lnTo>
                    <a:pt x="0" y="487799"/>
                  </a:lnTo>
                  <a:lnTo>
                    <a:pt x="0" y="0"/>
                  </a:lnTo>
                  <a:lnTo>
                    <a:pt x="9143999" y="0"/>
                  </a:lnTo>
                  <a:lnTo>
                    <a:pt x="9143999" y="487799"/>
                  </a:lnTo>
                  <a:close/>
                </a:path>
              </a:pathLst>
            </a:custGeom>
            <a:solidFill>
              <a:srgbClr val="E9ED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322" name="Google Shape;322;p18"/>
            <p:cNvPicPr preferRelativeResize="0"/>
            <p:nvPr/>
          </p:nvPicPr>
          <p:blipFill rotWithShape="1">
            <a:blip r:embed="rId3">
              <a:alphaModFix/>
            </a:blip>
            <a:srcRect b="0" l="0" r="0" t="0"/>
            <a:stretch/>
          </p:blipFill>
          <p:spPr>
            <a:xfrm>
              <a:off x="2771425" y="0"/>
              <a:ext cx="3601139" cy="5143500"/>
            </a:xfrm>
            <a:prstGeom prst="rect">
              <a:avLst/>
            </a:prstGeom>
            <a:noFill/>
            <a:ln>
              <a:noFill/>
            </a:ln>
          </p:spPr>
        </p:pic>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19"/>
          <p:cNvSpPr txBox="1"/>
          <p:nvPr>
            <p:ph type="title"/>
          </p:nvPr>
        </p:nvSpPr>
        <p:spPr>
          <a:xfrm>
            <a:off x="73025" y="12837"/>
            <a:ext cx="7791285" cy="476369"/>
          </a:xfrm>
          <a:prstGeom prst="rect">
            <a:avLst/>
          </a:prstGeom>
          <a:noFill/>
          <a:ln>
            <a:noFill/>
          </a:ln>
        </p:spPr>
        <p:txBody>
          <a:bodyPr anchorCtr="0" anchor="t" bIns="0" lIns="0" spcFirstLastPara="1" rIns="0" wrap="square" tIns="66075">
            <a:spAutoFit/>
          </a:bodyPr>
          <a:lstStyle/>
          <a:p>
            <a:pPr indent="0" lvl="0" marL="739775" rtl="0" algn="l">
              <a:lnSpc>
                <a:spcPct val="100000"/>
              </a:lnSpc>
              <a:spcBef>
                <a:spcPts val="0"/>
              </a:spcBef>
              <a:spcAft>
                <a:spcPts val="0"/>
              </a:spcAft>
              <a:buNone/>
            </a:pPr>
            <a:r>
              <a:rPr lang="en-US"/>
              <a:t>Un archivo ejecutable en Linux: ELF</a:t>
            </a:r>
            <a:endParaRPr/>
          </a:p>
        </p:txBody>
      </p:sp>
      <p:pic>
        <p:nvPicPr>
          <p:cNvPr id="328" name="Google Shape;328;p19"/>
          <p:cNvPicPr preferRelativeResize="0"/>
          <p:nvPr/>
        </p:nvPicPr>
        <p:blipFill rotWithShape="1">
          <a:blip r:embed="rId3">
            <a:alphaModFix/>
          </a:blip>
          <a:srcRect b="0" l="0" r="0" t="0"/>
          <a:stretch/>
        </p:blipFill>
        <p:spPr>
          <a:xfrm>
            <a:off x="1978976" y="724318"/>
            <a:ext cx="5123014" cy="411438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20"/>
          <p:cNvSpPr txBox="1"/>
          <p:nvPr>
            <p:ph type="title"/>
          </p:nvPr>
        </p:nvSpPr>
        <p:spPr>
          <a:xfrm>
            <a:off x="73025" y="12837"/>
            <a:ext cx="7791285" cy="476369"/>
          </a:xfrm>
          <a:prstGeom prst="rect">
            <a:avLst/>
          </a:prstGeom>
          <a:noFill/>
          <a:ln>
            <a:noFill/>
          </a:ln>
        </p:spPr>
        <p:txBody>
          <a:bodyPr anchorCtr="0" anchor="t" bIns="0" lIns="0" spcFirstLastPara="1" rIns="0" wrap="square" tIns="66075">
            <a:spAutoFit/>
          </a:bodyPr>
          <a:lstStyle/>
          <a:p>
            <a:pPr indent="0" lvl="0" marL="739775" rtl="0" algn="l">
              <a:lnSpc>
                <a:spcPct val="100000"/>
              </a:lnSpc>
              <a:spcBef>
                <a:spcPts val="0"/>
              </a:spcBef>
              <a:spcAft>
                <a:spcPts val="0"/>
              </a:spcAft>
              <a:buNone/>
            </a:pPr>
            <a:r>
              <a:rPr lang="en-US"/>
              <a:t>Un Programa en Linux: ELF</a:t>
            </a:r>
            <a:endParaRPr/>
          </a:p>
        </p:txBody>
      </p:sp>
      <p:pic>
        <p:nvPicPr>
          <p:cNvPr id="334" name="Google Shape;334;p20"/>
          <p:cNvPicPr preferRelativeResize="0"/>
          <p:nvPr/>
        </p:nvPicPr>
        <p:blipFill rotWithShape="1">
          <a:blip r:embed="rId3">
            <a:alphaModFix/>
          </a:blip>
          <a:srcRect b="0" l="0" r="0" t="0"/>
          <a:stretch/>
        </p:blipFill>
        <p:spPr>
          <a:xfrm>
            <a:off x="519849" y="1379949"/>
            <a:ext cx="4149624" cy="3334249"/>
          </a:xfrm>
          <a:prstGeom prst="rect">
            <a:avLst/>
          </a:prstGeom>
          <a:noFill/>
          <a:ln>
            <a:noFill/>
          </a:ln>
        </p:spPr>
      </p:pic>
      <p:pic>
        <p:nvPicPr>
          <p:cNvPr id="335" name="Google Shape;335;p20"/>
          <p:cNvPicPr preferRelativeResize="0"/>
          <p:nvPr/>
        </p:nvPicPr>
        <p:blipFill rotWithShape="1">
          <a:blip r:embed="rId4">
            <a:alphaModFix/>
          </a:blip>
          <a:srcRect b="0" l="0" r="0" t="0"/>
          <a:stretch/>
        </p:blipFill>
        <p:spPr>
          <a:xfrm>
            <a:off x="4942822" y="1379949"/>
            <a:ext cx="4034573" cy="296002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39" name="Shape 339"/>
        <p:cNvGrpSpPr/>
        <p:nvPr/>
      </p:nvGrpSpPr>
      <p:grpSpPr>
        <a:xfrm>
          <a:off x="0" y="0"/>
          <a:ext cx="0" cy="0"/>
          <a:chOff x="0" y="0"/>
          <a:chExt cx="0" cy="0"/>
        </a:xfrm>
      </p:grpSpPr>
      <p:sp>
        <p:nvSpPr>
          <p:cNvPr id="340" name="Google Shape;340;p21"/>
          <p:cNvSpPr txBox="1"/>
          <p:nvPr/>
        </p:nvSpPr>
        <p:spPr>
          <a:xfrm>
            <a:off x="1038809" y="4425426"/>
            <a:ext cx="1848485" cy="19621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b="1" lang="en-US" sz="1100">
                <a:solidFill>
                  <a:srgbClr val="1A1A1A"/>
                </a:solidFill>
                <a:latin typeface="Trebuchet MS"/>
                <a:ea typeface="Trebuchet MS"/>
                <a:cs typeface="Trebuchet MS"/>
                <a:sym typeface="Trebuchet MS"/>
              </a:rPr>
              <a:t>Un Programa en Linux: ELF</a:t>
            </a:r>
            <a:endParaRPr sz="1100">
              <a:latin typeface="Trebuchet MS"/>
              <a:ea typeface="Trebuchet MS"/>
              <a:cs typeface="Trebuchet MS"/>
              <a:sym typeface="Trebuchet MS"/>
            </a:endParaRPr>
          </a:p>
        </p:txBody>
      </p:sp>
      <p:pic>
        <p:nvPicPr>
          <p:cNvPr id="341" name="Google Shape;341;p21"/>
          <p:cNvPicPr preferRelativeResize="0"/>
          <p:nvPr/>
        </p:nvPicPr>
        <p:blipFill rotWithShape="1">
          <a:blip r:embed="rId3">
            <a:alphaModFix/>
          </a:blip>
          <a:srcRect b="0" l="0" r="0" t="0"/>
          <a:stretch/>
        </p:blipFill>
        <p:spPr>
          <a:xfrm>
            <a:off x="3763274" y="0"/>
            <a:ext cx="4753228" cy="4909600"/>
          </a:xfrm>
          <a:prstGeom prst="rect">
            <a:avLst/>
          </a:prstGeom>
          <a:noFill/>
          <a:ln>
            <a:noFill/>
          </a:ln>
        </p:spPr>
      </p:pic>
      <p:sp>
        <p:nvSpPr>
          <p:cNvPr id="342" name="Google Shape;342;p21"/>
          <p:cNvSpPr txBox="1"/>
          <p:nvPr/>
        </p:nvSpPr>
        <p:spPr>
          <a:xfrm>
            <a:off x="225600" y="1338348"/>
            <a:ext cx="3314700" cy="176276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US" sz="1900">
                <a:solidFill>
                  <a:srgbClr val="595959"/>
                </a:solidFill>
                <a:latin typeface="Tahoma"/>
                <a:ea typeface="Tahoma"/>
                <a:cs typeface="Tahoma"/>
                <a:sym typeface="Tahoma"/>
              </a:rPr>
              <a:t>El archivo ELF además de tener el código, es como un “plano” del proceso que el </a:t>
            </a:r>
            <a:r>
              <a:rPr b="1" lang="en-US" sz="1900">
                <a:solidFill>
                  <a:srgbClr val="595959"/>
                </a:solidFill>
                <a:latin typeface="Tahoma"/>
                <a:ea typeface="Tahoma"/>
                <a:cs typeface="Tahoma"/>
                <a:sym typeface="Tahoma"/>
              </a:rPr>
              <a:t>Loader </a:t>
            </a:r>
            <a:r>
              <a:rPr lang="en-US" sz="1900">
                <a:solidFill>
                  <a:srgbClr val="595959"/>
                </a:solidFill>
                <a:latin typeface="Tahoma"/>
                <a:ea typeface="Tahoma"/>
                <a:cs typeface="Tahoma"/>
                <a:sym typeface="Tahoma"/>
              </a:rPr>
              <a:t>(parte del sistema operativo) va a usar para “construir” el proceso durante </a:t>
            </a:r>
            <a:r>
              <a:rPr b="1" lang="en-US" sz="1900">
                <a:solidFill>
                  <a:srgbClr val="595959"/>
                </a:solidFill>
                <a:latin typeface="Tahoma"/>
                <a:ea typeface="Tahoma"/>
                <a:cs typeface="Tahoma"/>
                <a:sym typeface="Tahoma"/>
              </a:rPr>
              <a:t>execve()</a:t>
            </a:r>
            <a:endParaRPr sz="1900">
              <a:latin typeface="Tahoma"/>
              <a:ea typeface="Tahoma"/>
              <a:cs typeface="Tahoma"/>
              <a:sym typeface="Tahom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22"/>
          <p:cNvSpPr txBox="1"/>
          <p:nvPr>
            <p:ph type="title"/>
          </p:nvPr>
        </p:nvSpPr>
        <p:spPr>
          <a:xfrm>
            <a:off x="73025" y="12837"/>
            <a:ext cx="7791285" cy="476369"/>
          </a:xfrm>
          <a:prstGeom prst="rect">
            <a:avLst/>
          </a:prstGeom>
          <a:noFill/>
          <a:ln>
            <a:noFill/>
          </a:ln>
        </p:spPr>
        <p:txBody>
          <a:bodyPr anchorCtr="0" anchor="t" bIns="0" lIns="0" spcFirstLastPara="1" rIns="0" wrap="square" tIns="66075">
            <a:spAutoFit/>
          </a:bodyPr>
          <a:lstStyle/>
          <a:p>
            <a:pPr indent="0" lvl="0" marL="739775" rtl="0" algn="l">
              <a:lnSpc>
                <a:spcPct val="100000"/>
              </a:lnSpc>
              <a:spcBef>
                <a:spcPts val="0"/>
              </a:spcBef>
              <a:spcAft>
                <a:spcPts val="0"/>
              </a:spcAft>
              <a:buNone/>
            </a:pPr>
            <a:r>
              <a:rPr lang="en-US"/>
              <a:t>Un Programa en Linux: ELF</a:t>
            </a:r>
            <a:endParaRPr/>
          </a:p>
        </p:txBody>
      </p:sp>
      <p:sp>
        <p:nvSpPr>
          <p:cNvPr id="348" name="Google Shape;348;p22"/>
          <p:cNvSpPr txBox="1"/>
          <p:nvPr/>
        </p:nvSpPr>
        <p:spPr>
          <a:xfrm>
            <a:off x="892999" y="557932"/>
            <a:ext cx="7428865" cy="3495675"/>
          </a:xfrm>
          <a:prstGeom prst="rect">
            <a:avLst/>
          </a:prstGeom>
          <a:noFill/>
          <a:ln>
            <a:noFill/>
          </a:ln>
        </p:spPr>
        <p:txBody>
          <a:bodyPr anchorCtr="0" anchor="t" bIns="0" lIns="0" spcFirstLastPara="1" rIns="0" wrap="square" tIns="12700">
            <a:spAutoFit/>
          </a:bodyPr>
          <a:lstStyle/>
          <a:p>
            <a:pPr indent="-367030" lvl="0" marL="379095" marR="284480" rtl="0" algn="l">
              <a:lnSpc>
                <a:spcPct val="114999"/>
              </a:lnSpc>
              <a:spcBef>
                <a:spcPts val="0"/>
              </a:spcBef>
              <a:spcAft>
                <a:spcPts val="0"/>
              </a:spcAft>
              <a:buClr>
                <a:srgbClr val="595959"/>
              </a:buClr>
              <a:buSzPts val="1800"/>
              <a:buFont typeface="Arial"/>
              <a:buChar char="●"/>
            </a:pPr>
            <a:r>
              <a:rPr b="1" lang="en-US" sz="1800">
                <a:solidFill>
                  <a:srgbClr val="595959"/>
                </a:solidFill>
                <a:latin typeface="Tahoma"/>
                <a:ea typeface="Tahoma"/>
                <a:cs typeface="Tahoma"/>
                <a:sym typeface="Tahoma"/>
              </a:rPr>
              <a:t>readelf </a:t>
            </a:r>
            <a:r>
              <a:rPr lang="en-US" sz="1800">
                <a:solidFill>
                  <a:srgbClr val="595959"/>
                </a:solidFill>
                <a:latin typeface="Tahoma"/>
                <a:ea typeface="Tahoma"/>
                <a:cs typeface="Tahoma"/>
                <a:sym typeface="Tahoma"/>
              </a:rPr>
              <a:t>is a Unix binary utility that displays information about one or more ELF files. A free software implementation is provided by GNU Binutils.</a:t>
            </a:r>
            <a:endParaRPr sz="1800">
              <a:latin typeface="Tahoma"/>
              <a:ea typeface="Tahoma"/>
              <a:cs typeface="Tahoma"/>
              <a:sym typeface="Tahoma"/>
            </a:endParaRPr>
          </a:p>
          <a:p>
            <a:pPr indent="-366395" lvl="0" marL="379095" rtl="0" algn="l">
              <a:lnSpc>
                <a:spcPct val="100000"/>
              </a:lnSpc>
              <a:spcBef>
                <a:spcPts val="325"/>
              </a:spcBef>
              <a:spcAft>
                <a:spcPts val="0"/>
              </a:spcAft>
              <a:buClr>
                <a:srgbClr val="595959"/>
              </a:buClr>
              <a:buSzPts val="1800"/>
              <a:buFont typeface="Arial"/>
              <a:buChar char="●"/>
            </a:pPr>
            <a:r>
              <a:rPr b="1" lang="en-US" sz="1800">
                <a:solidFill>
                  <a:srgbClr val="595959"/>
                </a:solidFill>
                <a:latin typeface="Tahoma"/>
                <a:ea typeface="Tahoma"/>
                <a:cs typeface="Tahoma"/>
                <a:sym typeface="Tahoma"/>
              </a:rPr>
              <a:t>elfutils </a:t>
            </a:r>
            <a:r>
              <a:rPr lang="en-US" sz="1800">
                <a:solidFill>
                  <a:srgbClr val="595959"/>
                </a:solidFill>
                <a:latin typeface="Tahoma"/>
                <a:ea typeface="Tahoma"/>
                <a:cs typeface="Tahoma"/>
                <a:sym typeface="Tahoma"/>
              </a:rPr>
              <a:t>provides alternative tools to GNU Binutils purely for Linux.[11]</a:t>
            </a:r>
            <a:endParaRPr sz="1800">
              <a:latin typeface="Tahoma"/>
              <a:ea typeface="Tahoma"/>
              <a:cs typeface="Tahoma"/>
              <a:sym typeface="Tahoma"/>
            </a:endParaRPr>
          </a:p>
          <a:p>
            <a:pPr indent="-367030" lvl="0" marL="379095" marR="214629" rtl="0" algn="l">
              <a:lnSpc>
                <a:spcPct val="114999"/>
              </a:lnSpc>
              <a:spcBef>
                <a:spcPts val="0"/>
              </a:spcBef>
              <a:spcAft>
                <a:spcPts val="0"/>
              </a:spcAft>
              <a:buClr>
                <a:srgbClr val="595959"/>
              </a:buClr>
              <a:buSzPts val="1800"/>
              <a:buFont typeface="Arial"/>
              <a:buChar char="●"/>
            </a:pPr>
            <a:r>
              <a:rPr b="1" lang="en-US" sz="1800">
                <a:solidFill>
                  <a:srgbClr val="595959"/>
                </a:solidFill>
                <a:latin typeface="Tahoma"/>
                <a:ea typeface="Tahoma"/>
                <a:cs typeface="Tahoma"/>
                <a:sym typeface="Tahoma"/>
              </a:rPr>
              <a:t>objdump </a:t>
            </a:r>
            <a:r>
              <a:rPr lang="en-US" sz="1800">
                <a:solidFill>
                  <a:srgbClr val="595959"/>
                </a:solidFill>
                <a:latin typeface="Tahoma"/>
                <a:ea typeface="Tahoma"/>
                <a:cs typeface="Tahoma"/>
                <a:sym typeface="Tahoma"/>
              </a:rPr>
              <a:t>provides a wide range of information about ELF files and other object formats. objdump uses the Binary File Descriptor library as a back-end to structure the ELF data.</a:t>
            </a:r>
            <a:endParaRPr sz="1800">
              <a:latin typeface="Tahoma"/>
              <a:ea typeface="Tahoma"/>
              <a:cs typeface="Tahoma"/>
              <a:sym typeface="Tahoma"/>
            </a:endParaRPr>
          </a:p>
          <a:p>
            <a:pPr indent="-367030" lvl="0" marL="379095" marR="5080" rtl="0" algn="l">
              <a:lnSpc>
                <a:spcPct val="114999"/>
              </a:lnSpc>
              <a:spcBef>
                <a:spcPts val="0"/>
              </a:spcBef>
              <a:spcAft>
                <a:spcPts val="0"/>
              </a:spcAft>
              <a:buClr>
                <a:srgbClr val="595959"/>
              </a:buClr>
              <a:buSzPts val="1800"/>
              <a:buFont typeface="Arial"/>
              <a:buChar char="●"/>
            </a:pPr>
            <a:r>
              <a:rPr lang="en-US" sz="1800">
                <a:solidFill>
                  <a:srgbClr val="595959"/>
                </a:solidFill>
                <a:latin typeface="Tahoma"/>
                <a:ea typeface="Tahoma"/>
                <a:cs typeface="Tahoma"/>
                <a:sym typeface="Tahoma"/>
              </a:rPr>
              <a:t>The Unix </a:t>
            </a:r>
            <a:r>
              <a:rPr b="1" lang="en-US" sz="1800">
                <a:solidFill>
                  <a:srgbClr val="595959"/>
                </a:solidFill>
                <a:latin typeface="Tahoma"/>
                <a:ea typeface="Tahoma"/>
                <a:cs typeface="Tahoma"/>
                <a:sym typeface="Tahoma"/>
              </a:rPr>
              <a:t>file </a:t>
            </a:r>
            <a:r>
              <a:rPr lang="en-US" sz="1800">
                <a:solidFill>
                  <a:srgbClr val="595959"/>
                </a:solidFill>
                <a:latin typeface="Tahoma"/>
                <a:ea typeface="Tahoma"/>
                <a:cs typeface="Tahoma"/>
                <a:sym typeface="Tahoma"/>
              </a:rPr>
              <a:t>utility can display some information about ELF files, including the instruction set architecture for which the code in a relocatable, executable, or shared object file is intended, or on which an ELF core dump was produced.</a:t>
            </a:r>
            <a:endParaRPr sz="1800">
              <a:latin typeface="Tahoma"/>
              <a:ea typeface="Tahoma"/>
              <a:cs typeface="Tahoma"/>
              <a:sym typeface="Tahom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23"/>
          <p:cNvSpPr txBox="1"/>
          <p:nvPr>
            <p:ph type="title"/>
          </p:nvPr>
        </p:nvSpPr>
        <p:spPr>
          <a:xfrm>
            <a:off x="73025" y="12837"/>
            <a:ext cx="7791285" cy="476369"/>
          </a:xfrm>
          <a:prstGeom prst="rect">
            <a:avLst/>
          </a:prstGeom>
          <a:noFill/>
          <a:ln>
            <a:noFill/>
          </a:ln>
        </p:spPr>
        <p:txBody>
          <a:bodyPr anchorCtr="0" anchor="t" bIns="0" lIns="0" spcFirstLastPara="1" rIns="0" wrap="square" tIns="66075">
            <a:spAutoFit/>
          </a:bodyPr>
          <a:lstStyle/>
          <a:p>
            <a:pPr indent="0" lvl="0" marL="739775" rtl="0" algn="l">
              <a:lnSpc>
                <a:spcPct val="100000"/>
              </a:lnSpc>
              <a:spcBef>
                <a:spcPts val="0"/>
              </a:spcBef>
              <a:spcAft>
                <a:spcPts val="0"/>
              </a:spcAft>
              <a:buNone/>
            </a:pPr>
            <a:r>
              <a:rPr lang="en-US"/>
              <a:t>El Comando readelf</a:t>
            </a:r>
            <a:endParaRPr/>
          </a:p>
        </p:txBody>
      </p:sp>
      <p:sp>
        <p:nvSpPr>
          <p:cNvPr id="354" name="Google Shape;354;p23"/>
          <p:cNvSpPr txBox="1"/>
          <p:nvPr/>
        </p:nvSpPr>
        <p:spPr>
          <a:xfrm>
            <a:off x="802475" y="665014"/>
            <a:ext cx="3866515" cy="234188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000">
                <a:solidFill>
                  <a:srgbClr val="595959"/>
                </a:solidFill>
                <a:latin typeface="Tahoma"/>
                <a:ea typeface="Tahoma"/>
                <a:cs typeface="Tahoma"/>
                <a:sym typeface="Tahoma"/>
              </a:rPr>
              <a:t>Ver el SHT (Section Header Table)</a:t>
            </a:r>
            <a:endParaRPr sz="2000">
              <a:latin typeface="Tahoma"/>
              <a:ea typeface="Tahoma"/>
              <a:cs typeface="Tahoma"/>
              <a:sym typeface="Tahoma"/>
            </a:endParaRPr>
          </a:p>
          <a:p>
            <a:pPr indent="0" lvl="0" marL="12700" marR="5080" rtl="0" algn="l">
              <a:lnSpc>
                <a:spcPct val="165000"/>
              </a:lnSpc>
              <a:spcBef>
                <a:spcPts val="0"/>
              </a:spcBef>
              <a:spcAft>
                <a:spcPts val="0"/>
              </a:spcAft>
              <a:buNone/>
            </a:pPr>
            <a:r>
              <a:rPr lang="en-US" sz="2000">
                <a:solidFill>
                  <a:srgbClr val="595959"/>
                </a:solidFill>
                <a:latin typeface="Tahoma"/>
                <a:ea typeface="Tahoma"/>
                <a:cs typeface="Tahoma"/>
                <a:sym typeface="Tahoma"/>
              </a:rPr>
              <a:t>Ver el PHT (Program Header table) Ver el ELF Header</a:t>
            </a:r>
            <a:endParaRPr sz="2000">
              <a:latin typeface="Tahoma"/>
              <a:ea typeface="Tahoma"/>
              <a:cs typeface="Tahoma"/>
              <a:sym typeface="Tahoma"/>
            </a:endParaRPr>
          </a:p>
          <a:p>
            <a:pPr indent="0" lvl="0" marL="12700" marR="1202690" rtl="0" algn="l">
              <a:lnSpc>
                <a:spcPct val="165000"/>
              </a:lnSpc>
              <a:spcBef>
                <a:spcPts val="0"/>
              </a:spcBef>
              <a:spcAft>
                <a:spcPts val="0"/>
              </a:spcAft>
              <a:buNone/>
            </a:pPr>
            <a:r>
              <a:rPr lang="en-US" sz="2000">
                <a:solidFill>
                  <a:srgbClr val="595959"/>
                </a:solidFill>
                <a:latin typeface="Tahoma"/>
                <a:ea typeface="Tahoma"/>
                <a:cs typeface="Tahoma"/>
                <a:sym typeface="Tahoma"/>
              </a:rPr>
              <a:t>Ver la Realocation Table Ver el dump hexa</a:t>
            </a:r>
            <a:endParaRPr sz="2000">
              <a:latin typeface="Tahoma"/>
              <a:ea typeface="Tahoma"/>
              <a:cs typeface="Tahoma"/>
              <a:sym typeface="Tahoma"/>
            </a:endParaRPr>
          </a:p>
        </p:txBody>
      </p:sp>
      <p:sp>
        <p:nvSpPr>
          <p:cNvPr id="355" name="Google Shape;355;p23"/>
          <p:cNvSpPr txBox="1"/>
          <p:nvPr/>
        </p:nvSpPr>
        <p:spPr>
          <a:xfrm>
            <a:off x="4917275" y="665014"/>
            <a:ext cx="3570604" cy="2341880"/>
          </a:xfrm>
          <a:prstGeom prst="rect">
            <a:avLst/>
          </a:prstGeom>
          <a:noFill/>
          <a:ln>
            <a:noFill/>
          </a:ln>
        </p:spPr>
        <p:txBody>
          <a:bodyPr anchorCtr="0" anchor="t" bIns="0" lIns="0" spcFirstLastPara="1" rIns="0" wrap="square" tIns="12700">
            <a:spAutoFit/>
          </a:bodyPr>
          <a:lstStyle/>
          <a:p>
            <a:pPr indent="0" lvl="0" marL="61594" rtl="0" algn="l">
              <a:lnSpc>
                <a:spcPct val="100000"/>
              </a:lnSpc>
              <a:spcBef>
                <a:spcPts val="0"/>
              </a:spcBef>
              <a:spcAft>
                <a:spcPts val="0"/>
              </a:spcAft>
              <a:buNone/>
            </a:pPr>
            <a:r>
              <a:rPr lang="en-US" sz="2000">
                <a:solidFill>
                  <a:srgbClr val="595959"/>
                </a:solidFill>
                <a:latin typeface="Tahoma"/>
                <a:ea typeface="Tahoma"/>
                <a:cs typeface="Tahoma"/>
                <a:sym typeface="Tahoma"/>
              </a:rPr>
              <a:t>readelf -S &lt;archivo&gt;</a:t>
            </a:r>
            <a:endParaRPr sz="2000">
              <a:latin typeface="Tahoma"/>
              <a:ea typeface="Tahoma"/>
              <a:cs typeface="Tahoma"/>
              <a:sym typeface="Tahoma"/>
            </a:endParaRPr>
          </a:p>
          <a:p>
            <a:pPr indent="0" lvl="0" marL="12700" marR="1313180" rtl="0" algn="l">
              <a:lnSpc>
                <a:spcPct val="165000"/>
              </a:lnSpc>
              <a:spcBef>
                <a:spcPts val="0"/>
              </a:spcBef>
              <a:spcAft>
                <a:spcPts val="0"/>
              </a:spcAft>
              <a:buNone/>
            </a:pPr>
            <a:r>
              <a:rPr lang="en-US" sz="2000">
                <a:solidFill>
                  <a:srgbClr val="595959"/>
                </a:solidFill>
                <a:latin typeface="Tahoma"/>
                <a:ea typeface="Tahoma"/>
                <a:cs typeface="Tahoma"/>
                <a:sym typeface="Tahoma"/>
              </a:rPr>
              <a:t>readelf -l &lt;archivo&gt; readelf -h &lt;archivo&gt; readelf -r &lt;archivo&gt;</a:t>
            </a:r>
            <a:endParaRPr sz="2000">
              <a:latin typeface="Tahoma"/>
              <a:ea typeface="Tahoma"/>
              <a:cs typeface="Tahoma"/>
              <a:sym typeface="Tahoma"/>
            </a:endParaRPr>
          </a:p>
          <a:p>
            <a:pPr indent="0" lvl="0" marL="12700" rtl="0" algn="l">
              <a:lnSpc>
                <a:spcPct val="100000"/>
              </a:lnSpc>
              <a:spcBef>
                <a:spcPts val="1560"/>
              </a:spcBef>
              <a:spcAft>
                <a:spcPts val="0"/>
              </a:spcAft>
              <a:buNone/>
            </a:pPr>
            <a:r>
              <a:rPr lang="en-US" sz="2000">
                <a:solidFill>
                  <a:srgbClr val="595959"/>
                </a:solidFill>
                <a:latin typeface="Tahoma"/>
                <a:ea typeface="Tahoma"/>
                <a:cs typeface="Tahoma"/>
                <a:sym typeface="Tahoma"/>
              </a:rPr>
              <a:t>hexdump -C archivo | head -n 10</a:t>
            </a:r>
            <a:endParaRPr sz="2000">
              <a:latin typeface="Tahoma"/>
              <a:ea typeface="Tahoma"/>
              <a:cs typeface="Tahoma"/>
              <a:sym typeface="Tahoma"/>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59" name="Shape 359"/>
        <p:cNvGrpSpPr/>
        <p:nvPr/>
      </p:nvGrpSpPr>
      <p:grpSpPr>
        <a:xfrm>
          <a:off x="0" y="0"/>
          <a:ext cx="0" cy="0"/>
          <a:chOff x="0" y="0"/>
          <a:chExt cx="0" cy="0"/>
        </a:xfrm>
      </p:grpSpPr>
      <p:pic>
        <p:nvPicPr>
          <p:cNvPr id="360" name="Google Shape;360;p24"/>
          <p:cNvPicPr preferRelativeResize="0"/>
          <p:nvPr/>
        </p:nvPicPr>
        <p:blipFill rotWithShape="1">
          <a:blip r:embed="rId3">
            <a:alphaModFix/>
          </a:blip>
          <a:srcRect b="0" l="0" r="0" t="0"/>
          <a:stretch/>
        </p:blipFill>
        <p:spPr>
          <a:xfrm>
            <a:off x="1307675" y="1"/>
            <a:ext cx="6893227" cy="51435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64" name="Shape 364"/>
        <p:cNvGrpSpPr/>
        <p:nvPr/>
      </p:nvGrpSpPr>
      <p:grpSpPr>
        <a:xfrm>
          <a:off x="0" y="0"/>
          <a:ext cx="0" cy="0"/>
          <a:chOff x="0" y="0"/>
          <a:chExt cx="0" cy="0"/>
        </a:xfrm>
      </p:grpSpPr>
      <p:sp>
        <p:nvSpPr>
          <p:cNvPr id="365" name="Google Shape;365;p25"/>
          <p:cNvSpPr/>
          <p:nvPr/>
        </p:nvSpPr>
        <p:spPr>
          <a:xfrm>
            <a:off x="0" y="0"/>
            <a:ext cx="9144000" cy="5143500"/>
          </a:xfrm>
          <a:custGeom>
            <a:rect b="b" l="l" r="r" t="t"/>
            <a:pathLst>
              <a:path extrusionOk="0" h="5143500" w="9144000">
                <a:moveTo>
                  <a:pt x="9143999" y="5143499"/>
                </a:moveTo>
                <a:lnTo>
                  <a:pt x="0" y="5143499"/>
                </a:lnTo>
                <a:lnTo>
                  <a:pt x="0" y="0"/>
                </a:lnTo>
                <a:lnTo>
                  <a:pt x="9143999" y="0"/>
                </a:lnTo>
                <a:lnTo>
                  <a:pt x="9143999" y="5143499"/>
                </a:lnTo>
                <a:close/>
              </a:path>
            </a:pathLst>
          </a:custGeom>
          <a:solidFill>
            <a:srgbClr val="1A998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66" name="Google Shape;366;p25"/>
          <p:cNvSpPr txBox="1"/>
          <p:nvPr>
            <p:ph type="title"/>
          </p:nvPr>
        </p:nvSpPr>
        <p:spPr>
          <a:xfrm>
            <a:off x="802475" y="1377186"/>
            <a:ext cx="179387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solidFill>
                  <a:srgbClr val="FFFFFF"/>
                </a:solidFill>
              </a:rPr>
              <a:t>Proceso</a:t>
            </a:r>
            <a:endParaRPr sz="3600"/>
          </a:p>
        </p:txBody>
      </p:sp>
      <p:sp>
        <p:nvSpPr>
          <p:cNvPr id="367" name="Google Shape;367;p25"/>
          <p:cNvSpPr txBox="1"/>
          <p:nvPr/>
        </p:nvSpPr>
        <p:spPr>
          <a:xfrm>
            <a:off x="913550" y="3201581"/>
            <a:ext cx="4203065" cy="112268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800">
                <a:solidFill>
                  <a:srgbClr val="FFFFFF"/>
                </a:solidFill>
                <a:latin typeface="Trebuchet MS"/>
                <a:ea typeface="Trebuchet MS"/>
                <a:cs typeface="Trebuchet MS"/>
                <a:sym typeface="Trebuchet MS"/>
              </a:rPr>
              <a:t>Conceptos clave:</a:t>
            </a:r>
            <a:endParaRPr sz="1800">
              <a:latin typeface="Trebuchet MS"/>
              <a:ea typeface="Trebuchet MS"/>
              <a:cs typeface="Trebuchet MS"/>
              <a:sym typeface="Trebuchet MS"/>
            </a:endParaRPr>
          </a:p>
          <a:p>
            <a:pPr indent="-366395" lvl="0" marL="469265" rtl="0" algn="l">
              <a:lnSpc>
                <a:spcPct val="100000"/>
              </a:lnSpc>
              <a:spcBef>
                <a:spcPts val="0"/>
              </a:spcBef>
              <a:spcAft>
                <a:spcPts val="0"/>
              </a:spcAft>
              <a:buClr>
                <a:srgbClr val="FFFFFF"/>
              </a:buClr>
              <a:buSzPts val="1800"/>
              <a:buFont typeface="Arial"/>
              <a:buChar char="●"/>
            </a:pPr>
            <a:r>
              <a:rPr lang="en-US" sz="1800">
                <a:solidFill>
                  <a:srgbClr val="FFFFFF"/>
                </a:solidFill>
                <a:latin typeface="Trebuchet MS"/>
                <a:ea typeface="Trebuchet MS"/>
                <a:cs typeface="Trebuchet MS"/>
                <a:sym typeface="Trebuchet MS"/>
              </a:rPr>
              <a:t>Definición y componentes</a:t>
            </a:r>
            <a:endParaRPr sz="1800">
              <a:latin typeface="Trebuchet MS"/>
              <a:ea typeface="Trebuchet MS"/>
              <a:cs typeface="Trebuchet MS"/>
              <a:sym typeface="Trebuchet MS"/>
            </a:endParaRPr>
          </a:p>
          <a:p>
            <a:pPr indent="-366395" lvl="0" marL="469265" rtl="0" algn="l">
              <a:lnSpc>
                <a:spcPct val="100000"/>
              </a:lnSpc>
              <a:spcBef>
                <a:spcPts val="0"/>
              </a:spcBef>
              <a:spcAft>
                <a:spcPts val="0"/>
              </a:spcAft>
              <a:buClr>
                <a:srgbClr val="FFFFFF"/>
              </a:buClr>
              <a:buSzPts val="1800"/>
              <a:buFont typeface="Arial"/>
              <a:buChar char="●"/>
            </a:pPr>
            <a:r>
              <a:rPr lang="en-US" sz="1800">
                <a:solidFill>
                  <a:srgbClr val="FFFFFF"/>
                </a:solidFill>
                <a:latin typeface="Trebuchet MS"/>
                <a:ea typeface="Trebuchet MS"/>
                <a:cs typeface="Trebuchet MS"/>
                <a:sym typeface="Trebuchet MS"/>
              </a:rPr>
              <a:t>Estructura en memoria del proceso</a:t>
            </a:r>
            <a:endParaRPr sz="1800">
              <a:latin typeface="Trebuchet MS"/>
              <a:ea typeface="Trebuchet MS"/>
              <a:cs typeface="Trebuchet MS"/>
              <a:sym typeface="Trebuchet MS"/>
            </a:endParaRPr>
          </a:p>
          <a:p>
            <a:pPr indent="-366395" lvl="0" marL="469265" rtl="0" algn="l">
              <a:lnSpc>
                <a:spcPct val="100000"/>
              </a:lnSpc>
              <a:spcBef>
                <a:spcPts val="0"/>
              </a:spcBef>
              <a:spcAft>
                <a:spcPts val="0"/>
              </a:spcAft>
              <a:buClr>
                <a:srgbClr val="FFFFFF"/>
              </a:buClr>
              <a:buSzPts val="1800"/>
              <a:buFont typeface="Arial"/>
              <a:buChar char="●"/>
            </a:pPr>
            <a:r>
              <a:rPr lang="en-US" sz="1800">
                <a:solidFill>
                  <a:srgbClr val="FFFFFF"/>
                </a:solidFill>
                <a:latin typeface="Trebuchet MS"/>
                <a:ea typeface="Trebuchet MS"/>
                <a:cs typeface="Trebuchet MS"/>
                <a:sym typeface="Trebuchet MS"/>
              </a:rPr>
              <a:t>System call: brk()</a:t>
            </a:r>
            <a:endParaRPr sz="1800">
              <a:latin typeface="Trebuchet MS"/>
              <a:ea typeface="Trebuchet MS"/>
              <a:cs typeface="Trebuchet MS"/>
              <a:sym typeface="Trebuchet M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26"/>
          <p:cNvSpPr txBox="1"/>
          <p:nvPr>
            <p:ph type="title"/>
          </p:nvPr>
        </p:nvSpPr>
        <p:spPr>
          <a:xfrm>
            <a:off x="73025" y="12837"/>
            <a:ext cx="7791285" cy="476369"/>
          </a:xfrm>
          <a:prstGeom prst="rect">
            <a:avLst/>
          </a:prstGeom>
          <a:noFill/>
          <a:ln>
            <a:noFill/>
          </a:ln>
        </p:spPr>
        <p:txBody>
          <a:bodyPr anchorCtr="0" anchor="t" bIns="0" lIns="0" spcFirstLastPara="1" rIns="0" wrap="square" tIns="66075">
            <a:spAutoFit/>
          </a:bodyPr>
          <a:lstStyle/>
          <a:p>
            <a:pPr indent="0" lvl="0" marL="741680" rtl="0" algn="l">
              <a:lnSpc>
                <a:spcPct val="100000"/>
              </a:lnSpc>
              <a:spcBef>
                <a:spcPts val="0"/>
              </a:spcBef>
              <a:spcAft>
                <a:spcPts val="0"/>
              </a:spcAft>
              <a:buNone/>
            </a:pPr>
            <a:r>
              <a:rPr lang="en-US"/>
              <a:t>El Proceso</a:t>
            </a:r>
            <a:endParaRPr/>
          </a:p>
        </p:txBody>
      </p:sp>
      <p:sp>
        <p:nvSpPr>
          <p:cNvPr id="373" name="Google Shape;373;p26"/>
          <p:cNvSpPr txBox="1"/>
          <p:nvPr/>
        </p:nvSpPr>
        <p:spPr>
          <a:xfrm>
            <a:off x="802475" y="588569"/>
            <a:ext cx="7310755" cy="2585085"/>
          </a:xfrm>
          <a:prstGeom prst="rect">
            <a:avLst/>
          </a:prstGeom>
          <a:noFill/>
          <a:ln>
            <a:noFill/>
          </a:ln>
        </p:spPr>
        <p:txBody>
          <a:bodyPr anchorCtr="0" anchor="t" bIns="0" lIns="0" spcFirstLastPara="1" rIns="0" wrap="square" tIns="32375">
            <a:spAutoFit/>
          </a:bodyPr>
          <a:lstStyle/>
          <a:p>
            <a:pPr indent="0" lvl="0" marL="12700" marR="191770" rtl="0" algn="l">
              <a:lnSpc>
                <a:spcPct val="114285"/>
              </a:lnSpc>
              <a:spcBef>
                <a:spcPts val="0"/>
              </a:spcBef>
              <a:spcAft>
                <a:spcPts val="0"/>
              </a:spcAft>
              <a:buNone/>
            </a:pPr>
            <a:r>
              <a:rPr lang="en-US" sz="1750">
                <a:solidFill>
                  <a:srgbClr val="595959"/>
                </a:solidFill>
                <a:latin typeface="Tahoma"/>
                <a:ea typeface="Tahoma"/>
                <a:cs typeface="Tahoma"/>
                <a:sym typeface="Tahoma"/>
              </a:rPr>
              <a:t>“Un proceso es la ejecución de un programa de aplicación con derechos restringidos; el proceso es la abstracción que provee el Kernel del sistema operativo para la ejecución protegida”- [DAH]</a:t>
            </a:r>
            <a:endParaRPr sz="1750">
              <a:latin typeface="Tahoma"/>
              <a:ea typeface="Tahoma"/>
              <a:cs typeface="Tahoma"/>
              <a:sym typeface="Tahoma"/>
            </a:endParaRPr>
          </a:p>
          <a:p>
            <a:pPr indent="0" lvl="0" marL="12700" marR="5080" rtl="0" algn="l">
              <a:lnSpc>
                <a:spcPct val="114285"/>
              </a:lnSpc>
              <a:spcBef>
                <a:spcPts val="2020"/>
              </a:spcBef>
              <a:spcAft>
                <a:spcPts val="0"/>
              </a:spcAft>
              <a:buNone/>
            </a:pPr>
            <a:r>
              <a:rPr lang="en-US" sz="1750">
                <a:solidFill>
                  <a:srgbClr val="595959"/>
                </a:solidFill>
                <a:latin typeface="Tahoma"/>
                <a:ea typeface="Tahoma"/>
                <a:cs typeface="Tahoma"/>
                <a:sym typeface="Tahoma"/>
              </a:rPr>
              <a:t>“Es simplemente un programa que se está ejecutando en un instante dado” - [ARP]</a:t>
            </a:r>
            <a:endParaRPr sz="1750">
              <a:latin typeface="Tahoma"/>
              <a:ea typeface="Tahoma"/>
              <a:cs typeface="Tahoma"/>
              <a:sym typeface="Tahoma"/>
            </a:endParaRPr>
          </a:p>
          <a:p>
            <a:pPr indent="0" lvl="0" marL="12700" marR="1045844" rtl="0" algn="l">
              <a:lnSpc>
                <a:spcPct val="229142"/>
              </a:lnSpc>
              <a:spcBef>
                <a:spcPts val="210"/>
              </a:spcBef>
              <a:spcAft>
                <a:spcPts val="0"/>
              </a:spcAft>
              <a:buNone/>
            </a:pPr>
            <a:r>
              <a:rPr lang="en-US" sz="1750">
                <a:solidFill>
                  <a:srgbClr val="595959"/>
                </a:solidFill>
                <a:latin typeface="Tahoma"/>
                <a:ea typeface="Tahoma"/>
                <a:cs typeface="Tahoma"/>
                <a:sym typeface="Tahoma"/>
              </a:rPr>
              <a:t>“Un Proceso es la instancia de un programa en ejecución” - [VAH] “Un proceso es un programa en medio de su ejecución” - [LOV]</a:t>
            </a:r>
            <a:endParaRPr sz="1750">
              <a:latin typeface="Tahoma"/>
              <a:ea typeface="Tahoma"/>
              <a:cs typeface="Tahoma"/>
              <a:sym typeface="Tahoma"/>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27"/>
          <p:cNvSpPr txBox="1"/>
          <p:nvPr>
            <p:ph type="title"/>
          </p:nvPr>
        </p:nvSpPr>
        <p:spPr>
          <a:xfrm>
            <a:off x="73025" y="12837"/>
            <a:ext cx="7791285" cy="476369"/>
          </a:xfrm>
          <a:prstGeom prst="rect">
            <a:avLst/>
          </a:prstGeom>
          <a:noFill/>
          <a:ln>
            <a:noFill/>
          </a:ln>
        </p:spPr>
        <p:txBody>
          <a:bodyPr anchorCtr="0" anchor="t" bIns="0" lIns="0" spcFirstLastPara="1" rIns="0" wrap="square" tIns="17775">
            <a:spAutoFit/>
          </a:bodyPr>
          <a:lstStyle/>
          <a:p>
            <a:pPr indent="0" lvl="0" marL="741680" rtl="0" algn="l">
              <a:lnSpc>
                <a:spcPct val="100000"/>
              </a:lnSpc>
              <a:spcBef>
                <a:spcPts val="0"/>
              </a:spcBef>
              <a:spcAft>
                <a:spcPts val="0"/>
              </a:spcAft>
              <a:buNone/>
            </a:pPr>
            <a:r>
              <a:rPr lang="en-US"/>
              <a:t>User Space</a:t>
            </a:r>
            <a:endParaRPr/>
          </a:p>
        </p:txBody>
      </p:sp>
      <p:sp>
        <p:nvSpPr>
          <p:cNvPr id="379" name="Google Shape;379;p27"/>
          <p:cNvSpPr txBox="1"/>
          <p:nvPr/>
        </p:nvSpPr>
        <p:spPr>
          <a:xfrm rot="-2400000">
            <a:off x="3276283" y="4054894"/>
            <a:ext cx="427541" cy="180340"/>
          </a:xfrm>
          <a:prstGeom prst="rect">
            <a:avLst/>
          </a:prstGeom>
          <a:noFill/>
          <a:ln>
            <a:noFill/>
          </a:ln>
        </p:spPr>
        <p:txBody>
          <a:bodyPr anchorCtr="0" anchor="t" bIns="0" lIns="0" spcFirstLastPara="1" rIns="0" wrap="square" tIns="0">
            <a:spAutoFit/>
          </a:bodyPr>
          <a:lstStyle/>
          <a:p>
            <a:pPr indent="0" lvl="0" marL="0" rtl="0" algn="l">
              <a:lnSpc>
                <a:spcPct val="101428"/>
              </a:lnSpc>
              <a:spcBef>
                <a:spcPts val="0"/>
              </a:spcBef>
              <a:spcAft>
                <a:spcPts val="0"/>
              </a:spcAft>
              <a:buNone/>
            </a:pPr>
            <a:r>
              <a:rPr lang="en-US" sz="1400">
                <a:latin typeface="Tahoma"/>
                <a:ea typeface="Tahoma"/>
                <a:cs typeface="Tahoma"/>
                <a:sym typeface="Tahoma"/>
              </a:rPr>
              <a:t>stdin</a:t>
            </a:r>
            <a:endParaRPr sz="1400">
              <a:latin typeface="Tahoma"/>
              <a:ea typeface="Tahoma"/>
              <a:cs typeface="Tahoma"/>
              <a:sym typeface="Tahoma"/>
            </a:endParaRPr>
          </a:p>
        </p:txBody>
      </p:sp>
      <p:sp>
        <p:nvSpPr>
          <p:cNvPr id="380" name="Google Shape;380;p27"/>
          <p:cNvSpPr txBox="1"/>
          <p:nvPr/>
        </p:nvSpPr>
        <p:spPr>
          <a:xfrm rot="-2400000">
            <a:off x="3706757" y="4092789"/>
            <a:ext cx="538675" cy="180340"/>
          </a:xfrm>
          <a:prstGeom prst="rect">
            <a:avLst/>
          </a:prstGeom>
          <a:noFill/>
          <a:ln>
            <a:noFill/>
          </a:ln>
        </p:spPr>
        <p:txBody>
          <a:bodyPr anchorCtr="0" anchor="t" bIns="0" lIns="0" spcFirstLastPara="1" rIns="0" wrap="square" tIns="0">
            <a:spAutoFit/>
          </a:bodyPr>
          <a:lstStyle/>
          <a:p>
            <a:pPr indent="0" lvl="0" marL="0" rtl="0" algn="l">
              <a:lnSpc>
                <a:spcPct val="101428"/>
              </a:lnSpc>
              <a:spcBef>
                <a:spcPts val="0"/>
              </a:spcBef>
              <a:spcAft>
                <a:spcPts val="0"/>
              </a:spcAft>
              <a:buNone/>
            </a:pPr>
            <a:r>
              <a:rPr lang="en-US" sz="1400">
                <a:latin typeface="Tahoma"/>
                <a:ea typeface="Tahoma"/>
                <a:cs typeface="Tahoma"/>
                <a:sym typeface="Tahoma"/>
              </a:rPr>
              <a:t>stdout</a:t>
            </a:r>
            <a:endParaRPr sz="1400">
              <a:latin typeface="Tahoma"/>
              <a:ea typeface="Tahoma"/>
              <a:cs typeface="Tahoma"/>
              <a:sym typeface="Tahoma"/>
            </a:endParaRPr>
          </a:p>
        </p:txBody>
      </p:sp>
      <p:sp>
        <p:nvSpPr>
          <p:cNvPr id="381" name="Google Shape;381;p27"/>
          <p:cNvSpPr txBox="1"/>
          <p:nvPr/>
        </p:nvSpPr>
        <p:spPr>
          <a:xfrm rot="-2400000">
            <a:off x="4260851" y="4084355"/>
            <a:ext cx="512445" cy="180340"/>
          </a:xfrm>
          <a:prstGeom prst="rect">
            <a:avLst/>
          </a:prstGeom>
          <a:noFill/>
          <a:ln>
            <a:noFill/>
          </a:ln>
        </p:spPr>
        <p:txBody>
          <a:bodyPr anchorCtr="0" anchor="t" bIns="0" lIns="0" spcFirstLastPara="1" rIns="0" wrap="square" tIns="0">
            <a:spAutoFit/>
          </a:bodyPr>
          <a:lstStyle/>
          <a:p>
            <a:pPr indent="0" lvl="0" marL="0" rtl="0" algn="l">
              <a:lnSpc>
                <a:spcPct val="101428"/>
              </a:lnSpc>
              <a:spcBef>
                <a:spcPts val="0"/>
              </a:spcBef>
              <a:spcAft>
                <a:spcPts val="0"/>
              </a:spcAft>
              <a:buNone/>
            </a:pPr>
            <a:r>
              <a:rPr lang="en-US" sz="1400">
                <a:latin typeface="Tahoma"/>
                <a:ea typeface="Tahoma"/>
                <a:cs typeface="Tahoma"/>
                <a:sym typeface="Tahoma"/>
              </a:rPr>
              <a:t>stderr</a:t>
            </a:r>
            <a:endParaRPr sz="1400">
              <a:latin typeface="Tahoma"/>
              <a:ea typeface="Tahoma"/>
              <a:cs typeface="Tahoma"/>
              <a:sym typeface="Tahoma"/>
            </a:endParaRPr>
          </a:p>
        </p:txBody>
      </p:sp>
      <p:sp>
        <p:nvSpPr>
          <p:cNvPr id="382" name="Google Shape;382;p27"/>
          <p:cNvSpPr txBox="1"/>
          <p:nvPr/>
        </p:nvSpPr>
        <p:spPr>
          <a:xfrm rot="-2400000">
            <a:off x="4824340" y="4090562"/>
            <a:ext cx="532101" cy="180340"/>
          </a:xfrm>
          <a:prstGeom prst="rect">
            <a:avLst/>
          </a:prstGeom>
          <a:noFill/>
          <a:ln>
            <a:noFill/>
          </a:ln>
        </p:spPr>
        <p:txBody>
          <a:bodyPr anchorCtr="0" anchor="t" bIns="0" lIns="0" spcFirstLastPara="1" rIns="0" wrap="square" tIns="0">
            <a:spAutoFit/>
          </a:bodyPr>
          <a:lstStyle/>
          <a:p>
            <a:pPr indent="0" lvl="0" marL="0" rtl="0" algn="l">
              <a:lnSpc>
                <a:spcPct val="101428"/>
              </a:lnSpc>
              <a:spcBef>
                <a:spcPts val="0"/>
              </a:spcBef>
              <a:spcAft>
                <a:spcPts val="0"/>
              </a:spcAft>
              <a:buNone/>
            </a:pPr>
            <a:r>
              <a:rPr lang="en-US" sz="1400">
                <a:latin typeface="Tahoma"/>
                <a:ea typeface="Tahoma"/>
                <a:cs typeface="Tahoma"/>
                <a:sym typeface="Tahoma"/>
              </a:rPr>
              <a:t>file.txt</a:t>
            </a:r>
            <a:endParaRPr sz="1400">
              <a:latin typeface="Tahoma"/>
              <a:ea typeface="Tahoma"/>
              <a:cs typeface="Tahoma"/>
              <a:sym typeface="Tahoma"/>
            </a:endParaRPr>
          </a:p>
        </p:txBody>
      </p:sp>
      <p:graphicFrame>
        <p:nvGraphicFramePr>
          <p:cNvPr id="383" name="Google Shape;383;p27"/>
          <p:cNvGraphicFramePr/>
          <p:nvPr/>
        </p:nvGraphicFramePr>
        <p:xfrm>
          <a:off x="3388777" y="1392781"/>
          <a:ext cx="3000000" cy="3000000"/>
        </p:xfrm>
        <a:graphic>
          <a:graphicData uri="http://schemas.openxmlformats.org/drawingml/2006/table">
            <a:tbl>
              <a:tblPr bandRow="1" firstRow="1">
                <a:noFill/>
                <a:tableStyleId>{035D8EEA-0510-4563-8142-7CB70E15D845}</a:tableStyleId>
              </a:tblPr>
              <a:tblGrid>
                <a:gridCol w="553725"/>
                <a:gridCol w="553725"/>
                <a:gridCol w="553725"/>
                <a:gridCol w="553725"/>
                <a:gridCol w="1130925"/>
              </a:tblGrid>
              <a:tr h="421000">
                <a:tc gridSpan="4">
                  <a:txBody>
                    <a:bodyPr/>
                    <a:lstStyle/>
                    <a:p>
                      <a:pPr indent="0" lvl="0" marL="85725" marR="0" rtl="0" algn="l">
                        <a:lnSpc>
                          <a:spcPct val="100000"/>
                        </a:lnSpc>
                        <a:spcBef>
                          <a:spcPts val="0"/>
                        </a:spcBef>
                        <a:spcAft>
                          <a:spcPts val="0"/>
                        </a:spcAft>
                        <a:buNone/>
                      </a:pPr>
                      <a:r>
                        <a:rPr lang="en-US" sz="850" u="none" cap="none" strike="noStrike">
                          <a:latin typeface="Arial"/>
                          <a:ea typeface="Arial"/>
                          <a:cs typeface="Arial"/>
                          <a:sym typeface="Arial"/>
                        </a:rPr>
                        <a:t>PID: 12391</a:t>
                      </a:r>
                      <a:endParaRPr sz="850" u="none" cap="none" strike="noStrike">
                        <a:latin typeface="Arial"/>
                        <a:ea typeface="Arial"/>
                        <a:cs typeface="Arial"/>
                        <a:sym typeface="Arial"/>
                      </a:endParaRPr>
                    </a:p>
                  </a:txBody>
                  <a:tcPr marT="81275" marB="0" marR="0" marL="0">
                    <a:lnL cap="flat" cmpd="sng" w="9525">
                      <a:solidFill>
                        <a:srgbClr val="1A1A1A"/>
                      </a:solidFill>
                      <a:prstDash val="solid"/>
                      <a:round/>
                      <a:headEnd len="sm" w="sm" type="none"/>
                      <a:tailEnd len="sm" w="sm" type="none"/>
                    </a:lnL>
                    <a:lnR cap="flat" cmpd="sng" w="12700">
                      <a:solidFill>
                        <a:srgbClr val="1A1A1A"/>
                      </a:solidFill>
                      <a:prstDash val="solid"/>
                      <a:round/>
                      <a:headEnd len="sm" w="sm" type="none"/>
                      <a:tailEnd len="sm" w="sm" type="none"/>
                    </a:lnR>
                    <a:lnT cap="flat" cmpd="sng" w="9525">
                      <a:solidFill>
                        <a:srgbClr val="1A1A1A"/>
                      </a:solidFill>
                      <a:prstDash val="solid"/>
                      <a:round/>
                      <a:headEnd len="sm" w="sm" type="none"/>
                      <a:tailEnd len="sm" w="sm" type="none"/>
                    </a:lnT>
                    <a:lnB cap="flat" cmpd="sng" w="12700">
                      <a:solidFill>
                        <a:srgbClr val="1A1A1A"/>
                      </a:solidFill>
                      <a:prstDash val="solid"/>
                      <a:round/>
                      <a:headEnd len="sm" w="sm" type="none"/>
                      <a:tailEnd len="sm" w="sm" type="none"/>
                    </a:lnB>
                    <a:solidFill>
                      <a:srgbClr val="EA9999"/>
                    </a:solidFill>
                  </a:tcPr>
                </a:tc>
                <a:tc hMerge="1"/>
                <a:tc hMerge="1"/>
                <a:tc hMerge="1"/>
                <a:tc rowSpan="2">
                  <a:txBody>
                    <a:bodyPr/>
                    <a:lstStyle/>
                    <a:p>
                      <a:pPr indent="0" lvl="0" marL="84455" marR="0" rtl="0" algn="l">
                        <a:lnSpc>
                          <a:spcPct val="100000"/>
                        </a:lnSpc>
                        <a:spcBef>
                          <a:spcPts val="0"/>
                        </a:spcBef>
                        <a:spcAft>
                          <a:spcPts val="0"/>
                        </a:spcAft>
                        <a:buNone/>
                      </a:pPr>
                      <a:r>
                        <a:rPr lang="en-US" sz="1100" u="none" cap="none" strike="noStrike">
                          <a:latin typeface="Arial"/>
                          <a:ea typeface="Arial"/>
                          <a:cs typeface="Arial"/>
                          <a:sym typeface="Arial"/>
                        </a:rPr>
                        <a:t>Heap</a:t>
                      </a:r>
                      <a:endParaRPr sz="1100" u="none" cap="none" strike="noStrike">
                        <a:latin typeface="Arial"/>
                        <a:ea typeface="Arial"/>
                        <a:cs typeface="Arial"/>
                        <a:sym typeface="Arial"/>
                      </a:endParaRPr>
                    </a:p>
                  </a:txBody>
                  <a:tcPr marT="80000" marB="0" marR="0" marL="0">
                    <a:lnL cap="flat" cmpd="sng" w="12700">
                      <a:solidFill>
                        <a:srgbClr val="1A1A1A"/>
                      </a:solidFill>
                      <a:prstDash val="solid"/>
                      <a:round/>
                      <a:headEnd len="sm" w="sm" type="none"/>
                      <a:tailEnd len="sm" w="sm" type="none"/>
                    </a:lnL>
                    <a:lnR cap="flat" cmpd="sng" w="9525">
                      <a:solidFill>
                        <a:srgbClr val="1A1A1A"/>
                      </a:solidFill>
                      <a:prstDash val="solid"/>
                      <a:round/>
                      <a:headEnd len="sm" w="sm" type="none"/>
                      <a:tailEnd len="sm" w="sm" type="none"/>
                    </a:lnR>
                    <a:lnT cap="flat" cmpd="sng" w="9525">
                      <a:solidFill>
                        <a:srgbClr val="1A1A1A"/>
                      </a:solidFill>
                      <a:prstDash val="solid"/>
                      <a:round/>
                      <a:headEnd len="sm" w="sm" type="none"/>
                      <a:tailEnd len="sm" w="sm" type="none"/>
                    </a:lnT>
                    <a:lnB cap="flat" cmpd="sng" w="12700">
                      <a:solidFill>
                        <a:srgbClr val="1A1A1A"/>
                      </a:solidFill>
                      <a:prstDash val="solid"/>
                      <a:round/>
                      <a:headEnd len="sm" w="sm" type="none"/>
                      <a:tailEnd len="sm" w="sm" type="none"/>
                    </a:lnB>
                    <a:solidFill>
                      <a:srgbClr val="C9DAF7"/>
                    </a:solidFill>
                  </a:tcPr>
                </a:tc>
              </a:tr>
              <a:tr h="174625">
                <a:tc gridSpan="4" rowSpan="3">
                  <a:txBody>
                    <a:bodyPr/>
                    <a:lstStyle/>
                    <a:p>
                      <a:pPr indent="0" lvl="0" marL="85090" marR="0" rtl="0" algn="l">
                        <a:lnSpc>
                          <a:spcPct val="100000"/>
                        </a:lnSpc>
                        <a:spcBef>
                          <a:spcPts val="0"/>
                        </a:spcBef>
                        <a:spcAft>
                          <a:spcPts val="0"/>
                        </a:spcAft>
                        <a:buNone/>
                      </a:pPr>
                      <a:r>
                        <a:rPr lang="en-US" sz="1400" u="none" cap="none" strike="noStrike">
                          <a:latin typeface="Consolas"/>
                          <a:ea typeface="Consolas"/>
                          <a:cs typeface="Consolas"/>
                          <a:sym typeface="Consolas"/>
                        </a:rPr>
                        <a:t>grep</a:t>
                      </a:r>
                      <a:endParaRPr sz="1400" u="none" cap="none" strike="noStrike">
                        <a:latin typeface="Consolas"/>
                        <a:ea typeface="Consolas"/>
                        <a:cs typeface="Consolas"/>
                        <a:sym typeface="Consolas"/>
                      </a:endParaRPr>
                    </a:p>
                  </a:txBody>
                  <a:tcPr marT="78100" marB="0" marR="0" marL="0">
                    <a:lnL cap="flat" cmpd="sng" w="9525">
                      <a:solidFill>
                        <a:srgbClr val="1A1A1A"/>
                      </a:solidFill>
                      <a:prstDash val="solid"/>
                      <a:round/>
                      <a:headEnd len="sm" w="sm" type="none"/>
                      <a:tailEnd len="sm" w="sm" type="none"/>
                    </a:lnL>
                    <a:lnR cap="flat" cmpd="sng" w="12700">
                      <a:solidFill>
                        <a:srgbClr val="1A1A1A"/>
                      </a:solidFill>
                      <a:prstDash val="solid"/>
                      <a:round/>
                      <a:headEnd len="sm" w="sm" type="none"/>
                      <a:tailEnd len="sm" w="sm" type="none"/>
                    </a:lnR>
                    <a:lnT cap="flat" cmpd="sng" w="12700">
                      <a:solidFill>
                        <a:srgbClr val="1A1A1A"/>
                      </a:solidFill>
                      <a:prstDash val="solid"/>
                      <a:round/>
                      <a:headEnd len="sm" w="sm" type="none"/>
                      <a:tailEnd len="sm" w="sm" type="none"/>
                    </a:lnT>
                    <a:lnB cap="flat" cmpd="sng" w="19050">
                      <a:solidFill>
                        <a:srgbClr val="1A1A1A"/>
                      </a:solidFill>
                      <a:prstDash val="solid"/>
                      <a:round/>
                      <a:headEnd len="sm" w="sm" type="none"/>
                      <a:tailEnd len="sm" w="sm" type="none"/>
                    </a:lnB>
                    <a:solidFill>
                      <a:srgbClr val="A4C1F4"/>
                    </a:solidFill>
                  </a:tcPr>
                </a:tc>
                <a:tc rowSpan="3" hMerge="1"/>
                <a:tc rowSpan="3" hMerge="1"/>
                <a:tc rowSpan="3" hMerge="1"/>
                <a:tc vMerge="1"/>
              </a:tr>
              <a:tr h="596275">
                <a:tc gridSpan="4" vMerge="1"/>
                <a:tc hMerge="1" vMerge="1"/>
                <a:tc hMerge="1" vMerge="1"/>
                <a:tc hMerge="1" vMerge="1"/>
                <a:tc>
                  <a:txBody>
                    <a:bodyPr/>
                    <a:lstStyle/>
                    <a:p>
                      <a:pPr indent="0" lvl="0" marL="84455" marR="0" rtl="0" algn="l">
                        <a:lnSpc>
                          <a:spcPct val="100000"/>
                        </a:lnSpc>
                        <a:spcBef>
                          <a:spcPts val="0"/>
                        </a:spcBef>
                        <a:spcAft>
                          <a:spcPts val="0"/>
                        </a:spcAft>
                        <a:buNone/>
                      </a:pPr>
                      <a:r>
                        <a:rPr lang="en-US" sz="1100" u="none" cap="none" strike="noStrike">
                          <a:latin typeface="Arial"/>
                          <a:ea typeface="Arial"/>
                          <a:cs typeface="Arial"/>
                          <a:sym typeface="Arial"/>
                        </a:rPr>
                        <a:t>Stack</a:t>
                      </a:r>
                      <a:endParaRPr sz="1100" u="none" cap="none" strike="noStrike">
                        <a:latin typeface="Arial"/>
                        <a:ea typeface="Arial"/>
                        <a:cs typeface="Arial"/>
                        <a:sym typeface="Arial"/>
                      </a:endParaRPr>
                    </a:p>
                  </a:txBody>
                  <a:tcPr marT="80000" marB="0" marR="0" marL="0">
                    <a:lnL cap="flat" cmpd="sng" w="12700">
                      <a:solidFill>
                        <a:srgbClr val="1A1A1A"/>
                      </a:solidFill>
                      <a:prstDash val="solid"/>
                      <a:round/>
                      <a:headEnd len="sm" w="sm" type="none"/>
                      <a:tailEnd len="sm" w="sm" type="none"/>
                    </a:lnL>
                    <a:lnR cap="flat" cmpd="sng" w="9525">
                      <a:solidFill>
                        <a:srgbClr val="1A1A1A"/>
                      </a:solidFill>
                      <a:prstDash val="solid"/>
                      <a:round/>
                      <a:headEnd len="sm" w="sm" type="none"/>
                      <a:tailEnd len="sm" w="sm" type="none"/>
                    </a:lnR>
                    <a:lnT cap="flat" cmpd="sng" w="12700">
                      <a:solidFill>
                        <a:srgbClr val="1A1A1A"/>
                      </a:solidFill>
                      <a:prstDash val="solid"/>
                      <a:round/>
                      <a:headEnd len="sm" w="sm" type="none"/>
                      <a:tailEnd len="sm" w="sm" type="none"/>
                    </a:lnT>
                    <a:lnB cap="flat" cmpd="sng" w="12700">
                      <a:solidFill>
                        <a:srgbClr val="1A1A1A"/>
                      </a:solidFill>
                      <a:prstDash val="solid"/>
                      <a:round/>
                      <a:headEnd len="sm" w="sm" type="none"/>
                      <a:tailEnd len="sm" w="sm" type="none"/>
                    </a:lnB>
                    <a:solidFill>
                      <a:srgbClr val="C9DAF7"/>
                    </a:solidFill>
                  </a:tcPr>
                </a:tc>
              </a:tr>
              <a:tr h="360675">
                <a:tc gridSpan="4" vMerge="1"/>
                <a:tc hMerge="1" vMerge="1"/>
                <a:tc hMerge="1" vMerge="1"/>
                <a:tc hMerge="1" vMerge="1"/>
                <a:tc rowSpan="2">
                  <a:txBody>
                    <a:bodyPr/>
                    <a:lstStyle/>
                    <a:p>
                      <a:pPr indent="0" lvl="0" marL="84455" marR="0" rtl="0" algn="l">
                        <a:lnSpc>
                          <a:spcPct val="100000"/>
                        </a:lnSpc>
                        <a:spcBef>
                          <a:spcPts val="0"/>
                        </a:spcBef>
                        <a:spcAft>
                          <a:spcPts val="0"/>
                        </a:spcAft>
                        <a:buNone/>
                      </a:pPr>
                      <a:r>
                        <a:rPr lang="en-US" sz="1100" u="none" cap="none" strike="noStrike">
                          <a:latin typeface="Arial"/>
                          <a:ea typeface="Arial"/>
                          <a:cs typeface="Arial"/>
                          <a:sym typeface="Arial"/>
                        </a:rPr>
                        <a:t>Data</a:t>
                      </a:r>
                      <a:endParaRPr sz="1100" u="none" cap="none" strike="noStrike">
                        <a:latin typeface="Arial"/>
                        <a:ea typeface="Arial"/>
                        <a:cs typeface="Arial"/>
                        <a:sym typeface="Arial"/>
                      </a:endParaRPr>
                    </a:p>
                  </a:txBody>
                  <a:tcPr marT="80000" marB="0" marR="0" marL="0">
                    <a:lnL cap="flat" cmpd="sng" w="12700">
                      <a:solidFill>
                        <a:srgbClr val="1A1A1A"/>
                      </a:solidFill>
                      <a:prstDash val="solid"/>
                      <a:round/>
                      <a:headEnd len="sm" w="sm" type="none"/>
                      <a:tailEnd len="sm" w="sm" type="none"/>
                    </a:lnL>
                    <a:lnR cap="flat" cmpd="sng" w="9525">
                      <a:solidFill>
                        <a:srgbClr val="1A1A1A"/>
                      </a:solidFill>
                      <a:prstDash val="solid"/>
                      <a:round/>
                      <a:headEnd len="sm" w="sm" type="none"/>
                      <a:tailEnd len="sm" w="sm" type="none"/>
                    </a:lnR>
                    <a:lnT cap="flat" cmpd="sng" w="12700">
                      <a:solidFill>
                        <a:srgbClr val="1A1A1A"/>
                      </a:solidFill>
                      <a:prstDash val="solid"/>
                      <a:round/>
                      <a:headEnd len="sm" w="sm" type="none"/>
                      <a:tailEnd len="sm" w="sm" type="none"/>
                    </a:lnT>
                    <a:lnB cap="flat" cmpd="sng" w="12700">
                      <a:solidFill>
                        <a:srgbClr val="1A1A1A"/>
                      </a:solidFill>
                      <a:prstDash val="solid"/>
                      <a:round/>
                      <a:headEnd len="sm" w="sm" type="none"/>
                      <a:tailEnd len="sm" w="sm" type="none"/>
                    </a:lnB>
                    <a:solidFill>
                      <a:srgbClr val="C9DAF7"/>
                    </a:solidFill>
                  </a:tcPr>
                </a:tc>
              </a:tr>
              <a:tr h="234950">
                <a:tc gridSpan="4" rowSpan="2">
                  <a:txBody>
                    <a:bodyPr/>
                    <a:lstStyle/>
                    <a:p>
                      <a:pPr indent="0" lvl="0" marL="85090" marR="0" rtl="0" algn="l">
                        <a:lnSpc>
                          <a:spcPct val="100000"/>
                        </a:lnSpc>
                        <a:spcBef>
                          <a:spcPts val="0"/>
                        </a:spcBef>
                        <a:spcAft>
                          <a:spcPts val="0"/>
                        </a:spcAft>
                        <a:buNone/>
                      </a:pPr>
                      <a:r>
                        <a:rPr lang="en-US" sz="1050" u="none" cap="none" strike="noStrike">
                          <a:latin typeface="Arial"/>
                          <a:ea typeface="Arial"/>
                          <a:cs typeface="Arial"/>
                          <a:sym typeface="Arial"/>
                        </a:rPr>
                        <a:t>File Descriptors</a:t>
                      </a:r>
                      <a:endParaRPr sz="1050" u="none" cap="none" strike="noStrike">
                        <a:latin typeface="Arial"/>
                        <a:ea typeface="Arial"/>
                        <a:cs typeface="Arial"/>
                        <a:sym typeface="Arial"/>
                      </a:endParaRPr>
                    </a:p>
                  </a:txBody>
                  <a:tcPr marT="83175" marB="0" marR="0" marL="0">
                    <a:lnL cap="flat" cmpd="sng" w="9525">
                      <a:solidFill>
                        <a:srgbClr val="1A1A1A"/>
                      </a:solidFill>
                      <a:prstDash val="solid"/>
                      <a:round/>
                      <a:headEnd len="sm" w="sm" type="none"/>
                      <a:tailEnd len="sm" w="sm" type="none"/>
                    </a:lnL>
                    <a:lnR cap="flat" cmpd="sng" w="12700">
                      <a:solidFill>
                        <a:srgbClr val="1A1A1A"/>
                      </a:solidFill>
                      <a:prstDash val="solid"/>
                      <a:round/>
                      <a:headEnd len="sm" w="sm" type="none"/>
                      <a:tailEnd len="sm" w="sm" type="none"/>
                    </a:lnR>
                    <a:lnT cap="flat" cmpd="sng" w="19050">
                      <a:solidFill>
                        <a:srgbClr val="1A1A1A"/>
                      </a:solidFill>
                      <a:prstDash val="solid"/>
                      <a:round/>
                      <a:headEnd len="sm" w="sm" type="none"/>
                      <a:tailEnd len="sm" w="sm" type="none"/>
                    </a:lnT>
                    <a:lnB cap="flat" cmpd="sng" w="9525">
                      <a:solidFill>
                        <a:srgbClr val="1A1A1A"/>
                      </a:solidFill>
                      <a:prstDash val="solid"/>
                      <a:round/>
                      <a:headEnd len="sm" w="sm" type="none"/>
                      <a:tailEnd len="sm" w="sm" type="none"/>
                    </a:lnB>
                    <a:solidFill>
                      <a:srgbClr val="B6D7A8"/>
                    </a:solidFill>
                  </a:tcPr>
                </a:tc>
                <a:tc rowSpan="2" hMerge="1"/>
                <a:tc rowSpan="2" hMerge="1"/>
                <a:tc rowSpan="2" hMerge="1"/>
                <a:tc vMerge="1"/>
              </a:tr>
              <a:tr h="188600">
                <a:tc gridSpan="4" vMerge="1"/>
                <a:tc hMerge="1" vMerge="1"/>
                <a:tc hMerge="1" vMerge="1"/>
                <a:tc hMerge="1" vMerge="1"/>
                <a:tc rowSpan="2">
                  <a:txBody>
                    <a:bodyPr/>
                    <a:lstStyle/>
                    <a:p>
                      <a:pPr indent="0" lvl="0" marL="84455" marR="0" rtl="0" algn="l">
                        <a:lnSpc>
                          <a:spcPct val="100000"/>
                        </a:lnSpc>
                        <a:spcBef>
                          <a:spcPts val="0"/>
                        </a:spcBef>
                        <a:spcAft>
                          <a:spcPts val="0"/>
                        </a:spcAft>
                        <a:buNone/>
                      </a:pPr>
                      <a:r>
                        <a:rPr lang="en-US" sz="1100" u="none" cap="none" strike="noStrike">
                          <a:latin typeface="Arial"/>
                          <a:ea typeface="Arial"/>
                          <a:cs typeface="Arial"/>
                          <a:sym typeface="Arial"/>
                        </a:rPr>
                        <a:t>Code</a:t>
                      </a:r>
                      <a:endParaRPr sz="1100" u="none" cap="none" strike="noStrike">
                        <a:latin typeface="Arial"/>
                        <a:ea typeface="Arial"/>
                        <a:cs typeface="Arial"/>
                        <a:sym typeface="Arial"/>
                      </a:endParaRPr>
                    </a:p>
                  </a:txBody>
                  <a:tcPr marT="80000" marB="0" marR="0" marL="0">
                    <a:lnL cap="flat" cmpd="sng" w="12700">
                      <a:solidFill>
                        <a:srgbClr val="1A1A1A"/>
                      </a:solidFill>
                      <a:prstDash val="solid"/>
                      <a:round/>
                      <a:headEnd len="sm" w="sm" type="none"/>
                      <a:tailEnd len="sm" w="sm" type="none"/>
                    </a:lnL>
                    <a:lnR cap="flat" cmpd="sng" w="9525">
                      <a:solidFill>
                        <a:srgbClr val="1A1A1A"/>
                      </a:solidFill>
                      <a:prstDash val="solid"/>
                      <a:round/>
                      <a:headEnd len="sm" w="sm" type="none"/>
                      <a:tailEnd len="sm" w="sm" type="none"/>
                    </a:lnR>
                    <a:lnT cap="flat" cmpd="sng" w="12700">
                      <a:solidFill>
                        <a:srgbClr val="1A1A1A"/>
                      </a:solidFill>
                      <a:prstDash val="solid"/>
                      <a:round/>
                      <a:headEnd len="sm" w="sm" type="none"/>
                      <a:tailEnd len="sm" w="sm" type="none"/>
                    </a:lnT>
                    <a:lnB cap="flat" cmpd="sng" w="9525">
                      <a:solidFill>
                        <a:srgbClr val="1A1A1A"/>
                      </a:solidFill>
                      <a:prstDash val="solid"/>
                      <a:round/>
                      <a:headEnd len="sm" w="sm" type="none"/>
                      <a:tailEnd len="sm" w="sm" type="none"/>
                    </a:lnB>
                    <a:solidFill>
                      <a:srgbClr val="C9DAF7"/>
                    </a:solidFill>
                  </a:tcPr>
                </a:tc>
              </a:tr>
              <a:tr h="407025">
                <a:tc>
                  <a:txBody>
                    <a:bodyPr/>
                    <a:lstStyle/>
                    <a:p>
                      <a:pPr indent="0" lvl="0" marL="85090" marR="0" rtl="0" algn="l">
                        <a:lnSpc>
                          <a:spcPct val="100000"/>
                        </a:lnSpc>
                        <a:spcBef>
                          <a:spcPts val="0"/>
                        </a:spcBef>
                        <a:spcAft>
                          <a:spcPts val="0"/>
                        </a:spcAft>
                        <a:buNone/>
                      </a:pPr>
                      <a:r>
                        <a:rPr lang="en-US" sz="1100" u="none" cap="none" strike="noStrike">
                          <a:latin typeface="Arial"/>
                          <a:ea typeface="Arial"/>
                          <a:cs typeface="Arial"/>
                          <a:sym typeface="Arial"/>
                        </a:rPr>
                        <a:t>0</a:t>
                      </a:r>
                      <a:endParaRPr sz="1100" u="none" cap="none" strike="noStrike">
                        <a:latin typeface="Arial"/>
                        <a:ea typeface="Arial"/>
                        <a:cs typeface="Arial"/>
                        <a:sym typeface="Arial"/>
                      </a:endParaRPr>
                    </a:p>
                  </a:txBody>
                  <a:tcPr marT="66050" marB="0" marR="0" marL="0">
                    <a:lnL cap="flat" cmpd="sng" w="9525">
                      <a:solidFill>
                        <a:srgbClr val="1A1A1A"/>
                      </a:solidFill>
                      <a:prstDash val="solid"/>
                      <a:round/>
                      <a:headEnd len="sm" w="sm" type="none"/>
                      <a:tailEnd len="sm" w="sm" type="none"/>
                    </a:lnL>
                    <a:lnR cap="flat" cmpd="sng" w="12700">
                      <a:solidFill>
                        <a:srgbClr val="1A1A1A"/>
                      </a:solidFill>
                      <a:prstDash val="solid"/>
                      <a:round/>
                      <a:headEnd len="sm" w="sm" type="none"/>
                      <a:tailEnd len="sm" w="sm" type="none"/>
                    </a:lnR>
                    <a:lnT cap="flat" cmpd="sng" w="9525">
                      <a:solidFill>
                        <a:srgbClr val="1A1A1A"/>
                      </a:solidFill>
                      <a:prstDash val="solid"/>
                      <a:round/>
                      <a:headEnd len="sm" w="sm" type="none"/>
                      <a:tailEnd len="sm" w="sm" type="none"/>
                    </a:lnT>
                    <a:lnB cap="flat" cmpd="sng" w="9525">
                      <a:solidFill>
                        <a:srgbClr val="1A1A1A"/>
                      </a:solidFill>
                      <a:prstDash val="solid"/>
                      <a:round/>
                      <a:headEnd len="sm" w="sm" type="none"/>
                      <a:tailEnd len="sm" w="sm" type="none"/>
                    </a:lnB>
                    <a:solidFill>
                      <a:srgbClr val="B6D7A8"/>
                    </a:solidFill>
                  </a:tcPr>
                </a:tc>
                <a:tc>
                  <a:txBody>
                    <a:bodyPr/>
                    <a:lstStyle/>
                    <a:p>
                      <a:pPr indent="0" lvl="0" marL="85090" marR="0" rtl="0" algn="l">
                        <a:lnSpc>
                          <a:spcPct val="100000"/>
                        </a:lnSpc>
                        <a:spcBef>
                          <a:spcPts val="0"/>
                        </a:spcBef>
                        <a:spcAft>
                          <a:spcPts val="0"/>
                        </a:spcAft>
                        <a:buNone/>
                      </a:pPr>
                      <a:r>
                        <a:rPr lang="en-US" sz="1100" u="none" cap="none" strike="noStrike">
                          <a:latin typeface="Arial"/>
                          <a:ea typeface="Arial"/>
                          <a:cs typeface="Arial"/>
                          <a:sym typeface="Arial"/>
                        </a:rPr>
                        <a:t>1</a:t>
                      </a:r>
                      <a:endParaRPr sz="1100" u="none" cap="none" strike="noStrike">
                        <a:latin typeface="Arial"/>
                        <a:ea typeface="Arial"/>
                        <a:cs typeface="Arial"/>
                        <a:sym typeface="Arial"/>
                      </a:endParaRPr>
                    </a:p>
                  </a:txBody>
                  <a:tcPr marT="66050" marB="0" marR="0" marL="0">
                    <a:lnL cap="flat" cmpd="sng" w="12700">
                      <a:solidFill>
                        <a:srgbClr val="1A1A1A"/>
                      </a:solidFill>
                      <a:prstDash val="solid"/>
                      <a:round/>
                      <a:headEnd len="sm" w="sm" type="none"/>
                      <a:tailEnd len="sm" w="sm" type="none"/>
                    </a:lnL>
                    <a:lnR cap="flat" cmpd="sng" w="12700">
                      <a:solidFill>
                        <a:srgbClr val="1A1A1A"/>
                      </a:solidFill>
                      <a:prstDash val="solid"/>
                      <a:round/>
                      <a:headEnd len="sm" w="sm" type="none"/>
                      <a:tailEnd len="sm" w="sm" type="none"/>
                    </a:lnR>
                    <a:lnT cap="flat" cmpd="sng" w="9525">
                      <a:solidFill>
                        <a:srgbClr val="1A1A1A"/>
                      </a:solidFill>
                      <a:prstDash val="solid"/>
                      <a:round/>
                      <a:headEnd len="sm" w="sm" type="none"/>
                      <a:tailEnd len="sm" w="sm" type="none"/>
                    </a:lnT>
                    <a:lnB cap="flat" cmpd="sng" w="9525">
                      <a:solidFill>
                        <a:srgbClr val="1A1A1A"/>
                      </a:solidFill>
                      <a:prstDash val="solid"/>
                      <a:round/>
                      <a:headEnd len="sm" w="sm" type="none"/>
                      <a:tailEnd len="sm" w="sm" type="none"/>
                    </a:lnB>
                    <a:solidFill>
                      <a:srgbClr val="B6D7A8"/>
                    </a:solidFill>
                  </a:tcPr>
                </a:tc>
                <a:tc>
                  <a:txBody>
                    <a:bodyPr/>
                    <a:lstStyle/>
                    <a:p>
                      <a:pPr indent="0" lvl="0" marL="85090" marR="0" rtl="0" algn="l">
                        <a:lnSpc>
                          <a:spcPct val="100000"/>
                        </a:lnSpc>
                        <a:spcBef>
                          <a:spcPts val="0"/>
                        </a:spcBef>
                        <a:spcAft>
                          <a:spcPts val="0"/>
                        </a:spcAft>
                        <a:buNone/>
                      </a:pPr>
                      <a:r>
                        <a:rPr lang="en-US" sz="1100" u="none" cap="none" strike="noStrike">
                          <a:latin typeface="Arial"/>
                          <a:ea typeface="Arial"/>
                          <a:cs typeface="Arial"/>
                          <a:sym typeface="Arial"/>
                        </a:rPr>
                        <a:t>2</a:t>
                      </a:r>
                      <a:endParaRPr sz="1100" u="none" cap="none" strike="noStrike">
                        <a:latin typeface="Arial"/>
                        <a:ea typeface="Arial"/>
                        <a:cs typeface="Arial"/>
                        <a:sym typeface="Arial"/>
                      </a:endParaRPr>
                    </a:p>
                  </a:txBody>
                  <a:tcPr marT="66050" marB="0" marR="0" marL="0">
                    <a:lnL cap="flat" cmpd="sng" w="12700">
                      <a:solidFill>
                        <a:srgbClr val="1A1A1A"/>
                      </a:solidFill>
                      <a:prstDash val="solid"/>
                      <a:round/>
                      <a:headEnd len="sm" w="sm" type="none"/>
                      <a:tailEnd len="sm" w="sm" type="none"/>
                    </a:lnL>
                    <a:lnR cap="flat" cmpd="sng" w="12700">
                      <a:solidFill>
                        <a:srgbClr val="1A1A1A"/>
                      </a:solidFill>
                      <a:prstDash val="solid"/>
                      <a:round/>
                      <a:headEnd len="sm" w="sm" type="none"/>
                      <a:tailEnd len="sm" w="sm" type="none"/>
                    </a:lnR>
                    <a:lnT cap="flat" cmpd="sng" w="9525">
                      <a:solidFill>
                        <a:srgbClr val="1A1A1A"/>
                      </a:solidFill>
                      <a:prstDash val="solid"/>
                      <a:round/>
                      <a:headEnd len="sm" w="sm" type="none"/>
                      <a:tailEnd len="sm" w="sm" type="none"/>
                    </a:lnT>
                    <a:lnB cap="flat" cmpd="sng" w="9525">
                      <a:solidFill>
                        <a:srgbClr val="1A1A1A"/>
                      </a:solidFill>
                      <a:prstDash val="solid"/>
                      <a:round/>
                      <a:headEnd len="sm" w="sm" type="none"/>
                      <a:tailEnd len="sm" w="sm" type="none"/>
                    </a:lnB>
                    <a:solidFill>
                      <a:srgbClr val="B6D7A8"/>
                    </a:solidFill>
                  </a:tcPr>
                </a:tc>
                <a:tc>
                  <a:txBody>
                    <a:bodyPr/>
                    <a:lstStyle/>
                    <a:p>
                      <a:pPr indent="0" lvl="0" marL="85090" marR="0" rtl="0" algn="l">
                        <a:lnSpc>
                          <a:spcPct val="100000"/>
                        </a:lnSpc>
                        <a:spcBef>
                          <a:spcPts val="0"/>
                        </a:spcBef>
                        <a:spcAft>
                          <a:spcPts val="0"/>
                        </a:spcAft>
                        <a:buNone/>
                      </a:pPr>
                      <a:r>
                        <a:rPr lang="en-US" sz="1100" u="none" cap="none" strike="noStrike">
                          <a:latin typeface="Arial"/>
                          <a:ea typeface="Arial"/>
                          <a:cs typeface="Arial"/>
                          <a:sym typeface="Arial"/>
                        </a:rPr>
                        <a:t>3</a:t>
                      </a:r>
                      <a:endParaRPr sz="1100" u="none" cap="none" strike="noStrike">
                        <a:latin typeface="Arial"/>
                        <a:ea typeface="Arial"/>
                        <a:cs typeface="Arial"/>
                        <a:sym typeface="Arial"/>
                      </a:endParaRPr>
                    </a:p>
                  </a:txBody>
                  <a:tcPr marT="66050" marB="0" marR="0" marL="0">
                    <a:lnL cap="flat" cmpd="sng" w="12700">
                      <a:solidFill>
                        <a:srgbClr val="1A1A1A"/>
                      </a:solidFill>
                      <a:prstDash val="solid"/>
                      <a:round/>
                      <a:headEnd len="sm" w="sm" type="none"/>
                      <a:tailEnd len="sm" w="sm" type="none"/>
                    </a:lnL>
                    <a:lnR cap="flat" cmpd="sng" w="12700">
                      <a:solidFill>
                        <a:srgbClr val="1A1A1A"/>
                      </a:solidFill>
                      <a:prstDash val="solid"/>
                      <a:round/>
                      <a:headEnd len="sm" w="sm" type="none"/>
                      <a:tailEnd len="sm" w="sm" type="none"/>
                    </a:lnR>
                    <a:lnT cap="flat" cmpd="sng" w="9525">
                      <a:solidFill>
                        <a:srgbClr val="1A1A1A"/>
                      </a:solidFill>
                      <a:prstDash val="solid"/>
                      <a:round/>
                      <a:headEnd len="sm" w="sm" type="none"/>
                      <a:tailEnd len="sm" w="sm" type="none"/>
                    </a:lnT>
                    <a:lnB cap="flat" cmpd="sng" w="9525">
                      <a:solidFill>
                        <a:srgbClr val="1A1A1A"/>
                      </a:solidFill>
                      <a:prstDash val="solid"/>
                      <a:round/>
                      <a:headEnd len="sm" w="sm" type="none"/>
                      <a:tailEnd len="sm" w="sm" type="none"/>
                    </a:lnB>
                    <a:solidFill>
                      <a:srgbClr val="B6D7A8"/>
                    </a:solidFill>
                  </a:tcPr>
                </a:tc>
                <a:tc vMerge="1"/>
              </a:tr>
            </a:tbl>
          </a:graphicData>
        </a:graphic>
      </p:graphicFrame>
      <p:sp>
        <p:nvSpPr>
          <p:cNvPr id="384" name="Google Shape;384;p27"/>
          <p:cNvSpPr txBox="1"/>
          <p:nvPr/>
        </p:nvSpPr>
        <p:spPr>
          <a:xfrm>
            <a:off x="687125" y="748062"/>
            <a:ext cx="5172075" cy="382270"/>
          </a:xfrm>
          <a:prstGeom prst="rect">
            <a:avLst/>
          </a:prstGeom>
          <a:noFill/>
          <a:ln>
            <a:noFill/>
          </a:ln>
        </p:spPr>
        <p:txBody>
          <a:bodyPr anchorCtr="0" anchor="t" bIns="0" lIns="0" spcFirstLastPara="1" rIns="0" wrap="square" tIns="17775">
            <a:spAutoFit/>
          </a:bodyPr>
          <a:lstStyle/>
          <a:p>
            <a:pPr indent="0" lvl="0" marL="12700" rtl="0" algn="l">
              <a:lnSpc>
                <a:spcPct val="100000"/>
              </a:lnSpc>
              <a:spcBef>
                <a:spcPts val="0"/>
              </a:spcBef>
              <a:spcAft>
                <a:spcPts val="0"/>
              </a:spcAft>
              <a:buNone/>
            </a:pPr>
            <a:r>
              <a:rPr lang="en-US" sz="2300">
                <a:solidFill>
                  <a:srgbClr val="1A1A1A"/>
                </a:solidFill>
                <a:latin typeface="Trebuchet MS"/>
                <a:ea typeface="Trebuchet MS"/>
                <a:cs typeface="Trebuchet MS"/>
                <a:sym typeface="Trebuchet MS"/>
              </a:rPr>
              <a:t>El habitante de User Land: </a:t>
            </a:r>
            <a:r>
              <a:rPr b="1" lang="en-US" sz="2300">
                <a:solidFill>
                  <a:srgbClr val="1A1A1A"/>
                </a:solidFill>
                <a:latin typeface="Trebuchet MS"/>
                <a:ea typeface="Trebuchet MS"/>
                <a:cs typeface="Trebuchet MS"/>
                <a:sym typeface="Trebuchet MS"/>
              </a:rPr>
              <a:t>el proceso</a:t>
            </a:r>
            <a:endParaRPr sz="2300">
              <a:latin typeface="Trebuchet MS"/>
              <a:ea typeface="Trebuchet MS"/>
              <a:cs typeface="Trebuchet MS"/>
              <a:sym typeface="Trebuchet M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28"/>
          <p:cNvSpPr txBox="1"/>
          <p:nvPr>
            <p:ph type="title"/>
          </p:nvPr>
        </p:nvSpPr>
        <p:spPr>
          <a:xfrm>
            <a:off x="73025" y="12837"/>
            <a:ext cx="7791285" cy="476369"/>
          </a:xfrm>
          <a:prstGeom prst="rect">
            <a:avLst/>
          </a:prstGeom>
          <a:noFill/>
          <a:ln>
            <a:noFill/>
          </a:ln>
        </p:spPr>
        <p:txBody>
          <a:bodyPr anchorCtr="0" anchor="t" bIns="0" lIns="0" spcFirstLastPara="1" rIns="0" wrap="square" tIns="66075">
            <a:spAutoFit/>
          </a:bodyPr>
          <a:lstStyle/>
          <a:p>
            <a:pPr indent="0" lvl="0" marL="739775" rtl="0" algn="l">
              <a:lnSpc>
                <a:spcPct val="100000"/>
              </a:lnSpc>
              <a:spcBef>
                <a:spcPts val="0"/>
              </a:spcBef>
              <a:spcAft>
                <a:spcPts val="0"/>
              </a:spcAft>
              <a:buNone/>
            </a:pPr>
            <a:r>
              <a:rPr lang="en-US"/>
              <a:t>El Proceso</a:t>
            </a:r>
            <a:endParaRPr/>
          </a:p>
        </p:txBody>
      </p:sp>
      <p:sp>
        <p:nvSpPr>
          <p:cNvPr id="390" name="Google Shape;390;p28"/>
          <p:cNvSpPr txBox="1"/>
          <p:nvPr/>
        </p:nvSpPr>
        <p:spPr>
          <a:xfrm>
            <a:off x="802475" y="559421"/>
            <a:ext cx="7170420" cy="3590290"/>
          </a:xfrm>
          <a:prstGeom prst="rect">
            <a:avLst/>
          </a:prstGeom>
          <a:noFill/>
          <a:ln>
            <a:noFill/>
          </a:ln>
        </p:spPr>
        <p:txBody>
          <a:bodyPr anchorCtr="0" anchor="t" bIns="0" lIns="0" spcFirstLastPara="1" rIns="0" wrap="square" tIns="61575">
            <a:spAutoFit/>
          </a:bodyPr>
          <a:lstStyle/>
          <a:p>
            <a:pPr indent="0" lvl="0" marL="12700" marR="5080" rtl="0" algn="l">
              <a:lnSpc>
                <a:spcPct val="103902"/>
              </a:lnSpc>
              <a:spcBef>
                <a:spcPts val="0"/>
              </a:spcBef>
              <a:spcAft>
                <a:spcPts val="0"/>
              </a:spcAft>
              <a:buNone/>
            </a:pPr>
            <a:r>
              <a:rPr lang="en-US" sz="2050">
                <a:solidFill>
                  <a:srgbClr val="595959"/>
                </a:solidFill>
                <a:latin typeface="Tahoma"/>
                <a:ea typeface="Tahoma"/>
                <a:cs typeface="Tahoma"/>
                <a:sym typeface="Tahoma"/>
              </a:rPr>
              <a:t>Por supuesto que no está más lejos de la verdad, decir que un proceso es sólo un programa en ejecución. Un proceso incluye:</a:t>
            </a:r>
            <a:endParaRPr sz="2050">
              <a:latin typeface="Tahoma"/>
              <a:ea typeface="Tahoma"/>
              <a:cs typeface="Tahoma"/>
              <a:sym typeface="Tahoma"/>
            </a:endParaRPr>
          </a:p>
          <a:p>
            <a:pPr indent="-388620" lvl="0" marL="469265" rtl="0" algn="l">
              <a:lnSpc>
                <a:spcPct val="111951"/>
              </a:lnSpc>
              <a:spcBef>
                <a:spcPts val="1785"/>
              </a:spcBef>
              <a:spcAft>
                <a:spcPts val="0"/>
              </a:spcAft>
              <a:buClr>
                <a:srgbClr val="595959"/>
              </a:buClr>
              <a:buSzPts val="2050"/>
              <a:buFont typeface="Arial"/>
              <a:buChar char="●"/>
            </a:pPr>
            <a:r>
              <a:rPr lang="en-US" sz="2050">
                <a:solidFill>
                  <a:srgbClr val="595959"/>
                </a:solidFill>
                <a:latin typeface="Tahoma"/>
                <a:ea typeface="Tahoma"/>
                <a:cs typeface="Tahoma"/>
                <a:sym typeface="Tahoma"/>
              </a:rPr>
              <a:t>Los Archivos abiertos</a:t>
            </a:r>
            <a:endParaRPr sz="2050">
              <a:latin typeface="Tahoma"/>
              <a:ea typeface="Tahoma"/>
              <a:cs typeface="Tahoma"/>
              <a:sym typeface="Tahoma"/>
            </a:endParaRPr>
          </a:p>
          <a:p>
            <a:pPr indent="-388620" lvl="0" marL="469265" rtl="0" algn="l">
              <a:lnSpc>
                <a:spcPct val="103902"/>
              </a:lnSpc>
              <a:spcBef>
                <a:spcPts val="0"/>
              </a:spcBef>
              <a:spcAft>
                <a:spcPts val="0"/>
              </a:spcAft>
              <a:buClr>
                <a:srgbClr val="595959"/>
              </a:buClr>
              <a:buSzPts val="2050"/>
              <a:buFont typeface="Arial"/>
              <a:buChar char="●"/>
            </a:pPr>
            <a:r>
              <a:rPr lang="en-US" sz="2050">
                <a:solidFill>
                  <a:srgbClr val="595959"/>
                </a:solidFill>
                <a:latin typeface="Tahoma"/>
                <a:ea typeface="Tahoma"/>
                <a:cs typeface="Tahoma"/>
                <a:sym typeface="Tahoma"/>
              </a:rPr>
              <a:t>Las señales(signals) pendientes</a:t>
            </a:r>
            <a:endParaRPr sz="2050">
              <a:latin typeface="Tahoma"/>
              <a:ea typeface="Tahoma"/>
              <a:cs typeface="Tahoma"/>
              <a:sym typeface="Tahoma"/>
            </a:endParaRPr>
          </a:p>
          <a:p>
            <a:pPr indent="-388620" lvl="0" marL="469265" rtl="0" algn="l">
              <a:lnSpc>
                <a:spcPct val="103902"/>
              </a:lnSpc>
              <a:spcBef>
                <a:spcPts val="0"/>
              </a:spcBef>
              <a:spcAft>
                <a:spcPts val="0"/>
              </a:spcAft>
              <a:buClr>
                <a:srgbClr val="595959"/>
              </a:buClr>
              <a:buSzPts val="2050"/>
              <a:buFont typeface="Arial"/>
              <a:buChar char="●"/>
            </a:pPr>
            <a:r>
              <a:rPr lang="en-US" sz="2050">
                <a:solidFill>
                  <a:srgbClr val="595959"/>
                </a:solidFill>
                <a:latin typeface="Tahoma"/>
                <a:ea typeface="Tahoma"/>
                <a:cs typeface="Tahoma"/>
                <a:sym typeface="Tahoma"/>
              </a:rPr>
              <a:t>Datos internos del kernel</a:t>
            </a:r>
            <a:endParaRPr sz="2050">
              <a:latin typeface="Tahoma"/>
              <a:ea typeface="Tahoma"/>
              <a:cs typeface="Tahoma"/>
              <a:sym typeface="Tahoma"/>
            </a:endParaRPr>
          </a:p>
          <a:p>
            <a:pPr indent="-388620" lvl="0" marL="469265" rtl="0" algn="l">
              <a:lnSpc>
                <a:spcPct val="103902"/>
              </a:lnSpc>
              <a:spcBef>
                <a:spcPts val="0"/>
              </a:spcBef>
              <a:spcAft>
                <a:spcPts val="0"/>
              </a:spcAft>
              <a:buClr>
                <a:srgbClr val="595959"/>
              </a:buClr>
              <a:buSzPts val="2050"/>
              <a:buFont typeface="Arial"/>
              <a:buChar char="●"/>
            </a:pPr>
            <a:r>
              <a:rPr lang="en-US" sz="2050">
                <a:solidFill>
                  <a:srgbClr val="595959"/>
                </a:solidFill>
                <a:latin typeface="Tahoma"/>
                <a:ea typeface="Tahoma"/>
                <a:cs typeface="Tahoma"/>
                <a:sym typeface="Tahoma"/>
              </a:rPr>
              <a:t>El estado completo del procesador</a:t>
            </a:r>
            <a:endParaRPr sz="2050">
              <a:latin typeface="Tahoma"/>
              <a:ea typeface="Tahoma"/>
              <a:cs typeface="Tahoma"/>
              <a:sym typeface="Tahoma"/>
            </a:endParaRPr>
          </a:p>
          <a:p>
            <a:pPr indent="-388620" lvl="0" marL="469265" rtl="0" algn="l">
              <a:lnSpc>
                <a:spcPct val="103902"/>
              </a:lnSpc>
              <a:spcBef>
                <a:spcPts val="0"/>
              </a:spcBef>
              <a:spcAft>
                <a:spcPts val="0"/>
              </a:spcAft>
              <a:buClr>
                <a:srgbClr val="595959"/>
              </a:buClr>
              <a:buSzPts val="2050"/>
              <a:buFont typeface="Arial"/>
              <a:buChar char="●"/>
            </a:pPr>
            <a:r>
              <a:rPr lang="en-US" sz="2050">
                <a:solidFill>
                  <a:srgbClr val="595959"/>
                </a:solidFill>
                <a:latin typeface="Tahoma"/>
                <a:ea typeface="Tahoma"/>
                <a:cs typeface="Tahoma"/>
                <a:sym typeface="Tahoma"/>
              </a:rPr>
              <a:t>Un espacio de direcciones de memoria</a:t>
            </a:r>
            <a:endParaRPr sz="2050">
              <a:latin typeface="Tahoma"/>
              <a:ea typeface="Tahoma"/>
              <a:cs typeface="Tahoma"/>
              <a:sym typeface="Tahoma"/>
            </a:endParaRPr>
          </a:p>
          <a:p>
            <a:pPr indent="-388620" lvl="0" marL="469265" rtl="0" algn="l">
              <a:lnSpc>
                <a:spcPct val="103902"/>
              </a:lnSpc>
              <a:spcBef>
                <a:spcPts val="0"/>
              </a:spcBef>
              <a:spcAft>
                <a:spcPts val="0"/>
              </a:spcAft>
              <a:buClr>
                <a:srgbClr val="595959"/>
              </a:buClr>
              <a:buSzPts val="2050"/>
              <a:buFont typeface="Arial"/>
              <a:buChar char="●"/>
            </a:pPr>
            <a:r>
              <a:rPr lang="en-US" sz="2050">
                <a:solidFill>
                  <a:srgbClr val="595959"/>
                </a:solidFill>
                <a:latin typeface="Tahoma"/>
                <a:ea typeface="Tahoma"/>
                <a:cs typeface="Tahoma"/>
                <a:sym typeface="Tahoma"/>
              </a:rPr>
              <a:t>Uno o más hilos de ejecución. Cada thread contiene</a:t>
            </a:r>
            <a:endParaRPr sz="2050">
              <a:latin typeface="Tahoma"/>
              <a:ea typeface="Tahoma"/>
              <a:cs typeface="Tahoma"/>
              <a:sym typeface="Tahoma"/>
            </a:endParaRPr>
          </a:p>
          <a:p>
            <a:pPr indent="-388619" lvl="1" marL="926464" rtl="0" algn="l">
              <a:lnSpc>
                <a:spcPct val="103902"/>
              </a:lnSpc>
              <a:spcBef>
                <a:spcPts val="0"/>
              </a:spcBef>
              <a:spcAft>
                <a:spcPts val="0"/>
              </a:spcAft>
              <a:buClr>
                <a:srgbClr val="595959"/>
              </a:buClr>
              <a:buSzPts val="2050"/>
              <a:buFont typeface="Arial"/>
              <a:buChar char="○"/>
            </a:pPr>
            <a:r>
              <a:rPr lang="en-US" sz="2050">
                <a:solidFill>
                  <a:srgbClr val="595959"/>
                </a:solidFill>
                <a:latin typeface="Tahoma"/>
                <a:ea typeface="Tahoma"/>
                <a:cs typeface="Tahoma"/>
                <a:sym typeface="Tahoma"/>
              </a:rPr>
              <a:t>Un único contador de programa</a:t>
            </a:r>
            <a:endParaRPr sz="2050">
              <a:latin typeface="Tahoma"/>
              <a:ea typeface="Tahoma"/>
              <a:cs typeface="Tahoma"/>
              <a:sym typeface="Tahoma"/>
            </a:endParaRPr>
          </a:p>
          <a:p>
            <a:pPr indent="-388619" lvl="1" marL="926464" rtl="0" algn="l">
              <a:lnSpc>
                <a:spcPct val="103902"/>
              </a:lnSpc>
              <a:spcBef>
                <a:spcPts val="0"/>
              </a:spcBef>
              <a:spcAft>
                <a:spcPts val="0"/>
              </a:spcAft>
              <a:buClr>
                <a:srgbClr val="595959"/>
              </a:buClr>
              <a:buSzPts val="2050"/>
              <a:buFont typeface="Arial"/>
              <a:buChar char="○"/>
            </a:pPr>
            <a:r>
              <a:rPr lang="en-US" sz="2050">
                <a:solidFill>
                  <a:srgbClr val="595959"/>
                </a:solidFill>
                <a:latin typeface="Tahoma"/>
                <a:ea typeface="Tahoma"/>
                <a:cs typeface="Tahoma"/>
                <a:sym typeface="Tahoma"/>
              </a:rPr>
              <a:t>Un Stack</a:t>
            </a:r>
            <a:endParaRPr sz="2050">
              <a:latin typeface="Tahoma"/>
              <a:ea typeface="Tahoma"/>
              <a:cs typeface="Tahoma"/>
              <a:sym typeface="Tahoma"/>
            </a:endParaRPr>
          </a:p>
          <a:p>
            <a:pPr indent="-388619" lvl="1" marL="926464" rtl="0" algn="l">
              <a:lnSpc>
                <a:spcPct val="103902"/>
              </a:lnSpc>
              <a:spcBef>
                <a:spcPts val="0"/>
              </a:spcBef>
              <a:spcAft>
                <a:spcPts val="0"/>
              </a:spcAft>
              <a:buClr>
                <a:srgbClr val="595959"/>
              </a:buClr>
              <a:buSzPts val="2050"/>
              <a:buFont typeface="Arial"/>
              <a:buChar char="○"/>
            </a:pPr>
            <a:r>
              <a:rPr lang="en-US" sz="2050">
                <a:solidFill>
                  <a:srgbClr val="595959"/>
                </a:solidFill>
                <a:latin typeface="Tahoma"/>
                <a:ea typeface="Tahoma"/>
                <a:cs typeface="Tahoma"/>
                <a:sym typeface="Tahoma"/>
              </a:rPr>
              <a:t>Un Conjunto de Registros</a:t>
            </a:r>
            <a:endParaRPr sz="2050">
              <a:latin typeface="Tahoma"/>
              <a:ea typeface="Tahoma"/>
              <a:cs typeface="Tahoma"/>
              <a:sym typeface="Tahoma"/>
            </a:endParaRPr>
          </a:p>
          <a:p>
            <a:pPr indent="-388619" lvl="1" marL="926464" rtl="0" algn="l">
              <a:lnSpc>
                <a:spcPct val="111951"/>
              </a:lnSpc>
              <a:spcBef>
                <a:spcPts val="0"/>
              </a:spcBef>
              <a:spcAft>
                <a:spcPts val="0"/>
              </a:spcAft>
              <a:buClr>
                <a:srgbClr val="595959"/>
              </a:buClr>
              <a:buSzPts val="2050"/>
              <a:buFont typeface="Arial"/>
              <a:buChar char="○"/>
            </a:pPr>
            <a:r>
              <a:rPr lang="en-US" sz="2050">
                <a:solidFill>
                  <a:srgbClr val="595959"/>
                </a:solidFill>
                <a:latin typeface="Tahoma"/>
                <a:ea typeface="Tahoma"/>
                <a:cs typeface="Tahoma"/>
                <a:sym typeface="Tahoma"/>
              </a:rPr>
              <a:t>Una sección de datos globales</a:t>
            </a:r>
            <a:endParaRPr sz="2050">
              <a:latin typeface="Tahoma"/>
              <a:ea typeface="Tahoma"/>
              <a:cs typeface="Tahoma"/>
              <a:sym typeface="Tahoma"/>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29"/>
          <p:cNvSpPr txBox="1"/>
          <p:nvPr>
            <p:ph type="ctrTitle"/>
          </p:nvPr>
        </p:nvSpPr>
        <p:spPr>
          <a:xfrm>
            <a:off x="323825" y="61137"/>
            <a:ext cx="5718175" cy="382270"/>
          </a:xfrm>
          <a:prstGeom prst="rect">
            <a:avLst/>
          </a:prstGeom>
          <a:noFill/>
          <a:ln>
            <a:noFill/>
          </a:ln>
        </p:spPr>
        <p:txBody>
          <a:bodyPr anchorCtr="0" anchor="t" bIns="0" lIns="0" spcFirstLastPara="1" rIns="0" wrap="square" tIns="17775">
            <a:spAutoFit/>
          </a:bodyPr>
          <a:lstStyle/>
          <a:p>
            <a:pPr indent="0" lvl="0" marL="488950" rtl="0" algn="l">
              <a:lnSpc>
                <a:spcPct val="100000"/>
              </a:lnSpc>
              <a:spcBef>
                <a:spcPts val="0"/>
              </a:spcBef>
              <a:spcAft>
                <a:spcPts val="0"/>
              </a:spcAft>
              <a:buNone/>
            </a:pPr>
            <a:r>
              <a:rPr lang="en-US"/>
              <a:t>El Proceso</a:t>
            </a:r>
            <a:endParaRPr/>
          </a:p>
        </p:txBody>
      </p:sp>
      <p:sp>
        <p:nvSpPr>
          <p:cNvPr id="396" name="Google Shape;396;p29"/>
          <p:cNvSpPr txBox="1"/>
          <p:nvPr/>
        </p:nvSpPr>
        <p:spPr>
          <a:xfrm>
            <a:off x="800675" y="1802264"/>
            <a:ext cx="7492365" cy="1402080"/>
          </a:xfrm>
          <a:prstGeom prst="rect">
            <a:avLst/>
          </a:prstGeom>
          <a:noFill/>
          <a:ln>
            <a:noFill/>
          </a:ln>
        </p:spPr>
        <p:txBody>
          <a:bodyPr anchorCtr="0" anchor="t" bIns="0" lIns="0" spcFirstLastPara="1" rIns="0" wrap="square" tIns="12050">
            <a:spAutoFit/>
          </a:bodyPr>
          <a:lstStyle/>
          <a:p>
            <a:pPr indent="0" lvl="0" marL="12700" marR="5080" rtl="0" algn="l">
              <a:lnSpc>
                <a:spcPct val="105600"/>
              </a:lnSpc>
              <a:spcBef>
                <a:spcPts val="0"/>
              </a:spcBef>
              <a:spcAft>
                <a:spcPts val="0"/>
              </a:spcAft>
              <a:buNone/>
            </a:pPr>
            <a:r>
              <a:rPr lang="en-US" sz="2850">
                <a:solidFill>
                  <a:srgbClr val="595959"/>
                </a:solidFill>
                <a:latin typeface="Tahoma"/>
                <a:ea typeface="Tahoma"/>
                <a:cs typeface="Tahoma"/>
                <a:sym typeface="Tahoma"/>
              </a:rPr>
              <a:t>“Un </a:t>
            </a:r>
            <a:r>
              <a:rPr b="1" lang="en-US" sz="2850">
                <a:solidFill>
                  <a:srgbClr val="595959"/>
                </a:solidFill>
                <a:latin typeface="Tahoma"/>
                <a:ea typeface="Tahoma"/>
                <a:cs typeface="Tahoma"/>
                <a:sym typeface="Tahoma"/>
              </a:rPr>
              <a:t>Proceso </a:t>
            </a:r>
            <a:r>
              <a:rPr lang="en-US" sz="2850">
                <a:solidFill>
                  <a:srgbClr val="595959"/>
                </a:solidFill>
                <a:latin typeface="Tahoma"/>
                <a:ea typeface="Tahoma"/>
                <a:cs typeface="Tahoma"/>
                <a:sym typeface="Tahoma"/>
              </a:rPr>
              <a:t>es una entidad abstracta, definida por el Kernel, en la cual los recursos del sistema son asignados” [KER]</a:t>
            </a:r>
            <a:endParaRPr sz="2850">
              <a:latin typeface="Tahoma"/>
              <a:ea typeface="Tahoma"/>
              <a:cs typeface="Tahoma"/>
              <a:sym typeface="Tahoma"/>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30"/>
          <p:cNvSpPr txBox="1"/>
          <p:nvPr>
            <p:ph type="title"/>
          </p:nvPr>
        </p:nvSpPr>
        <p:spPr>
          <a:xfrm>
            <a:off x="73025" y="12837"/>
            <a:ext cx="7791285" cy="476369"/>
          </a:xfrm>
          <a:prstGeom prst="rect">
            <a:avLst/>
          </a:prstGeom>
          <a:noFill/>
          <a:ln>
            <a:noFill/>
          </a:ln>
        </p:spPr>
        <p:txBody>
          <a:bodyPr anchorCtr="0" anchor="t" bIns="0" lIns="0" spcFirstLastPara="1" rIns="0" wrap="square" tIns="66075">
            <a:spAutoFit/>
          </a:bodyPr>
          <a:lstStyle/>
          <a:p>
            <a:pPr indent="0" lvl="0" marL="739775" rtl="0" algn="l">
              <a:lnSpc>
                <a:spcPct val="100000"/>
              </a:lnSpc>
              <a:spcBef>
                <a:spcPts val="0"/>
              </a:spcBef>
              <a:spcAft>
                <a:spcPts val="0"/>
              </a:spcAft>
              <a:buNone/>
            </a:pPr>
            <a:r>
              <a:rPr lang="en-US"/>
              <a:t>El Proceso: Virtualización</a:t>
            </a:r>
            <a:endParaRPr/>
          </a:p>
        </p:txBody>
      </p:sp>
      <p:sp>
        <p:nvSpPr>
          <p:cNvPr id="402" name="Google Shape;402;p30"/>
          <p:cNvSpPr txBox="1"/>
          <p:nvPr/>
        </p:nvSpPr>
        <p:spPr>
          <a:xfrm>
            <a:off x="913447" y="2316814"/>
            <a:ext cx="5625465" cy="942975"/>
          </a:xfrm>
          <a:prstGeom prst="rect">
            <a:avLst/>
          </a:prstGeom>
          <a:noFill/>
          <a:ln>
            <a:noFill/>
          </a:ln>
        </p:spPr>
        <p:txBody>
          <a:bodyPr anchorCtr="0" anchor="t" bIns="0" lIns="0" spcFirstLastPara="1" rIns="0" wrap="square" tIns="36825">
            <a:spAutoFit/>
          </a:bodyPr>
          <a:lstStyle/>
          <a:p>
            <a:pPr indent="-448309" lvl="0" marL="461009" rtl="0" algn="l">
              <a:lnSpc>
                <a:spcPct val="100000"/>
              </a:lnSpc>
              <a:spcBef>
                <a:spcPts val="0"/>
              </a:spcBef>
              <a:spcAft>
                <a:spcPts val="0"/>
              </a:spcAft>
              <a:buClr>
                <a:srgbClr val="595959"/>
              </a:buClr>
              <a:buSzPts val="2850"/>
              <a:buFont typeface="Arial"/>
              <a:buChar char="●"/>
            </a:pPr>
            <a:r>
              <a:rPr lang="en-US" sz="2850">
                <a:solidFill>
                  <a:srgbClr val="595959"/>
                </a:solidFill>
                <a:latin typeface="Tahoma"/>
                <a:ea typeface="Tahoma"/>
                <a:cs typeface="Tahoma"/>
                <a:sym typeface="Tahoma"/>
              </a:rPr>
              <a:t>Virtualización de Memoria</a:t>
            </a:r>
            <a:endParaRPr sz="2850">
              <a:latin typeface="Tahoma"/>
              <a:ea typeface="Tahoma"/>
              <a:cs typeface="Tahoma"/>
              <a:sym typeface="Tahoma"/>
            </a:endParaRPr>
          </a:p>
          <a:p>
            <a:pPr indent="-448309" lvl="0" marL="461009" rtl="0" algn="l">
              <a:lnSpc>
                <a:spcPct val="100000"/>
              </a:lnSpc>
              <a:spcBef>
                <a:spcPts val="190"/>
              </a:spcBef>
              <a:spcAft>
                <a:spcPts val="0"/>
              </a:spcAft>
              <a:buClr>
                <a:srgbClr val="595959"/>
              </a:buClr>
              <a:buSzPts val="2850"/>
              <a:buFont typeface="Arial"/>
              <a:buChar char="●"/>
            </a:pPr>
            <a:r>
              <a:rPr lang="en-US" sz="2850">
                <a:solidFill>
                  <a:srgbClr val="595959"/>
                </a:solidFill>
                <a:latin typeface="Tahoma"/>
                <a:ea typeface="Tahoma"/>
                <a:cs typeface="Tahoma"/>
                <a:sym typeface="Tahoma"/>
              </a:rPr>
              <a:t>Virtualización de Procesamiento</a:t>
            </a:r>
            <a:endParaRPr sz="2850">
              <a:latin typeface="Tahoma"/>
              <a:ea typeface="Tahoma"/>
              <a:cs typeface="Tahoma"/>
              <a:sym typeface="Tahoma"/>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31"/>
          <p:cNvSpPr txBox="1"/>
          <p:nvPr>
            <p:ph type="title"/>
          </p:nvPr>
        </p:nvSpPr>
        <p:spPr>
          <a:xfrm>
            <a:off x="73025" y="12837"/>
            <a:ext cx="7791285" cy="476369"/>
          </a:xfrm>
          <a:prstGeom prst="rect">
            <a:avLst/>
          </a:prstGeom>
          <a:noFill/>
          <a:ln>
            <a:noFill/>
          </a:ln>
        </p:spPr>
        <p:txBody>
          <a:bodyPr anchorCtr="0" anchor="t" bIns="0" lIns="0" spcFirstLastPara="1" rIns="0" wrap="square" tIns="66075">
            <a:spAutoFit/>
          </a:bodyPr>
          <a:lstStyle/>
          <a:p>
            <a:pPr indent="0" lvl="0" marL="683895" rtl="0" algn="l">
              <a:lnSpc>
                <a:spcPct val="100000"/>
              </a:lnSpc>
              <a:spcBef>
                <a:spcPts val="0"/>
              </a:spcBef>
              <a:spcAft>
                <a:spcPts val="0"/>
              </a:spcAft>
              <a:buNone/>
            </a:pPr>
            <a:r>
              <a:rPr lang="en-US"/>
              <a:t>De Programa a Proceso</a:t>
            </a:r>
            <a:endParaRPr/>
          </a:p>
        </p:txBody>
      </p:sp>
      <p:sp>
        <p:nvSpPr>
          <p:cNvPr id="408" name="Google Shape;408;p31"/>
          <p:cNvSpPr txBox="1"/>
          <p:nvPr/>
        </p:nvSpPr>
        <p:spPr>
          <a:xfrm>
            <a:off x="800675" y="598531"/>
            <a:ext cx="6725284" cy="232283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1900">
                <a:solidFill>
                  <a:srgbClr val="595959"/>
                </a:solidFill>
                <a:latin typeface="Tahoma"/>
                <a:ea typeface="Tahoma"/>
                <a:cs typeface="Tahoma"/>
                <a:sym typeface="Tahoma"/>
              </a:rPr>
              <a:t>El Sistema Operativo más precisamente el Kernel se encarga de:</a:t>
            </a:r>
            <a:endParaRPr sz="1900">
              <a:latin typeface="Tahoma"/>
              <a:ea typeface="Tahoma"/>
              <a:cs typeface="Tahoma"/>
              <a:sym typeface="Tahoma"/>
            </a:endParaRPr>
          </a:p>
          <a:p>
            <a:pPr indent="0" lvl="0" marL="0" rtl="0" algn="l">
              <a:lnSpc>
                <a:spcPct val="100000"/>
              </a:lnSpc>
              <a:spcBef>
                <a:spcPts val="340"/>
              </a:spcBef>
              <a:spcAft>
                <a:spcPts val="0"/>
              </a:spcAft>
              <a:buNone/>
            </a:pPr>
            <a:r>
              <a:t/>
            </a:r>
            <a:endParaRPr sz="1900">
              <a:latin typeface="Tahoma"/>
              <a:ea typeface="Tahoma"/>
              <a:cs typeface="Tahoma"/>
              <a:sym typeface="Tahoma"/>
            </a:endParaRPr>
          </a:p>
          <a:p>
            <a:pPr indent="-421005" lvl="0" marL="469900" marR="45085" rtl="0" algn="l">
              <a:lnSpc>
                <a:spcPct val="115500"/>
              </a:lnSpc>
              <a:spcBef>
                <a:spcPts val="0"/>
              </a:spcBef>
              <a:spcAft>
                <a:spcPts val="0"/>
              </a:spcAft>
              <a:buClr>
                <a:srgbClr val="595959"/>
              </a:buClr>
              <a:buSzPts val="1900"/>
              <a:buFont typeface="Tahoma"/>
              <a:buAutoNum type="arabicPeriod"/>
            </a:pPr>
            <a:r>
              <a:rPr lang="en-US" sz="1900">
                <a:solidFill>
                  <a:srgbClr val="595959"/>
                </a:solidFill>
                <a:latin typeface="Tahoma"/>
                <a:ea typeface="Tahoma"/>
                <a:cs typeface="Tahoma"/>
                <a:sym typeface="Tahoma"/>
              </a:rPr>
              <a:t>Cargar instrucciones y Datos de un programa ejecutable en memoria.</a:t>
            </a:r>
            <a:endParaRPr sz="1900">
              <a:latin typeface="Tahoma"/>
              <a:ea typeface="Tahoma"/>
              <a:cs typeface="Tahoma"/>
              <a:sym typeface="Tahoma"/>
            </a:endParaRPr>
          </a:p>
          <a:p>
            <a:pPr indent="-420369" lvl="0" marL="469265" rtl="0" algn="l">
              <a:lnSpc>
                <a:spcPct val="100000"/>
              </a:lnSpc>
              <a:spcBef>
                <a:spcPts val="355"/>
              </a:spcBef>
              <a:spcAft>
                <a:spcPts val="0"/>
              </a:spcAft>
              <a:buClr>
                <a:srgbClr val="595959"/>
              </a:buClr>
              <a:buSzPts val="1900"/>
              <a:buFont typeface="Tahoma"/>
              <a:buAutoNum type="arabicPeriod"/>
            </a:pPr>
            <a:r>
              <a:rPr lang="en-US" sz="1900">
                <a:solidFill>
                  <a:srgbClr val="595959"/>
                </a:solidFill>
                <a:latin typeface="Tahoma"/>
                <a:ea typeface="Tahoma"/>
                <a:cs typeface="Tahoma"/>
                <a:sym typeface="Tahoma"/>
              </a:rPr>
              <a:t>Crear el Stack y el Heap</a:t>
            </a:r>
            <a:endParaRPr sz="1900">
              <a:latin typeface="Tahoma"/>
              <a:ea typeface="Tahoma"/>
              <a:cs typeface="Tahoma"/>
              <a:sym typeface="Tahoma"/>
            </a:endParaRPr>
          </a:p>
          <a:p>
            <a:pPr indent="-420369" lvl="0" marL="469265" rtl="0" algn="l">
              <a:lnSpc>
                <a:spcPct val="100000"/>
              </a:lnSpc>
              <a:spcBef>
                <a:spcPts val="355"/>
              </a:spcBef>
              <a:spcAft>
                <a:spcPts val="0"/>
              </a:spcAft>
              <a:buClr>
                <a:srgbClr val="595959"/>
              </a:buClr>
              <a:buSzPts val="1900"/>
              <a:buFont typeface="Tahoma"/>
              <a:buAutoNum type="arabicPeriod"/>
            </a:pPr>
            <a:r>
              <a:rPr lang="en-US" sz="1900">
                <a:solidFill>
                  <a:srgbClr val="595959"/>
                </a:solidFill>
                <a:latin typeface="Tahoma"/>
                <a:ea typeface="Tahoma"/>
                <a:cs typeface="Tahoma"/>
                <a:sym typeface="Tahoma"/>
              </a:rPr>
              <a:t>Transferir el Control al programa</a:t>
            </a:r>
            <a:endParaRPr sz="1900">
              <a:latin typeface="Tahoma"/>
              <a:ea typeface="Tahoma"/>
              <a:cs typeface="Tahoma"/>
              <a:sym typeface="Tahoma"/>
            </a:endParaRPr>
          </a:p>
          <a:p>
            <a:pPr indent="-420369" lvl="0" marL="469265" rtl="0" algn="l">
              <a:lnSpc>
                <a:spcPct val="100000"/>
              </a:lnSpc>
              <a:spcBef>
                <a:spcPts val="350"/>
              </a:spcBef>
              <a:spcAft>
                <a:spcPts val="0"/>
              </a:spcAft>
              <a:buClr>
                <a:srgbClr val="595959"/>
              </a:buClr>
              <a:buSzPts val="1900"/>
              <a:buFont typeface="Tahoma"/>
              <a:buAutoNum type="arabicPeriod"/>
            </a:pPr>
            <a:r>
              <a:rPr lang="en-US" sz="1900">
                <a:solidFill>
                  <a:srgbClr val="595959"/>
                </a:solidFill>
                <a:latin typeface="Tahoma"/>
                <a:ea typeface="Tahoma"/>
                <a:cs typeface="Tahoma"/>
                <a:sym typeface="Tahoma"/>
              </a:rPr>
              <a:t>Proteger al SO y al Programa</a:t>
            </a:r>
            <a:endParaRPr sz="1900">
              <a:latin typeface="Tahoma"/>
              <a:ea typeface="Tahoma"/>
              <a:cs typeface="Tahoma"/>
              <a:sym typeface="Tahoma"/>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32"/>
          <p:cNvSpPr txBox="1"/>
          <p:nvPr>
            <p:ph type="title"/>
          </p:nvPr>
        </p:nvSpPr>
        <p:spPr>
          <a:xfrm>
            <a:off x="73025" y="12837"/>
            <a:ext cx="7791285" cy="476369"/>
          </a:xfrm>
          <a:prstGeom prst="rect">
            <a:avLst/>
          </a:prstGeom>
          <a:noFill/>
          <a:ln>
            <a:noFill/>
          </a:ln>
        </p:spPr>
        <p:txBody>
          <a:bodyPr anchorCtr="0" anchor="t" bIns="0" lIns="0" spcFirstLastPara="1" rIns="0" wrap="square" tIns="66075">
            <a:spAutoFit/>
          </a:bodyPr>
          <a:lstStyle/>
          <a:p>
            <a:pPr indent="0" lvl="0" marL="12700" rtl="0" algn="l">
              <a:lnSpc>
                <a:spcPct val="100000"/>
              </a:lnSpc>
              <a:spcBef>
                <a:spcPts val="0"/>
              </a:spcBef>
              <a:spcAft>
                <a:spcPts val="0"/>
              </a:spcAft>
              <a:buNone/>
            </a:pPr>
            <a:r>
              <a:rPr lang="en-US"/>
              <a:t>El proceso en memoria</a:t>
            </a:r>
            <a:endParaRPr/>
          </a:p>
        </p:txBody>
      </p:sp>
      <p:pic>
        <p:nvPicPr>
          <p:cNvPr id="414" name="Google Shape;414;p32"/>
          <p:cNvPicPr preferRelativeResize="0"/>
          <p:nvPr/>
        </p:nvPicPr>
        <p:blipFill rotWithShape="1">
          <a:blip r:embed="rId3">
            <a:alphaModFix/>
          </a:blip>
          <a:srcRect b="0" l="0" r="0" t="0"/>
          <a:stretch/>
        </p:blipFill>
        <p:spPr>
          <a:xfrm>
            <a:off x="1153902" y="718462"/>
            <a:ext cx="7086193" cy="427613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33"/>
          <p:cNvSpPr txBox="1"/>
          <p:nvPr>
            <p:ph type="title"/>
          </p:nvPr>
        </p:nvSpPr>
        <p:spPr>
          <a:xfrm>
            <a:off x="73025" y="12837"/>
            <a:ext cx="7791285" cy="476369"/>
          </a:xfrm>
          <a:prstGeom prst="rect">
            <a:avLst/>
          </a:prstGeom>
          <a:noFill/>
          <a:ln>
            <a:noFill/>
          </a:ln>
        </p:spPr>
        <p:txBody>
          <a:bodyPr anchorCtr="0" anchor="t" bIns="0" lIns="0" spcFirstLastPara="1" rIns="0" wrap="square" tIns="17775">
            <a:spAutoFit/>
          </a:bodyPr>
          <a:lstStyle/>
          <a:p>
            <a:pPr indent="0" lvl="0" marL="741680" rtl="0" algn="l">
              <a:lnSpc>
                <a:spcPct val="100000"/>
              </a:lnSpc>
              <a:spcBef>
                <a:spcPts val="0"/>
              </a:spcBef>
              <a:spcAft>
                <a:spcPts val="0"/>
              </a:spcAft>
              <a:buNone/>
            </a:pPr>
            <a:r>
              <a:rPr lang="en-US"/>
              <a:t>El proceso en memoria</a:t>
            </a:r>
            <a:endParaRPr/>
          </a:p>
        </p:txBody>
      </p:sp>
      <p:pic>
        <p:nvPicPr>
          <p:cNvPr id="420" name="Google Shape;420;p33"/>
          <p:cNvPicPr preferRelativeResize="0"/>
          <p:nvPr/>
        </p:nvPicPr>
        <p:blipFill rotWithShape="1">
          <a:blip r:embed="rId3">
            <a:alphaModFix/>
          </a:blip>
          <a:srcRect b="0" l="0" r="0" t="0"/>
          <a:stretch/>
        </p:blipFill>
        <p:spPr>
          <a:xfrm>
            <a:off x="1800" y="511492"/>
            <a:ext cx="9142199" cy="4632007"/>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34"/>
          <p:cNvSpPr txBox="1"/>
          <p:nvPr>
            <p:ph type="title"/>
          </p:nvPr>
        </p:nvSpPr>
        <p:spPr>
          <a:xfrm>
            <a:off x="73025" y="12837"/>
            <a:ext cx="7791285" cy="476369"/>
          </a:xfrm>
          <a:prstGeom prst="rect">
            <a:avLst/>
          </a:prstGeom>
          <a:noFill/>
          <a:ln>
            <a:noFill/>
          </a:ln>
        </p:spPr>
        <p:txBody>
          <a:bodyPr anchorCtr="0" anchor="t" bIns="0" lIns="0" spcFirstLastPara="1" rIns="0" wrap="square" tIns="17775">
            <a:spAutoFit/>
          </a:bodyPr>
          <a:lstStyle/>
          <a:p>
            <a:pPr indent="0" lvl="0" marL="741680" rtl="0" algn="l">
              <a:lnSpc>
                <a:spcPct val="100000"/>
              </a:lnSpc>
              <a:spcBef>
                <a:spcPts val="0"/>
              </a:spcBef>
              <a:spcAft>
                <a:spcPts val="0"/>
              </a:spcAft>
              <a:buNone/>
            </a:pPr>
            <a:r>
              <a:rPr lang="en-US"/>
              <a:t>El proceso en memoria</a:t>
            </a:r>
            <a:endParaRPr/>
          </a:p>
        </p:txBody>
      </p:sp>
      <p:pic>
        <p:nvPicPr>
          <p:cNvPr id="426" name="Google Shape;426;p34"/>
          <p:cNvPicPr preferRelativeResize="0"/>
          <p:nvPr/>
        </p:nvPicPr>
        <p:blipFill rotWithShape="1">
          <a:blip r:embed="rId3">
            <a:alphaModFix/>
          </a:blip>
          <a:srcRect b="0" l="0" r="0" t="0"/>
          <a:stretch/>
        </p:blipFill>
        <p:spPr>
          <a:xfrm>
            <a:off x="5054050" y="0"/>
            <a:ext cx="4089952" cy="5143500"/>
          </a:xfrm>
          <a:prstGeom prst="rect">
            <a:avLst/>
          </a:prstGeom>
          <a:noFill/>
          <a:ln>
            <a:noFill/>
          </a:ln>
        </p:spPr>
      </p:pic>
      <p:sp>
        <p:nvSpPr>
          <p:cNvPr id="427" name="Google Shape;427;p34"/>
          <p:cNvSpPr txBox="1"/>
          <p:nvPr/>
        </p:nvSpPr>
        <p:spPr>
          <a:xfrm>
            <a:off x="857624" y="1716700"/>
            <a:ext cx="3616960" cy="154940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US" sz="2500">
                <a:solidFill>
                  <a:srgbClr val="595959"/>
                </a:solidFill>
                <a:latin typeface="Tahoma"/>
                <a:ea typeface="Tahoma"/>
                <a:cs typeface="Tahoma"/>
                <a:sym typeface="Tahoma"/>
              </a:rPr>
              <a:t>El </a:t>
            </a:r>
            <a:r>
              <a:rPr b="1" lang="en-US" sz="2500">
                <a:solidFill>
                  <a:srgbClr val="595959"/>
                </a:solidFill>
                <a:latin typeface="Tahoma"/>
                <a:ea typeface="Tahoma"/>
                <a:cs typeface="Tahoma"/>
                <a:sym typeface="Tahoma"/>
              </a:rPr>
              <a:t>Loader </a:t>
            </a:r>
            <a:r>
              <a:rPr lang="en-US" sz="2500">
                <a:solidFill>
                  <a:srgbClr val="595959"/>
                </a:solidFill>
                <a:latin typeface="Tahoma"/>
                <a:ea typeface="Tahoma"/>
                <a:cs typeface="Tahoma"/>
                <a:sym typeface="Tahoma"/>
              </a:rPr>
              <a:t>usa el “plano del proceso” que es el archivo ELF y arma el espacio de direcciones</a:t>
            </a:r>
            <a:endParaRPr sz="2500">
              <a:latin typeface="Tahoma"/>
              <a:ea typeface="Tahoma"/>
              <a:cs typeface="Tahoma"/>
              <a:sym typeface="Tahoma"/>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35"/>
          <p:cNvSpPr txBox="1"/>
          <p:nvPr/>
        </p:nvSpPr>
        <p:spPr>
          <a:xfrm>
            <a:off x="900730" y="1374126"/>
            <a:ext cx="7698740" cy="3354070"/>
          </a:xfrm>
          <a:prstGeom prst="rect">
            <a:avLst/>
          </a:prstGeom>
          <a:noFill/>
          <a:ln>
            <a:noFill/>
          </a:ln>
        </p:spPr>
        <p:txBody>
          <a:bodyPr anchorCtr="0" anchor="t" bIns="0" lIns="0" spcFirstLastPara="1" rIns="0" wrap="square" tIns="12700">
            <a:spAutoFit/>
          </a:bodyPr>
          <a:lstStyle/>
          <a:p>
            <a:pPr indent="-359410" lvl="0" marL="371475" marR="5080" rtl="0" algn="l">
              <a:lnSpc>
                <a:spcPct val="114999"/>
              </a:lnSpc>
              <a:spcBef>
                <a:spcPts val="0"/>
              </a:spcBef>
              <a:spcAft>
                <a:spcPts val="0"/>
              </a:spcAft>
              <a:buClr>
                <a:srgbClr val="595959"/>
              </a:buClr>
              <a:buSzPts val="1700"/>
              <a:buFont typeface="Arial"/>
              <a:buChar char="●"/>
            </a:pPr>
            <a:r>
              <a:rPr lang="en-US" sz="1700">
                <a:solidFill>
                  <a:srgbClr val="595959"/>
                </a:solidFill>
                <a:latin typeface="Tahoma"/>
                <a:ea typeface="Tahoma"/>
                <a:cs typeface="Tahoma"/>
                <a:sym typeface="Tahoma"/>
              </a:rPr>
              <a:t>Uno de estos mecanismos es denominado </a:t>
            </a:r>
            <a:r>
              <a:rPr b="1" lang="en-US" sz="1700">
                <a:solidFill>
                  <a:srgbClr val="595959"/>
                </a:solidFill>
                <a:latin typeface="Tahoma"/>
                <a:ea typeface="Tahoma"/>
                <a:cs typeface="Tahoma"/>
                <a:sym typeface="Tahoma"/>
              </a:rPr>
              <a:t>Memoria Virtua</a:t>
            </a:r>
            <a:r>
              <a:rPr lang="en-US" sz="1700">
                <a:solidFill>
                  <a:srgbClr val="595959"/>
                </a:solidFill>
                <a:latin typeface="Tahoma"/>
                <a:ea typeface="Tahoma"/>
                <a:cs typeface="Tahoma"/>
                <a:sym typeface="Tahoma"/>
              </a:rPr>
              <a:t>l, la memoria virtual es una abstracción por la cual la memoria física puede ser compartida por diversos procesos.</a:t>
            </a:r>
            <a:endParaRPr sz="1700">
              <a:latin typeface="Tahoma"/>
              <a:ea typeface="Tahoma"/>
              <a:cs typeface="Tahoma"/>
              <a:sym typeface="Tahoma"/>
            </a:endParaRPr>
          </a:p>
          <a:p>
            <a:pPr indent="0" lvl="0" marL="0" rtl="0" algn="l">
              <a:lnSpc>
                <a:spcPct val="100000"/>
              </a:lnSpc>
              <a:spcBef>
                <a:spcPts val="490"/>
              </a:spcBef>
              <a:spcAft>
                <a:spcPts val="0"/>
              </a:spcAft>
              <a:buClr>
                <a:srgbClr val="595959"/>
              </a:buClr>
              <a:buSzPts val="1700"/>
              <a:buFont typeface="Arial"/>
              <a:buNone/>
            </a:pPr>
            <a:r>
              <a:t/>
            </a:r>
            <a:endParaRPr sz="1700">
              <a:latin typeface="Tahoma"/>
              <a:ea typeface="Tahoma"/>
              <a:cs typeface="Tahoma"/>
              <a:sym typeface="Tahoma"/>
            </a:endParaRPr>
          </a:p>
          <a:p>
            <a:pPr indent="-359410" lvl="0" marL="371475" marR="129539" rtl="0" algn="l">
              <a:lnSpc>
                <a:spcPct val="114999"/>
              </a:lnSpc>
              <a:spcBef>
                <a:spcPts val="5"/>
              </a:spcBef>
              <a:spcAft>
                <a:spcPts val="0"/>
              </a:spcAft>
              <a:buClr>
                <a:srgbClr val="595959"/>
              </a:buClr>
              <a:buSzPts val="1700"/>
              <a:buFont typeface="Arial"/>
              <a:buChar char="●"/>
            </a:pPr>
            <a:r>
              <a:rPr lang="en-US" sz="1700">
                <a:solidFill>
                  <a:srgbClr val="595959"/>
                </a:solidFill>
                <a:latin typeface="Tahoma"/>
                <a:ea typeface="Tahoma"/>
                <a:cs typeface="Tahoma"/>
                <a:sym typeface="Tahoma"/>
              </a:rPr>
              <a:t>Un componente clave de la memoria virtual son las </a:t>
            </a:r>
            <a:r>
              <a:rPr b="1" lang="en-US" sz="1700">
                <a:solidFill>
                  <a:srgbClr val="595959"/>
                </a:solidFill>
                <a:latin typeface="Tahoma"/>
                <a:ea typeface="Tahoma"/>
                <a:cs typeface="Tahoma"/>
                <a:sym typeface="Tahoma"/>
              </a:rPr>
              <a:t>direcciones virtuales</a:t>
            </a:r>
            <a:r>
              <a:rPr lang="en-US" sz="1700">
                <a:solidFill>
                  <a:srgbClr val="595959"/>
                </a:solidFill>
                <a:latin typeface="Tahoma"/>
                <a:ea typeface="Tahoma"/>
                <a:cs typeface="Tahoma"/>
                <a:sym typeface="Tahoma"/>
              </a:rPr>
              <a:t>, con las direcciones virtuales, para cada proceso su memoria inicia en el mismo lugar, la dirección 0.</a:t>
            </a:r>
            <a:endParaRPr sz="1700">
              <a:latin typeface="Tahoma"/>
              <a:ea typeface="Tahoma"/>
              <a:cs typeface="Tahoma"/>
              <a:sym typeface="Tahoma"/>
            </a:endParaRPr>
          </a:p>
          <a:p>
            <a:pPr indent="0" lvl="0" marL="0" rtl="0" algn="l">
              <a:lnSpc>
                <a:spcPct val="100000"/>
              </a:lnSpc>
              <a:spcBef>
                <a:spcPts val="490"/>
              </a:spcBef>
              <a:spcAft>
                <a:spcPts val="0"/>
              </a:spcAft>
              <a:buClr>
                <a:srgbClr val="595959"/>
              </a:buClr>
              <a:buSzPts val="1700"/>
              <a:buFont typeface="Arial"/>
              <a:buNone/>
            </a:pPr>
            <a:r>
              <a:t/>
            </a:r>
            <a:endParaRPr sz="1700">
              <a:latin typeface="Tahoma"/>
              <a:ea typeface="Tahoma"/>
              <a:cs typeface="Tahoma"/>
              <a:sym typeface="Tahoma"/>
            </a:endParaRPr>
          </a:p>
          <a:p>
            <a:pPr indent="-359410" lvl="0" marL="371475" marR="129539" rtl="0" algn="l">
              <a:lnSpc>
                <a:spcPct val="114999"/>
              </a:lnSpc>
              <a:spcBef>
                <a:spcPts val="0"/>
              </a:spcBef>
              <a:spcAft>
                <a:spcPts val="0"/>
              </a:spcAft>
              <a:buClr>
                <a:srgbClr val="595959"/>
              </a:buClr>
              <a:buSzPts val="1700"/>
              <a:buFont typeface="Arial"/>
              <a:buChar char="●"/>
            </a:pPr>
            <a:r>
              <a:rPr lang="en-US" sz="1700">
                <a:solidFill>
                  <a:srgbClr val="595959"/>
                </a:solidFill>
                <a:latin typeface="Tahoma"/>
                <a:ea typeface="Tahoma"/>
                <a:cs typeface="Tahoma"/>
                <a:sym typeface="Tahoma"/>
              </a:rPr>
              <a:t>Cada proceso piensa que tiene toda la memoria de la computadora para sí mismo, si bien obviamente esto en la realidad no sucede. El hardware traduce la dirección virtual a una dirección física de memoria.</a:t>
            </a:r>
            <a:endParaRPr sz="1700">
              <a:latin typeface="Tahoma"/>
              <a:ea typeface="Tahoma"/>
              <a:cs typeface="Tahoma"/>
              <a:sym typeface="Tahoma"/>
            </a:endParaRPr>
          </a:p>
        </p:txBody>
      </p:sp>
      <p:sp>
        <p:nvSpPr>
          <p:cNvPr id="433" name="Google Shape;433;p35"/>
          <p:cNvSpPr txBox="1"/>
          <p:nvPr>
            <p:ph type="title"/>
          </p:nvPr>
        </p:nvSpPr>
        <p:spPr>
          <a:xfrm>
            <a:off x="73025" y="12837"/>
            <a:ext cx="7791285" cy="476369"/>
          </a:xfrm>
          <a:prstGeom prst="rect">
            <a:avLst/>
          </a:prstGeom>
          <a:noFill/>
          <a:ln>
            <a:noFill/>
          </a:ln>
        </p:spPr>
        <p:txBody>
          <a:bodyPr anchorCtr="0" anchor="t" bIns="0" lIns="0" spcFirstLastPara="1" rIns="0" wrap="square" tIns="66075">
            <a:spAutoFit/>
          </a:bodyPr>
          <a:lstStyle/>
          <a:p>
            <a:pPr indent="0" lvl="0" marL="739775" rtl="0" algn="l">
              <a:lnSpc>
                <a:spcPct val="100000"/>
              </a:lnSpc>
              <a:spcBef>
                <a:spcPts val="0"/>
              </a:spcBef>
              <a:spcAft>
                <a:spcPts val="0"/>
              </a:spcAft>
              <a:buNone/>
            </a:pPr>
            <a:r>
              <a:rPr lang="en-US"/>
              <a:t>Virtualización de Memoria</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36"/>
          <p:cNvSpPr txBox="1"/>
          <p:nvPr/>
        </p:nvSpPr>
        <p:spPr>
          <a:xfrm>
            <a:off x="802475" y="984494"/>
            <a:ext cx="7294245" cy="1076960"/>
          </a:xfrm>
          <a:prstGeom prst="rect">
            <a:avLst/>
          </a:prstGeom>
          <a:noFill/>
          <a:ln>
            <a:noFill/>
          </a:ln>
        </p:spPr>
        <p:txBody>
          <a:bodyPr anchorCtr="0" anchor="t" bIns="0" lIns="0" spcFirstLastPara="1" rIns="0" wrap="square" tIns="12700">
            <a:spAutoFit/>
          </a:bodyPr>
          <a:lstStyle/>
          <a:p>
            <a:pPr indent="0" lvl="0" marL="12700" marR="5080" rtl="0" algn="l">
              <a:lnSpc>
                <a:spcPct val="114999"/>
              </a:lnSpc>
              <a:spcBef>
                <a:spcPts val="0"/>
              </a:spcBef>
              <a:spcAft>
                <a:spcPts val="0"/>
              </a:spcAft>
              <a:buNone/>
            </a:pPr>
            <a:r>
              <a:rPr lang="en-US" sz="2000">
                <a:solidFill>
                  <a:srgbClr val="595959"/>
                </a:solidFill>
                <a:latin typeface="Tahoma"/>
                <a:ea typeface="Tahoma"/>
                <a:cs typeface="Tahoma"/>
                <a:sym typeface="Tahoma"/>
              </a:rPr>
              <a:t>Se traduce una Dirección Virtual (emitida por la CPU) en una Dirección Física (la memoria). Este mapeo se realiza por hardware, más específicamente por Memory Management Unit (MMU).</a:t>
            </a:r>
            <a:endParaRPr sz="2000">
              <a:latin typeface="Tahoma"/>
              <a:ea typeface="Tahoma"/>
              <a:cs typeface="Tahoma"/>
              <a:sym typeface="Tahoma"/>
            </a:endParaRPr>
          </a:p>
        </p:txBody>
      </p:sp>
      <p:sp>
        <p:nvSpPr>
          <p:cNvPr id="439" name="Google Shape;439;p36"/>
          <p:cNvSpPr txBox="1"/>
          <p:nvPr>
            <p:ph type="ctrTitle"/>
          </p:nvPr>
        </p:nvSpPr>
        <p:spPr>
          <a:xfrm>
            <a:off x="323825" y="61137"/>
            <a:ext cx="5718175" cy="382270"/>
          </a:xfrm>
          <a:prstGeom prst="rect">
            <a:avLst/>
          </a:prstGeom>
          <a:noFill/>
          <a:ln>
            <a:noFill/>
          </a:ln>
        </p:spPr>
        <p:txBody>
          <a:bodyPr anchorCtr="0" anchor="t" bIns="0" lIns="0" spcFirstLastPara="1" rIns="0" wrap="square" tIns="17775">
            <a:spAutoFit/>
          </a:bodyPr>
          <a:lstStyle/>
          <a:p>
            <a:pPr indent="0" lvl="0" marL="490855" rtl="0" algn="l">
              <a:lnSpc>
                <a:spcPct val="100000"/>
              </a:lnSpc>
              <a:spcBef>
                <a:spcPts val="0"/>
              </a:spcBef>
              <a:spcAft>
                <a:spcPts val="0"/>
              </a:spcAft>
              <a:buNone/>
            </a:pPr>
            <a:r>
              <a:rPr lang="en-US"/>
              <a:t>Traducción de Direcciones</a:t>
            </a:r>
            <a:endParaRPr/>
          </a:p>
        </p:txBody>
      </p:sp>
      <p:pic>
        <p:nvPicPr>
          <p:cNvPr id="440" name="Google Shape;440;p36"/>
          <p:cNvPicPr preferRelativeResize="0"/>
          <p:nvPr/>
        </p:nvPicPr>
        <p:blipFill rotWithShape="1">
          <a:blip r:embed="rId3">
            <a:alphaModFix/>
          </a:blip>
          <a:srcRect b="0" l="0" r="0" t="0"/>
          <a:stretch/>
        </p:blipFill>
        <p:spPr>
          <a:xfrm>
            <a:off x="1444837" y="3141025"/>
            <a:ext cx="6315074" cy="80009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44" name="Shape 444"/>
        <p:cNvGrpSpPr/>
        <p:nvPr/>
      </p:nvGrpSpPr>
      <p:grpSpPr>
        <a:xfrm>
          <a:off x="0" y="0"/>
          <a:ext cx="0" cy="0"/>
          <a:chOff x="0" y="0"/>
          <a:chExt cx="0" cy="0"/>
        </a:xfrm>
      </p:grpSpPr>
      <p:sp>
        <p:nvSpPr>
          <p:cNvPr id="445" name="Google Shape;445;p37"/>
          <p:cNvSpPr txBox="1"/>
          <p:nvPr/>
        </p:nvSpPr>
        <p:spPr>
          <a:xfrm>
            <a:off x="3823552" y="4451925"/>
            <a:ext cx="1501140" cy="28448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700">
                <a:solidFill>
                  <a:srgbClr val="595959"/>
                </a:solidFill>
                <a:latin typeface="Tahoma"/>
                <a:ea typeface="Tahoma"/>
                <a:cs typeface="Tahoma"/>
                <a:sym typeface="Tahoma"/>
              </a:rPr>
              <a:t>Commodore 64</a:t>
            </a:r>
            <a:endParaRPr sz="1700">
              <a:latin typeface="Tahoma"/>
              <a:ea typeface="Tahoma"/>
              <a:cs typeface="Tahoma"/>
              <a:sym typeface="Tahoma"/>
            </a:endParaRPr>
          </a:p>
        </p:txBody>
      </p:sp>
      <p:pic>
        <p:nvPicPr>
          <p:cNvPr id="446" name="Google Shape;446;p37"/>
          <p:cNvPicPr preferRelativeResize="0"/>
          <p:nvPr/>
        </p:nvPicPr>
        <p:blipFill rotWithShape="1">
          <a:blip r:embed="rId3">
            <a:alphaModFix/>
          </a:blip>
          <a:srcRect b="0" l="0" r="0" t="0"/>
          <a:stretch/>
        </p:blipFill>
        <p:spPr>
          <a:xfrm>
            <a:off x="794712" y="112324"/>
            <a:ext cx="7557881" cy="4067751"/>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50" name="Shape 450"/>
        <p:cNvGrpSpPr/>
        <p:nvPr/>
      </p:nvGrpSpPr>
      <p:grpSpPr>
        <a:xfrm>
          <a:off x="0" y="0"/>
          <a:ext cx="0" cy="0"/>
          <a:chOff x="0" y="0"/>
          <a:chExt cx="0" cy="0"/>
        </a:xfrm>
      </p:grpSpPr>
      <p:sp>
        <p:nvSpPr>
          <p:cNvPr id="451" name="Google Shape;451;p38"/>
          <p:cNvSpPr txBox="1"/>
          <p:nvPr/>
        </p:nvSpPr>
        <p:spPr>
          <a:xfrm>
            <a:off x="3414913" y="4484437"/>
            <a:ext cx="2318385" cy="2235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300">
                <a:solidFill>
                  <a:srgbClr val="595959"/>
                </a:solidFill>
                <a:latin typeface="Tahoma"/>
                <a:ea typeface="Tahoma"/>
                <a:cs typeface="Tahoma"/>
                <a:sym typeface="Tahoma"/>
              </a:rPr>
              <a:t>La MMU Dentro del Procesador</a:t>
            </a:r>
            <a:endParaRPr sz="1300">
              <a:latin typeface="Tahoma"/>
              <a:ea typeface="Tahoma"/>
              <a:cs typeface="Tahoma"/>
              <a:sym typeface="Tahoma"/>
            </a:endParaRPr>
          </a:p>
        </p:txBody>
      </p:sp>
      <p:pic>
        <p:nvPicPr>
          <p:cNvPr id="452" name="Google Shape;452;p38"/>
          <p:cNvPicPr preferRelativeResize="0"/>
          <p:nvPr/>
        </p:nvPicPr>
        <p:blipFill rotWithShape="1">
          <a:blip r:embed="rId3">
            <a:alphaModFix/>
          </a:blip>
          <a:srcRect b="0" l="0" r="0" t="0"/>
          <a:stretch/>
        </p:blipFill>
        <p:spPr>
          <a:xfrm>
            <a:off x="2110450" y="72225"/>
            <a:ext cx="4923100" cy="4067751"/>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39"/>
          <p:cNvSpPr txBox="1"/>
          <p:nvPr>
            <p:ph type="title"/>
          </p:nvPr>
        </p:nvSpPr>
        <p:spPr>
          <a:xfrm>
            <a:off x="73025" y="12837"/>
            <a:ext cx="7791285" cy="476369"/>
          </a:xfrm>
          <a:prstGeom prst="rect">
            <a:avLst/>
          </a:prstGeom>
          <a:noFill/>
          <a:ln>
            <a:noFill/>
          </a:ln>
        </p:spPr>
        <p:txBody>
          <a:bodyPr anchorCtr="0" anchor="t" bIns="0" lIns="0" spcFirstLastPara="1" rIns="0" wrap="square" tIns="66075">
            <a:spAutoFit/>
          </a:bodyPr>
          <a:lstStyle/>
          <a:p>
            <a:pPr indent="0" lvl="0" marL="739775" rtl="0" algn="l">
              <a:lnSpc>
                <a:spcPct val="100000"/>
              </a:lnSpc>
              <a:spcBef>
                <a:spcPts val="0"/>
              </a:spcBef>
              <a:spcAft>
                <a:spcPts val="0"/>
              </a:spcAft>
              <a:buNone/>
            </a:pPr>
            <a:r>
              <a:rPr lang="en-US"/>
              <a:t>Virtualización de Memoria</a:t>
            </a:r>
            <a:endParaRPr/>
          </a:p>
        </p:txBody>
      </p:sp>
      <p:pic>
        <p:nvPicPr>
          <p:cNvPr id="458" name="Google Shape;458;p39"/>
          <p:cNvPicPr preferRelativeResize="0"/>
          <p:nvPr/>
        </p:nvPicPr>
        <p:blipFill rotWithShape="1">
          <a:blip r:embed="rId3">
            <a:alphaModFix/>
          </a:blip>
          <a:srcRect b="0" l="0" r="0" t="0"/>
          <a:stretch/>
        </p:blipFill>
        <p:spPr>
          <a:xfrm>
            <a:off x="1698915" y="762770"/>
            <a:ext cx="5372293" cy="438073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40"/>
          <p:cNvSpPr txBox="1"/>
          <p:nvPr>
            <p:ph type="title"/>
          </p:nvPr>
        </p:nvSpPr>
        <p:spPr>
          <a:xfrm>
            <a:off x="73025" y="12837"/>
            <a:ext cx="7791285" cy="476369"/>
          </a:xfrm>
          <a:prstGeom prst="rect">
            <a:avLst/>
          </a:prstGeom>
          <a:noFill/>
          <a:ln>
            <a:noFill/>
          </a:ln>
        </p:spPr>
        <p:txBody>
          <a:bodyPr anchorCtr="0" anchor="t" bIns="0" lIns="0" spcFirstLastPara="1" rIns="0" wrap="square" tIns="66075">
            <a:spAutoFit/>
          </a:bodyPr>
          <a:lstStyle/>
          <a:p>
            <a:pPr indent="0" lvl="0" marL="12700" rtl="0" algn="l">
              <a:lnSpc>
                <a:spcPct val="100000"/>
              </a:lnSpc>
              <a:spcBef>
                <a:spcPts val="0"/>
              </a:spcBef>
              <a:spcAft>
                <a:spcPts val="0"/>
              </a:spcAft>
              <a:buNone/>
            </a:pPr>
            <a:r>
              <a:rPr lang="en-US"/>
              <a:t>El proceso en memoria</a:t>
            </a:r>
            <a:endParaRPr/>
          </a:p>
        </p:txBody>
      </p:sp>
      <p:pic>
        <p:nvPicPr>
          <p:cNvPr id="464" name="Google Shape;464;p40"/>
          <p:cNvPicPr preferRelativeResize="0"/>
          <p:nvPr/>
        </p:nvPicPr>
        <p:blipFill rotWithShape="1">
          <a:blip r:embed="rId3">
            <a:alphaModFix/>
          </a:blip>
          <a:srcRect b="0" l="0" r="0" t="0"/>
          <a:stretch/>
        </p:blipFill>
        <p:spPr>
          <a:xfrm>
            <a:off x="4460575" y="38850"/>
            <a:ext cx="4524850" cy="5065799"/>
          </a:xfrm>
          <a:prstGeom prst="rect">
            <a:avLst/>
          </a:prstGeom>
          <a:noFill/>
          <a:ln>
            <a:noFill/>
          </a:ln>
        </p:spPr>
      </p:pic>
      <p:sp>
        <p:nvSpPr>
          <p:cNvPr id="465" name="Google Shape;465;p40"/>
          <p:cNvSpPr txBox="1"/>
          <p:nvPr/>
        </p:nvSpPr>
        <p:spPr>
          <a:xfrm>
            <a:off x="318575" y="646099"/>
            <a:ext cx="3641090" cy="3930650"/>
          </a:xfrm>
          <a:prstGeom prst="rect">
            <a:avLst/>
          </a:prstGeom>
          <a:noFill/>
          <a:ln>
            <a:noFill/>
          </a:ln>
        </p:spPr>
        <p:txBody>
          <a:bodyPr anchorCtr="0" anchor="t" bIns="0" lIns="0" spcFirstLastPara="1" rIns="0" wrap="square" tIns="33000">
            <a:spAutoFit/>
          </a:bodyPr>
          <a:lstStyle/>
          <a:p>
            <a:pPr indent="0" lvl="0" marL="12700" marR="5080" rtl="0" algn="l">
              <a:lnSpc>
                <a:spcPct val="113277"/>
              </a:lnSpc>
              <a:spcBef>
                <a:spcPts val="0"/>
              </a:spcBef>
              <a:spcAft>
                <a:spcPts val="0"/>
              </a:spcAft>
              <a:buNone/>
            </a:pPr>
            <a:r>
              <a:rPr lang="en-US" sz="1800">
                <a:solidFill>
                  <a:srgbClr val="595959"/>
                </a:solidFill>
                <a:latin typeface="Tahoma"/>
                <a:ea typeface="Tahoma"/>
                <a:cs typeface="Tahoma"/>
                <a:sym typeface="Tahoma"/>
              </a:rPr>
              <a:t>La virtualización de memoria le hace creer al proceso que este tiene toda la memoria disponible para ser reservada y usada como si este estuviera siendo ejecutado sólo en la computadora (ilusión). Todos los procesos en Linux, está dividido en 4 segmentos:</a:t>
            </a:r>
            <a:endParaRPr sz="1800">
              <a:latin typeface="Tahoma"/>
              <a:ea typeface="Tahoma"/>
              <a:cs typeface="Tahoma"/>
              <a:sym typeface="Tahoma"/>
            </a:endParaRPr>
          </a:p>
          <a:p>
            <a:pPr indent="0" lvl="0" marL="12700" marR="262255" rtl="0" algn="l">
              <a:lnSpc>
                <a:spcPct val="113277"/>
              </a:lnSpc>
              <a:spcBef>
                <a:spcPts val="2065"/>
              </a:spcBef>
              <a:spcAft>
                <a:spcPts val="0"/>
              </a:spcAft>
              <a:buNone/>
            </a:pPr>
            <a:r>
              <a:rPr lang="en-US" sz="1800">
                <a:solidFill>
                  <a:srgbClr val="595959"/>
                </a:solidFill>
                <a:latin typeface="Tahoma"/>
                <a:ea typeface="Tahoma"/>
                <a:cs typeface="Tahoma"/>
                <a:sym typeface="Tahoma"/>
              </a:rPr>
              <a:t>Text: Instrucciones del Programa. Data: Variables Globales (extern o static en C)</a:t>
            </a:r>
            <a:endParaRPr sz="1800">
              <a:latin typeface="Tahoma"/>
              <a:ea typeface="Tahoma"/>
              <a:cs typeface="Tahoma"/>
              <a:sym typeface="Tahoma"/>
            </a:endParaRPr>
          </a:p>
          <a:p>
            <a:pPr indent="0" lvl="0" marL="12700" marR="187325" rtl="0" algn="l">
              <a:lnSpc>
                <a:spcPct val="113277"/>
              </a:lnSpc>
              <a:spcBef>
                <a:spcPts val="5"/>
              </a:spcBef>
              <a:spcAft>
                <a:spcPts val="0"/>
              </a:spcAft>
              <a:buNone/>
            </a:pPr>
            <a:r>
              <a:rPr lang="en-US" sz="1800">
                <a:solidFill>
                  <a:srgbClr val="595959"/>
                </a:solidFill>
                <a:latin typeface="Tahoma"/>
                <a:ea typeface="Tahoma"/>
                <a:cs typeface="Tahoma"/>
                <a:sym typeface="Tahoma"/>
              </a:rPr>
              <a:t>Heap: Memoria Dinámica Alocable Stack: Variable Locales y trace de llamadas</a:t>
            </a:r>
            <a:endParaRPr sz="1800">
              <a:latin typeface="Tahoma"/>
              <a:ea typeface="Tahoma"/>
              <a:cs typeface="Tahoma"/>
              <a:sym typeface="Tahoma"/>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41"/>
          <p:cNvSpPr txBox="1"/>
          <p:nvPr>
            <p:ph type="title"/>
          </p:nvPr>
        </p:nvSpPr>
        <p:spPr>
          <a:xfrm>
            <a:off x="73025" y="12837"/>
            <a:ext cx="7791285" cy="476369"/>
          </a:xfrm>
          <a:prstGeom prst="rect">
            <a:avLst/>
          </a:prstGeom>
          <a:noFill/>
          <a:ln>
            <a:noFill/>
          </a:ln>
        </p:spPr>
        <p:txBody>
          <a:bodyPr anchorCtr="0" anchor="t" bIns="0" lIns="0" spcFirstLastPara="1" rIns="0" wrap="square" tIns="66075">
            <a:spAutoFit/>
          </a:bodyPr>
          <a:lstStyle/>
          <a:p>
            <a:pPr indent="0" lvl="0" marL="12700" rtl="0" algn="l">
              <a:lnSpc>
                <a:spcPct val="100000"/>
              </a:lnSpc>
              <a:spcBef>
                <a:spcPts val="0"/>
              </a:spcBef>
              <a:spcAft>
                <a:spcPts val="0"/>
              </a:spcAft>
              <a:buNone/>
            </a:pPr>
            <a:r>
              <a:rPr lang="en-US"/>
              <a:t>El proceso en memoria</a:t>
            </a:r>
            <a:endParaRPr/>
          </a:p>
        </p:txBody>
      </p:sp>
      <p:sp>
        <p:nvSpPr>
          <p:cNvPr id="471" name="Google Shape;471;p41"/>
          <p:cNvSpPr txBox="1"/>
          <p:nvPr/>
        </p:nvSpPr>
        <p:spPr>
          <a:xfrm>
            <a:off x="1657345" y="4437448"/>
            <a:ext cx="5831840" cy="2692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600">
                <a:solidFill>
                  <a:srgbClr val="595959"/>
                </a:solidFill>
                <a:latin typeface="Tahoma"/>
                <a:ea typeface="Tahoma"/>
                <a:cs typeface="Tahoma"/>
                <a:sym typeface="Tahoma"/>
              </a:rPr>
              <a:t>Todos los procesos tienen la misma estructura del Address Space</a:t>
            </a:r>
            <a:endParaRPr sz="1600">
              <a:latin typeface="Tahoma"/>
              <a:ea typeface="Tahoma"/>
              <a:cs typeface="Tahoma"/>
              <a:sym typeface="Tahoma"/>
            </a:endParaRPr>
          </a:p>
        </p:txBody>
      </p:sp>
      <p:pic>
        <p:nvPicPr>
          <p:cNvPr id="472" name="Google Shape;472;p41"/>
          <p:cNvPicPr preferRelativeResize="0"/>
          <p:nvPr/>
        </p:nvPicPr>
        <p:blipFill rotWithShape="1">
          <a:blip r:embed="rId3">
            <a:alphaModFix/>
          </a:blip>
          <a:srcRect b="0" l="0" r="0" t="0"/>
          <a:stretch/>
        </p:blipFill>
        <p:spPr>
          <a:xfrm>
            <a:off x="1710636" y="535200"/>
            <a:ext cx="5726016" cy="3824283"/>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42"/>
          <p:cNvSpPr txBox="1"/>
          <p:nvPr>
            <p:ph type="title"/>
          </p:nvPr>
        </p:nvSpPr>
        <p:spPr>
          <a:xfrm>
            <a:off x="257825" y="61137"/>
            <a:ext cx="2390775" cy="382270"/>
          </a:xfrm>
          <a:prstGeom prst="rect">
            <a:avLst/>
          </a:prstGeom>
          <a:noFill/>
          <a:ln>
            <a:noFill/>
          </a:ln>
        </p:spPr>
        <p:txBody>
          <a:bodyPr anchorCtr="0" anchor="t" bIns="0" lIns="0" spcFirstLastPara="1" rIns="0" wrap="square" tIns="17775">
            <a:spAutoFit/>
          </a:bodyPr>
          <a:lstStyle/>
          <a:p>
            <a:pPr indent="0" lvl="0" marL="12700" rtl="0" algn="l">
              <a:lnSpc>
                <a:spcPct val="100000"/>
              </a:lnSpc>
              <a:spcBef>
                <a:spcPts val="0"/>
              </a:spcBef>
              <a:spcAft>
                <a:spcPts val="0"/>
              </a:spcAft>
              <a:buNone/>
            </a:pPr>
            <a:r>
              <a:rPr lang="en-US"/>
              <a:t>System call brk()</a:t>
            </a:r>
            <a:endParaRPr/>
          </a:p>
        </p:txBody>
      </p:sp>
      <p:pic>
        <p:nvPicPr>
          <p:cNvPr id="478" name="Google Shape;478;p42"/>
          <p:cNvPicPr preferRelativeResize="0"/>
          <p:nvPr/>
        </p:nvPicPr>
        <p:blipFill rotWithShape="1">
          <a:blip r:embed="rId3">
            <a:alphaModFix/>
          </a:blip>
          <a:srcRect b="0" l="0" r="0" t="0"/>
          <a:stretch/>
        </p:blipFill>
        <p:spPr>
          <a:xfrm>
            <a:off x="4572000" y="0"/>
            <a:ext cx="4571999" cy="5143499"/>
          </a:xfrm>
          <a:prstGeom prst="rect">
            <a:avLst/>
          </a:prstGeom>
          <a:noFill/>
          <a:ln>
            <a:noFill/>
          </a:ln>
        </p:spPr>
      </p:pic>
      <p:sp>
        <p:nvSpPr>
          <p:cNvPr id="479" name="Google Shape;479;p42"/>
          <p:cNvSpPr txBox="1"/>
          <p:nvPr/>
        </p:nvSpPr>
        <p:spPr>
          <a:xfrm>
            <a:off x="257825" y="740088"/>
            <a:ext cx="4148454" cy="3393440"/>
          </a:xfrm>
          <a:prstGeom prst="rect">
            <a:avLst/>
          </a:prstGeom>
          <a:noFill/>
          <a:ln>
            <a:noFill/>
          </a:ln>
        </p:spPr>
        <p:txBody>
          <a:bodyPr anchorCtr="0" anchor="t" bIns="0" lIns="0" spcFirstLastPara="1" rIns="0" wrap="square" tIns="12700">
            <a:spAutoFit/>
          </a:bodyPr>
          <a:lstStyle/>
          <a:p>
            <a:pPr indent="0" lvl="0" marL="12700" marR="438784" rtl="0" algn="just">
              <a:lnSpc>
                <a:spcPct val="100000"/>
              </a:lnSpc>
              <a:spcBef>
                <a:spcPts val="0"/>
              </a:spcBef>
              <a:spcAft>
                <a:spcPts val="0"/>
              </a:spcAft>
              <a:buNone/>
            </a:pPr>
            <a:r>
              <a:rPr lang="en-US" sz="1700">
                <a:latin typeface="Tahoma"/>
                <a:ea typeface="Tahoma"/>
                <a:cs typeface="Tahoma"/>
                <a:sym typeface="Tahoma"/>
              </a:rPr>
              <a:t>Inicialmente el break del programa está ubicado justo en el final de los datos no inicializados.</a:t>
            </a:r>
            <a:endParaRPr sz="1700">
              <a:latin typeface="Tahoma"/>
              <a:ea typeface="Tahoma"/>
              <a:cs typeface="Tahoma"/>
              <a:sym typeface="Tahoma"/>
            </a:endParaRPr>
          </a:p>
          <a:p>
            <a:pPr indent="0" lvl="0" marL="12700" marR="5080" rtl="0" algn="l">
              <a:lnSpc>
                <a:spcPct val="100000"/>
              </a:lnSpc>
              <a:spcBef>
                <a:spcPts val="2039"/>
              </a:spcBef>
              <a:spcAft>
                <a:spcPts val="0"/>
              </a:spcAft>
              <a:buNone/>
            </a:pPr>
            <a:r>
              <a:rPr lang="en-US" sz="1700">
                <a:latin typeface="Tahoma"/>
                <a:ea typeface="Tahoma"/>
                <a:cs typeface="Tahoma"/>
                <a:sym typeface="Tahoma"/>
              </a:rPr>
              <a:t>Después que brk() se ejecuta, el break es incrementado, el proceso puede acceder a cualquier memoria en la nueva área reservada, pero no accede directamente a la memoria física.</a:t>
            </a:r>
            <a:endParaRPr sz="1700">
              <a:latin typeface="Tahoma"/>
              <a:ea typeface="Tahoma"/>
              <a:cs typeface="Tahoma"/>
              <a:sym typeface="Tahoma"/>
            </a:endParaRPr>
          </a:p>
          <a:p>
            <a:pPr indent="41275" lvl="0" marL="12700" marR="234315" rtl="0" algn="l">
              <a:lnSpc>
                <a:spcPct val="100000"/>
              </a:lnSpc>
              <a:spcBef>
                <a:spcPts val="2039"/>
              </a:spcBef>
              <a:spcAft>
                <a:spcPts val="0"/>
              </a:spcAft>
              <a:buNone/>
            </a:pPr>
            <a:r>
              <a:rPr lang="en-US" sz="1700">
                <a:latin typeface="Tahoma"/>
                <a:ea typeface="Tahoma"/>
                <a:cs typeface="Tahoma"/>
                <a:sym typeface="Tahoma"/>
              </a:rPr>
              <a:t>Esto se realiza automáticamente por el kernel en el primer intento del proceso en acceder al área reservada.</a:t>
            </a:r>
            <a:endParaRPr sz="1700">
              <a:latin typeface="Tahoma"/>
              <a:ea typeface="Tahoma"/>
              <a:cs typeface="Tahoma"/>
              <a:sym typeface="Tahoma"/>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43"/>
          <p:cNvSpPr txBox="1"/>
          <p:nvPr>
            <p:ph type="title"/>
          </p:nvPr>
        </p:nvSpPr>
        <p:spPr>
          <a:xfrm>
            <a:off x="73025" y="12837"/>
            <a:ext cx="7791285" cy="476369"/>
          </a:xfrm>
          <a:prstGeom prst="rect">
            <a:avLst/>
          </a:prstGeom>
          <a:noFill/>
          <a:ln>
            <a:noFill/>
          </a:ln>
        </p:spPr>
        <p:txBody>
          <a:bodyPr anchorCtr="0" anchor="t" bIns="0" lIns="0" spcFirstLastPara="1" rIns="0" wrap="square" tIns="66075">
            <a:spAutoFit/>
          </a:bodyPr>
          <a:lstStyle/>
          <a:p>
            <a:pPr indent="0" lvl="0" marL="197485" rtl="0" algn="l">
              <a:lnSpc>
                <a:spcPct val="100000"/>
              </a:lnSpc>
              <a:spcBef>
                <a:spcPts val="0"/>
              </a:spcBef>
              <a:spcAft>
                <a:spcPts val="0"/>
              </a:spcAft>
              <a:buNone/>
            </a:pPr>
            <a:r>
              <a:rPr lang="en-US"/>
              <a:t>brk() vs malloc()</a:t>
            </a:r>
            <a:endParaRPr/>
          </a:p>
        </p:txBody>
      </p:sp>
      <p:sp>
        <p:nvSpPr>
          <p:cNvPr id="485" name="Google Shape;485;p43"/>
          <p:cNvSpPr txBox="1"/>
          <p:nvPr/>
        </p:nvSpPr>
        <p:spPr>
          <a:xfrm>
            <a:off x="257825" y="740088"/>
            <a:ext cx="4235450" cy="287528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700">
                <a:latin typeface="Tahoma"/>
                <a:ea typeface="Tahoma"/>
                <a:cs typeface="Tahoma"/>
                <a:sym typeface="Tahoma"/>
              </a:rPr>
              <a:t>brk()</a:t>
            </a:r>
            <a:endParaRPr sz="1700">
              <a:latin typeface="Tahoma"/>
              <a:ea typeface="Tahoma"/>
              <a:cs typeface="Tahoma"/>
              <a:sym typeface="Tahoma"/>
            </a:endParaRPr>
          </a:p>
          <a:p>
            <a:pPr indent="-359410" lvl="0" marL="469900" marR="221615" rtl="0" algn="l">
              <a:lnSpc>
                <a:spcPct val="100000"/>
              </a:lnSpc>
              <a:spcBef>
                <a:spcPts val="0"/>
              </a:spcBef>
              <a:spcAft>
                <a:spcPts val="0"/>
              </a:spcAft>
              <a:buSzPts val="1700"/>
              <a:buFont typeface="Arial"/>
              <a:buChar char="●"/>
            </a:pPr>
            <a:r>
              <a:rPr lang="en-US" sz="1700">
                <a:latin typeface="Tahoma"/>
                <a:ea typeface="Tahoma"/>
                <a:cs typeface="Tahoma"/>
                <a:sym typeface="Tahoma"/>
              </a:rPr>
              <a:t>Es una system call. Opera con bloques grandes (generalmente páginas completas)</a:t>
            </a:r>
            <a:endParaRPr sz="1700">
              <a:latin typeface="Tahoma"/>
              <a:ea typeface="Tahoma"/>
              <a:cs typeface="Tahoma"/>
              <a:sym typeface="Tahoma"/>
            </a:endParaRPr>
          </a:p>
          <a:p>
            <a:pPr indent="0" lvl="0" marL="12700" rtl="0" algn="l">
              <a:lnSpc>
                <a:spcPct val="100000"/>
              </a:lnSpc>
              <a:spcBef>
                <a:spcPts val="2039"/>
              </a:spcBef>
              <a:spcAft>
                <a:spcPts val="0"/>
              </a:spcAft>
              <a:buNone/>
            </a:pPr>
            <a:r>
              <a:rPr b="1" lang="en-US" sz="1700">
                <a:latin typeface="Tahoma"/>
                <a:ea typeface="Tahoma"/>
                <a:cs typeface="Tahoma"/>
                <a:sym typeface="Tahoma"/>
              </a:rPr>
              <a:t>malloc()</a:t>
            </a:r>
            <a:endParaRPr sz="1700">
              <a:latin typeface="Tahoma"/>
              <a:ea typeface="Tahoma"/>
              <a:cs typeface="Tahoma"/>
              <a:sym typeface="Tahoma"/>
            </a:endParaRPr>
          </a:p>
          <a:p>
            <a:pPr indent="-358775" lvl="0" marL="469265" rtl="0" algn="l">
              <a:lnSpc>
                <a:spcPct val="100000"/>
              </a:lnSpc>
              <a:spcBef>
                <a:spcPts val="0"/>
              </a:spcBef>
              <a:spcAft>
                <a:spcPts val="0"/>
              </a:spcAft>
              <a:buSzPts val="1700"/>
              <a:buFont typeface="Arial"/>
              <a:buChar char="●"/>
            </a:pPr>
            <a:r>
              <a:rPr lang="en-US" sz="1700">
                <a:latin typeface="Tahoma"/>
                <a:ea typeface="Tahoma"/>
                <a:cs typeface="Tahoma"/>
                <a:sym typeface="Tahoma"/>
              </a:rPr>
              <a:t>Se implementa en espacio de usuario</a:t>
            </a:r>
            <a:endParaRPr sz="1700">
              <a:latin typeface="Tahoma"/>
              <a:ea typeface="Tahoma"/>
              <a:cs typeface="Tahoma"/>
              <a:sym typeface="Tahoma"/>
            </a:endParaRPr>
          </a:p>
          <a:p>
            <a:pPr indent="-358775" lvl="0" marL="469265" rtl="0" algn="l">
              <a:lnSpc>
                <a:spcPct val="100000"/>
              </a:lnSpc>
              <a:spcBef>
                <a:spcPts val="0"/>
              </a:spcBef>
              <a:spcAft>
                <a:spcPts val="0"/>
              </a:spcAft>
              <a:buSzPts val="1700"/>
              <a:buFont typeface="Arial"/>
              <a:buChar char="●"/>
            </a:pPr>
            <a:r>
              <a:rPr lang="en-US" sz="1700">
                <a:latin typeface="Tahoma"/>
                <a:ea typeface="Tahoma"/>
                <a:cs typeface="Tahoma"/>
                <a:sym typeface="Tahoma"/>
              </a:rPr>
              <a:t>Utiliza brk().</a:t>
            </a:r>
            <a:endParaRPr sz="1700">
              <a:latin typeface="Tahoma"/>
              <a:ea typeface="Tahoma"/>
              <a:cs typeface="Tahoma"/>
              <a:sym typeface="Tahoma"/>
            </a:endParaRPr>
          </a:p>
          <a:p>
            <a:pPr indent="-359410" lvl="0" marL="469900" marR="5080" rtl="0" algn="l">
              <a:lnSpc>
                <a:spcPct val="100000"/>
              </a:lnSpc>
              <a:spcBef>
                <a:spcPts val="0"/>
              </a:spcBef>
              <a:spcAft>
                <a:spcPts val="0"/>
              </a:spcAft>
              <a:buSzPts val="1700"/>
              <a:buFont typeface="Arial"/>
              <a:buChar char="●"/>
            </a:pPr>
            <a:r>
              <a:rPr lang="en-US" sz="1700">
                <a:latin typeface="Tahoma"/>
                <a:ea typeface="Tahoma"/>
                <a:cs typeface="Tahoma"/>
                <a:sym typeface="Tahoma"/>
              </a:rPr>
              <a:t>Maneja estructuras de datos propias (en user space) para optimizar la memoria provista por brk</a:t>
            </a:r>
            <a:endParaRPr sz="1700">
              <a:latin typeface="Tahoma"/>
              <a:ea typeface="Tahoma"/>
              <a:cs typeface="Tahoma"/>
              <a:sym typeface="Tahoma"/>
            </a:endParaRPr>
          </a:p>
        </p:txBody>
      </p:sp>
      <p:pic>
        <p:nvPicPr>
          <p:cNvPr id="486" name="Google Shape;486;p43"/>
          <p:cNvPicPr preferRelativeResize="0"/>
          <p:nvPr/>
        </p:nvPicPr>
        <p:blipFill rotWithShape="1">
          <a:blip r:embed="rId3">
            <a:alphaModFix/>
          </a:blip>
          <a:srcRect b="0" l="0" r="0" t="0"/>
          <a:stretch/>
        </p:blipFill>
        <p:spPr>
          <a:xfrm>
            <a:off x="4572000" y="732065"/>
            <a:ext cx="4346670" cy="3252392"/>
          </a:xfrm>
          <a:prstGeom prst="rect">
            <a:avLst/>
          </a:prstGeom>
          <a:noFill/>
          <a:ln>
            <a:noFill/>
          </a:ln>
        </p:spPr>
      </p:pic>
      <p:sp>
        <p:nvSpPr>
          <p:cNvPr id="487" name="Google Shape;487;p43"/>
          <p:cNvSpPr txBox="1"/>
          <p:nvPr/>
        </p:nvSpPr>
        <p:spPr>
          <a:xfrm>
            <a:off x="3165297" y="4749770"/>
            <a:ext cx="3282950" cy="2235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i="1" lang="en-US" sz="1300">
                <a:solidFill>
                  <a:srgbClr val="595959"/>
                </a:solidFill>
                <a:latin typeface="Trebuchet MS"/>
                <a:ea typeface="Trebuchet MS"/>
                <a:cs typeface="Trebuchet MS"/>
                <a:sym typeface="Trebuchet MS"/>
              </a:rPr>
              <a:t>Más en la unidad 5 del programa, sobre Memoria</a:t>
            </a:r>
            <a:endParaRPr sz="1300">
              <a:latin typeface="Trebuchet MS"/>
              <a:ea typeface="Trebuchet MS"/>
              <a:cs typeface="Trebuchet MS"/>
              <a:sym typeface="Trebuchet M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44"/>
          <p:cNvSpPr txBox="1"/>
          <p:nvPr/>
        </p:nvSpPr>
        <p:spPr>
          <a:xfrm>
            <a:off x="800825" y="1569763"/>
            <a:ext cx="7844155" cy="1638300"/>
          </a:xfrm>
          <a:prstGeom prst="rect">
            <a:avLst/>
          </a:prstGeom>
          <a:noFill/>
          <a:ln>
            <a:noFill/>
          </a:ln>
        </p:spPr>
        <p:txBody>
          <a:bodyPr anchorCtr="0" anchor="t" bIns="0" lIns="0" spcFirstLastPara="1" rIns="0" wrap="square" tIns="12700">
            <a:spAutoFit/>
          </a:bodyPr>
          <a:lstStyle/>
          <a:p>
            <a:pPr indent="0" lvl="0" marL="12700" marR="5080" rtl="0" algn="just">
              <a:lnSpc>
                <a:spcPct val="114999"/>
              </a:lnSpc>
              <a:spcBef>
                <a:spcPts val="0"/>
              </a:spcBef>
              <a:spcAft>
                <a:spcPts val="0"/>
              </a:spcAft>
              <a:buNone/>
            </a:pPr>
            <a:r>
              <a:rPr lang="en-US" sz="2300">
                <a:solidFill>
                  <a:srgbClr val="595959"/>
                </a:solidFill>
                <a:latin typeface="Tahoma"/>
                <a:ea typeface="Tahoma"/>
                <a:cs typeface="Tahoma"/>
                <a:sym typeface="Tahoma"/>
              </a:rPr>
              <a:t>La  virtualización  de  procesamiento  es  la  forma  de virtualización más primitiva, </a:t>
            </a:r>
            <a:r>
              <a:rPr b="1" lang="en-US" sz="2300">
                <a:solidFill>
                  <a:srgbClr val="595959"/>
                </a:solidFill>
                <a:latin typeface="Tahoma"/>
                <a:ea typeface="Tahoma"/>
                <a:cs typeface="Tahoma"/>
                <a:sym typeface="Tahoma"/>
              </a:rPr>
              <a:t>consiste en dar la ilusión de la existencia de un único procesador para cualquier programa que requiera de su uso.</a:t>
            </a:r>
            <a:endParaRPr sz="2300">
              <a:latin typeface="Tahoma"/>
              <a:ea typeface="Tahoma"/>
              <a:cs typeface="Tahoma"/>
              <a:sym typeface="Tahoma"/>
            </a:endParaRPr>
          </a:p>
        </p:txBody>
      </p:sp>
      <p:sp>
        <p:nvSpPr>
          <p:cNvPr id="493" name="Google Shape;493;p44"/>
          <p:cNvSpPr txBox="1"/>
          <p:nvPr>
            <p:ph type="title"/>
          </p:nvPr>
        </p:nvSpPr>
        <p:spPr>
          <a:xfrm>
            <a:off x="73025" y="12837"/>
            <a:ext cx="7791285" cy="476369"/>
          </a:xfrm>
          <a:prstGeom prst="rect">
            <a:avLst/>
          </a:prstGeom>
          <a:noFill/>
          <a:ln>
            <a:noFill/>
          </a:ln>
        </p:spPr>
        <p:txBody>
          <a:bodyPr anchorCtr="0" anchor="t" bIns="0" lIns="0" spcFirstLastPara="1" rIns="0" wrap="square" tIns="66075">
            <a:spAutoFit/>
          </a:bodyPr>
          <a:lstStyle/>
          <a:p>
            <a:pPr indent="0" lvl="0" marL="740410" rtl="0" algn="l">
              <a:lnSpc>
                <a:spcPct val="100000"/>
              </a:lnSpc>
              <a:spcBef>
                <a:spcPts val="0"/>
              </a:spcBef>
              <a:spcAft>
                <a:spcPts val="0"/>
              </a:spcAft>
              <a:buNone/>
            </a:pPr>
            <a:r>
              <a:rPr lang="en-US"/>
              <a:t>Virtualización de Procesador</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97" name="Shape 497"/>
        <p:cNvGrpSpPr/>
        <p:nvPr/>
      </p:nvGrpSpPr>
      <p:grpSpPr>
        <a:xfrm>
          <a:off x="0" y="0"/>
          <a:ext cx="0" cy="0"/>
          <a:chOff x="0" y="0"/>
          <a:chExt cx="0" cy="0"/>
        </a:xfrm>
      </p:grpSpPr>
      <p:sp>
        <p:nvSpPr>
          <p:cNvPr id="498" name="Google Shape;498;p45"/>
          <p:cNvSpPr txBox="1"/>
          <p:nvPr/>
        </p:nvSpPr>
        <p:spPr>
          <a:xfrm>
            <a:off x="797975" y="4493378"/>
            <a:ext cx="5114925" cy="207010"/>
          </a:xfrm>
          <a:prstGeom prst="rect">
            <a:avLst/>
          </a:prstGeom>
          <a:noFill/>
          <a:ln>
            <a:noFill/>
          </a:ln>
        </p:spPr>
        <p:txBody>
          <a:bodyPr anchorCtr="0" anchor="t" bIns="0" lIns="0" spcFirstLastPara="1" rIns="0" wrap="square" tIns="17775">
            <a:spAutoFit/>
          </a:bodyPr>
          <a:lstStyle/>
          <a:p>
            <a:pPr indent="0" lvl="0" marL="12700" rtl="0" algn="l">
              <a:lnSpc>
                <a:spcPct val="100000"/>
              </a:lnSpc>
              <a:spcBef>
                <a:spcPts val="0"/>
              </a:spcBef>
              <a:spcAft>
                <a:spcPts val="0"/>
              </a:spcAft>
              <a:buNone/>
            </a:pPr>
            <a:r>
              <a:rPr lang="en-US" sz="1150">
                <a:solidFill>
                  <a:srgbClr val="595959"/>
                </a:solidFill>
                <a:latin typeface="Tahoma"/>
                <a:ea typeface="Tahoma"/>
                <a:cs typeface="Tahoma"/>
                <a:sym typeface="Tahoma"/>
              </a:rPr>
              <a:t>El SO crea esta ilusión mediante la virtualización de la CPU a través del kernel.</a:t>
            </a:r>
            <a:endParaRPr sz="1150">
              <a:latin typeface="Tahoma"/>
              <a:ea typeface="Tahoma"/>
              <a:cs typeface="Tahoma"/>
              <a:sym typeface="Tahoma"/>
            </a:endParaRPr>
          </a:p>
        </p:txBody>
      </p:sp>
      <p:pic>
        <p:nvPicPr>
          <p:cNvPr id="499" name="Google Shape;499;p45"/>
          <p:cNvPicPr preferRelativeResize="0"/>
          <p:nvPr/>
        </p:nvPicPr>
        <p:blipFill rotWithShape="1">
          <a:blip r:embed="rId3">
            <a:alphaModFix/>
          </a:blip>
          <a:srcRect b="0" l="0" r="0" t="0"/>
          <a:stretch/>
        </p:blipFill>
        <p:spPr>
          <a:xfrm>
            <a:off x="1947862" y="1114300"/>
            <a:ext cx="4952999" cy="2590799"/>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03" name="Shape 503"/>
        <p:cNvGrpSpPr/>
        <p:nvPr/>
      </p:nvGrpSpPr>
      <p:grpSpPr>
        <a:xfrm>
          <a:off x="0" y="0"/>
          <a:ext cx="0" cy="0"/>
          <a:chOff x="0" y="0"/>
          <a:chExt cx="0" cy="0"/>
        </a:xfrm>
      </p:grpSpPr>
      <p:pic>
        <p:nvPicPr>
          <p:cNvPr id="504" name="Google Shape;504;p46"/>
          <p:cNvPicPr preferRelativeResize="0"/>
          <p:nvPr/>
        </p:nvPicPr>
        <p:blipFill rotWithShape="1">
          <a:blip r:embed="rId3">
            <a:alphaModFix/>
          </a:blip>
          <a:srcRect b="0" l="0" r="0" t="0"/>
          <a:stretch/>
        </p:blipFill>
        <p:spPr>
          <a:xfrm>
            <a:off x="1314700" y="1042987"/>
            <a:ext cx="5714999" cy="2971799"/>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08" name="Shape 508"/>
        <p:cNvGrpSpPr/>
        <p:nvPr/>
      </p:nvGrpSpPr>
      <p:grpSpPr>
        <a:xfrm>
          <a:off x="0" y="0"/>
          <a:ext cx="0" cy="0"/>
          <a:chOff x="0" y="0"/>
          <a:chExt cx="0" cy="0"/>
        </a:xfrm>
      </p:grpSpPr>
      <p:sp>
        <p:nvSpPr>
          <p:cNvPr id="509" name="Google Shape;509;p47"/>
          <p:cNvSpPr/>
          <p:nvPr/>
        </p:nvSpPr>
        <p:spPr>
          <a:xfrm>
            <a:off x="0" y="0"/>
            <a:ext cx="9144000" cy="5143500"/>
          </a:xfrm>
          <a:custGeom>
            <a:rect b="b" l="l" r="r" t="t"/>
            <a:pathLst>
              <a:path extrusionOk="0" h="5143500" w="9144000">
                <a:moveTo>
                  <a:pt x="9143999" y="5143499"/>
                </a:moveTo>
                <a:lnTo>
                  <a:pt x="0" y="5143499"/>
                </a:lnTo>
                <a:lnTo>
                  <a:pt x="0" y="0"/>
                </a:lnTo>
                <a:lnTo>
                  <a:pt x="9143999" y="0"/>
                </a:lnTo>
                <a:lnTo>
                  <a:pt x="9143999" y="5143499"/>
                </a:lnTo>
                <a:close/>
              </a:path>
            </a:pathLst>
          </a:custGeom>
          <a:solidFill>
            <a:srgbClr val="1A998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10" name="Google Shape;510;p47"/>
          <p:cNvSpPr txBox="1"/>
          <p:nvPr>
            <p:ph type="title"/>
          </p:nvPr>
        </p:nvSpPr>
        <p:spPr>
          <a:xfrm>
            <a:off x="802475" y="1377186"/>
            <a:ext cx="445516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solidFill>
                  <a:srgbClr val="FFFFFF"/>
                </a:solidFill>
              </a:rPr>
              <a:t>Estados del proceso</a:t>
            </a:r>
            <a:endParaRPr sz="3600"/>
          </a:p>
        </p:txBody>
      </p:sp>
      <p:sp>
        <p:nvSpPr>
          <p:cNvPr id="511" name="Google Shape;511;p47"/>
          <p:cNvSpPr txBox="1"/>
          <p:nvPr/>
        </p:nvSpPr>
        <p:spPr>
          <a:xfrm>
            <a:off x="913550" y="3201581"/>
            <a:ext cx="2899410" cy="8483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800">
                <a:solidFill>
                  <a:srgbClr val="FFFFFF"/>
                </a:solidFill>
                <a:latin typeface="Trebuchet MS"/>
                <a:ea typeface="Trebuchet MS"/>
                <a:cs typeface="Trebuchet MS"/>
                <a:sym typeface="Trebuchet MS"/>
              </a:rPr>
              <a:t>Conceptos clave:</a:t>
            </a:r>
            <a:endParaRPr sz="1800">
              <a:latin typeface="Trebuchet MS"/>
              <a:ea typeface="Trebuchet MS"/>
              <a:cs typeface="Trebuchet MS"/>
              <a:sym typeface="Trebuchet MS"/>
            </a:endParaRPr>
          </a:p>
          <a:p>
            <a:pPr indent="-366395" lvl="0" marL="469265" rtl="0" algn="l">
              <a:lnSpc>
                <a:spcPct val="100000"/>
              </a:lnSpc>
              <a:spcBef>
                <a:spcPts val="0"/>
              </a:spcBef>
              <a:spcAft>
                <a:spcPts val="0"/>
              </a:spcAft>
              <a:buClr>
                <a:srgbClr val="FFFFFF"/>
              </a:buClr>
              <a:buSzPts val="1800"/>
              <a:buFont typeface="Arial"/>
              <a:buChar char="●"/>
            </a:pPr>
            <a:r>
              <a:rPr lang="en-US" sz="1800">
                <a:solidFill>
                  <a:srgbClr val="FFFFFF"/>
                </a:solidFill>
                <a:latin typeface="Trebuchet MS"/>
                <a:ea typeface="Trebuchet MS"/>
                <a:cs typeface="Trebuchet MS"/>
                <a:sym typeface="Trebuchet MS"/>
              </a:rPr>
              <a:t>Diagrama de estados</a:t>
            </a:r>
            <a:endParaRPr sz="1800">
              <a:latin typeface="Trebuchet MS"/>
              <a:ea typeface="Trebuchet MS"/>
              <a:cs typeface="Trebuchet MS"/>
              <a:sym typeface="Trebuchet MS"/>
            </a:endParaRPr>
          </a:p>
          <a:p>
            <a:pPr indent="-366395" lvl="0" marL="469265" rtl="0" algn="l">
              <a:lnSpc>
                <a:spcPct val="100000"/>
              </a:lnSpc>
              <a:spcBef>
                <a:spcPts val="0"/>
              </a:spcBef>
              <a:spcAft>
                <a:spcPts val="0"/>
              </a:spcAft>
              <a:buClr>
                <a:srgbClr val="FFFFFF"/>
              </a:buClr>
              <a:buSzPts val="1800"/>
              <a:buFont typeface="Arial"/>
              <a:buChar char="●"/>
            </a:pPr>
            <a:r>
              <a:rPr lang="en-US" sz="1800">
                <a:solidFill>
                  <a:srgbClr val="FFFFFF"/>
                </a:solidFill>
                <a:latin typeface="Trebuchet MS"/>
                <a:ea typeface="Trebuchet MS"/>
                <a:cs typeface="Trebuchet MS"/>
                <a:sym typeface="Trebuchet MS"/>
              </a:rPr>
              <a:t>Llamadas bloqueantes</a:t>
            </a:r>
            <a:endParaRPr sz="1800">
              <a:latin typeface="Trebuchet MS"/>
              <a:ea typeface="Trebuchet MS"/>
              <a:cs typeface="Trebuchet MS"/>
              <a:sym typeface="Trebuchet MS"/>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48"/>
          <p:cNvSpPr txBox="1"/>
          <p:nvPr/>
        </p:nvSpPr>
        <p:spPr>
          <a:xfrm>
            <a:off x="704400" y="848632"/>
            <a:ext cx="5133975" cy="3484879"/>
          </a:xfrm>
          <a:prstGeom prst="rect">
            <a:avLst/>
          </a:prstGeom>
          <a:noFill/>
          <a:ln>
            <a:noFill/>
          </a:ln>
        </p:spPr>
        <p:txBody>
          <a:bodyPr anchorCtr="0" anchor="t" bIns="0" lIns="0" spcFirstLastPara="1" rIns="0" wrap="square" tIns="12700">
            <a:spAutoFit/>
          </a:bodyPr>
          <a:lstStyle/>
          <a:p>
            <a:pPr indent="0" lvl="0" marL="12700" marR="591185" rtl="0" algn="l">
              <a:lnSpc>
                <a:spcPct val="114999"/>
              </a:lnSpc>
              <a:spcBef>
                <a:spcPts val="0"/>
              </a:spcBef>
              <a:spcAft>
                <a:spcPts val="0"/>
              </a:spcAft>
              <a:buNone/>
            </a:pPr>
            <a:r>
              <a:rPr b="1" lang="en-US" sz="1800">
                <a:solidFill>
                  <a:srgbClr val="595959"/>
                </a:solidFill>
                <a:latin typeface="Tahoma"/>
                <a:ea typeface="Tahoma"/>
                <a:cs typeface="Tahoma"/>
                <a:sym typeface="Tahoma"/>
              </a:rPr>
              <a:t>Corriendo (Running)</a:t>
            </a:r>
            <a:r>
              <a:rPr lang="en-US" sz="1800">
                <a:solidFill>
                  <a:srgbClr val="595959"/>
                </a:solidFill>
                <a:latin typeface="Tahoma"/>
                <a:ea typeface="Tahoma"/>
                <a:cs typeface="Tahoma"/>
                <a:sym typeface="Tahoma"/>
              </a:rPr>
              <a:t>: el proceso se encuentra corriendo en un procesador. Está ejecutando instrucciones.</a:t>
            </a:r>
            <a:endParaRPr sz="1800">
              <a:latin typeface="Tahoma"/>
              <a:ea typeface="Tahoma"/>
              <a:cs typeface="Tahoma"/>
              <a:sym typeface="Tahoma"/>
            </a:endParaRPr>
          </a:p>
          <a:p>
            <a:pPr indent="0" lvl="0" marL="12700" marR="5080" rtl="0" algn="l">
              <a:lnSpc>
                <a:spcPct val="114999"/>
              </a:lnSpc>
              <a:spcBef>
                <a:spcPts val="1200"/>
              </a:spcBef>
              <a:spcAft>
                <a:spcPts val="0"/>
              </a:spcAft>
              <a:buNone/>
            </a:pPr>
            <a:r>
              <a:rPr b="1" lang="en-US" sz="1800">
                <a:solidFill>
                  <a:srgbClr val="595959"/>
                </a:solidFill>
                <a:latin typeface="Tahoma"/>
                <a:ea typeface="Tahoma"/>
                <a:cs typeface="Tahoma"/>
                <a:sym typeface="Tahoma"/>
              </a:rPr>
              <a:t>Listo (Ready): </a:t>
            </a:r>
            <a:r>
              <a:rPr lang="en-US" sz="1800">
                <a:solidFill>
                  <a:srgbClr val="595959"/>
                </a:solidFill>
                <a:latin typeface="Tahoma"/>
                <a:ea typeface="Tahoma"/>
                <a:cs typeface="Tahoma"/>
                <a:sym typeface="Tahoma"/>
              </a:rPr>
              <a:t>en este estado el proceso está listo para correr pero por algún motivo el SO ha decidido no ejecutarlo por el momento.</a:t>
            </a:r>
            <a:endParaRPr sz="1800">
              <a:latin typeface="Tahoma"/>
              <a:ea typeface="Tahoma"/>
              <a:cs typeface="Tahoma"/>
              <a:sym typeface="Tahoma"/>
            </a:endParaRPr>
          </a:p>
          <a:p>
            <a:pPr indent="0" lvl="0" marL="12700" marR="115570" rtl="0" algn="l">
              <a:lnSpc>
                <a:spcPct val="114999"/>
              </a:lnSpc>
              <a:spcBef>
                <a:spcPts val="1200"/>
              </a:spcBef>
              <a:spcAft>
                <a:spcPts val="0"/>
              </a:spcAft>
              <a:buNone/>
            </a:pPr>
            <a:r>
              <a:rPr b="1" lang="en-US" sz="1800">
                <a:solidFill>
                  <a:srgbClr val="595959"/>
                </a:solidFill>
                <a:latin typeface="Tahoma"/>
                <a:ea typeface="Tahoma"/>
                <a:cs typeface="Tahoma"/>
                <a:sym typeface="Tahoma"/>
              </a:rPr>
              <a:t>Bloqueado (Blocked): </a:t>
            </a:r>
            <a:r>
              <a:rPr lang="en-US" sz="1800">
                <a:solidFill>
                  <a:srgbClr val="595959"/>
                </a:solidFill>
                <a:latin typeface="Tahoma"/>
                <a:ea typeface="Tahoma"/>
                <a:cs typeface="Tahoma"/>
                <a:sym typeface="Tahoma"/>
              </a:rPr>
              <a:t>en este estado el proceso ha ejecutado algún tipo de operación que hace que éste no esté listo para ejecutarse hasta que algún evento suceda.</a:t>
            </a:r>
            <a:endParaRPr sz="1800">
              <a:latin typeface="Tahoma"/>
              <a:ea typeface="Tahoma"/>
              <a:cs typeface="Tahoma"/>
              <a:sym typeface="Tahoma"/>
            </a:endParaRPr>
          </a:p>
        </p:txBody>
      </p:sp>
      <p:sp>
        <p:nvSpPr>
          <p:cNvPr id="517" name="Google Shape;517;p48"/>
          <p:cNvSpPr txBox="1"/>
          <p:nvPr>
            <p:ph type="title"/>
          </p:nvPr>
        </p:nvSpPr>
        <p:spPr>
          <a:xfrm>
            <a:off x="73025" y="12837"/>
            <a:ext cx="7791285" cy="476369"/>
          </a:xfrm>
          <a:prstGeom prst="rect">
            <a:avLst/>
          </a:prstGeom>
          <a:noFill/>
          <a:ln>
            <a:noFill/>
          </a:ln>
        </p:spPr>
        <p:txBody>
          <a:bodyPr anchorCtr="0" anchor="t" bIns="0" lIns="0" spcFirstLastPara="1" rIns="0" wrap="square" tIns="66075">
            <a:spAutoFit/>
          </a:bodyPr>
          <a:lstStyle/>
          <a:p>
            <a:pPr indent="0" lvl="0" marL="739775" rtl="0" algn="l">
              <a:lnSpc>
                <a:spcPct val="100000"/>
              </a:lnSpc>
              <a:spcBef>
                <a:spcPts val="0"/>
              </a:spcBef>
              <a:spcAft>
                <a:spcPts val="0"/>
              </a:spcAft>
              <a:buNone/>
            </a:pPr>
            <a:r>
              <a:rPr lang="en-US"/>
              <a:t>Estados de un Proceso</a:t>
            </a:r>
            <a:endParaRPr/>
          </a:p>
        </p:txBody>
      </p:sp>
      <p:pic>
        <p:nvPicPr>
          <p:cNvPr id="518" name="Google Shape;518;p48"/>
          <p:cNvPicPr preferRelativeResize="0"/>
          <p:nvPr/>
        </p:nvPicPr>
        <p:blipFill rotWithShape="1">
          <a:blip r:embed="rId3">
            <a:alphaModFix/>
          </a:blip>
          <a:srcRect b="0" l="0" r="0" t="0"/>
          <a:stretch/>
        </p:blipFill>
        <p:spPr>
          <a:xfrm>
            <a:off x="6144699" y="1351119"/>
            <a:ext cx="2486811" cy="2309182"/>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49"/>
          <p:cNvSpPr txBox="1"/>
          <p:nvPr>
            <p:ph type="title"/>
          </p:nvPr>
        </p:nvSpPr>
        <p:spPr>
          <a:xfrm>
            <a:off x="73025" y="12837"/>
            <a:ext cx="7791285" cy="476369"/>
          </a:xfrm>
          <a:prstGeom prst="rect">
            <a:avLst/>
          </a:prstGeom>
          <a:noFill/>
          <a:ln>
            <a:noFill/>
          </a:ln>
        </p:spPr>
        <p:txBody>
          <a:bodyPr anchorCtr="0" anchor="t" bIns="0" lIns="0" spcFirstLastPara="1" rIns="0" wrap="square" tIns="17775">
            <a:spAutoFit/>
          </a:bodyPr>
          <a:lstStyle/>
          <a:p>
            <a:pPr indent="0" lvl="0" marL="741680" rtl="0" algn="l">
              <a:lnSpc>
                <a:spcPct val="100000"/>
              </a:lnSpc>
              <a:spcBef>
                <a:spcPts val="0"/>
              </a:spcBef>
              <a:spcAft>
                <a:spcPts val="0"/>
              </a:spcAft>
              <a:buNone/>
            </a:pPr>
            <a:r>
              <a:rPr lang="en-US"/>
              <a:t>Estados de un Proceso</a:t>
            </a:r>
            <a:endParaRPr/>
          </a:p>
        </p:txBody>
      </p:sp>
      <p:pic>
        <p:nvPicPr>
          <p:cNvPr id="524" name="Google Shape;524;p49"/>
          <p:cNvPicPr preferRelativeResize="0"/>
          <p:nvPr/>
        </p:nvPicPr>
        <p:blipFill rotWithShape="1">
          <a:blip r:embed="rId3">
            <a:alphaModFix/>
          </a:blip>
          <a:srcRect b="0" l="0" r="0" t="0"/>
          <a:stretch/>
        </p:blipFill>
        <p:spPr>
          <a:xfrm>
            <a:off x="2382400" y="725295"/>
            <a:ext cx="4489696" cy="4169006"/>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50"/>
          <p:cNvSpPr txBox="1"/>
          <p:nvPr>
            <p:ph type="title"/>
          </p:nvPr>
        </p:nvSpPr>
        <p:spPr>
          <a:xfrm>
            <a:off x="73025" y="12837"/>
            <a:ext cx="7791285" cy="476369"/>
          </a:xfrm>
          <a:prstGeom prst="rect">
            <a:avLst/>
          </a:prstGeom>
          <a:noFill/>
          <a:ln>
            <a:noFill/>
          </a:ln>
        </p:spPr>
        <p:txBody>
          <a:bodyPr anchorCtr="0" anchor="t" bIns="0" lIns="0" spcFirstLastPara="1" rIns="0" wrap="square" tIns="17775">
            <a:spAutoFit/>
          </a:bodyPr>
          <a:lstStyle/>
          <a:p>
            <a:pPr indent="0" lvl="0" marL="741680" rtl="0" algn="l">
              <a:lnSpc>
                <a:spcPct val="100000"/>
              </a:lnSpc>
              <a:spcBef>
                <a:spcPts val="0"/>
              </a:spcBef>
              <a:spcAft>
                <a:spcPts val="0"/>
              </a:spcAft>
              <a:buNone/>
            </a:pPr>
            <a:r>
              <a:rPr lang="en-US"/>
              <a:t>Ejemplo Histórico: System V</a:t>
            </a:r>
            <a:endParaRPr/>
          </a:p>
        </p:txBody>
      </p:sp>
      <p:pic>
        <p:nvPicPr>
          <p:cNvPr id="530" name="Google Shape;530;p50"/>
          <p:cNvPicPr preferRelativeResize="0"/>
          <p:nvPr/>
        </p:nvPicPr>
        <p:blipFill rotWithShape="1">
          <a:blip r:embed="rId3">
            <a:alphaModFix/>
          </a:blip>
          <a:srcRect b="0" l="0" r="0" t="0"/>
          <a:stretch/>
        </p:blipFill>
        <p:spPr>
          <a:xfrm>
            <a:off x="5137050" y="565974"/>
            <a:ext cx="3715875" cy="4403149"/>
          </a:xfrm>
          <a:prstGeom prst="rect">
            <a:avLst/>
          </a:prstGeom>
          <a:noFill/>
          <a:ln>
            <a:noFill/>
          </a:ln>
        </p:spPr>
      </p:pic>
      <p:sp>
        <p:nvSpPr>
          <p:cNvPr id="531" name="Google Shape;531;p50"/>
          <p:cNvSpPr txBox="1"/>
          <p:nvPr/>
        </p:nvSpPr>
        <p:spPr>
          <a:xfrm>
            <a:off x="201933" y="632395"/>
            <a:ext cx="4854575" cy="4185920"/>
          </a:xfrm>
          <a:prstGeom prst="rect">
            <a:avLst/>
          </a:prstGeom>
          <a:noFill/>
          <a:ln>
            <a:noFill/>
          </a:ln>
        </p:spPr>
        <p:txBody>
          <a:bodyPr anchorCtr="0" anchor="t" bIns="0" lIns="0" spcFirstLastPara="1" rIns="0" wrap="square" tIns="12700">
            <a:spAutoFit/>
          </a:bodyPr>
          <a:lstStyle/>
          <a:p>
            <a:pPr indent="-328294" lvl="0" marL="340360" marR="57785" rtl="0" algn="l">
              <a:lnSpc>
                <a:spcPct val="100000"/>
              </a:lnSpc>
              <a:spcBef>
                <a:spcPts val="0"/>
              </a:spcBef>
              <a:spcAft>
                <a:spcPts val="0"/>
              </a:spcAft>
              <a:buSzPts val="1300"/>
              <a:buFont typeface="Arial"/>
              <a:buChar char="●"/>
            </a:pPr>
            <a:r>
              <a:rPr b="1" lang="en-US" sz="1300">
                <a:latin typeface="Arial"/>
                <a:ea typeface="Arial"/>
                <a:cs typeface="Arial"/>
                <a:sym typeface="Arial"/>
              </a:rPr>
              <a:t>Corriendo User Mode(Running User Mode): </a:t>
            </a:r>
            <a:r>
              <a:rPr lang="en-US" sz="1300">
                <a:latin typeface="Arial"/>
                <a:ea typeface="Arial"/>
                <a:cs typeface="Arial"/>
                <a:sym typeface="Arial"/>
              </a:rPr>
              <a:t>El proceso se encuentra corriendo en un procesador. Está ejecutando instrucciones.</a:t>
            </a:r>
            <a:endParaRPr sz="1300">
              <a:latin typeface="Arial"/>
              <a:ea typeface="Arial"/>
              <a:cs typeface="Arial"/>
              <a:sym typeface="Arial"/>
            </a:endParaRPr>
          </a:p>
          <a:p>
            <a:pPr indent="-327660" lvl="0" marL="340360" rtl="0" algn="l">
              <a:lnSpc>
                <a:spcPct val="100000"/>
              </a:lnSpc>
              <a:spcBef>
                <a:spcPts val="0"/>
              </a:spcBef>
              <a:spcAft>
                <a:spcPts val="0"/>
              </a:spcAft>
              <a:buSzPts val="1300"/>
              <a:buFont typeface="Arial"/>
              <a:buChar char="●"/>
            </a:pPr>
            <a:r>
              <a:rPr b="1" lang="en-US" sz="1300">
                <a:latin typeface="Arial"/>
                <a:ea typeface="Arial"/>
                <a:cs typeface="Arial"/>
                <a:sym typeface="Arial"/>
              </a:rPr>
              <a:t>Corriendo kernel Mode(Running Kernel Mode): </a:t>
            </a:r>
            <a:r>
              <a:rPr lang="en-US" sz="1300">
                <a:latin typeface="Arial"/>
                <a:ea typeface="Arial"/>
                <a:cs typeface="Arial"/>
                <a:sym typeface="Arial"/>
              </a:rPr>
              <a:t>d</a:t>
            </a:r>
            <a:endParaRPr sz="1300">
              <a:latin typeface="Arial"/>
              <a:ea typeface="Arial"/>
              <a:cs typeface="Arial"/>
              <a:sym typeface="Arial"/>
            </a:endParaRPr>
          </a:p>
          <a:p>
            <a:pPr indent="-328294" lvl="0" marL="340360" marR="5080" rtl="0" algn="l">
              <a:lnSpc>
                <a:spcPct val="100000"/>
              </a:lnSpc>
              <a:spcBef>
                <a:spcPts val="0"/>
              </a:spcBef>
              <a:spcAft>
                <a:spcPts val="0"/>
              </a:spcAft>
              <a:buSzPts val="1300"/>
              <a:buFont typeface="Arial"/>
              <a:buChar char="●"/>
            </a:pPr>
            <a:r>
              <a:rPr b="1" lang="en-US" sz="1300">
                <a:latin typeface="Arial"/>
                <a:ea typeface="Arial"/>
                <a:cs typeface="Arial"/>
                <a:sym typeface="Arial"/>
              </a:rPr>
              <a:t>Listo para Correr en Memoria (Ready to Run on Memory): </a:t>
            </a:r>
            <a:r>
              <a:rPr lang="en-US" sz="1300">
                <a:latin typeface="Arial"/>
                <a:ea typeface="Arial"/>
                <a:cs typeface="Arial"/>
                <a:sym typeface="Arial"/>
              </a:rPr>
              <a:t>En este estado el proceso está listo para correr pero por algún motivo el SO ha decidido no ejecutarlo por el  momento.</a:t>
            </a:r>
            <a:endParaRPr sz="1300">
              <a:latin typeface="Arial"/>
              <a:ea typeface="Arial"/>
              <a:cs typeface="Arial"/>
              <a:sym typeface="Arial"/>
            </a:endParaRPr>
          </a:p>
          <a:p>
            <a:pPr indent="-328294" lvl="0" marL="340360" marR="176530" rtl="0" algn="l">
              <a:lnSpc>
                <a:spcPct val="100000"/>
              </a:lnSpc>
              <a:spcBef>
                <a:spcPts val="0"/>
              </a:spcBef>
              <a:spcAft>
                <a:spcPts val="0"/>
              </a:spcAft>
              <a:buSzPts val="1300"/>
              <a:buFont typeface="Arial"/>
              <a:buChar char="●"/>
            </a:pPr>
            <a:r>
              <a:rPr b="1" lang="en-US" sz="1300">
                <a:latin typeface="Arial"/>
                <a:ea typeface="Arial"/>
                <a:cs typeface="Arial"/>
                <a:sym typeface="Arial"/>
              </a:rPr>
              <a:t>Durmiendo en Memoria (Asleep In Memory) : </a:t>
            </a:r>
            <a:r>
              <a:rPr lang="en-US" sz="1300">
                <a:latin typeface="Arial"/>
                <a:ea typeface="Arial"/>
                <a:cs typeface="Arial"/>
                <a:sym typeface="Arial"/>
              </a:rPr>
              <a:t>El proceso está bloqueado en memoria.</a:t>
            </a:r>
            <a:endParaRPr sz="1300">
              <a:latin typeface="Arial"/>
              <a:ea typeface="Arial"/>
              <a:cs typeface="Arial"/>
              <a:sym typeface="Arial"/>
            </a:endParaRPr>
          </a:p>
          <a:p>
            <a:pPr indent="-328294" lvl="0" marL="340360" marR="436880" rtl="0" algn="l">
              <a:lnSpc>
                <a:spcPct val="100000"/>
              </a:lnSpc>
              <a:spcBef>
                <a:spcPts val="0"/>
              </a:spcBef>
              <a:spcAft>
                <a:spcPts val="0"/>
              </a:spcAft>
              <a:buSzPts val="1300"/>
              <a:buFont typeface="Arial"/>
              <a:buChar char="●"/>
            </a:pPr>
            <a:r>
              <a:rPr b="1" lang="en-US" sz="1300">
                <a:latin typeface="Arial"/>
                <a:ea typeface="Arial"/>
                <a:cs typeface="Arial"/>
                <a:sym typeface="Arial"/>
              </a:rPr>
              <a:t>Listo para Correr pero Swapeado (Ready to Run but swapped): </a:t>
            </a:r>
            <a:r>
              <a:rPr lang="en-US" sz="1300">
                <a:latin typeface="Arial"/>
                <a:ea typeface="Arial"/>
                <a:cs typeface="Arial"/>
                <a:sym typeface="Arial"/>
              </a:rPr>
              <a:t>El proceso está bloqueado en memoria secundaria.</a:t>
            </a:r>
            <a:endParaRPr sz="1300">
              <a:latin typeface="Arial"/>
              <a:ea typeface="Arial"/>
              <a:cs typeface="Arial"/>
              <a:sym typeface="Arial"/>
            </a:endParaRPr>
          </a:p>
          <a:p>
            <a:pPr indent="-328294" lvl="0" marL="340360" marR="20320" rtl="0" algn="l">
              <a:lnSpc>
                <a:spcPct val="100000"/>
              </a:lnSpc>
              <a:spcBef>
                <a:spcPts val="0"/>
              </a:spcBef>
              <a:spcAft>
                <a:spcPts val="0"/>
              </a:spcAft>
              <a:buSzPts val="1300"/>
              <a:buFont typeface="Arial"/>
              <a:buChar char="●"/>
            </a:pPr>
            <a:r>
              <a:rPr b="1" lang="en-US" sz="1300">
                <a:latin typeface="Arial"/>
                <a:ea typeface="Arial"/>
                <a:cs typeface="Arial"/>
                <a:sym typeface="Arial"/>
              </a:rPr>
              <a:t>Durmiendo en Memoria Secundaria (Asleep Swapped): </a:t>
            </a:r>
            <a:r>
              <a:rPr lang="en-US" sz="1300">
                <a:latin typeface="Arial"/>
                <a:ea typeface="Arial"/>
                <a:cs typeface="Arial"/>
                <a:sym typeface="Arial"/>
              </a:rPr>
              <a:t>El proceso se encuentra bloqueado en memoria secundaria.</a:t>
            </a:r>
            <a:endParaRPr sz="1300">
              <a:latin typeface="Arial"/>
              <a:ea typeface="Arial"/>
              <a:cs typeface="Arial"/>
              <a:sym typeface="Arial"/>
            </a:endParaRPr>
          </a:p>
          <a:p>
            <a:pPr indent="-328294" lvl="0" marL="340360" marR="148590" rtl="0" algn="l">
              <a:lnSpc>
                <a:spcPct val="100000"/>
              </a:lnSpc>
              <a:spcBef>
                <a:spcPts val="0"/>
              </a:spcBef>
              <a:spcAft>
                <a:spcPts val="0"/>
              </a:spcAft>
              <a:buSzPts val="1300"/>
              <a:buFont typeface="Arial"/>
              <a:buChar char="●"/>
            </a:pPr>
            <a:r>
              <a:rPr b="1" lang="en-US" sz="1300">
                <a:latin typeface="Arial"/>
                <a:ea typeface="Arial"/>
                <a:cs typeface="Arial"/>
                <a:sym typeface="Arial"/>
              </a:rPr>
              <a:t>Preempt(Preempt): </a:t>
            </a:r>
            <a:r>
              <a:rPr lang="en-US" sz="1300">
                <a:latin typeface="Arial"/>
                <a:ea typeface="Arial"/>
                <a:cs typeface="Arial"/>
                <a:sym typeface="Arial"/>
              </a:rPr>
              <a:t>Es igual a 1 pero un proceso que pasó antes por Kernel mode solo puede pasar a preentive.</a:t>
            </a:r>
            <a:endParaRPr sz="1300">
              <a:latin typeface="Arial"/>
              <a:ea typeface="Arial"/>
              <a:cs typeface="Arial"/>
              <a:sym typeface="Arial"/>
            </a:endParaRPr>
          </a:p>
          <a:p>
            <a:pPr indent="-328294" lvl="0" marL="340360" marR="295275" rtl="0" algn="l">
              <a:lnSpc>
                <a:spcPct val="100000"/>
              </a:lnSpc>
              <a:spcBef>
                <a:spcPts val="0"/>
              </a:spcBef>
              <a:spcAft>
                <a:spcPts val="0"/>
              </a:spcAft>
              <a:buSzPts val="1300"/>
              <a:buFont typeface="Arial"/>
              <a:buChar char="●"/>
            </a:pPr>
            <a:r>
              <a:rPr b="1" lang="en-US" sz="1300">
                <a:latin typeface="Arial"/>
                <a:ea typeface="Arial"/>
                <a:cs typeface="Arial"/>
                <a:sym typeface="Arial"/>
              </a:rPr>
              <a:t>Creado (Created): </a:t>
            </a:r>
            <a:r>
              <a:rPr lang="en-US" sz="1300">
                <a:latin typeface="Arial"/>
                <a:ea typeface="Arial"/>
                <a:cs typeface="Arial"/>
                <a:sym typeface="Arial"/>
              </a:rPr>
              <a:t>El proceso está recién creado y en un estado de transición.</a:t>
            </a:r>
            <a:endParaRPr sz="1300">
              <a:latin typeface="Arial"/>
              <a:ea typeface="Arial"/>
              <a:cs typeface="Arial"/>
              <a:sym typeface="Arial"/>
            </a:endParaRPr>
          </a:p>
          <a:p>
            <a:pPr indent="-328294" lvl="0" marL="340360" marR="269875" rtl="0" algn="l">
              <a:lnSpc>
                <a:spcPct val="100000"/>
              </a:lnSpc>
              <a:spcBef>
                <a:spcPts val="0"/>
              </a:spcBef>
              <a:spcAft>
                <a:spcPts val="0"/>
              </a:spcAft>
              <a:buSzPts val="1300"/>
              <a:buFont typeface="Arial"/>
              <a:buChar char="●"/>
            </a:pPr>
            <a:r>
              <a:rPr b="1" lang="en-US" sz="1300">
                <a:latin typeface="Arial"/>
                <a:ea typeface="Arial"/>
                <a:cs typeface="Arial"/>
                <a:sym typeface="Arial"/>
              </a:rPr>
              <a:t>Zombie (Zombie): </a:t>
            </a:r>
            <a:r>
              <a:rPr lang="en-US" sz="1300">
                <a:latin typeface="Arial"/>
                <a:ea typeface="Arial"/>
                <a:cs typeface="Arial"/>
                <a:sym typeface="Arial"/>
              </a:rPr>
              <a:t>El proceso ejecutó la S.C. exit(), ya no existe más, lo único que queda es el exit state.</a:t>
            </a:r>
            <a:endParaRPr sz="1300">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35" name="Shape 535"/>
        <p:cNvGrpSpPr/>
        <p:nvPr/>
      </p:nvGrpSpPr>
      <p:grpSpPr>
        <a:xfrm>
          <a:off x="0" y="0"/>
          <a:ext cx="0" cy="0"/>
          <a:chOff x="0" y="0"/>
          <a:chExt cx="0" cy="0"/>
        </a:xfrm>
      </p:grpSpPr>
      <p:sp>
        <p:nvSpPr>
          <p:cNvPr id="536" name="Google Shape;536;p51"/>
          <p:cNvSpPr/>
          <p:nvPr/>
        </p:nvSpPr>
        <p:spPr>
          <a:xfrm>
            <a:off x="0" y="0"/>
            <a:ext cx="9144000" cy="5143500"/>
          </a:xfrm>
          <a:custGeom>
            <a:rect b="b" l="l" r="r" t="t"/>
            <a:pathLst>
              <a:path extrusionOk="0" h="5143500" w="9144000">
                <a:moveTo>
                  <a:pt x="9143999" y="5143499"/>
                </a:moveTo>
                <a:lnTo>
                  <a:pt x="0" y="5143499"/>
                </a:lnTo>
                <a:lnTo>
                  <a:pt x="0" y="0"/>
                </a:lnTo>
                <a:lnTo>
                  <a:pt x="9143999" y="0"/>
                </a:lnTo>
                <a:lnTo>
                  <a:pt x="9143999" y="5143499"/>
                </a:lnTo>
                <a:close/>
              </a:path>
            </a:pathLst>
          </a:custGeom>
          <a:solidFill>
            <a:srgbClr val="1A998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37" name="Google Shape;537;p51"/>
          <p:cNvSpPr txBox="1"/>
          <p:nvPr>
            <p:ph type="title"/>
          </p:nvPr>
        </p:nvSpPr>
        <p:spPr>
          <a:xfrm>
            <a:off x="802475" y="1377186"/>
            <a:ext cx="489775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solidFill>
                  <a:srgbClr val="FFFFFF"/>
                </a:solidFill>
              </a:rPr>
              <a:t>Estructuras del Kernel</a:t>
            </a:r>
            <a:endParaRPr sz="3600"/>
          </a:p>
        </p:txBody>
      </p:sp>
      <p:sp>
        <p:nvSpPr>
          <p:cNvPr id="538" name="Google Shape;538;p51"/>
          <p:cNvSpPr txBox="1"/>
          <p:nvPr/>
        </p:nvSpPr>
        <p:spPr>
          <a:xfrm>
            <a:off x="913550" y="3201581"/>
            <a:ext cx="4370070" cy="112268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800">
                <a:solidFill>
                  <a:srgbClr val="FFFFFF"/>
                </a:solidFill>
                <a:latin typeface="Trebuchet MS"/>
                <a:ea typeface="Trebuchet MS"/>
                <a:cs typeface="Trebuchet MS"/>
                <a:sym typeface="Trebuchet MS"/>
              </a:rPr>
              <a:t>Conceptos clave:</a:t>
            </a:r>
            <a:endParaRPr sz="1800">
              <a:latin typeface="Trebuchet MS"/>
              <a:ea typeface="Trebuchet MS"/>
              <a:cs typeface="Trebuchet MS"/>
              <a:sym typeface="Trebuchet MS"/>
            </a:endParaRPr>
          </a:p>
          <a:p>
            <a:pPr indent="-366395" lvl="0" marL="469265" rtl="0" algn="l">
              <a:lnSpc>
                <a:spcPct val="100000"/>
              </a:lnSpc>
              <a:spcBef>
                <a:spcPts val="0"/>
              </a:spcBef>
              <a:spcAft>
                <a:spcPts val="0"/>
              </a:spcAft>
              <a:buClr>
                <a:srgbClr val="FFFFFF"/>
              </a:buClr>
              <a:buSzPts val="1800"/>
              <a:buFont typeface="Arial"/>
              <a:buChar char="●"/>
            </a:pPr>
            <a:r>
              <a:rPr lang="en-US" sz="1800">
                <a:solidFill>
                  <a:srgbClr val="FFFFFF"/>
                </a:solidFill>
                <a:latin typeface="Trebuchet MS"/>
                <a:ea typeface="Trebuchet MS"/>
                <a:cs typeface="Trebuchet MS"/>
                <a:sym typeface="Trebuchet MS"/>
              </a:rPr>
              <a:t>El contexto del proceso</a:t>
            </a:r>
            <a:endParaRPr sz="1800">
              <a:latin typeface="Trebuchet MS"/>
              <a:ea typeface="Trebuchet MS"/>
              <a:cs typeface="Trebuchet MS"/>
              <a:sym typeface="Trebuchet MS"/>
            </a:endParaRPr>
          </a:p>
          <a:p>
            <a:pPr indent="-366395" lvl="0" marL="469265" rtl="0" algn="l">
              <a:lnSpc>
                <a:spcPct val="100000"/>
              </a:lnSpc>
              <a:spcBef>
                <a:spcPts val="0"/>
              </a:spcBef>
              <a:spcAft>
                <a:spcPts val="0"/>
              </a:spcAft>
              <a:buClr>
                <a:srgbClr val="FFFFFF"/>
              </a:buClr>
              <a:buSzPts val="1800"/>
              <a:buFont typeface="Arial"/>
              <a:buChar char="●"/>
            </a:pPr>
            <a:r>
              <a:rPr lang="en-US" sz="1800">
                <a:solidFill>
                  <a:srgbClr val="FFFFFF"/>
                </a:solidFill>
                <a:latin typeface="Trebuchet MS"/>
                <a:ea typeface="Trebuchet MS"/>
                <a:cs typeface="Trebuchet MS"/>
                <a:sym typeface="Trebuchet MS"/>
              </a:rPr>
              <a:t>[User|Register|System]-Level context</a:t>
            </a:r>
            <a:endParaRPr sz="1800">
              <a:latin typeface="Trebuchet MS"/>
              <a:ea typeface="Trebuchet MS"/>
              <a:cs typeface="Trebuchet MS"/>
              <a:sym typeface="Trebuchet MS"/>
            </a:endParaRPr>
          </a:p>
          <a:p>
            <a:pPr indent="-366395" lvl="0" marL="469265" rtl="0" algn="l">
              <a:lnSpc>
                <a:spcPct val="100000"/>
              </a:lnSpc>
              <a:spcBef>
                <a:spcPts val="0"/>
              </a:spcBef>
              <a:spcAft>
                <a:spcPts val="0"/>
              </a:spcAft>
              <a:buClr>
                <a:srgbClr val="FFFFFF"/>
              </a:buClr>
              <a:buSzPts val="1800"/>
              <a:buFont typeface="Arial"/>
              <a:buChar char="●"/>
            </a:pPr>
            <a:r>
              <a:rPr lang="en-US" sz="1800">
                <a:solidFill>
                  <a:srgbClr val="FFFFFF"/>
                </a:solidFill>
                <a:latin typeface="Trebuchet MS"/>
                <a:ea typeface="Trebuchet MS"/>
                <a:cs typeface="Trebuchet MS"/>
                <a:sym typeface="Trebuchet MS"/>
              </a:rPr>
              <a:t>Kernel Stack</a:t>
            </a:r>
            <a:endParaRPr sz="1800">
              <a:latin typeface="Trebuchet MS"/>
              <a:ea typeface="Trebuchet MS"/>
              <a:cs typeface="Trebuchet MS"/>
              <a:sym typeface="Trebuchet MS"/>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52"/>
          <p:cNvSpPr txBox="1"/>
          <p:nvPr/>
        </p:nvSpPr>
        <p:spPr>
          <a:xfrm>
            <a:off x="852905" y="1772841"/>
            <a:ext cx="7299325" cy="1480185"/>
          </a:xfrm>
          <a:prstGeom prst="rect">
            <a:avLst/>
          </a:prstGeom>
          <a:noFill/>
          <a:ln>
            <a:noFill/>
          </a:ln>
        </p:spPr>
        <p:txBody>
          <a:bodyPr anchorCtr="0" anchor="t" bIns="0" lIns="0" spcFirstLastPara="1" rIns="0" wrap="square" tIns="10150">
            <a:spAutoFit/>
          </a:bodyPr>
          <a:lstStyle/>
          <a:p>
            <a:pPr indent="-405129" lvl="0" marL="417194" marR="5080" rtl="0" algn="l">
              <a:lnSpc>
                <a:spcPct val="126086"/>
              </a:lnSpc>
              <a:spcBef>
                <a:spcPts val="0"/>
              </a:spcBef>
              <a:spcAft>
                <a:spcPts val="0"/>
              </a:spcAft>
              <a:buClr>
                <a:srgbClr val="595959"/>
              </a:buClr>
              <a:buSzPts val="2300"/>
              <a:buFont typeface="Arial"/>
              <a:buChar char="●"/>
            </a:pPr>
            <a:r>
              <a:rPr lang="en-US" sz="2300">
                <a:solidFill>
                  <a:srgbClr val="595959"/>
                </a:solidFill>
                <a:latin typeface="Tahoma"/>
                <a:ea typeface="Tahoma"/>
                <a:cs typeface="Tahoma"/>
                <a:sym typeface="Tahoma"/>
              </a:rPr>
              <a:t>El </a:t>
            </a:r>
            <a:r>
              <a:rPr b="1" lang="en-US" sz="2300">
                <a:solidFill>
                  <a:srgbClr val="595959"/>
                </a:solidFill>
                <a:latin typeface="Tahoma"/>
                <a:ea typeface="Tahoma"/>
                <a:cs typeface="Tahoma"/>
                <a:sym typeface="Tahoma"/>
              </a:rPr>
              <a:t>contexto </a:t>
            </a:r>
            <a:r>
              <a:rPr lang="en-US" sz="2300">
                <a:solidFill>
                  <a:srgbClr val="595959"/>
                </a:solidFill>
                <a:latin typeface="Tahoma"/>
                <a:ea typeface="Tahoma"/>
                <a:cs typeface="Tahoma"/>
                <a:sym typeface="Tahoma"/>
              </a:rPr>
              <a:t>de un proceso </a:t>
            </a:r>
            <a:r>
              <a:rPr b="1" lang="en-US" sz="2300">
                <a:solidFill>
                  <a:srgbClr val="595959"/>
                </a:solidFill>
                <a:latin typeface="Tahoma"/>
                <a:ea typeface="Tahoma"/>
                <a:cs typeface="Tahoma"/>
                <a:sym typeface="Tahoma"/>
              </a:rPr>
              <a:t>es la información necesaria para describir completamente el estado de un proceso</a:t>
            </a:r>
            <a:r>
              <a:rPr lang="en-US" sz="2300">
                <a:solidFill>
                  <a:srgbClr val="595959"/>
                </a:solidFill>
                <a:latin typeface="Tahoma"/>
                <a:ea typeface="Tahoma"/>
                <a:cs typeface="Tahoma"/>
                <a:sym typeface="Tahoma"/>
              </a:rPr>
              <a:t>.</a:t>
            </a:r>
            <a:endParaRPr sz="2300">
              <a:latin typeface="Tahoma"/>
              <a:ea typeface="Tahoma"/>
              <a:cs typeface="Tahoma"/>
              <a:sym typeface="Tahoma"/>
            </a:endParaRPr>
          </a:p>
          <a:p>
            <a:pPr indent="-404494" lvl="0" marL="417194" rtl="0" algn="l">
              <a:lnSpc>
                <a:spcPct val="100000"/>
              </a:lnSpc>
              <a:spcBef>
                <a:spcPts val="15"/>
              </a:spcBef>
              <a:spcAft>
                <a:spcPts val="0"/>
              </a:spcAft>
              <a:buClr>
                <a:srgbClr val="595959"/>
              </a:buClr>
              <a:buSzPts val="2300"/>
              <a:buFont typeface="Arial"/>
              <a:buChar char="●"/>
            </a:pPr>
            <a:r>
              <a:rPr lang="en-US" sz="2300">
                <a:solidFill>
                  <a:srgbClr val="595959"/>
                </a:solidFill>
                <a:latin typeface="Tahoma"/>
                <a:ea typeface="Tahoma"/>
                <a:cs typeface="Tahoma"/>
                <a:sym typeface="Tahoma"/>
              </a:rPr>
              <a:t>Cada proceso posee su propio contexto.</a:t>
            </a:r>
            <a:endParaRPr sz="2300">
              <a:latin typeface="Tahoma"/>
              <a:ea typeface="Tahoma"/>
              <a:cs typeface="Tahoma"/>
              <a:sym typeface="Tahoma"/>
            </a:endParaRPr>
          </a:p>
        </p:txBody>
      </p:sp>
      <p:sp>
        <p:nvSpPr>
          <p:cNvPr id="544" name="Google Shape;544;p52"/>
          <p:cNvSpPr txBox="1"/>
          <p:nvPr>
            <p:ph type="title"/>
          </p:nvPr>
        </p:nvSpPr>
        <p:spPr>
          <a:xfrm>
            <a:off x="73025" y="12837"/>
            <a:ext cx="7791285" cy="476369"/>
          </a:xfrm>
          <a:prstGeom prst="rect">
            <a:avLst/>
          </a:prstGeom>
          <a:noFill/>
          <a:ln>
            <a:noFill/>
          </a:ln>
        </p:spPr>
        <p:txBody>
          <a:bodyPr anchorCtr="0" anchor="t" bIns="0" lIns="0" spcFirstLastPara="1" rIns="0" wrap="square" tIns="17775">
            <a:spAutoFit/>
          </a:bodyPr>
          <a:lstStyle/>
          <a:p>
            <a:pPr indent="0" lvl="0" marL="741680" rtl="0" algn="l">
              <a:lnSpc>
                <a:spcPct val="100000"/>
              </a:lnSpc>
              <a:spcBef>
                <a:spcPts val="0"/>
              </a:spcBef>
              <a:spcAft>
                <a:spcPts val="0"/>
              </a:spcAft>
              <a:buNone/>
            </a:pPr>
            <a:r>
              <a:rPr lang="en-US"/>
              <a:t>Proceso: El Contexto</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53"/>
          <p:cNvSpPr txBox="1"/>
          <p:nvPr>
            <p:ph type="title"/>
          </p:nvPr>
        </p:nvSpPr>
        <p:spPr>
          <a:xfrm>
            <a:off x="73025" y="12837"/>
            <a:ext cx="7791285" cy="476369"/>
          </a:xfrm>
          <a:prstGeom prst="rect">
            <a:avLst/>
          </a:prstGeom>
          <a:noFill/>
          <a:ln>
            <a:noFill/>
          </a:ln>
        </p:spPr>
        <p:txBody>
          <a:bodyPr anchorCtr="0" anchor="t" bIns="0" lIns="0" spcFirstLastPara="1" rIns="0" wrap="square" tIns="17775">
            <a:spAutoFit/>
          </a:bodyPr>
          <a:lstStyle/>
          <a:p>
            <a:pPr indent="0" lvl="0" marL="741680" rtl="0" algn="l">
              <a:lnSpc>
                <a:spcPct val="100000"/>
              </a:lnSpc>
              <a:spcBef>
                <a:spcPts val="0"/>
              </a:spcBef>
              <a:spcAft>
                <a:spcPts val="0"/>
              </a:spcAft>
              <a:buNone/>
            </a:pPr>
            <a:r>
              <a:rPr lang="en-US"/>
              <a:t>Proceso: El Contexto</a:t>
            </a:r>
            <a:endParaRPr/>
          </a:p>
        </p:txBody>
      </p:sp>
      <p:sp>
        <p:nvSpPr>
          <p:cNvPr id="550" name="Google Shape;550;p53"/>
          <p:cNvSpPr txBox="1"/>
          <p:nvPr/>
        </p:nvSpPr>
        <p:spPr>
          <a:xfrm>
            <a:off x="419225" y="572841"/>
            <a:ext cx="7454265" cy="42576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2300">
                <a:solidFill>
                  <a:srgbClr val="595959"/>
                </a:solidFill>
                <a:latin typeface="Tahoma"/>
                <a:ea typeface="Tahoma"/>
                <a:cs typeface="Tahoma"/>
                <a:sym typeface="Tahoma"/>
              </a:rPr>
              <a:t>¿Qué se necesita para describir “el estado de un proceso”?</a:t>
            </a:r>
            <a:endParaRPr sz="2300">
              <a:latin typeface="Tahoma"/>
              <a:ea typeface="Tahoma"/>
              <a:cs typeface="Tahoma"/>
              <a:sym typeface="Tahoma"/>
            </a:endParaRPr>
          </a:p>
          <a:p>
            <a:pPr indent="0" lvl="0" marL="0" rtl="0" algn="l">
              <a:lnSpc>
                <a:spcPct val="100000"/>
              </a:lnSpc>
              <a:spcBef>
                <a:spcPts val="500"/>
              </a:spcBef>
              <a:spcAft>
                <a:spcPts val="0"/>
              </a:spcAft>
              <a:buNone/>
            </a:pPr>
            <a:r>
              <a:t/>
            </a:r>
            <a:endParaRPr sz="2300">
              <a:latin typeface="Tahoma"/>
              <a:ea typeface="Tahoma"/>
              <a:cs typeface="Tahoma"/>
              <a:sym typeface="Tahoma"/>
            </a:endParaRPr>
          </a:p>
          <a:p>
            <a:pPr indent="0" lvl="0" marL="12700" marR="2581275" rtl="0" algn="l">
              <a:lnSpc>
                <a:spcPct val="105000"/>
              </a:lnSpc>
              <a:spcBef>
                <a:spcPts val="5"/>
              </a:spcBef>
              <a:spcAft>
                <a:spcPts val="0"/>
              </a:spcAft>
              <a:buNone/>
            </a:pPr>
            <a:r>
              <a:rPr lang="en-US" sz="2300">
                <a:solidFill>
                  <a:srgbClr val="595959"/>
                </a:solidFill>
                <a:latin typeface="Tahoma"/>
                <a:ea typeface="Tahoma"/>
                <a:cs typeface="Tahoma"/>
                <a:sym typeface="Tahoma"/>
              </a:rPr>
              <a:t>Según Bach: el contexto de un proceso comprende:</a:t>
            </a:r>
            <a:endParaRPr sz="2300">
              <a:latin typeface="Tahoma"/>
              <a:ea typeface="Tahoma"/>
              <a:cs typeface="Tahoma"/>
              <a:sym typeface="Tahoma"/>
            </a:endParaRPr>
          </a:p>
          <a:p>
            <a:pPr indent="-405130" lvl="0" marL="927100" marR="2663825" rtl="0" algn="l">
              <a:lnSpc>
                <a:spcPct val="105000"/>
              </a:lnSpc>
              <a:spcBef>
                <a:spcPts val="1200"/>
              </a:spcBef>
              <a:spcAft>
                <a:spcPts val="0"/>
              </a:spcAft>
              <a:buClr>
                <a:srgbClr val="595959"/>
              </a:buClr>
              <a:buSzPts val="2300"/>
              <a:buFont typeface="Arial"/>
              <a:buChar char="○"/>
            </a:pPr>
            <a:r>
              <a:rPr lang="en-US" sz="2300">
                <a:solidFill>
                  <a:srgbClr val="595959"/>
                </a:solidFill>
                <a:latin typeface="Tahoma"/>
                <a:ea typeface="Tahoma"/>
                <a:cs typeface="Tahoma"/>
                <a:sym typeface="Tahoma"/>
              </a:rPr>
              <a:t>el contenido del address space (</a:t>
            </a:r>
            <a:r>
              <a:rPr b="1" lang="en-US" sz="2300">
                <a:solidFill>
                  <a:srgbClr val="595959"/>
                </a:solidFill>
                <a:latin typeface="Tahoma"/>
                <a:ea typeface="Tahoma"/>
                <a:cs typeface="Tahoma"/>
                <a:sym typeface="Tahoma"/>
              </a:rPr>
              <a:t>memoria</a:t>
            </a:r>
            <a:r>
              <a:rPr lang="en-US" sz="2300">
                <a:solidFill>
                  <a:srgbClr val="595959"/>
                </a:solidFill>
                <a:latin typeface="Tahoma"/>
                <a:ea typeface="Tahoma"/>
                <a:cs typeface="Tahoma"/>
                <a:sym typeface="Tahoma"/>
              </a:rPr>
              <a:t>)</a:t>
            </a:r>
            <a:endParaRPr sz="2300">
              <a:latin typeface="Tahoma"/>
              <a:ea typeface="Tahoma"/>
              <a:cs typeface="Tahoma"/>
              <a:sym typeface="Tahoma"/>
            </a:endParaRPr>
          </a:p>
          <a:p>
            <a:pPr indent="-405130" lvl="0" marL="927100" marR="2588895" rtl="0" algn="l">
              <a:lnSpc>
                <a:spcPct val="105000"/>
              </a:lnSpc>
              <a:spcBef>
                <a:spcPts val="0"/>
              </a:spcBef>
              <a:spcAft>
                <a:spcPts val="0"/>
              </a:spcAft>
              <a:buClr>
                <a:srgbClr val="595959"/>
              </a:buClr>
              <a:buSzPts val="2300"/>
              <a:buFont typeface="Arial"/>
              <a:buChar char="○"/>
            </a:pPr>
            <a:r>
              <a:rPr lang="en-US" sz="2300">
                <a:solidFill>
                  <a:srgbClr val="595959"/>
                </a:solidFill>
                <a:latin typeface="Tahoma"/>
                <a:ea typeface="Tahoma"/>
                <a:cs typeface="Tahoma"/>
                <a:sym typeface="Tahoma"/>
              </a:rPr>
              <a:t>el contenido de los registros de hardware (</a:t>
            </a:r>
            <a:r>
              <a:rPr b="1" lang="en-US" sz="2300">
                <a:solidFill>
                  <a:srgbClr val="595959"/>
                </a:solidFill>
                <a:latin typeface="Tahoma"/>
                <a:ea typeface="Tahoma"/>
                <a:cs typeface="Tahoma"/>
                <a:sym typeface="Tahoma"/>
              </a:rPr>
              <a:t>cpu</a:t>
            </a:r>
            <a:r>
              <a:rPr lang="en-US" sz="2300">
                <a:solidFill>
                  <a:srgbClr val="595959"/>
                </a:solidFill>
                <a:latin typeface="Tahoma"/>
                <a:ea typeface="Tahoma"/>
                <a:cs typeface="Tahoma"/>
                <a:sym typeface="Tahoma"/>
              </a:rPr>
              <a:t>)</a:t>
            </a:r>
            <a:endParaRPr sz="2300">
              <a:latin typeface="Tahoma"/>
              <a:ea typeface="Tahoma"/>
              <a:cs typeface="Tahoma"/>
              <a:sym typeface="Tahoma"/>
            </a:endParaRPr>
          </a:p>
          <a:p>
            <a:pPr indent="-405130" lvl="0" marL="927100" marR="1726564" rtl="0" algn="l">
              <a:lnSpc>
                <a:spcPct val="105000"/>
              </a:lnSpc>
              <a:spcBef>
                <a:spcPts val="0"/>
              </a:spcBef>
              <a:spcAft>
                <a:spcPts val="0"/>
              </a:spcAft>
              <a:buClr>
                <a:srgbClr val="595959"/>
              </a:buClr>
              <a:buSzPts val="2300"/>
              <a:buFont typeface="Arial"/>
              <a:buChar char="○"/>
            </a:pPr>
            <a:r>
              <a:rPr lang="en-US" sz="2300">
                <a:solidFill>
                  <a:srgbClr val="595959"/>
                </a:solidFill>
                <a:latin typeface="Tahoma"/>
                <a:ea typeface="Tahoma"/>
                <a:cs typeface="Tahoma"/>
                <a:sym typeface="Tahoma"/>
              </a:rPr>
              <a:t>las estructuras de datos que pertenecen al kernel relacionadas con el proceso (</a:t>
            </a:r>
            <a:r>
              <a:rPr b="1" lang="en-US" sz="2300">
                <a:solidFill>
                  <a:srgbClr val="595959"/>
                </a:solidFill>
                <a:latin typeface="Tahoma"/>
                <a:ea typeface="Tahoma"/>
                <a:cs typeface="Tahoma"/>
                <a:sym typeface="Tahoma"/>
              </a:rPr>
              <a:t>kernel</a:t>
            </a:r>
            <a:r>
              <a:rPr lang="en-US" sz="2300">
                <a:solidFill>
                  <a:srgbClr val="595959"/>
                </a:solidFill>
                <a:latin typeface="Tahoma"/>
                <a:ea typeface="Tahoma"/>
                <a:cs typeface="Tahoma"/>
                <a:sym typeface="Tahoma"/>
              </a:rPr>
              <a:t>)</a:t>
            </a:r>
            <a:endParaRPr sz="2300">
              <a:latin typeface="Tahoma"/>
              <a:ea typeface="Tahoma"/>
              <a:cs typeface="Tahoma"/>
              <a:sym typeface="Tahoma"/>
            </a:endParaRPr>
          </a:p>
        </p:txBody>
      </p:sp>
      <p:pic>
        <p:nvPicPr>
          <p:cNvPr id="551" name="Google Shape;551;p53"/>
          <p:cNvPicPr preferRelativeResize="0"/>
          <p:nvPr/>
        </p:nvPicPr>
        <p:blipFill rotWithShape="1">
          <a:blip r:embed="rId3">
            <a:alphaModFix/>
          </a:blip>
          <a:srcRect b="0" l="0" r="0" t="0"/>
          <a:stretch/>
        </p:blipFill>
        <p:spPr>
          <a:xfrm>
            <a:off x="6418500" y="1561487"/>
            <a:ext cx="2420700" cy="3135622"/>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54"/>
          <p:cNvSpPr txBox="1"/>
          <p:nvPr/>
        </p:nvSpPr>
        <p:spPr>
          <a:xfrm>
            <a:off x="802475" y="1271733"/>
            <a:ext cx="7251065" cy="170624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400">
                <a:solidFill>
                  <a:srgbClr val="595959"/>
                </a:solidFill>
                <a:latin typeface="Tahoma"/>
                <a:ea typeface="Tahoma"/>
                <a:cs typeface="Tahoma"/>
                <a:sym typeface="Tahoma"/>
              </a:rPr>
              <a:t>Formalmente, el contexto de un proceso es la unión de:</a:t>
            </a:r>
            <a:endParaRPr sz="2400">
              <a:latin typeface="Tahoma"/>
              <a:ea typeface="Tahoma"/>
              <a:cs typeface="Tahoma"/>
              <a:sym typeface="Tahoma"/>
            </a:endParaRPr>
          </a:p>
          <a:p>
            <a:pPr indent="-396874" lvl="0" marL="926464" rtl="0" algn="l">
              <a:lnSpc>
                <a:spcPct val="100000"/>
              </a:lnSpc>
              <a:spcBef>
                <a:spcPts val="1640"/>
              </a:spcBef>
              <a:spcAft>
                <a:spcPts val="0"/>
              </a:spcAft>
              <a:buClr>
                <a:srgbClr val="595959"/>
              </a:buClr>
              <a:buSzPts val="2200"/>
              <a:buFont typeface="Arial"/>
              <a:buChar char="○"/>
            </a:pPr>
            <a:r>
              <a:rPr lang="en-US" sz="2200">
                <a:solidFill>
                  <a:srgbClr val="595959"/>
                </a:solidFill>
                <a:latin typeface="Tahoma"/>
                <a:ea typeface="Tahoma"/>
                <a:cs typeface="Tahoma"/>
                <a:sym typeface="Tahoma"/>
              </a:rPr>
              <a:t>User-level context</a:t>
            </a:r>
            <a:endParaRPr sz="2200">
              <a:latin typeface="Tahoma"/>
              <a:ea typeface="Tahoma"/>
              <a:cs typeface="Tahoma"/>
              <a:sym typeface="Tahoma"/>
            </a:endParaRPr>
          </a:p>
          <a:p>
            <a:pPr indent="-396874" lvl="0" marL="926464" rtl="0" algn="l">
              <a:lnSpc>
                <a:spcPct val="100000"/>
              </a:lnSpc>
              <a:spcBef>
                <a:spcPts val="395"/>
              </a:spcBef>
              <a:spcAft>
                <a:spcPts val="0"/>
              </a:spcAft>
              <a:buClr>
                <a:srgbClr val="595959"/>
              </a:buClr>
              <a:buSzPts val="2200"/>
              <a:buFont typeface="Arial"/>
              <a:buChar char="○"/>
            </a:pPr>
            <a:r>
              <a:rPr lang="en-US" sz="2200">
                <a:solidFill>
                  <a:srgbClr val="595959"/>
                </a:solidFill>
                <a:latin typeface="Tahoma"/>
                <a:ea typeface="Tahoma"/>
                <a:cs typeface="Tahoma"/>
                <a:sym typeface="Tahoma"/>
              </a:rPr>
              <a:t>Register context</a:t>
            </a:r>
            <a:endParaRPr sz="2200">
              <a:latin typeface="Tahoma"/>
              <a:ea typeface="Tahoma"/>
              <a:cs typeface="Tahoma"/>
              <a:sym typeface="Tahoma"/>
            </a:endParaRPr>
          </a:p>
          <a:p>
            <a:pPr indent="-396874" lvl="0" marL="926464" rtl="0" algn="l">
              <a:lnSpc>
                <a:spcPct val="100000"/>
              </a:lnSpc>
              <a:spcBef>
                <a:spcPts val="395"/>
              </a:spcBef>
              <a:spcAft>
                <a:spcPts val="0"/>
              </a:spcAft>
              <a:buClr>
                <a:srgbClr val="595959"/>
              </a:buClr>
              <a:buSzPts val="2200"/>
              <a:buFont typeface="Arial"/>
              <a:buChar char="○"/>
            </a:pPr>
            <a:r>
              <a:rPr lang="en-US" sz="2200">
                <a:solidFill>
                  <a:srgbClr val="595959"/>
                </a:solidFill>
                <a:latin typeface="Tahoma"/>
                <a:ea typeface="Tahoma"/>
                <a:cs typeface="Tahoma"/>
                <a:sym typeface="Tahoma"/>
              </a:rPr>
              <a:t>System-level context</a:t>
            </a:r>
            <a:endParaRPr sz="2200">
              <a:latin typeface="Tahoma"/>
              <a:ea typeface="Tahoma"/>
              <a:cs typeface="Tahoma"/>
              <a:sym typeface="Tahoma"/>
            </a:endParaRPr>
          </a:p>
        </p:txBody>
      </p:sp>
      <p:sp>
        <p:nvSpPr>
          <p:cNvPr id="557" name="Google Shape;557;p54"/>
          <p:cNvSpPr txBox="1"/>
          <p:nvPr>
            <p:ph type="title"/>
          </p:nvPr>
        </p:nvSpPr>
        <p:spPr>
          <a:xfrm>
            <a:off x="73025" y="12837"/>
            <a:ext cx="7791285" cy="476369"/>
          </a:xfrm>
          <a:prstGeom prst="rect">
            <a:avLst/>
          </a:prstGeom>
          <a:noFill/>
          <a:ln>
            <a:noFill/>
          </a:ln>
        </p:spPr>
        <p:txBody>
          <a:bodyPr anchorCtr="0" anchor="t" bIns="0" lIns="0" spcFirstLastPara="1" rIns="0" wrap="square" tIns="17775">
            <a:spAutoFit/>
          </a:bodyPr>
          <a:lstStyle/>
          <a:p>
            <a:pPr indent="0" lvl="0" marL="741680" rtl="0" algn="l">
              <a:lnSpc>
                <a:spcPct val="100000"/>
              </a:lnSpc>
              <a:spcBef>
                <a:spcPts val="0"/>
              </a:spcBef>
              <a:spcAft>
                <a:spcPts val="0"/>
              </a:spcAft>
              <a:buNone/>
            </a:pPr>
            <a:r>
              <a:rPr lang="en-US"/>
              <a:t>Proceso: El Contexto</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55"/>
          <p:cNvSpPr txBox="1"/>
          <p:nvPr/>
        </p:nvSpPr>
        <p:spPr>
          <a:xfrm>
            <a:off x="802475" y="1271733"/>
            <a:ext cx="7385684" cy="316738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400">
                <a:solidFill>
                  <a:srgbClr val="595959"/>
                </a:solidFill>
                <a:latin typeface="Tahoma"/>
                <a:ea typeface="Tahoma"/>
                <a:cs typeface="Tahoma"/>
                <a:sym typeface="Tahoma"/>
              </a:rPr>
              <a:t>Formalmente, el contexto de un proceso es la unión de:</a:t>
            </a:r>
            <a:endParaRPr sz="2400">
              <a:latin typeface="Tahoma"/>
              <a:ea typeface="Tahoma"/>
              <a:cs typeface="Tahoma"/>
              <a:sym typeface="Tahoma"/>
            </a:endParaRPr>
          </a:p>
          <a:p>
            <a:pPr indent="-396874" lvl="0" marL="926464" rtl="0" algn="l">
              <a:lnSpc>
                <a:spcPct val="100000"/>
              </a:lnSpc>
              <a:spcBef>
                <a:spcPts val="1640"/>
              </a:spcBef>
              <a:spcAft>
                <a:spcPts val="0"/>
              </a:spcAft>
              <a:buClr>
                <a:srgbClr val="595959"/>
              </a:buClr>
              <a:buSzPts val="2200"/>
              <a:buFont typeface="Arial"/>
              <a:buChar char="○"/>
            </a:pPr>
            <a:r>
              <a:rPr lang="en-US" sz="2200">
                <a:solidFill>
                  <a:srgbClr val="595959"/>
                </a:solidFill>
                <a:latin typeface="Tahoma"/>
                <a:ea typeface="Tahoma"/>
                <a:cs typeface="Tahoma"/>
                <a:sym typeface="Tahoma"/>
              </a:rPr>
              <a:t>User-level context (</a:t>
            </a:r>
            <a:r>
              <a:rPr b="1" lang="en-US" sz="2200">
                <a:solidFill>
                  <a:srgbClr val="595959"/>
                </a:solidFill>
                <a:latin typeface="Tahoma"/>
                <a:ea typeface="Tahoma"/>
                <a:cs typeface="Tahoma"/>
                <a:sym typeface="Tahoma"/>
              </a:rPr>
              <a:t>memoria</a:t>
            </a:r>
            <a:r>
              <a:rPr lang="en-US" sz="2200">
                <a:solidFill>
                  <a:srgbClr val="595959"/>
                </a:solidFill>
                <a:latin typeface="Tahoma"/>
                <a:ea typeface="Tahoma"/>
                <a:cs typeface="Tahoma"/>
                <a:sym typeface="Tahoma"/>
              </a:rPr>
              <a:t>)</a:t>
            </a:r>
            <a:endParaRPr sz="2200">
              <a:latin typeface="Tahoma"/>
              <a:ea typeface="Tahoma"/>
              <a:cs typeface="Tahoma"/>
              <a:sym typeface="Tahoma"/>
            </a:endParaRPr>
          </a:p>
          <a:p>
            <a:pPr indent="-396874" lvl="0" marL="926464" rtl="0" algn="l">
              <a:lnSpc>
                <a:spcPct val="100000"/>
              </a:lnSpc>
              <a:spcBef>
                <a:spcPts val="395"/>
              </a:spcBef>
              <a:spcAft>
                <a:spcPts val="0"/>
              </a:spcAft>
              <a:buClr>
                <a:srgbClr val="595959"/>
              </a:buClr>
              <a:buSzPts val="2200"/>
              <a:buFont typeface="Arial"/>
              <a:buChar char="○"/>
            </a:pPr>
            <a:r>
              <a:rPr lang="en-US" sz="2200">
                <a:solidFill>
                  <a:srgbClr val="595959"/>
                </a:solidFill>
                <a:latin typeface="Tahoma"/>
                <a:ea typeface="Tahoma"/>
                <a:cs typeface="Tahoma"/>
                <a:sym typeface="Tahoma"/>
              </a:rPr>
              <a:t>Register context (</a:t>
            </a:r>
            <a:r>
              <a:rPr b="1" lang="en-US" sz="2200">
                <a:solidFill>
                  <a:srgbClr val="595959"/>
                </a:solidFill>
                <a:latin typeface="Tahoma"/>
                <a:ea typeface="Tahoma"/>
                <a:cs typeface="Tahoma"/>
                <a:sym typeface="Tahoma"/>
              </a:rPr>
              <a:t>cpu</a:t>
            </a:r>
            <a:r>
              <a:rPr lang="en-US" sz="2200">
                <a:solidFill>
                  <a:srgbClr val="595959"/>
                </a:solidFill>
                <a:latin typeface="Tahoma"/>
                <a:ea typeface="Tahoma"/>
                <a:cs typeface="Tahoma"/>
                <a:sym typeface="Tahoma"/>
              </a:rPr>
              <a:t>)</a:t>
            </a:r>
            <a:endParaRPr sz="2200">
              <a:latin typeface="Tahoma"/>
              <a:ea typeface="Tahoma"/>
              <a:cs typeface="Tahoma"/>
              <a:sym typeface="Tahoma"/>
            </a:endParaRPr>
          </a:p>
          <a:p>
            <a:pPr indent="-396874" lvl="0" marL="926464" rtl="0" algn="l">
              <a:lnSpc>
                <a:spcPct val="100000"/>
              </a:lnSpc>
              <a:spcBef>
                <a:spcPts val="395"/>
              </a:spcBef>
              <a:spcAft>
                <a:spcPts val="0"/>
              </a:spcAft>
              <a:buClr>
                <a:srgbClr val="595959"/>
              </a:buClr>
              <a:buSzPts val="2200"/>
              <a:buFont typeface="Arial"/>
              <a:buChar char="○"/>
            </a:pPr>
            <a:r>
              <a:rPr lang="en-US" sz="2200">
                <a:solidFill>
                  <a:srgbClr val="595959"/>
                </a:solidFill>
                <a:latin typeface="Tahoma"/>
                <a:ea typeface="Tahoma"/>
                <a:cs typeface="Tahoma"/>
                <a:sym typeface="Tahoma"/>
              </a:rPr>
              <a:t>System-level context (</a:t>
            </a:r>
            <a:r>
              <a:rPr b="1" lang="en-US" sz="2200">
                <a:solidFill>
                  <a:srgbClr val="595959"/>
                </a:solidFill>
                <a:latin typeface="Tahoma"/>
                <a:ea typeface="Tahoma"/>
                <a:cs typeface="Tahoma"/>
                <a:sym typeface="Tahoma"/>
              </a:rPr>
              <a:t>estructuras del kernel</a:t>
            </a:r>
            <a:r>
              <a:rPr lang="en-US" sz="2200">
                <a:solidFill>
                  <a:srgbClr val="595959"/>
                </a:solidFill>
                <a:latin typeface="Tahoma"/>
                <a:ea typeface="Tahoma"/>
                <a:cs typeface="Tahoma"/>
                <a:sym typeface="Tahoma"/>
              </a:rPr>
              <a:t>)</a:t>
            </a:r>
            <a:endParaRPr sz="2200">
              <a:latin typeface="Tahoma"/>
              <a:ea typeface="Tahoma"/>
              <a:cs typeface="Tahoma"/>
              <a:sym typeface="Tahoma"/>
            </a:endParaRPr>
          </a:p>
          <a:p>
            <a:pPr indent="0" lvl="0" marL="0" rtl="0" algn="l">
              <a:lnSpc>
                <a:spcPct val="100000"/>
              </a:lnSpc>
              <a:spcBef>
                <a:spcPts val="0"/>
              </a:spcBef>
              <a:spcAft>
                <a:spcPts val="0"/>
              </a:spcAft>
              <a:buNone/>
            </a:pPr>
            <a:r>
              <a:t/>
            </a:r>
            <a:endParaRPr sz="2200">
              <a:latin typeface="Tahoma"/>
              <a:ea typeface="Tahoma"/>
              <a:cs typeface="Tahoma"/>
              <a:sym typeface="Tahoma"/>
            </a:endParaRPr>
          </a:p>
          <a:p>
            <a:pPr indent="0" lvl="0" marL="0" rtl="0" algn="l">
              <a:lnSpc>
                <a:spcPct val="100000"/>
              </a:lnSpc>
              <a:spcBef>
                <a:spcPts val="125"/>
              </a:spcBef>
              <a:spcAft>
                <a:spcPts val="0"/>
              </a:spcAft>
              <a:buNone/>
            </a:pPr>
            <a:r>
              <a:t/>
            </a:r>
            <a:endParaRPr sz="2200">
              <a:latin typeface="Tahoma"/>
              <a:ea typeface="Tahoma"/>
              <a:cs typeface="Tahoma"/>
              <a:sym typeface="Tahoma"/>
            </a:endParaRPr>
          </a:p>
          <a:p>
            <a:pPr indent="-1262379" lvl="0" marL="1431290" marR="5080" rtl="0" algn="l">
              <a:lnSpc>
                <a:spcPct val="114999"/>
              </a:lnSpc>
              <a:spcBef>
                <a:spcPts val="0"/>
              </a:spcBef>
              <a:spcAft>
                <a:spcPts val="0"/>
              </a:spcAft>
              <a:buNone/>
            </a:pPr>
            <a:r>
              <a:rPr b="1" lang="en-US" sz="2200">
                <a:solidFill>
                  <a:srgbClr val="595959"/>
                </a:solidFill>
                <a:latin typeface="Tahoma"/>
                <a:ea typeface="Tahoma"/>
                <a:cs typeface="Tahoma"/>
                <a:sym typeface="Tahoma"/>
              </a:rPr>
              <a:t>Cada proceso ve </a:t>
            </a:r>
            <a:r>
              <a:rPr b="1" lang="en-US" sz="2200" u="sng">
                <a:solidFill>
                  <a:srgbClr val="595959"/>
                </a:solidFill>
                <a:latin typeface="Tahoma"/>
                <a:ea typeface="Tahoma"/>
                <a:cs typeface="Tahoma"/>
                <a:sym typeface="Tahoma"/>
              </a:rPr>
              <a:t>solamente</a:t>
            </a:r>
            <a:r>
              <a:rPr b="1" lang="en-US" sz="2200">
                <a:solidFill>
                  <a:srgbClr val="595959"/>
                </a:solidFill>
                <a:latin typeface="Tahoma"/>
                <a:ea typeface="Tahoma"/>
                <a:cs typeface="Tahoma"/>
                <a:sym typeface="Tahoma"/>
              </a:rPr>
              <a:t> su contexto, ie. su memoria, su procesador, sus archivos abiertos, etc.</a:t>
            </a:r>
            <a:endParaRPr sz="2200">
              <a:latin typeface="Tahoma"/>
              <a:ea typeface="Tahoma"/>
              <a:cs typeface="Tahoma"/>
              <a:sym typeface="Tahoma"/>
            </a:endParaRPr>
          </a:p>
        </p:txBody>
      </p:sp>
      <p:sp>
        <p:nvSpPr>
          <p:cNvPr id="563" name="Google Shape;563;p55"/>
          <p:cNvSpPr txBox="1"/>
          <p:nvPr>
            <p:ph type="title"/>
          </p:nvPr>
        </p:nvSpPr>
        <p:spPr>
          <a:xfrm>
            <a:off x="73025" y="12837"/>
            <a:ext cx="7791285" cy="476369"/>
          </a:xfrm>
          <a:prstGeom prst="rect">
            <a:avLst/>
          </a:prstGeom>
          <a:noFill/>
          <a:ln>
            <a:noFill/>
          </a:ln>
        </p:spPr>
        <p:txBody>
          <a:bodyPr anchorCtr="0" anchor="t" bIns="0" lIns="0" spcFirstLastPara="1" rIns="0" wrap="square" tIns="17775">
            <a:spAutoFit/>
          </a:bodyPr>
          <a:lstStyle/>
          <a:p>
            <a:pPr indent="0" lvl="0" marL="741680" rtl="0" algn="l">
              <a:lnSpc>
                <a:spcPct val="100000"/>
              </a:lnSpc>
              <a:spcBef>
                <a:spcPts val="0"/>
              </a:spcBef>
              <a:spcAft>
                <a:spcPts val="0"/>
              </a:spcAft>
              <a:buNone/>
            </a:pPr>
            <a:r>
              <a:rPr lang="en-US"/>
              <a:t>Proceso: El Contexto</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56"/>
          <p:cNvSpPr txBox="1"/>
          <p:nvPr/>
        </p:nvSpPr>
        <p:spPr>
          <a:xfrm>
            <a:off x="742471" y="1131331"/>
            <a:ext cx="4807585" cy="2590165"/>
          </a:xfrm>
          <a:prstGeom prst="rect">
            <a:avLst/>
          </a:prstGeom>
          <a:noFill/>
          <a:ln>
            <a:noFill/>
          </a:ln>
        </p:spPr>
        <p:txBody>
          <a:bodyPr anchorCtr="0" anchor="t" bIns="0" lIns="0" spcFirstLastPara="1" rIns="0" wrap="square" tIns="12700">
            <a:spAutoFit/>
          </a:bodyPr>
          <a:lstStyle/>
          <a:p>
            <a:pPr indent="-397510" lvl="0" marL="409575" marR="5080" rtl="0" algn="l">
              <a:lnSpc>
                <a:spcPct val="114999"/>
              </a:lnSpc>
              <a:spcBef>
                <a:spcPts val="0"/>
              </a:spcBef>
              <a:spcAft>
                <a:spcPts val="0"/>
              </a:spcAft>
              <a:buClr>
                <a:srgbClr val="595959"/>
              </a:buClr>
              <a:buSzPts val="2200"/>
              <a:buFont typeface="Arial"/>
              <a:buChar char="●"/>
            </a:pPr>
            <a:r>
              <a:rPr lang="en-US" sz="2200">
                <a:solidFill>
                  <a:srgbClr val="595959"/>
                </a:solidFill>
                <a:latin typeface="Tahoma"/>
                <a:ea typeface="Tahoma"/>
                <a:cs typeface="Tahoma"/>
                <a:sym typeface="Tahoma"/>
              </a:rPr>
              <a:t>Consiste en las secciones que conforman el espacio de direcciones virtual del proceso</a:t>
            </a:r>
            <a:endParaRPr sz="2200">
              <a:latin typeface="Tahoma"/>
              <a:ea typeface="Tahoma"/>
              <a:cs typeface="Tahoma"/>
              <a:sym typeface="Tahoma"/>
            </a:endParaRPr>
          </a:p>
          <a:p>
            <a:pPr indent="-381635" lvl="1" marL="866775" rtl="0" algn="l">
              <a:lnSpc>
                <a:spcPct val="100000"/>
              </a:lnSpc>
              <a:spcBef>
                <a:spcPts val="405"/>
              </a:spcBef>
              <a:spcAft>
                <a:spcPts val="0"/>
              </a:spcAft>
              <a:buClr>
                <a:srgbClr val="595959"/>
              </a:buClr>
              <a:buSzPts val="2000"/>
              <a:buFont typeface="Arial"/>
              <a:buChar char="○"/>
            </a:pPr>
            <a:r>
              <a:rPr lang="en-US" sz="2000">
                <a:solidFill>
                  <a:srgbClr val="595959"/>
                </a:solidFill>
                <a:latin typeface="Tahoma"/>
                <a:ea typeface="Tahoma"/>
                <a:cs typeface="Tahoma"/>
                <a:sym typeface="Tahoma"/>
              </a:rPr>
              <a:t>Text</a:t>
            </a:r>
            <a:endParaRPr sz="2000">
              <a:latin typeface="Tahoma"/>
              <a:ea typeface="Tahoma"/>
              <a:cs typeface="Tahoma"/>
              <a:sym typeface="Tahoma"/>
            </a:endParaRPr>
          </a:p>
          <a:p>
            <a:pPr indent="-381635" lvl="1" marL="866775" rtl="0" algn="l">
              <a:lnSpc>
                <a:spcPct val="100000"/>
              </a:lnSpc>
              <a:spcBef>
                <a:spcPts val="355"/>
              </a:spcBef>
              <a:spcAft>
                <a:spcPts val="0"/>
              </a:spcAft>
              <a:buClr>
                <a:srgbClr val="595959"/>
              </a:buClr>
              <a:buSzPts val="2000"/>
              <a:buFont typeface="Arial"/>
              <a:buChar char="○"/>
            </a:pPr>
            <a:r>
              <a:rPr lang="en-US" sz="2000">
                <a:solidFill>
                  <a:srgbClr val="595959"/>
                </a:solidFill>
                <a:latin typeface="Tahoma"/>
                <a:ea typeface="Tahoma"/>
                <a:cs typeface="Tahoma"/>
                <a:sym typeface="Tahoma"/>
              </a:rPr>
              <a:t>Data</a:t>
            </a:r>
            <a:endParaRPr sz="2000">
              <a:latin typeface="Tahoma"/>
              <a:ea typeface="Tahoma"/>
              <a:cs typeface="Tahoma"/>
              <a:sym typeface="Tahoma"/>
            </a:endParaRPr>
          </a:p>
          <a:p>
            <a:pPr indent="-381635" lvl="1" marL="866775" rtl="0" algn="l">
              <a:lnSpc>
                <a:spcPct val="100000"/>
              </a:lnSpc>
              <a:spcBef>
                <a:spcPts val="360"/>
              </a:spcBef>
              <a:spcAft>
                <a:spcPts val="0"/>
              </a:spcAft>
              <a:buClr>
                <a:srgbClr val="595959"/>
              </a:buClr>
              <a:buSzPts val="2000"/>
              <a:buFont typeface="Arial"/>
              <a:buChar char="○"/>
            </a:pPr>
            <a:r>
              <a:rPr lang="en-US" sz="2000">
                <a:solidFill>
                  <a:srgbClr val="595959"/>
                </a:solidFill>
                <a:latin typeface="Tahoma"/>
                <a:ea typeface="Tahoma"/>
                <a:cs typeface="Tahoma"/>
                <a:sym typeface="Tahoma"/>
              </a:rPr>
              <a:t>Stack</a:t>
            </a:r>
            <a:endParaRPr sz="2000">
              <a:latin typeface="Tahoma"/>
              <a:ea typeface="Tahoma"/>
              <a:cs typeface="Tahoma"/>
              <a:sym typeface="Tahoma"/>
            </a:endParaRPr>
          </a:p>
          <a:p>
            <a:pPr indent="-381635" lvl="1" marL="866775" rtl="0" algn="l">
              <a:lnSpc>
                <a:spcPct val="100000"/>
              </a:lnSpc>
              <a:spcBef>
                <a:spcPts val="360"/>
              </a:spcBef>
              <a:spcAft>
                <a:spcPts val="0"/>
              </a:spcAft>
              <a:buClr>
                <a:srgbClr val="595959"/>
              </a:buClr>
              <a:buSzPts val="2000"/>
              <a:buFont typeface="Arial"/>
              <a:buChar char="○"/>
            </a:pPr>
            <a:r>
              <a:rPr lang="en-US" sz="2000">
                <a:solidFill>
                  <a:srgbClr val="595959"/>
                </a:solidFill>
                <a:latin typeface="Tahoma"/>
                <a:ea typeface="Tahoma"/>
                <a:cs typeface="Tahoma"/>
                <a:sym typeface="Tahoma"/>
              </a:rPr>
              <a:t>Heap</a:t>
            </a:r>
            <a:endParaRPr sz="2000">
              <a:latin typeface="Tahoma"/>
              <a:ea typeface="Tahoma"/>
              <a:cs typeface="Tahoma"/>
              <a:sym typeface="Tahoma"/>
            </a:endParaRPr>
          </a:p>
        </p:txBody>
      </p:sp>
      <p:sp>
        <p:nvSpPr>
          <p:cNvPr id="569" name="Google Shape;569;p56"/>
          <p:cNvSpPr txBox="1"/>
          <p:nvPr>
            <p:ph type="title"/>
          </p:nvPr>
        </p:nvSpPr>
        <p:spPr>
          <a:xfrm>
            <a:off x="73025" y="12837"/>
            <a:ext cx="7791285" cy="476369"/>
          </a:xfrm>
          <a:prstGeom prst="rect">
            <a:avLst/>
          </a:prstGeom>
          <a:noFill/>
          <a:ln>
            <a:noFill/>
          </a:ln>
        </p:spPr>
        <p:txBody>
          <a:bodyPr anchorCtr="0" anchor="t" bIns="0" lIns="0" spcFirstLastPara="1" rIns="0" wrap="square" tIns="66075">
            <a:spAutoFit/>
          </a:bodyPr>
          <a:lstStyle/>
          <a:p>
            <a:pPr indent="0" lvl="0" marL="741680" rtl="0" algn="l">
              <a:lnSpc>
                <a:spcPct val="100000"/>
              </a:lnSpc>
              <a:spcBef>
                <a:spcPts val="0"/>
              </a:spcBef>
              <a:spcAft>
                <a:spcPts val="0"/>
              </a:spcAft>
              <a:buNone/>
            </a:pPr>
            <a:r>
              <a:rPr lang="en-US"/>
              <a:t>Proceso: El Contexto User-level</a:t>
            </a:r>
            <a:endParaRPr/>
          </a:p>
        </p:txBody>
      </p:sp>
      <p:pic>
        <p:nvPicPr>
          <p:cNvPr id="570" name="Google Shape;570;p56"/>
          <p:cNvPicPr preferRelativeResize="0"/>
          <p:nvPr/>
        </p:nvPicPr>
        <p:blipFill rotWithShape="1">
          <a:blip r:embed="rId3">
            <a:alphaModFix/>
          </a:blip>
          <a:srcRect b="0" l="0" r="0" t="0"/>
          <a:stretch/>
        </p:blipFill>
        <p:spPr>
          <a:xfrm>
            <a:off x="5289125" y="687775"/>
            <a:ext cx="3854874" cy="418667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57"/>
          <p:cNvSpPr txBox="1"/>
          <p:nvPr>
            <p:ph type="title"/>
          </p:nvPr>
        </p:nvSpPr>
        <p:spPr>
          <a:xfrm>
            <a:off x="73025" y="12837"/>
            <a:ext cx="7791285" cy="476369"/>
          </a:xfrm>
          <a:prstGeom prst="rect">
            <a:avLst/>
          </a:prstGeom>
          <a:noFill/>
          <a:ln>
            <a:noFill/>
          </a:ln>
        </p:spPr>
        <p:txBody>
          <a:bodyPr anchorCtr="0" anchor="t" bIns="0" lIns="0" spcFirstLastPara="1" rIns="0" wrap="square" tIns="66075">
            <a:spAutoFit/>
          </a:bodyPr>
          <a:lstStyle/>
          <a:p>
            <a:pPr indent="0" lvl="0" marL="739775" rtl="0" algn="l">
              <a:lnSpc>
                <a:spcPct val="100000"/>
              </a:lnSpc>
              <a:spcBef>
                <a:spcPts val="0"/>
              </a:spcBef>
              <a:spcAft>
                <a:spcPts val="0"/>
              </a:spcAft>
              <a:buNone/>
            </a:pPr>
            <a:r>
              <a:rPr lang="en-US"/>
              <a:t>Proceso: El contexto de registros</a:t>
            </a:r>
            <a:endParaRPr/>
          </a:p>
        </p:txBody>
      </p:sp>
      <p:sp>
        <p:nvSpPr>
          <p:cNvPr id="576" name="Google Shape;576;p57"/>
          <p:cNvSpPr txBox="1"/>
          <p:nvPr/>
        </p:nvSpPr>
        <p:spPr>
          <a:xfrm>
            <a:off x="746174" y="1208149"/>
            <a:ext cx="7310755" cy="25933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200">
                <a:solidFill>
                  <a:srgbClr val="595959"/>
                </a:solidFill>
                <a:latin typeface="Tahoma"/>
                <a:ea typeface="Tahoma"/>
                <a:cs typeface="Tahoma"/>
                <a:sym typeface="Tahoma"/>
              </a:rPr>
              <a:t>Representa el estado del CPU, es decir, los registros del CPU</a:t>
            </a:r>
            <a:endParaRPr sz="2200">
              <a:latin typeface="Tahoma"/>
              <a:ea typeface="Tahoma"/>
              <a:cs typeface="Tahoma"/>
              <a:sym typeface="Tahoma"/>
            </a:endParaRPr>
          </a:p>
          <a:p>
            <a:pPr indent="0" lvl="0" marL="12700" rtl="0" algn="l">
              <a:lnSpc>
                <a:spcPct val="100000"/>
              </a:lnSpc>
              <a:spcBef>
                <a:spcPts val="1595"/>
              </a:spcBef>
              <a:spcAft>
                <a:spcPts val="0"/>
              </a:spcAft>
              <a:buNone/>
            </a:pPr>
            <a:r>
              <a:rPr lang="en-US" sz="2200">
                <a:solidFill>
                  <a:srgbClr val="595959"/>
                </a:solidFill>
                <a:latin typeface="Tahoma"/>
                <a:ea typeface="Tahoma"/>
                <a:cs typeface="Tahoma"/>
                <a:sym typeface="Tahoma"/>
              </a:rPr>
              <a:t>Eg. x86</a:t>
            </a:r>
            <a:endParaRPr sz="2200">
              <a:latin typeface="Tahoma"/>
              <a:ea typeface="Tahoma"/>
              <a:cs typeface="Tahoma"/>
              <a:sym typeface="Tahoma"/>
            </a:endParaRPr>
          </a:p>
          <a:p>
            <a:pPr indent="-396875" lvl="0" marL="469265" rtl="0" algn="l">
              <a:lnSpc>
                <a:spcPct val="100000"/>
              </a:lnSpc>
              <a:spcBef>
                <a:spcPts val="1595"/>
              </a:spcBef>
              <a:spcAft>
                <a:spcPts val="0"/>
              </a:spcAft>
              <a:buClr>
                <a:srgbClr val="595959"/>
              </a:buClr>
              <a:buSzPts val="2200"/>
              <a:buFont typeface="Arial"/>
              <a:buChar char="●"/>
            </a:pPr>
            <a:r>
              <a:rPr lang="en-US" sz="2200">
                <a:solidFill>
                  <a:srgbClr val="595959"/>
                </a:solidFill>
                <a:latin typeface="Tahoma"/>
                <a:ea typeface="Tahoma"/>
                <a:cs typeface="Tahoma"/>
                <a:sym typeface="Tahoma"/>
              </a:rPr>
              <a:t>Program Counter Register</a:t>
            </a:r>
            <a:endParaRPr sz="2200">
              <a:latin typeface="Tahoma"/>
              <a:ea typeface="Tahoma"/>
              <a:cs typeface="Tahoma"/>
              <a:sym typeface="Tahoma"/>
            </a:endParaRPr>
          </a:p>
          <a:p>
            <a:pPr indent="-396875" lvl="0" marL="469265" rtl="0" algn="l">
              <a:lnSpc>
                <a:spcPct val="100000"/>
              </a:lnSpc>
              <a:spcBef>
                <a:spcPts val="395"/>
              </a:spcBef>
              <a:spcAft>
                <a:spcPts val="0"/>
              </a:spcAft>
              <a:buClr>
                <a:srgbClr val="595959"/>
              </a:buClr>
              <a:buSzPts val="2200"/>
              <a:buFont typeface="Arial"/>
              <a:buChar char="●"/>
            </a:pPr>
            <a:r>
              <a:rPr lang="en-US" sz="2200">
                <a:solidFill>
                  <a:srgbClr val="595959"/>
                </a:solidFill>
                <a:latin typeface="Tahoma"/>
                <a:ea typeface="Tahoma"/>
                <a:cs typeface="Tahoma"/>
                <a:sym typeface="Tahoma"/>
              </a:rPr>
              <a:t>Processor Status Register</a:t>
            </a:r>
            <a:endParaRPr sz="2200">
              <a:latin typeface="Tahoma"/>
              <a:ea typeface="Tahoma"/>
              <a:cs typeface="Tahoma"/>
              <a:sym typeface="Tahoma"/>
            </a:endParaRPr>
          </a:p>
          <a:p>
            <a:pPr indent="-396875" lvl="0" marL="469265" rtl="0" algn="l">
              <a:lnSpc>
                <a:spcPct val="100000"/>
              </a:lnSpc>
              <a:spcBef>
                <a:spcPts val="395"/>
              </a:spcBef>
              <a:spcAft>
                <a:spcPts val="0"/>
              </a:spcAft>
              <a:buClr>
                <a:srgbClr val="595959"/>
              </a:buClr>
              <a:buSzPts val="2200"/>
              <a:buFont typeface="Arial"/>
              <a:buChar char="●"/>
            </a:pPr>
            <a:r>
              <a:rPr lang="en-US" sz="2200">
                <a:solidFill>
                  <a:srgbClr val="595959"/>
                </a:solidFill>
                <a:latin typeface="Tahoma"/>
                <a:ea typeface="Tahoma"/>
                <a:cs typeface="Tahoma"/>
                <a:sym typeface="Tahoma"/>
              </a:rPr>
              <a:t>Stack Pointer Register</a:t>
            </a:r>
            <a:endParaRPr sz="2200">
              <a:latin typeface="Tahoma"/>
              <a:ea typeface="Tahoma"/>
              <a:cs typeface="Tahoma"/>
              <a:sym typeface="Tahoma"/>
            </a:endParaRPr>
          </a:p>
          <a:p>
            <a:pPr indent="-396875" lvl="0" marL="469265" rtl="0" algn="l">
              <a:lnSpc>
                <a:spcPct val="100000"/>
              </a:lnSpc>
              <a:spcBef>
                <a:spcPts val="400"/>
              </a:spcBef>
              <a:spcAft>
                <a:spcPts val="0"/>
              </a:spcAft>
              <a:buClr>
                <a:srgbClr val="595959"/>
              </a:buClr>
              <a:buSzPts val="2200"/>
              <a:buFont typeface="Arial"/>
              <a:buChar char="●"/>
            </a:pPr>
            <a:r>
              <a:rPr lang="en-US" sz="2200">
                <a:solidFill>
                  <a:srgbClr val="595959"/>
                </a:solidFill>
                <a:latin typeface="Tahoma"/>
                <a:ea typeface="Tahoma"/>
                <a:cs typeface="Tahoma"/>
                <a:sym typeface="Tahoma"/>
              </a:rPr>
              <a:t>General Purpose Registers</a:t>
            </a:r>
            <a:endParaRPr sz="2200">
              <a:latin typeface="Tahoma"/>
              <a:ea typeface="Tahoma"/>
              <a:cs typeface="Tahoma"/>
              <a:sym typeface="Tahoma"/>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58"/>
          <p:cNvSpPr txBox="1"/>
          <p:nvPr>
            <p:ph type="title"/>
          </p:nvPr>
        </p:nvSpPr>
        <p:spPr>
          <a:xfrm>
            <a:off x="73025" y="12837"/>
            <a:ext cx="7791285" cy="476369"/>
          </a:xfrm>
          <a:prstGeom prst="rect">
            <a:avLst/>
          </a:prstGeom>
          <a:noFill/>
          <a:ln>
            <a:noFill/>
          </a:ln>
        </p:spPr>
        <p:txBody>
          <a:bodyPr anchorCtr="0" anchor="t" bIns="0" lIns="0" spcFirstLastPara="1" rIns="0" wrap="square" tIns="66075">
            <a:spAutoFit/>
          </a:bodyPr>
          <a:lstStyle/>
          <a:p>
            <a:pPr indent="0" lvl="0" marL="739775" rtl="0" algn="l">
              <a:lnSpc>
                <a:spcPct val="100000"/>
              </a:lnSpc>
              <a:spcBef>
                <a:spcPts val="0"/>
              </a:spcBef>
              <a:spcAft>
                <a:spcPts val="0"/>
              </a:spcAft>
              <a:buNone/>
            </a:pPr>
            <a:r>
              <a:rPr lang="en-US"/>
              <a:t>Proceso: El contexto de registros</a:t>
            </a:r>
            <a:endParaRPr/>
          </a:p>
        </p:txBody>
      </p:sp>
      <p:pic>
        <p:nvPicPr>
          <p:cNvPr id="582" name="Google Shape;582;p58"/>
          <p:cNvPicPr preferRelativeResize="0"/>
          <p:nvPr/>
        </p:nvPicPr>
        <p:blipFill rotWithShape="1">
          <a:blip r:embed="rId3">
            <a:alphaModFix/>
          </a:blip>
          <a:srcRect b="0" l="0" r="0" t="0"/>
          <a:stretch/>
        </p:blipFill>
        <p:spPr>
          <a:xfrm>
            <a:off x="94500" y="995300"/>
            <a:ext cx="8954975" cy="3152899"/>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59"/>
          <p:cNvSpPr txBox="1"/>
          <p:nvPr/>
        </p:nvSpPr>
        <p:spPr>
          <a:xfrm>
            <a:off x="877717" y="1442840"/>
            <a:ext cx="7097395" cy="2250440"/>
          </a:xfrm>
          <a:prstGeom prst="rect">
            <a:avLst/>
          </a:prstGeom>
          <a:noFill/>
          <a:ln>
            <a:noFill/>
          </a:ln>
        </p:spPr>
        <p:txBody>
          <a:bodyPr anchorCtr="0" anchor="t" bIns="0" lIns="0" spcFirstLastPara="1" rIns="0" wrap="square" tIns="12700">
            <a:spAutoFit/>
          </a:bodyPr>
          <a:lstStyle/>
          <a:p>
            <a:pPr indent="-381635" lvl="0" marL="394335" rtl="0" algn="l">
              <a:lnSpc>
                <a:spcPct val="100000"/>
              </a:lnSpc>
              <a:spcBef>
                <a:spcPts val="0"/>
              </a:spcBef>
              <a:spcAft>
                <a:spcPts val="0"/>
              </a:spcAft>
              <a:buClr>
                <a:srgbClr val="595959"/>
              </a:buClr>
              <a:buSzPts val="2000"/>
              <a:buFont typeface="Arial"/>
              <a:buChar char="●"/>
            </a:pPr>
            <a:r>
              <a:rPr b="1" lang="en-US" sz="2000">
                <a:solidFill>
                  <a:srgbClr val="595959"/>
                </a:solidFill>
                <a:latin typeface="Tahoma"/>
                <a:ea typeface="Tahoma"/>
                <a:cs typeface="Tahoma"/>
                <a:sym typeface="Tahoma"/>
              </a:rPr>
              <a:t>Process Table Entry: </a:t>
            </a:r>
            <a:r>
              <a:rPr lang="en-US" sz="2000">
                <a:solidFill>
                  <a:srgbClr val="595959"/>
                </a:solidFill>
                <a:latin typeface="Tahoma"/>
                <a:ea typeface="Tahoma"/>
                <a:cs typeface="Tahoma"/>
                <a:sym typeface="Tahoma"/>
              </a:rPr>
              <a:t>La entrada en la </a:t>
            </a:r>
            <a:r>
              <a:rPr b="1" lang="en-US" sz="2000">
                <a:solidFill>
                  <a:srgbClr val="595959"/>
                </a:solidFill>
                <a:latin typeface="Tahoma"/>
                <a:ea typeface="Tahoma"/>
                <a:cs typeface="Tahoma"/>
                <a:sym typeface="Tahoma"/>
              </a:rPr>
              <a:t>tabla de procesos</a:t>
            </a:r>
            <a:endParaRPr sz="2000">
              <a:latin typeface="Tahoma"/>
              <a:ea typeface="Tahoma"/>
              <a:cs typeface="Tahoma"/>
              <a:sym typeface="Tahoma"/>
            </a:endParaRPr>
          </a:p>
          <a:p>
            <a:pPr indent="-382269" lvl="0" marL="394335" marR="242570" rtl="0" algn="l">
              <a:lnSpc>
                <a:spcPct val="105000"/>
              </a:lnSpc>
              <a:spcBef>
                <a:spcPts val="0"/>
              </a:spcBef>
              <a:spcAft>
                <a:spcPts val="0"/>
              </a:spcAft>
              <a:buClr>
                <a:srgbClr val="595959"/>
              </a:buClr>
              <a:buSzPts val="2000"/>
              <a:buFont typeface="Arial"/>
              <a:buChar char="●"/>
            </a:pPr>
            <a:r>
              <a:rPr b="1" lang="en-US" sz="2000">
                <a:solidFill>
                  <a:srgbClr val="595959"/>
                </a:solidFill>
                <a:latin typeface="Tahoma"/>
                <a:ea typeface="Tahoma"/>
                <a:cs typeface="Tahoma"/>
                <a:sym typeface="Tahoma"/>
              </a:rPr>
              <a:t>Configuración de memoria: </a:t>
            </a:r>
            <a:r>
              <a:rPr lang="en-US" sz="2000">
                <a:solidFill>
                  <a:srgbClr val="595959"/>
                </a:solidFill>
                <a:latin typeface="Tahoma"/>
                <a:ea typeface="Tahoma"/>
                <a:cs typeface="Tahoma"/>
                <a:sym typeface="Tahoma"/>
              </a:rPr>
              <a:t>define el mapeo de la memoria virtual vs memoria física del proceso. Eg. Page Tables</a:t>
            </a:r>
            <a:endParaRPr sz="2000">
              <a:latin typeface="Tahoma"/>
              <a:ea typeface="Tahoma"/>
              <a:cs typeface="Tahoma"/>
              <a:sym typeface="Tahoma"/>
            </a:endParaRPr>
          </a:p>
          <a:p>
            <a:pPr indent="-382269" lvl="0" marL="394335" marR="492125" rtl="0" algn="l">
              <a:lnSpc>
                <a:spcPct val="105000"/>
              </a:lnSpc>
              <a:spcBef>
                <a:spcPts val="0"/>
              </a:spcBef>
              <a:spcAft>
                <a:spcPts val="0"/>
              </a:spcAft>
              <a:buClr>
                <a:srgbClr val="595959"/>
              </a:buClr>
              <a:buSzPts val="2000"/>
              <a:buFont typeface="Arial"/>
              <a:buChar char="●"/>
            </a:pPr>
            <a:r>
              <a:rPr b="1" lang="en-US" sz="2000">
                <a:solidFill>
                  <a:srgbClr val="595959"/>
                </a:solidFill>
                <a:latin typeface="Tahoma"/>
                <a:ea typeface="Tahoma"/>
                <a:cs typeface="Tahoma"/>
                <a:sym typeface="Tahoma"/>
              </a:rPr>
              <a:t>Kernel Stack</a:t>
            </a:r>
            <a:r>
              <a:rPr lang="en-US" sz="2000">
                <a:solidFill>
                  <a:srgbClr val="595959"/>
                </a:solidFill>
                <a:latin typeface="Tahoma"/>
                <a:ea typeface="Tahoma"/>
                <a:cs typeface="Tahoma"/>
                <a:sym typeface="Tahoma"/>
              </a:rPr>
              <a:t>. contiene los stack frames de las llamadas a funciones hechas dentro del kernel.</a:t>
            </a:r>
            <a:endParaRPr sz="2000">
              <a:latin typeface="Tahoma"/>
              <a:ea typeface="Tahoma"/>
              <a:cs typeface="Tahoma"/>
              <a:sym typeface="Tahoma"/>
            </a:endParaRPr>
          </a:p>
          <a:p>
            <a:pPr indent="-382269" lvl="0" marL="394335" marR="5080" rtl="0" algn="l">
              <a:lnSpc>
                <a:spcPct val="105000"/>
              </a:lnSpc>
              <a:spcBef>
                <a:spcPts val="0"/>
              </a:spcBef>
              <a:spcAft>
                <a:spcPts val="0"/>
              </a:spcAft>
              <a:buClr>
                <a:srgbClr val="595959"/>
              </a:buClr>
              <a:buSzPts val="2000"/>
              <a:buFont typeface="Arial"/>
              <a:buChar char="●"/>
            </a:pPr>
            <a:r>
              <a:rPr lang="en-US" sz="2000">
                <a:solidFill>
                  <a:srgbClr val="595959"/>
                </a:solidFill>
                <a:latin typeface="Tahoma"/>
                <a:ea typeface="Tahoma"/>
                <a:cs typeface="Tahoma"/>
                <a:sym typeface="Tahoma"/>
              </a:rPr>
              <a:t>La </a:t>
            </a:r>
            <a:r>
              <a:rPr b="1" lang="en-US" sz="2000">
                <a:solidFill>
                  <a:srgbClr val="595959"/>
                </a:solidFill>
                <a:latin typeface="Tahoma"/>
                <a:ea typeface="Tahoma"/>
                <a:cs typeface="Tahoma"/>
                <a:sym typeface="Tahoma"/>
              </a:rPr>
              <a:t>u area: </a:t>
            </a:r>
            <a:r>
              <a:rPr lang="en-US" sz="2000">
                <a:solidFill>
                  <a:srgbClr val="595959"/>
                </a:solidFill>
                <a:latin typeface="Tahoma"/>
                <a:ea typeface="Tahoma"/>
                <a:cs typeface="Tahoma"/>
                <a:sym typeface="Tahoma"/>
              </a:rPr>
              <a:t>en desuso en sistemas modernos. Pero casi todo se incluye ahora en la Process Table Entry</a:t>
            </a:r>
            <a:endParaRPr sz="2000">
              <a:latin typeface="Tahoma"/>
              <a:ea typeface="Tahoma"/>
              <a:cs typeface="Tahoma"/>
              <a:sym typeface="Tahoma"/>
            </a:endParaRPr>
          </a:p>
        </p:txBody>
      </p:sp>
      <p:sp>
        <p:nvSpPr>
          <p:cNvPr id="588" name="Google Shape;588;p59"/>
          <p:cNvSpPr txBox="1"/>
          <p:nvPr>
            <p:ph type="title"/>
          </p:nvPr>
        </p:nvSpPr>
        <p:spPr>
          <a:xfrm>
            <a:off x="73025" y="12837"/>
            <a:ext cx="7791285" cy="476369"/>
          </a:xfrm>
          <a:prstGeom prst="rect">
            <a:avLst/>
          </a:prstGeom>
          <a:noFill/>
          <a:ln>
            <a:noFill/>
          </a:ln>
        </p:spPr>
        <p:txBody>
          <a:bodyPr anchorCtr="0" anchor="t" bIns="0" lIns="0" spcFirstLastPara="1" rIns="0" wrap="square" tIns="66075">
            <a:spAutoFit/>
          </a:bodyPr>
          <a:lstStyle/>
          <a:p>
            <a:pPr indent="0" lvl="0" marL="741680" rtl="0" algn="l">
              <a:lnSpc>
                <a:spcPct val="100000"/>
              </a:lnSpc>
              <a:spcBef>
                <a:spcPts val="0"/>
              </a:spcBef>
              <a:spcAft>
                <a:spcPts val="0"/>
              </a:spcAft>
              <a:buNone/>
            </a:pPr>
            <a:r>
              <a:rPr lang="en-US"/>
              <a:t>System-level context</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60"/>
          <p:cNvSpPr txBox="1"/>
          <p:nvPr>
            <p:ph idx="1" type="body"/>
          </p:nvPr>
        </p:nvSpPr>
        <p:spPr>
          <a:xfrm>
            <a:off x="802475" y="995245"/>
            <a:ext cx="7539049" cy="3134360"/>
          </a:xfrm>
          <a:prstGeom prst="rect">
            <a:avLst/>
          </a:prstGeom>
          <a:noFill/>
          <a:ln>
            <a:noFill/>
          </a:ln>
        </p:spPr>
        <p:txBody>
          <a:bodyPr anchorCtr="0" anchor="t" bIns="0" lIns="0" spcFirstLastPara="1" rIns="0" wrap="square" tIns="12700">
            <a:spAutoFit/>
          </a:bodyPr>
          <a:lstStyle/>
          <a:p>
            <a:pPr indent="0" lvl="0" marL="12700" marR="5080" rtl="0" algn="l">
              <a:lnSpc>
                <a:spcPct val="114999"/>
              </a:lnSpc>
              <a:spcBef>
                <a:spcPts val="0"/>
              </a:spcBef>
              <a:spcAft>
                <a:spcPts val="0"/>
              </a:spcAft>
              <a:buNone/>
            </a:pPr>
            <a:r>
              <a:rPr lang="en-US"/>
              <a:t>La u-area era una estructura por proceso usada en sistemas antiguos (UNIX Version 6) para almacenar información específica de cada proceso, como descriptores de archivos abiertos, registros en modo usuario y manejo de señales.</a:t>
            </a:r>
            <a:endParaRPr/>
          </a:p>
          <a:p>
            <a:pPr indent="0" lvl="0" marL="12700" marR="885189" rtl="0" algn="l">
              <a:lnSpc>
                <a:spcPct val="114999"/>
              </a:lnSpc>
              <a:spcBef>
                <a:spcPts val="1200"/>
              </a:spcBef>
              <a:spcAft>
                <a:spcPts val="0"/>
              </a:spcAft>
              <a:buNone/>
            </a:pPr>
            <a:r>
              <a:rPr lang="en-US"/>
              <a:t>Con el tiempo, los sistemas Unix y similares, como Linux, han evolucionado y reestructurado la gestión de procesos.</a:t>
            </a:r>
            <a:endParaRPr/>
          </a:p>
          <a:p>
            <a:pPr indent="0" lvl="0" marL="12700" marR="136525" rtl="0" algn="l">
              <a:lnSpc>
                <a:spcPct val="114999"/>
              </a:lnSpc>
              <a:spcBef>
                <a:spcPts val="1200"/>
              </a:spcBef>
              <a:spcAft>
                <a:spcPts val="0"/>
              </a:spcAft>
              <a:buNone/>
            </a:pPr>
            <a:r>
              <a:rPr lang="en-US"/>
              <a:t>En general la Process Table Entry contiene todo lo que antes estaba en la u-area</a:t>
            </a:r>
            <a:endParaRPr/>
          </a:p>
        </p:txBody>
      </p:sp>
      <p:sp>
        <p:nvSpPr>
          <p:cNvPr id="594" name="Google Shape;594;p60"/>
          <p:cNvSpPr txBox="1"/>
          <p:nvPr>
            <p:ph type="title"/>
          </p:nvPr>
        </p:nvSpPr>
        <p:spPr>
          <a:xfrm>
            <a:off x="73025" y="12837"/>
            <a:ext cx="7791285" cy="476369"/>
          </a:xfrm>
          <a:prstGeom prst="rect">
            <a:avLst/>
          </a:prstGeom>
          <a:noFill/>
          <a:ln>
            <a:noFill/>
          </a:ln>
        </p:spPr>
        <p:txBody>
          <a:bodyPr anchorCtr="0" anchor="t" bIns="0" lIns="0" spcFirstLastPara="1" rIns="0" wrap="square" tIns="66075">
            <a:spAutoFit/>
          </a:bodyPr>
          <a:lstStyle/>
          <a:p>
            <a:pPr indent="0" lvl="0" marL="741680" rtl="0" algn="l">
              <a:lnSpc>
                <a:spcPct val="100000"/>
              </a:lnSpc>
              <a:spcBef>
                <a:spcPts val="0"/>
              </a:spcBef>
              <a:spcAft>
                <a:spcPts val="0"/>
              </a:spcAft>
              <a:buNone/>
            </a:pPr>
            <a:r>
              <a:rPr lang="en-US"/>
              <a:t>System-level context: U Area</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61"/>
          <p:cNvSpPr txBox="1"/>
          <p:nvPr>
            <p:ph type="title"/>
          </p:nvPr>
        </p:nvSpPr>
        <p:spPr>
          <a:xfrm>
            <a:off x="73025" y="12837"/>
            <a:ext cx="7791285" cy="476369"/>
          </a:xfrm>
          <a:prstGeom prst="rect">
            <a:avLst/>
          </a:prstGeom>
          <a:noFill/>
          <a:ln>
            <a:noFill/>
          </a:ln>
        </p:spPr>
        <p:txBody>
          <a:bodyPr anchorCtr="0" anchor="t" bIns="0" lIns="0" spcFirstLastPara="1" rIns="0" wrap="square" tIns="17775">
            <a:spAutoFit/>
          </a:bodyPr>
          <a:lstStyle/>
          <a:p>
            <a:pPr indent="0" lvl="0" marL="741680" rtl="0" algn="l">
              <a:lnSpc>
                <a:spcPct val="100000"/>
              </a:lnSpc>
              <a:spcBef>
                <a:spcPts val="0"/>
              </a:spcBef>
              <a:spcAft>
                <a:spcPts val="0"/>
              </a:spcAft>
              <a:buNone/>
            </a:pPr>
            <a:r>
              <a:rPr lang="en-US"/>
              <a:t>System-level context: Process Table Entry (o PCB)</a:t>
            </a:r>
            <a:endParaRPr/>
          </a:p>
        </p:txBody>
      </p:sp>
      <p:sp>
        <p:nvSpPr>
          <p:cNvPr id="600" name="Google Shape;600;p61"/>
          <p:cNvSpPr txBox="1"/>
          <p:nvPr/>
        </p:nvSpPr>
        <p:spPr>
          <a:xfrm>
            <a:off x="508225" y="1048620"/>
            <a:ext cx="4168775" cy="2726055"/>
          </a:xfrm>
          <a:prstGeom prst="rect">
            <a:avLst/>
          </a:prstGeom>
          <a:noFill/>
          <a:ln>
            <a:noFill/>
          </a:ln>
        </p:spPr>
        <p:txBody>
          <a:bodyPr anchorCtr="0" anchor="t" bIns="0" lIns="0" spcFirstLastPara="1" rIns="0" wrap="square" tIns="12700">
            <a:spAutoFit/>
          </a:bodyPr>
          <a:lstStyle/>
          <a:p>
            <a:pPr indent="0" lvl="0" marL="12700" marR="43180" rtl="0" algn="l">
              <a:lnSpc>
                <a:spcPct val="114999"/>
              </a:lnSpc>
              <a:spcBef>
                <a:spcPts val="0"/>
              </a:spcBef>
              <a:spcAft>
                <a:spcPts val="0"/>
              </a:spcAft>
              <a:buNone/>
            </a:pPr>
            <a:r>
              <a:rPr lang="en-US" sz="1600">
                <a:solidFill>
                  <a:srgbClr val="595959"/>
                </a:solidFill>
                <a:latin typeface="Tahoma"/>
                <a:ea typeface="Tahoma"/>
                <a:cs typeface="Tahoma"/>
                <a:sym typeface="Tahoma"/>
              </a:rPr>
              <a:t>Cada proceso está representado en el sistema operativo por un Process Control Block (PCB) . Un PCB se muestra en la Figura 3.3.</a:t>
            </a:r>
            <a:endParaRPr sz="1600">
              <a:latin typeface="Tahoma"/>
              <a:ea typeface="Tahoma"/>
              <a:cs typeface="Tahoma"/>
              <a:sym typeface="Tahoma"/>
            </a:endParaRPr>
          </a:p>
          <a:p>
            <a:pPr indent="0" lvl="0" marL="12700" marR="264160" rtl="0" algn="l">
              <a:lnSpc>
                <a:spcPct val="114999"/>
              </a:lnSpc>
              <a:spcBef>
                <a:spcPts val="1200"/>
              </a:spcBef>
              <a:spcAft>
                <a:spcPts val="0"/>
              </a:spcAft>
              <a:buNone/>
            </a:pPr>
            <a:r>
              <a:rPr lang="en-US" sz="1600">
                <a:solidFill>
                  <a:srgbClr val="595959"/>
                </a:solidFill>
                <a:latin typeface="Tahoma"/>
                <a:ea typeface="Tahoma"/>
                <a:cs typeface="Tahoma"/>
                <a:sym typeface="Tahoma"/>
              </a:rPr>
              <a:t>Contiene muchos elementos de información asociados con un proceso específico.</a:t>
            </a:r>
            <a:endParaRPr sz="1600">
              <a:latin typeface="Tahoma"/>
              <a:ea typeface="Tahoma"/>
              <a:cs typeface="Tahoma"/>
              <a:sym typeface="Tahoma"/>
            </a:endParaRPr>
          </a:p>
          <a:p>
            <a:pPr indent="0" lvl="0" marL="0" rtl="0" algn="l">
              <a:lnSpc>
                <a:spcPct val="100000"/>
              </a:lnSpc>
              <a:spcBef>
                <a:spcPts val="0"/>
              </a:spcBef>
              <a:spcAft>
                <a:spcPts val="0"/>
              </a:spcAft>
              <a:buNone/>
            </a:pPr>
            <a:r>
              <a:t/>
            </a:r>
            <a:endParaRPr sz="1600">
              <a:latin typeface="Tahoma"/>
              <a:ea typeface="Tahoma"/>
              <a:cs typeface="Tahoma"/>
              <a:sym typeface="Tahoma"/>
            </a:endParaRPr>
          </a:p>
          <a:p>
            <a:pPr indent="0" lvl="0" marL="0" rtl="0" algn="l">
              <a:lnSpc>
                <a:spcPct val="100000"/>
              </a:lnSpc>
              <a:spcBef>
                <a:spcPts val="745"/>
              </a:spcBef>
              <a:spcAft>
                <a:spcPts val="0"/>
              </a:spcAft>
              <a:buNone/>
            </a:pPr>
            <a:r>
              <a:t/>
            </a:r>
            <a:endParaRPr sz="1600">
              <a:latin typeface="Tahoma"/>
              <a:ea typeface="Tahoma"/>
              <a:cs typeface="Tahoma"/>
              <a:sym typeface="Tahoma"/>
            </a:endParaRPr>
          </a:p>
          <a:p>
            <a:pPr indent="0" lvl="0" marL="12700" marR="5080" rtl="0" algn="l">
              <a:lnSpc>
                <a:spcPct val="114999"/>
              </a:lnSpc>
              <a:spcBef>
                <a:spcPts val="0"/>
              </a:spcBef>
              <a:spcAft>
                <a:spcPts val="0"/>
              </a:spcAft>
              <a:buNone/>
            </a:pPr>
            <a:r>
              <a:rPr lang="en-US" sz="1600">
                <a:solidFill>
                  <a:srgbClr val="595959"/>
                </a:solidFill>
                <a:latin typeface="Tahoma"/>
                <a:ea typeface="Tahoma"/>
                <a:cs typeface="Tahoma"/>
                <a:sym typeface="Tahoma"/>
              </a:rPr>
              <a:t>Como se guardan en una tabla, se suelen llamar también Process Table Entry</a:t>
            </a:r>
            <a:endParaRPr sz="1600">
              <a:latin typeface="Tahoma"/>
              <a:ea typeface="Tahoma"/>
              <a:cs typeface="Tahoma"/>
              <a:sym typeface="Tahoma"/>
            </a:endParaRPr>
          </a:p>
        </p:txBody>
      </p:sp>
      <p:pic>
        <p:nvPicPr>
          <p:cNvPr id="601" name="Google Shape;601;p61"/>
          <p:cNvPicPr preferRelativeResize="0"/>
          <p:nvPr/>
        </p:nvPicPr>
        <p:blipFill rotWithShape="1">
          <a:blip r:embed="rId3">
            <a:alphaModFix/>
          </a:blip>
          <a:srcRect b="0" l="0" r="0" t="0"/>
          <a:stretch/>
        </p:blipFill>
        <p:spPr>
          <a:xfrm>
            <a:off x="5242632" y="1113260"/>
            <a:ext cx="3254855" cy="3254862"/>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62"/>
          <p:cNvSpPr txBox="1"/>
          <p:nvPr>
            <p:ph type="ctrTitle"/>
          </p:nvPr>
        </p:nvSpPr>
        <p:spPr>
          <a:xfrm>
            <a:off x="323825" y="61137"/>
            <a:ext cx="5718175" cy="382270"/>
          </a:xfrm>
          <a:prstGeom prst="rect">
            <a:avLst/>
          </a:prstGeom>
          <a:noFill/>
          <a:ln>
            <a:noFill/>
          </a:ln>
        </p:spPr>
        <p:txBody>
          <a:bodyPr anchorCtr="0" anchor="t" bIns="0" lIns="0" spcFirstLastPara="1" rIns="0" wrap="square" tIns="17775">
            <a:spAutoFit/>
          </a:bodyPr>
          <a:lstStyle/>
          <a:p>
            <a:pPr indent="0" lvl="0" marL="12700" rtl="0" algn="l">
              <a:lnSpc>
                <a:spcPct val="100000"/>
              </a:lnSpc>
              <a:spcBef>
                <a:spcPts val="0"/>
              </a:spcBef>
              <a:spcAft>
                <a:spcPts val="0"/>
              </a:spcAft>
              <a:buNone/>
            </a:pPr>
            <a:r>
              <a:rPr lang="en-US"/>
              <a:t>El Contexto System-level: Process Table</a:t>
            </a:r>
            <a:endParaRPr/>
          </a:p>
        </p:txBody>
      </p:sp>
      <p:pic>
        <p:nvPicPr>
          <p:cNvPr id="607" name="Google Shape;607;p62"/>
          <p:cNvPicPr preferRelativeResize="0"/>
          <p:nvPr/>
        </p:nvPicPr>
        <p:blipFill rotWithShape="1">
          <a:blip r:embed="rId3">
            <a:alphaModFix/>
          </a:blip>
          <a:srcRect b="0" l="0" r="0" t="0"/>
          <a:stretch/>
        </p:blipFill>
        <p:spPr>
          <a:xfrm>
            <a:off x="881111" y="1071718"/>
            <a:ext cx="7381775" cy="4071781"/>
          </a:xfrm>
          <a:prstGeom prst="rect">
            <a:avLst/>
          </a:prstGeom>
          <a:noFill/>
          <a:ln>
            <a:noFill/>
          </a:ln>
        </p:spPr>
      </p:pic>
      <p:sp>
        <p:nvSpPr>
          <p:cNvPr id="608" name="Google Shape;608;p62"/>
          <p:cNvSpPr txBox="1"/>
          <p:nvPr/>
        </p:nvSpPr>
        <p:spPr>
          <a:xfrm>
            <a:off x="1506562" y="600097"/>
            <a:ext cx="5563235" cy="2692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600">
                <a:solidFill>
                  <a:srgbClr val="595959"/>
                </a:solidFill>
                <a:latin typeface="Tahoma"/>
                <a:ea typeface="Tahoma"/>
                <a:cs typeface="Tahoma"/>
                <a:sym typeface="Tahoma"/>
              </a:rPr>
              <a:t>La tabla de PCB es generalmente un array o una lista enlazada</a:t>
            </a:r>
            <a:endParaRPr sz="1600">
              <a:latin typeface="Tahoma"/>
              <a:ea typeface="Tahoma"/>
              <a:cs typeface="Tahoma"/>
              <a:sym typeface="Tahoma"/>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63"/>
          <p:cNvSpPr txBox="1"/>
          <p:nvPr/>
        </p:nvSpPr>
        <p:spPr>
          <a:xfrm>
            <a:off x="530075" y="830094"/>
            <a:ext cx="7657465" cy="3369945"/>
          </a:xfrm>
          <a:prstGeom prst="rect">
            <a:avLst/>
          </a:prstGeom>
          <a:noFill/>
          <a:ln>
            <a:noFill/>
          </a:ln>
        </p:spPr>
        <p:txBody>
          <a:bodyPr anchorCtr="0" anchor="t" bIns="0" lIns="0" spcFirstLastPara="1" rIns="0" wrap="square" tIns="27300">
            <a:spAutoFit/>
          </a:bodyPr>
          <a:lstStyle/>
          <a:p>
            <a:pPr indent="0" lvl="0" marL="12700" rtl="0" algn="l">
              <a:lnSpc>
                <a:spcPct val="100000"/>
              </a:lnSpc>
              <a:spcBef>
                <a:spcPts val="0"/>
              </a:spcBef>
              <a:spcAft>
                <a:spcPts val="0"/>
              </a:spcAft>
              <a:buNone/>
            </a:pPr>
            <a:r>
              <a:rPr lang="en-US" sz="1900">
                <a:solidFill>
                  <a:srgbClr val="595959"/>
                </a:solidFill>
                <a:latin typeface="Tahoma"/>
                <a:ea typeface="Tahoma"/>
                <a:cs typeface="Tahoma"/>
                <a:sym typeface="Tahoma"/>
              </a:rPr>
              <a:t>Depende mucho de la implementación del sistema operativo. Cosas que</a:t>
            </a:r>
            <a:endParaRPr sz="1900">
              <a:latin typeface="Tahoma"/>
              <a:ea typeface="Tahoma"/>
              <a:cs typeface="Tahoma"/>
              <a:sym typeface="Tahoma"/>
            </a:endParaRPr>
          </a:p>
          <a:p>
            <a:pPr indent="0" lvl="0" marL="12700" rtl="0" algn="l">
              <a:lnSpc>
                <a:spcPct val="100000"/>
              </a:lnSpc>
              <a:spcBef>
                <a:spcPts val="110"/>
              </a:spcBef>
              <a:spcAft>
                <a:spcPts val="0"/>
              </a:spcAft>
              <a:buNone/>
            </a:pPr>
            <a:r>
              <a:rPr b="1" lang="en-US" sz="1900">
                <a:solidFill>
                  <a:srgbClr val="595959"/>
                </a:solidFill>
                <a:latin typeface="Tahoma"/>
                <a:ea typeface="Tahoma"/>
                <a:cs typeface="Tahoma"/>
                <a:sym typeface="Tahoma"/>
              </a:rPr>
              <a:t>podría </a:t>
            </a:r>
            <a:r>
              <a:rPr lang="en-US" sz="1900">
                <a:solidFill>
                  <a:srgbClr val="595959"/>
                </a:solidFill>
                <a:latin typeface="Tahoma"/>
                <a:ea typeface="Tahoma"/>
                <a:cs typeface="Tahoma"/>
                <a:sym typeface="Tahoma"/>
              </a:rPr>
              <a:t>contener el PCB:</a:t>
            </a:r>
            <a:endParaRPr sz="1900">
              <a:latin typeface="Tahoma"/>
              <a:ea typeface="Tahoma"/>
              <a:cs typeface="Tahoma"/>
              <a:sym typeface="Tahoma"/>
            </a:endParaRPr>
          </a:p>
          <a:p>
            <a:pPr indent="0" lvl="0" marL="0" rtl="0" algn="l">
              <a:lnSpc>
                <a:spcPct val="100000"/>
              </a:lnSpc>
              <a:spcBef>
                <a:spcPts val="100"/>
              </a:spcBef>
              <a:spcAft>
                <a:spcPts val="0"/>
              </a:spcAft>
              <a:buNone/>
            </a:pPr>
            <a:r>
              <a:t/>
            </a:r>
            <a:endParaRPr sz="1900">
              <a:latin typeface="Tahoma"/>
              <a:ea typeface="Tahoma"/>
              <a:cs typeface="Tahoma"/>
              <a:sym typeface="Tahoma"/>
            </a:endParaRPr>
          </a:p>
          <a:p>
            <a:pPr indent="-374650" lvl="0" marL="469900" marR="5080" rtl="0" algn="l">
              <a:lnSpc>
                <a:spcPct val="105000"/>
              </a:lnSpc>
              <a:spcBef>
                <a:spcPts val="0"/>
              </a:spcBef>
              <a:spcAft>
                <a:spcPts val="0"/>
              </a:spcAft>
              <a:buClr>
                <a:srgbClr val="595959"/>
              </a:buClr>
              <a:buSzPts val="1900"/>
              <a:buFont typeface="Arial"/>
              <a:buChar char="●"/>
            </a:pPr>
            <a:r>
              <a:rPr lang="en-US" sz="1900">
                <a:solidFill>
                  <a:srgbClr val="595959"/>
                </a:solidFill>
                <a:latin typeface="Tahoma"/>
                <a:ea typeface="Tahoma"/>
                <a:cs typeface="Tahoma"/>
                <a:sym typeface="Tahoma"/>
              </a:rPr>
              <a:t>identificación: cada proceso tiene un identificador único o process ID (PID) y además perteneces a un determinado grupo de procesos.</a:t>
            </a:r>
            <a:endParaRPr sz="1900">
              <a:latin typeface="Tahoma"/>
              <a:ea typeface="Tahoma"/>
              <a:cs typeface="Tahoma"/>
              <a:sym typeface="Tahoma"/>
            </a:endParaRPr>
          </a:p>
          <a:p>
            <a:pPr indent="-374015" lvl="0" marL="469265" rtl="0" algn="l">
              <a:lnSpc>
                <a:spcPct val="100000"/>
              </a:lnSpc>
              <a:spcBef>
                <a:spcPts val="114"/>
              </a:spcBef>
              <a:spcAft>
                <a:spcPts val="0"/>
              </a:spcAft>
              <a:buClr>
                <a:srgbClr val="595959"/>
              </a:buClr>
              <a:buSzPts val="1900"/>
              <a:buFont typeface="Arial"/>
              <a:buChar char="●"/>
            </a:pPr>
            <a:r>
              <a:rPr lang="en-US" sz="1900">
                <a:solidFill>
                  <a:srgbClr val="595959"/>
                </a:solidFill>
                <a:latin typeface="Tahoma"/>
                <a:ea typeface="Tahoma"/>
                <a:cs typeface="Tahoma"/>
                <a:sym typeface="Tahoma"/>
              </a:rPr>
              <a:t>Ubicación del mapa de direcciones del Kernel del u area del proceso.</a:t>
            </a:r>
            <a:endParaRPr sz="1900">
              <a:latin typeface="Tahoma"/>
              <a:ea typeface="Tahoma"/>
              <a:cs typeface="Tahoma"/>
              <a:sym typeface="Tahoma"/>
            </a:endParaRPr>
          </a:p>
          <a:p>
            <a:pPr indent="-374015" lvl="0" marL="469265" rtl="0" algn="l">
              <a:lnSpc>
                <a:spcPct val="100000"/>
              </a:lnSpc>
              <a:spcBef>
                <a:spcPts val="114"/>
              </a:spcBef>
              <a:spcAft>
                <a:spcPts val="0"/>
              </a:spcAft>
              <a:buClr>
                <a:srgbClr val="595959"/>
              </a:buClr>
              <a:buSzPts val="1900"/>
              <a:buFont typeface="Arial"/>
              <a:buChar char="●"/>
            </a:pPr>
            <a:r>
              <a:rPr lang="en-US" sz="1900">
                <a:solidFill>
                  <a:srgbClr val="595959"/>
                </a:solidFill>
                <a:latin typeface="Tahoma"/>
                <a:ea typeface="Tahoma"/>
                <a:cs typeface="Tahoma"/>
                <a:sym typeface="Tahoma"/>
              </a:rPr>
              <a:t>Estado actual del proceso</a:t>
            </a:r>
            <a:endParaRPr sz="1900">
              <a:latin typeface="Tahoma"/>
              <a:ea typeface="Tahoma"/>
              <a:cs typeface="Tahoma"/>
              <a:sym typeface="Tahoma"/>
            </a:endParaRPr>
          </a:p>
          <a:p>
            <a:pPr indent="-374015" lvl="0" marL="469265" rtl="0" algn="l">
              <a:lnSpc>
                <a:spcPct val="100000"/>
              </a:lnSpc>
              <a:spcBef>
                <a:spcPts val="114"/>
              </a:spcBef>
              <a:spcAft>
                <a:spcPts val="0"/>
              </a:spcAft>
              <a:buClr>
                <a:srgbClr val="595959"/>
              </a:buClr>
              <a:buSzPts val="1900"/>
              <a:buFont typeface="Arial"/>
              <a:buChar char="●"/>
            </a:pPr>
            <a:r>
              <a:rPr lang="en-US" sz="1900">
                <a:solidFill>
                  <a:srgbClr val="595959"/>
                </a:solidFill>
                <a:latin typeface="Tahoma"/>
                <a:ea typeface="Tahoma"/>
                <a:cs typeface="Tahoma"/>
                <a:sym typeface="Tahoma"/>
              </a:rPr>
              <a:t>Un puntero hacia el siguiente proceso en el planificador y al anterior.</a:t>
            </a:r>
            <a:endParaRPr sz="1900">
              <a:latin typeface="Tahoma"/>
              <a:ea typeface="Tahoma"/>
              <a:cs typeface="Tahoma"/>
              <a:sym typeface="Tahoma"/>
            </a:endParaRPr>
          </a:p>
          <a:p>
            <a:pPr indent="-374015" lvl="0" marL="469265" rtl="0" algn="l">
              <a:lnSpc>
                <a:spcPct val="100000"/>
              </a:lnSpc>
              <a:spcBef>
                <a:spcPts val="115"/>
              </a:spcBef>
              <a:spcAft>
                <a:spcPts val="0"/>
              </a:spcAft>
              <a:buClr>
                <a:srgbClr val="595959"/>
              </a:buClr>
              <a:buSzPts val="1900"/>
              <a:buFont typeface="Arial"/>
              <a:buChar char="●"/>
            </a:pPr>
            <a:r>
              <a:rPr lang="en-US" sz="1900">
                <a:solidFill>
                  <a:srgbClr val="595959"/>
                </a:solidFill>
                <a:latin typeface="Tahoma"/>
                <a:ea typeface="Tahoma"/>
                <a:cs typeface="Tahoma"/>
                <a:sym typeface="Tahoma"/>
              </a:rPr>
              <a:t>Prioridad</a:t>
            </a:r>
            <a:endParaRPr sz="1900">
              <a:latin typeface="Tahoma"/>
              <a:ea typeface="Tahoma"/>
              <a:cs typeface="Tahoma"/>
              <a:sym typeface="Tahoma"/>
            </a:endParaRPr>
          </a:p>
          <a:p>
            <a:pPr indent="-374015" lvl="0" marL="469265" rtl="0" algn="l">
              <a:lnSpc>
                <a:spcPct val="100000"/>
              </a:lnSpc>
              <a:spcBef>
                <a:spcPts val="110"/>
              </a:spcBef>
              <a:spcAft>
                <a:spcPts val="0"/>
              </a:spcAft>
              <a:buClr>
                <a:srgbClr val="595959"/>
              </a:buClr>
              <a:buSzPts val="1900"/>
              <a:buFont typeface="Arial"/>
              <a:buChar char="●"/>
            </a:pPr>
            <a:r>
              <a:rPr lang="en-US" sz="1900">
                <a:solidFill>
                  <a:srgbClr val="595959"/>
                </a:solidFill>
                <a:latin typeface="Tahoma"/>
                <a:ea typeface="Tahoma"/>
                <a:cs typeface="Tahoma"/>
                <a:sym typeface="Tahoma"/>
              </a:rPr>
              <a:t>Información para el manejo de señales.</a:t>
            </a:r>
            <a:endParaRPr sz="1900">
              <a:latin typeface="Tahoma"/>
              <a:ea typeface="Tahoma"/>
              <a:cs typeface="Tahoma"/>
              <a:sym typeface="Tahoma"/>
            </a:endParaRPr>
          </a:p>
          <a:p>
            <a:pPr indent="-374015" lvl="0" marL="469265" rtl="0" algn="l">
              <a:lnSpc>
                <a:spcPct val="100000"/>
              </a:lnSpc>
              <a:spcBef>
                <a:spcPts val="114"/>
              </a:spcBef>
              <a:spcAft>
                <a:spcPts val="0"/>
              </a:spcAft>
              <a:buClr>
                <a:srgbClr val="595959"/>
              </a:buClr>
              <a:buSzPts val="1900"/>
              <a:buFont typeface="Arial"/>
              <a:buChar char="●"/>
            </a:pPr>
            <a:r>
              <a:rPr lang="en-US" sz="1900">
                <a:solidFill>
                  <a:srgbClr val="595959"/>
                </a:solidFill>
                <a:latin typeface="Tahoma"/>
                <a:ea typeface="Tahoma"/>
                <a:cs typeface="Tahoma"/>
                <a:sym typeface="Tahoma"/>
              </a:rPr>
              <a:t>Información para la administración de memoria.</a:t>
            </a:r>
            <a:endParaRPr sz="1900">
              <a:latin typeface="Tahoma"/>
              <a:ea typeface="Tahoma"/>
              <a:cs typeface="Tahoma"/>
              <a:sym typeface="Tahoma"/>
            </a:endParaRPr>
          </a:p>
        </p:txBody>
      </p:sp>
      <p:sp>
        <p:nvSpPr>
          <p:cNvPr id="614" name="Google Shape;614;p63"/>
          <p:cNvSpPr txBox="1"/>
          <p:nvPr>
            <p:ph type="title"/>
          </p:nvPr>
        </p:nvSpPr>
        <p:spPr>
          <a:xfrm>
            <a:off x="73025" y="12837"/>
            <a:ext cx="7791285" cy="476369"/>
          </a:xfrm>
          <a:prstGeom prst="rect">
            <a:avLst/>
          </a:prstGeom>
          <a:noFill/>
          <a:ln>
            <a:noFill/>
          </a:ln>
        </p:spPr>
        <p:txBody>
          <a:bodyPr anchorCtr="0" anchor="t" bIns="0" lIns="0" spcFirstLastPara="1" rIns="0" wrap="square" tIns="66575">
            <a:spAutoFit/>
          </a:bodyPr>
          <a:lstStyle/>
          <a:p>
            <a:pPr indent="0" lvl="0" marL="262890" rtl="0" algn="l">
              <a:lnSpc>
                <a:spcPct val="100000"/>
              </a:lnSpc>
              <a:spcBef>
                <a:spcPts val="0"/>
              </a:spcBef>
              <a:spcAft>
                <a:spcPts val="0"/>
              </a:spcAft>
              <a:buNone/>
            </a:pPr>
            <a:r>
              <a:rPr lang="en-US" sz="2200"/>
              <a:t>System-level context: Process Table Entry</a:t>
            </a:r>
            <a:endParaRPr sz="2200"/>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64"/>
          <p:cNvSpPr txBox="1"/>
          <p:nvPr>
            <p:ph type="title"/>
          </p:nvPr>
        </p:nvSpPr>
        <p:spPr>
          <a:xfrm>
            <a:off x="73025" y="12837"/>
            <a:ext cx="7791285" cy="476369"/>
          </a:xfrm>
          <a:prstGeom prst="rect">
            <a:avLst/>
          </a:prstGeom>
          <a:noFill/>
          <a:ln>
            <a:noFill/>
          </a:ln>
        </p:spPr>
        <p:txBody>
          <a:bodyPr anchorCtr="0" anchor="t" bIns="0" lIns="0" spcFirstLastPara="1" rIns="0" wrap="square" tIns="17775">
            <a:spAutoFit/>
          </a:bodyPr>
          <a:lstStyle/>
          <a:p>
            <a:pPr indent="0" lvl="0" marL="741680" rtl="0" algn="l">
              <a:lnSpc>
                <a:spcPct val="100000"/>
              </a:lnSpc>
              <a:spcBef>
                <a:spcPts val="0"/>
              </a:spcBef>
              <a:spcAft>
                <a:spcPts val="0"/>
              </a:spcAft>
              <a:buNone/>
            </a:pPr>
            <a:r>
              <a:rPr lang="en-US"/>
              <a:t>Ejemplo PCB: struct proc (xv6)</a:t>
            </a:r>
            <a:endParaRPr/>
          </a:p>
        </p:txBody>
      </p:sp>
      <p:sp>
        <p:nvSpPr>
          <p:cNvPr id="620" name="Google Shape;620;p64"/>
          <p:cNvSpPr txBox="1"/>
          <p:nvPr/>
        </p:nvSpPr>
        <p:spPr>
          <a:xfrm>
            <a:off x="304449" y="2084224"/>
            <a:ext cx="8304530" cy="48768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75550">
            <a:spAutoFit/>
          </a:bodyPr>
          <a:lstStyle/>
          <a:p>
            <a:pPr indent="0" lvl="0" marL="85725" rtl="0" algn="l">
              <a:lnSpc>
                <a:spcPct val="100000"/>
              </a:lnSpc>
              <a:spcBef>
                <a:spcPts val="0"/>
              </a:spcBef>
              <a:spcAft>
                <a:spcPts val="0"/>
              </a:spcAft>
              <a:buNone/>
            </a:pPr>
            <a:r>
              <a:rPr b="1" lang="en-US" sz="1900">
                <a:solidFill>
                  <a:srgbClr val="595959"/>
                </a:solidFill>
                <a:latin typeface="Courier New"/>
                <a:ea typeface="Courier New"/>
                <a:cs typeface="Courier New"/>
                <a:sym typeface="Courier New"/>
              </a:rPr>
              <a:t>#define NPROC	64	// maximum number of processes</a:t>
            </a:r>
            <a:endParaRPr sz="1900">
              <a:latin typeface="Courier New"/>
              <a:ea typeface="Courier New"/>
              <a:cs typeface="Courier New"/>
              <a:sym typeface="Courier New"/>
            </a:endParaRPr>
          </a:p>
        </p:txBody>
      </p:sp>
      <p:sp>
        <p:nvSpPr>
          <p:cNvPr id="621" name="Google Shape;621;p64"/>
          <p:cNvSpPr txBox="1"/>
          <p:nvPr/>
        </p:nvSpPr>
        <p:spPr>
          <a:xfrm>
            <a:off x="377475" y="937323"/>
            <a:ext cx="7137400" cy="1096645"/>
          </a:xfrm>
          <a:prstGeom prst="rect">
            <a:avLst/>
          </a:prstGeom>
          <a:noFill/>
          <a:ln>
            <a:noFill/>
          </a:ln>
        </p:spPr>
        <p:txBody>
          <a:bodyPr anchorCtr="0" anchor="t" bIns="0" lIns="0" spcFirstLastPara="1" rIns="0" wrap="square" tIns="12700">
            <a:spAutoFit/>
          </a:bodyPr>
          <a:lstStyle/>
          <a:p>
            <a:pPr indent="0" lvl="0" marL="49530" rtl="0" algn="l">
              <a:lnSpc>
                <a:spcPct val="100000"/>
              </a:lnSpc>
              <a:spcBef>
                <a:spcPts val="0"/>
              </a:spcBef>
              <a:spcAft>
                <a:spcPts val="0"/>
              </a:spcAft>
              <a:buNone/>
            </a:pPr>
            <a:r>
              <a:rPr lang="en-US" sz="1900">
                <a:solidFill>
                  <a:srgbClr val="595959"/>
                </a:solidFill>
                <a:latin typeface="Tahoma"/>
                <a:ea typeface="Tahoma"/>
                <a:cs typeface="Tahoma"/>
                <a:sym typeface="Tahoma"/>
              </a:rPr>
              <a:t>En xv6 la tabla de procesos es simplemente </a:t>
            </a:r>
            <a:r>
              <a:rPr b="1" lang="en-US" sz="1900">
                <a:solidFill>
                  <a:srgbClr val="595959"/>
                </a:solidFill>
                <a:latin typeface="Tahoma"/>
                <a:ea typeface="Tahoma"/>
                <a:cs typeface="Tahoma"/>
                <a:sym typeface="Tahoma"/>
              </a:rPr>
              <a:t>un array de 64 entradas</a:t>
            </a:r>
            <a:endParaRPr sz="1900">
              <a:latin typeface="Tahoma"/>
              <a:ea typeface="Tahoma"/>
              <a:cs typeface="Tahoma"/>
              <a:sym typeface="Tahoma"/>
            </a:endParaRPr>
          </a:p>
          <a:p>
            <a:pPr indent="0" lvl="0" marL="0" rtl="0" algn="l">
              <a:lnSpc>
                <a:spcPct val="100000"/>
              </a:lnSpc>
              <a:spcBef>
                <a:spcPts val="1935"/>
              </a:spcBef>
              <a:spcAft>
                <a:spcPts val="0"/>
              </a:spcAft>
              <a:buNone/>
            </a:pPr>
            <a:r>
              <a:t/>
            </a:r>
            <a:endParaRPr sz="1900">
              <a:latin typeface="Tahoma"/>
              <a:ea typeface="Tahoma"/>
              <a:cs typeface="Tahoma"/>
              <a:sym typeface="Tahoma"/>
            </a:endParaRPr>
          </a:p>
          <a:p>
            <a:pPr indent="0" lvl="0" marL="12700" rtl="0" algn="l">
              <a:lnSpc>
                <a:spcPct val="100000"/>
              </a:lnSpc>
              <a:spcBef>
                <a:spcPts val="0"/>
              </a:spcBef>
              <a:spcAft>
                <a:spcPts val="0"/>
              </a:spcAft>
              <a:buNone/>
            </a:pPr>
            <a:r>
              <a:rPr i="1" lang="en-US" sz="1600">
                <a:solidFill>
                  <a:srgbClr val="595959"/>
                </a:solidFill>
                <a:latin typeface="Times New Roman"/>
                <a:ea typeface="Times New Roman"/>
                <a:cs typeface="Times New Roman"/>
                <a:sym typeface="Times New Roman"/>
              </a:rPr>
              <a:t>kernel/param.h</a:t>
            </a:r>
            <a:endParaRPr sz="1600">
              <a:latin typeface="Times New Roman"/>
              <a:ea typeface="Times New Roman"/>
              <a:cs typeface="Times New Roman"/>
              <a:sym typeface="Times New Roman"/>
            </a:endParaRPr>
          </a:p>
        </p:txBody>
      </p:sp>
      <p:sp>
        <p:nvSpPr>
          <p:cNvPr id="622" name="Google Shape;622;p64"/>
          <p:cNvSpPr txBox="1"/>
          <p:nvPr/>
        </p:nvSpPr>
        <p:spPr>
          <a:xfrm>
            <a:off x="304449" y="3348149"/>
            <a:ext cx="8304530" cy="48768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77450">
            <a:spAutoFit/>
          </a:bodyPr>
          <a:lstStyle/>
          <a:p>
            <a:pPr indent="0" lvl="0" marL="85725" rtl="0" algn="l">
              <a:lnSpc>
                <a:spcPct val="100000"/>
              </a:lnSpc>
              <a:spcBef>
                <a:spcPts val="0"/>
              </a:spcBef>
              <a:spcAft>
                <a:spcPts val="0"/>
              </a:spcAft>
              <a:buNone/>
            </a:pPr>
            <a:r>
              <a:rPr b="1" lang="en-US" sz="1600">
                <a:solidFill>
                  <a:srgbClr val="595959"/>
                </a:solidFill>
                <a:latin typeface="Courier New"/>
                <a:ea typeface="Courier New"/>
                <a:cs typeface="Courier New"/>
                <a:sym typeface="Courier New"/>
              </a:rPr>
              <a:t>struct proc proc[NPROC];</a:t>
            </a:r>
            <a:endParaRPr sz="1600">
              <a:latin typeface="Courier New"/>
              <a:ea typeface="Courier New"/>
              <a:cs typeface="Courier New"/>
              <a:sym typeface="Courier New"/>
            </a:endParaRPr>
          </a:p>
        </p:txBody>
      </p:sp>
      <p:sp>
        <p:nvSpPr>
          <p:cNvPr id="623" name="Google Shape;623;p64"/>
          <p:cNvSpPr txBox="1"/>
          <p:nvPr/>
        </p:nvSpPr>
        <p:spPr>
          <a:xfrm>
            <a:off x="377475" y="3028147"/>
            <a:ext cx="1094740" cy="2692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i="1" lang="en-US" sz="1600">
                <a:solidFill>
                  <a:srgbClr val="595959"/>
                </a:solidFill>
                <a:latin typeface="Times New Roman"/>
                <a:ea typeface="Times New Roman"/>
                <a:cs typeface="Times New Roman"/>
                <a:sym typeface="Times New Roman"/>
              </a:rPr>
              <a:t>kernel/proc.c</a:t>
            </a:r>
            <a:endParaRPr sz="1600">
              <a:latin typeface="Times New Roman"/>
              <a:ea typeface="Times New Roman"/>
              <a:cs typeface="Times New Roman"/>
              <a:sym typeface="Times New Roman"/>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65"/>
          <p:cNvSpPr txBox="1"/>
          <p:nvPr>
            <p:ph type="title"/>
          </p:nvPr>
        </p:nvSpPr>
        <p:spPr>
          <a:xfrm>
            <a:off x="73025" y="12837"/>
            <a:ext cx="7791285" cy="476369"/>
          </a:xfrm>
          <a:prstGeom prst="rect">
            <a:avLst/>
          </a:prstGeom>
          <a:noFill/>
          <a:ln>
            <a:noFill/>
          </a:ln>
        </p:spPr>
        <p:txBody>
          <a:bodyPr anchorCtr="0" anchor="t" bIns="0" lIns="0" spcFirstLastPara="1" rIns="0" wrap="square" tIns="17775">
            <a:spAutoFit/>
          </a:bodyPr>
          <a:lstStyle/>
          <a:p>
            <a:pPr indent="0" lvl="0" marL="741680" rtl="0" algn="l">
              <a:lnSpc>
                <a:spcPct val="100000"/>
              </a:lnSpc>
              <a:spcBef>
                <a:spcPts val="0"/>
              </a:spcBef>
              <a:spcAft>
                <a:spcPts val="0"/>
              </a:spcAft>
              <a:buNone/>
            </a:pPr>
            <a:r>
              <a:rPr lang="en-US"/>
              <a:t>Ejemplo PCB: struct proc (xv6)</a:t>
            </a:r>
            <a:endParaRPr/>
          </a:p>
        </p:txBody>
      </p:sp>
      <p:sp>
        <p:nvSpPr>
          <p:cNvPr id="629" name="Google Shape;629;p65"/>
          <p:cNvSpPr/>
          <p:nvPr/>
        </p:nvSpPr>
        <p:spPr>
          <a:xfrm>
            <a:off x="729450" y="1637325"/>
            <a:ext cx="7689215" cy="2917825"/>
          </a:xfrm>
          <a:custGeom>
            <a:rect b="b" l="l" r="r" t="t"/>
            <a:pathLst>
              <a:path extrusionOk="0" h="2917825" w="7689215">
                <a:moveTo>
                  <a:pt x="0" y="0"/>
                </a:moveTo>
                <a:lnTo>
                  <a:pt x="7688699" y="0"/>
                </a:lnTo>
                <a:lnTo>
                  <a:pt x="7688699" y="2917799"/>
                </a:lnTo>
                <a:lnTo>
                  <a:pt x="0" y="2917799"/>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30" name="Google Shape;630;p65"/>
          <p:cNvSpPr txBox="1"/>
          <p:nvPr/>
        </p:nvSpPr>
        <p:spPr>
          <a:xfrm>
            <a:off x="4594388" y="2570901"/>
            <a:ext cx="1231900" cy="17780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000">
                <a:solidFill>
                  <a:srgbClr val="595959"/>
                </a:solidFill>
                <a:latin typeface="Courier New"/>
                <a:ea typeface="Courier New"/>
                <a:cs typeface="Courier New"/>
                <a:sym typeface="Courier New"/>
              </a:rPr>
              <a:t>// Process state</a:t>
            </a:r>
            <a:endParaRPr sz="1000">
              <a:latin typeface="Courier New"/>
              <a:ea typeface="Courier New"/>
              <a:cs typeface="Courier New"/>
              <a:sym typeface="Courier New"/>
            </a:endParaRPr>
          </a:p>
        </p:txBody>
      </p:sp>
      <p:sp>
        <p:nvSpPr>
          <p:cNvPr id="631" name="Google Shape;631;p65"/>
          <p:cNvSpPr txBox="1"/>
          <p:nvPr/>
        </p:nvSpPr>
        <p:spPr>
          <a:xfrm>
            <a:off x="4594388" y="2967141"/>
            <a:ext cx="3517900" cy="97028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000">
                <a:solidFill>
                  <a:srgbClr val="595959"/>
                </a:solidFill>
                <a:latin typeface="Courier New"/>
                <a:ea typeface="Courier New"/>
                <a:cs typeface="Courier New"/>
                <a:sym typeface="Courier New"/>
              </a:rPr>
              <a:t>// Exit status to be returned to parent's wait</a:t>
            </a:r>
            <a:endParaRPr sz="1000">
              <a:latin typeface="Courier New"/>
              <a:ea typeface="Courier New"/>
              <a:cs typeface="Courier New"/>
              <a:sym typeface="Courier New"/>
            </a:endParaRPr>
          </a:p>
          <a:p>
            <a:pPr indent="0" lvl="0" marL="0" rtl="0" algn="l">
              <a:lnSpc>
                <a:spcPct val="100000"/>
              </a:lnSpc>
              <a:spcBef>
                <a:spcPts val="785"/>
              </a:spcBef>
              <a:spcAft>
                <a:spcPts val="0"/>
              </a:spcAft>
              <a:buNone/>
            </a:pPr>
            <a:r>
              <a:t/>
            </a:r>
            <a:endParaRPr sz="10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000">
                <a:solidFill>
                  <a:srgbClr val="595959"/>
                </a:solidFill>
                <a:latin typeface="Courier New"/>
                <a:ea typeface="Courier New"/>
                <a:cs typeface="Courier New"/>
                <a:sym typeface="Courier New"/>
              </a:rPr>
              <a:t>// Process ID</a:t>
            </a:r>
            <a:endParaRPr sz="1000">
              <a:latin typeface="Courier New"/>
              <a:ea typeface="Courier New"/>
              <a:cs typeface="Courier New"/>
              <a:sym typeface="Courier New"/>
            </a:endParaRPr>
          </a:p>
          <a:p>
            <a:pPr indent="0" lvl="0" marL="0" rtl="0" algn="l">
              <a:lnSpc>
                <a:spcPct val="100000"/>
              </a:lnSpc>
              <a:spcBef>
                <a:spcPts val="785"/>
              </a:spcBef>
              <a:spcAft>
                <a:spcPts val="0"/>
              </a:spcAft>
              <a:buNone/>
            </a:pPr>
            <a:r>
              <a:t/>
            </a:r>
            <a:endParaRPr sz="1000">
              <a:latin typeface="Courier New"/>
              <a:ea typeface="Courier New"/>
              <a:cs typeface="Courier New"/>
              <a:sym typeface="Courier New"/>
            </a:endParaRPr>
          </a:p>
          <a:p>
            <a:pPr indent="0" lvl="0" marL="0" rtl="0" algn="l">
              <a:lnSpc>
                <a:spcPct val="100000"/>
              </a:lnSpc>
              <a:spcBef>
                <a:spcPts val="5"/>
              </a:spcBef>
              <a:spcAft>
                <a:spcPts val="0"/>
              </a:spcAft>
              <a:buNone/>
            </a:pPr>
            <a:r>
              <a:rPr b="1" lang="en-US" sz="1000">
                <a:solidFill>
                  <a:srgbClr val="595959"/>
                </a:solidFill>
                <a:latin typeface="Courier New"/>
                <a:ea typeface="Courier New"/>
                <a:cs typeface="Courier New"/>
                <a:sym typeface="Courier New"/>
              </a:rPr>
              <a:t>// Parent process</a:t>
            </a:r>
            <a:endParaRPr sz="1000">
              <a:latin typeface="Courier New"/>
              <a:ea typeface="Courier New"/>
              <a:cs typeface="Courier New"/>
              <a:sym typeface="Courier New"/>
            </a:endParaRPr>
          </a:p>
        </p:txBody>
      </p:sp>
      <p:sp>
        <p:nvSpPr>
          <p:cNvPr id="632" name="Google Shape;632;p65"/>
          <p:cNvSpPr txBox="1"/>
          <p:nvPr/>
        </p:nvSpPr>
        <p:spPr>
          <a:xfrm>
            <a:off x="815175" y="1702222"/>
            <a:ext cx="2816860" cy="264668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600">
                <a:solidFill>
                  <a:srgbClr val="595959"/>
                </a:solidFill>
                <a:latin typeface="Courier New"/>
                <a:ea typeface="Courier New"/>
                <a:cs typeface="Courier New"/>
                <a:sym typeface="Courier New"/>
              </a:rPr>
              <a:t>struct proc {</a:t>
            </a:r>
            <a:endParaRPr sz="1600">
              <a:latin typeface="Courier New"/>
              <a:ea typeface="Courier New"/>
              <a:cs typeface="Courier New"/>
              <a:sym typeface="Courier New"/>
            </a:endParaRPr>
          </a:p>
          <a:p>
            <a:pPr indent="0" lvl="0" marL="243840" rtl="0" algn="l">
              <a:lnSpc>
                <a:spcPct val="100000"/>
              </a:lnSpc>
              <a:spcBef>
                <a:spcPts val="1200"/>
              </a:spcBef>
              <a:spcAft>
                <a:spcPts val="0"/>
              </a:spcAft>
              <a:buNone/>
            </a:pPr>
            <a:r>
              <a:rPr b="1" lang="en-US" sz="1600">
                <a:solidFill>
                  <a:srgbClr val="595959"/>
                </a:solidFill>
                <a:latin typeface="Courier New"/>
                <a:ea typeface="Courier New"/>
                <a:cs typeface="Courier New"/>
                <a:sym typeface="Courier New"/>
              </a:rPr>
              <a:t>...</a:t>
            </a:r>
            <a:endParaRPr sz="1600">
              <a:latin typeface="Courier New"/>
              <a:ea typeface="Courier New"/>
              <a:cs typeface="Courier New"/>
              <a:sym typeface="Courier New"/>
            </a:endParaRPr>
          </a:p>
          <a:p>
            <a:pPr indent="0" lvl="0" marL="243840" marR="5080" rtl="0" algn="l">
              <a:lnSpc>
                <a:spcPct val="162500"/>
              </a:lnSpc>
              <a:spcBef>
                <a:spcPts val="0"/>
              </a:spcBef>
              <a:spcAft>
                <a:spcPts val="0"/>
              </a:spcAft>
              <a:buNone/>
            </a:pPr>
            <a:r>
              <a:rPr b="1" lang="en-US" sz="1600">
                <a:solidFill>
                  <a:srgbClr val="595959"/>
                </a:solidFill>
                <a:latin typeface="Courier New"/>
                <a:ea typeface="Courier New"/>
                <a:cs typeface="Courier New"/>
                <a:sym typeface="Courier New"/>
              </a:rPr>
              <a:t>enum procstate state; int xstate;</a:t>
            </a:r>
            <a:endParaRPr sz="1600">
              <a:latin typeface="Courier New"/>
              <a:ea typeface="Courier New"/>
              <a:cs typeface="Courier New"/>
              <a:sym typeface="Courier New"/>
            </a:endParaRPr>
          </a:p>
          <a:p>
            <a:pPr indent="0" lvl="0" marL="243840" rtl="0" algn="l">
              <a:lnSpc>
                <a:spcPct val="100000"/>
              </a:lnSpc>
              <a:spcBef>
                <a:spcPts val="1200"/>
              </a:spcBef>
              <a:spcAft>
                <a:spcPts val="0"/>
              </a:spcAft>
              <a:buNone/>
            </a:pPr>
            <a:r>
              <a:rPr b="1" lang="en-US" sz="1600">
                <a:solidFill>
                  <a:srgbClr val="595959"/>
                </a:solidFill>
                <a:latin typeface="Courier New"/>
                <a:ea typeface="Courier New"/>
                <a:cs typeface="Courier New"/>
                <a:sym typeface="Courier New"/>
              </a:rPr>
              <a:t>int pid;</a:t>
            </a:r>
            <a:endParaRPr sz="1600">
              <a:latin typeface="Courier New"/>
              <a:ea typeface="Courier New"/>
              <a:cs typeface="Courier New"/>
              <a:sym typeface="Courier New"/>
            </a:endParaRPr>
          </a:p>
          <a:p>
            <a:pPr indent="0" lvl="0" marL="243840" rtl="0" algn="l">
              <a:lnSpc>
                <a:spcPct val="100000"/>
              </a:lnSpc>
              <a:spcBef>
                <a:spcPts val="1200"/>
              </a:spcBef>
              <a:spcAft>
                <a:spcPts val="0"/>
              </a:spcAft>
              <a:buNone/>
            </a:pPr>
            <a:r>
              <a:rPr b="1" lang="en-US" sz="1600">
                <a:solidFill>
                  <a:srgbClr val="595959"/>
                </a:solidFill>
                <a:latin typeface="Courier New"/>
                <a:ea typeface="Courier New"/>
                <a:cs typeface="Courier New"/>
                <a:sym typeface="Courier New"/>
              </a:rPr>
              <a:t>struct proc *parent;</a:t>
            </a:r>
            <a:endParaRPr sz="1600">
              <a:latin typeface="Courier New"/>
              <a:ea typeface="Courier New"/>
              <a:cs typeface="Courier New"/>
              <a:sym typeface="Courier New"/>
            </a:endParaRPr>
          </a:p>
          <a:p>
            <a:pPr indent="0" lvl="0" marL="243840" rtl="0" algn="l">
              <a:lnSpc>
                <a:spcPct val="100000"/>
              </a:lnSpc>
              <a:spcBef>
                <a:spcPts val="1200"/>
              </a:spcBef>
              <a:spcAft>
                <a:spcPts val="0"/>
              </a:spcAft>
              <a:buNone/>
            </a:pPr>
            <a:r>
              <a:rPr b="1" lang="en-US" sz="1600">
                <a:solidFill>
                  <a:srgbClr val="595959"/>
                </a:solidFill>
                <a:latin typeface="Courier New"/>
                <a:ea typeface="Courier New"/>
                <a:cs typeface="Courier New"/>
                <a:sym typeface="Courier New"/>
              </a:rPr>
              <a:t>...</a:t>
            </a:r>
            <a:endParaRPr sz="1600">
              <a:latin typeface="Courier New"/>
              <a:ea typeface="Courier New"/>
              <a:cs typeface="Courier New"/>
              <a:sym typeface="Courier New"/>
            </a:endParaRPr>
          </a:p>
        </p:txBody>
      </p:sp>
      <p:sp>
        <p:nvSpPr>
          <p:cNvPr id="633" name="Google Shape;633;p65"/>
          <p:cNvSpPr txBox="1"/>
          <p:nvPr/>
        </p:nvSpPr>
        <p:spPr>
          <a:xfrm>
            <a:off x="802475" y="773872"/>
            <a:ext cx="5007610" cy="76708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900">
                <a:solidFill>
                  <a:srgbClr val="595959"/>
                </a:solidFill>
                <a:latin typeface="Tahoma"/>
                <a:ea typeface="Tahoma"/>
                <a:cs typeface="Tahoma"/>
                <a:sym typeface="Tahoma"/>
              </a:rPr>
              <a:t>Cada PCB tiene toda la información del proceso</a:t>
            </a:r>
            <a:endParaRPr sz="1900">
              <a:latin typeface="Tahoma"/>
              <a:ea typeface="Tahoma"/>
              <a:cs typeface="Tahoma"/>
              <a:sym typeface="Tahoma"/>
            </a:endParaRPr>
          </a:p>
          <a:p>
            <a:pPr indent="0" lvl="0" marL="12700" rtl="0" algn="l">
              <a:lnSpc>
                <a:spcPct val="100000"/>
              </a:lnSpc>
              <a:spcBef>
                <a:spcPts val="1635"/>
              </a:spcBef>
              <a:spcAft>
                <a:spcPts val="0"/>
              </a:spcAft>
              <a:buNone/>
            </a:pPr>
            <a:r>
              <a:rPr i="1" lang="en-US" sz="1600">
                <a:solidFill>
                  <a:srgbClr val="595959"/>
                </a:solidFill>
                <a:latin typeface="Times New Roman"/>
                <a:ea typeface="Times New Roman"/>
                <a:cs typeface="Times New Roman"/>
                <a:sym typeface="Times New Roman"/>
              </a:rPr>
              <a:t>kernel/proc.h</a:t>
            </a:r>
            <a:endParaRPr sz="1600">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66"/>
          <p:cNvSpPr txBox="1"/>
          <p:nvPr>
            <p:ph type="title"/>
          </p:nvPr>
        </p:nvSpPr>
        <p:spPr>
          <a:xfrm>
            <a:off x="73025" y="12837"/>
            <a:ext cx="7791285" cy="476369"/>
          </a:xfrm>
          <a:prstGeom prst="rect">
            <a:avLst/>
          </a:prstGeom>
          <a:noFill/>
          <a:ln>
            <a:noFill/>
          </a:ln>
        </p:spPr>
        <p:txBody>
          <a:bodyPr anchorCtr="0" anchor="t" bIns="0" lIns="0" spcFirstLastPara="1" rIns="0" wrap="square" tIns="17775">
            <a:spAutoFit/>
          </a:bodyPr>
          <a:lstStyle/>
          <a:p>
            <a:pPr indent="0" lvl="0" marL="741680" rtl="0" algn="l">
              <a:lnSpc>
                <a:spcPct val="100000"/>
              </a:lnSpc>
              <a:spcBef>
                <a:spcPts val="0"/>
              </a:spcBef>
              <a:spcAft>
                <a:spcPts val="0"/>
              </a:spcAft>
              <a:buNone/>
            </a:pPr>
            <a:r>
              <a:rPr lang="en-US"/>
              <a:t>Ejemplo PCB: struct proc (xv6)</a:t>
            </a:r>
            <a:endParaRPr/>
          </a:p>
        </p:txBody>
      </p:sp>
      <p:sp>
        <p:nvSpPr>
          <p:cNvPr id="639" name="Google Shape;639;p66"/>
          <p:cNvSpPr/>
          <p:nvPr/>
        </p:nvSpPr>
        <p:spPr>
          <a:xfrm>
            <a:off x="729450" y="1176899"/>
            <a:ext cx="7689215" cy="3345815"/>
          </a:xfrm>
          <a:custGeom>
            <a:rect b="b" l="l" r="r" t="t"/>
            <a:pathLst>
              <a:path extrusionOk="0" h="3345815" w="7689215">
                <a:moveTo>
                  <a:pt x="0" y="0"/>
                </a:moveTo>
                <a:lnTo>
                  <a:pt x="7688699" y="0"/>
                </a:lnTo>
                <a:lnTo>
                  <a:pt x="7688699" y="3345599"/>
                </a:lnTo>
                <a:lnTo>
                  <a:pt x="0" y="3345599"/>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40" name="Google Shape;640;p66"/>
          <p:cNvSpPr txBox="1"/>
          <p:nvPr/>
        </p:nvSpPr>
        <p:spPr>
          <a:xfrm>
            <a:off x="4594388" y="1714236"/>
            <a:ext cx="2603500" cy="176276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000">
                <a:solidFill>
                  <a:srgbClr val="595959"/>
                </a:solidFill>
                <a:latin typeface="Courier New"/>
                <a:ea typeface="Courier New"/>
                <a:cs typeface="Courier New"/>
                <a:sym typeface="Courier New"/>
              </a:rPr>
              <a:t>// Virtual address of kernel stack</a:t>
            </a:r>
            <a:endParaRPr sz="1000">
              <a:latin typeface="Courier New"/>
              <a:ea typeface="Courier New"/>
              <a:cs typeface="Courier New"/>
              <a:sym typeface="Courier New"/>
            </a:endParaRPr>
          </a:p>
          <a:p>
            <a:pPr indent="0" lvl="0" marL="0" rtl="0" algn="l">
              <a:lnSpc>
                <a:spcPct val="100000"/>
              </a:lnSpc>
              <a:spcBef>
                <a:spcPts val="785"/>
              </a:spcBef>
              <a:spcAft>
                <a:spcPts val="0"/>
              </a:spcAft>
              <a:buNone/>
            </a:pPr>
            <a:r>
              <a:t/>
            </a:r>
            <a:endParaRPr sz="10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000">
                <a:solidFill>
                  <a:srgbClr val="595959"/>
                </a:solidFill>
                <a:latin typeface="Courier New"/>
                <a:ea typeface="Courier New"/>
                <a:cs typeface="Courier New"/>
                <a:sym typeface="Courier New"/>
              </a:rPr>
              <a:t>// User page table</a:t>
            </a:r>
            <a:endParaRPr sz="1000">
              <a:latin typeface="Courier New"/>
              <a:ea typeface="Courier New"/>
              <a:cs typeface="Courier New"/>
              <a:sym typeface="Courier New"/>
            </a:endParaRPr>
          </a:p>
          <a:p>
            <a:pPr indent="0" lvl="0" marL="0" rtl="0" algn="l">
              <a:lnSpc>
                <a:spcPct val="100000"/>
              </a:lnSpc>
              <a:spcBef>
                <a:spcPts val="785"/>
              </a:spcBef>
              <a:spcAft>
                <a:spcPts val="0"/>
              </a:spcAft>
              <a:buNone/>
            </a:pPr>
            <a:r>
              <a:t/>
            </a:r>
            <a:endParaRPr sz="1000">
              <a:latin typeface="Courier New"/>
              <a:ea typeface="Courier New"/>
              <a:cs typeface="Courier New"/>
              <a:sym typeface="Courier New"/>
            </a:endParaRPr>
          </a:p>
          <a:p>
            <a:pPr indent="0" lvl="0" marL="0" rtl="0" algn="l">
              <a:lnSpc>
                <a:spcPct val="100000"/>
              </a:lnSpc>
              <a:spcBef>
                <a:spcPts val="5"/>
              </a:spcBef>
              <a:spcAft>
                <a:spcPts val="0"/>
              </a:spcAft>
              <a:buNone/>
            </a:pPr>
            <a:r>
              <a:rPr b="1" lang="en-US" sz="1000">
                <a:solidFill>
                  <a:srgbClr val="595959"/>
                </a:solidFill>
                <a:latin typeface="Courier New"/>
                <a:ea typeface="Courier New"/>
                <a:cs typeface="Courier New"/>
                <a:sym typeface="Courier New"/>
              </a:rPr>
              <a:t>// Open files</a:t>
            </a:r>
            <a:endParaRPr sz="1000">
              <a:latin typeface="Courier New"/>
              <a:ea typeface="Courier New"/>
              <a:cs typeface="Courier New"/>
              <a:sym typeface="Courier New"/>
            </a:endParaRPr>
          </a:p>
          <a:p>
            <a:pPr indent="0" lvl="0" marL="0" rtl="0" algn="l">
              <a:lnSpc>
                <a:spcPct val="100000"/>
              </a:lnSpc>
              <a:spcBef>
                <a:spcPts val="785"/>
              </a:spcBef>
              <a:spcAft>
                <a:spcPts val="0"/>
              </a:spcAft>
              <a:buNone/>
            </a:pPr>
            <a:r>
              <a:t/>
            </a:r>
            <a:endParaRPr sz="10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000">
                <a:solidFill>
                  <a:srgbClr val="595959"/>
                </a:solidFill>
                <a:latin typeface="Courier New"/>
                <a:ea typeface="Courier New"/>
                <a:cs typeface="Courier New"/>
                <a:sym typeface="Courier New"/>
              </a:rPr>
              <a:t>// Current directory</a:t>
            </a:r>
            <a:endParaRPr sz="1000">
              <a:latin typeface="Courier New"/>
              <a:ea typeface="Courier New"/>
              <a:cs typeface="Courier New"/>
              <a:sym typeface="Courier New"/>
            </a:endParaRPr>
          </a:p>
          <a:p>
            <a:pPr indent="0" lvl="0" marL="0" rtl="0" algn="l">
              <a:lnSpc>
                <a:spcPct val="100000"/>
              </a:lnSpc>
              <a:spcBef>
                <a:spcPts val="785"/>
              </a:spcBef>
              <a:spcAft>
                <a:spcPts val="0"/>
              </a:spcAft>
              <a:buNone/>
            </a:pPr>
            <a:r>
              <a:t/>
            </a:r>
            <a:endParaRPr sz="10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000">
                <a:solidFill>
                  <a:srgbClr val="595959"/>
                </a:solidFill>
                <a:latin typeface="Courier New"/>
                <a:ea typeface="Courier New"/>
                <a:cs typeface="Courier New"/>
                <a:sym typeface="Courier New"/>
              </a:rPr>
              <a:t>// Process name (debugging)</a:t>
            </a:r>
            <a:endParaRPr sz="1000">
              <a:latin typeface="Courier New"/>
              <a:ea typeface="Courier New"/>
              <a:cs typeface="Courier New"/>
              <a:sym typeface="Courier New"/>
            </a:endParaRPr>
          </a:p>
        </p:txBody>
      </p:sp>
      <p:sp>
        <p:nvSpPr>
          <p:cNvPr id="641" name="Google Shape;641;p66"/>
          <p:cNvSpPr txBox="1"/>
          <p:nvPr>
            <p:ph idx="1" type="body"/>
          </p:nvPr>
        </p:nvSpPr>
        <p:spPr>
          <a:xfrm>
            <a:off x="802475" y="810697"/>
            <a:ext cx="3561079" cy="347408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kernel/proc.h (continuación)</a:t>
            </a:r>
            <a:endParaRPr/>
          </a:p>
          <a:p>
            <a:pPr indent="0" lvl="0" marL="256540" rtl="0" algn="l">
              <a:lnSpc>
                <a:spcPct val="100000"/>
              </a:lnSpc>
              <a:spcBef>
                <a:spcPts val="1475"/>
              </a:spcBef>
              <a:spcAft>
                <a:spcPts val="0"/>
              </a:spcAft>
              <a:buNone/>
            </a:pPr>
            <a:r>
              <a:rPr b="1" i="0" lang="en-US">
                <a:latin typeface="Courier New"/>
                <a:ea typeface="Courier New"/>
                <a:cs typeface="Courier New"/>
                <a:sym typeface="Courier New"/>
              </a:rPr>
              <a:t>...</a:t>
            </a:r>
            <a:endParaRPr/>
          </a:p>
          <a:p>
            <a:pPr indent="0" lvl="0" marL="256540" marR="614680" rtl="0" algn="l">
              <a:lnSpc>
                <a:spcPct val="162500"/>
              </a:lnSpc>
              <a:spcBef>
                <a:spcPts val="0"/>
              </a:spcBef>
              <a:spcAft>
                <a:spcPts val="0"/>
              </a:spcAft>
              <a:buNone/>
            </a:pPr>
            <a:r>
              <a:rPr b="1" i="0" lang="en-US">
                <a:latin typeface="Courier New"/>
                <a:ea typeface="Courier New"/>
                <a:cs typeface="Courier New"/>
                <a:sym typeface="Courier New"/>
              </a:rPr>
              <a:t>uint64 kstack; pagetable_t pagetable;</a:t>
            </a:r>
            <a:endParaRPr/>
          </a:p>
          <a:p>
            <a:pPr indent="0" lvl="0" marL="256540" marR="5080" rtl="0" algn="l">
              <a:lnSpc>
                <a:spcPct val="162500"/>
              </a:lnSpc>
              <a:spcBef>
                <a:spcPts val="0"/>
              </a:spcBef>
              <a:spcAft>
                <a:spcPts val="0"/>
              </a:spcAft>
              <a:buNone/>
            </a:pPr>
            <a:r>
              <a:rPr b="1" i="0" lang="en-US">
                <a:latin typeface="Courier New"/>
                <a:ea typeface="Courier New"/>
                <a:cs typeface="Courier New"/>
                <a:sym typeface="Courier New"/>
              </a:rPr>
              <a:t>struct file *ofile[NOFILE]; struct inode *cwd;</a:t>
            </a:r>
            <a:endParaRPr/>
          </a:p>
          <a:p>
            <a:pPr indent="0" lvl="0" marL="256540" rtl="0" algn="l">
              <a:lnSpc>
                <a:spcPct val="100000"/>
              </a:lnSpc>
              <a:spcBef>
                <a:spcPts val="1200"/>
              </a:spcBef>
              <a:spcAft>
                <a:spcPts val="0"/>
              </a:spcAft>
              <a:buNone/>
            </a:pPr>
            <a:r>
              <a:rPr b="1" i="0" lang="en-US">
                <a:latin typeface="Courier New"/>
                <a:ea typeface="Courier New"/>
                <a:cs typeface="Courier New"/>
                <a:sym typeface="Courier New"/>
              </a:rPr>
              <a:t>char name[16];</a:t>
            </a:r>
            <a:endParaRPr/>
          </a:p>
          <a:p>
            <a:pPr indent="0" lvl="0" marL="256540" rtl="0" algn="l">
              <a:lnSpc>
                <a:spcPct val="100000"/>
              </a:lnSpc>
              <a:spcBef>
                <a:spcPts val="1200"/>
              </a:spcBef>
              <a:spcAft>
                <a:spcPts val="0"/>
              </a:spcAft>
              <a:buNone/>
            </a:pPr>
            <a:r>
              <a:rPr b="1" i="0" lang="en-US">
                <a:latin typeface="Courier New"/>
                <a:ea typeface="Courier New"/>
                <a:cs typeface="Courier New"/>
                <a:sym typeface="Courier New"/>
              </a:rPr>
              <a:t>...</a:t>
            </a:r>
            <a:endParaRPr/>
          </a:p>
          <a:p>
            <a:pPr indent="0" lvl="0" marL="12700" rtl="0" algn="l">
              <a:lnSpc>
                <a:spcPct val="100000"/>
              </a:lnSpc>
              <a:spcBef>
                <a:spcPts val="1200"/>
              </a:spcBef>
              <a:spcAft>
                <a:spcPts val="0"/>
              </a:spcAft>
              <a:buNone/>
            </a:pPr>
            <a:r>
              <a:rPr b="1" i="0" lang="en-US">
                <a:latin typeface="Courier New"/>
                <a:ea typeface="Courier New"/>
                <a:cs typeface="Courier New"/>
                <a:sym typeface="Courier New"/>
              </a:rPr>
              <a:t>};</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67"/>
          <p:cNvSpPr txBox="1"/>
          <p:nvPr>
            <p:ph type="title"/>
          </p:nvPr>
        </p:nvSpPr>
        <p:spPr>
          <a:xfrm>
            <a:off x="73025" y="12837"/>
            <a:ext cx="7791285" cy="476369"/>
          </a:xfrm>
          <a:prstGeom prst="rect">
            <a:avLst/>
          </a:prstGeom>
          <a:noFill/>
          <a:ln>
            <a:noFill/>
          </a:ln>
        </p:spPr>
        <p:txBody>
          <a:bodyPr anchorCtr="0" anchor="t" bIns="0" lIns="0" spcFirstLastPara="1" rIns="0" wrap="square" tIns="17775">
            <a:spAutoFit/>
          </a:bodyPr>
          <a:lstStyle/>
          <a:p>
            <a:pPr indent="0" lvl="0" marL="741680" rtl="0" algn="l">
              <a:lnSpc>
                <a:spcPct val="100000"/>
              </a:lnSpc>
              <a:spcBef>
                <a:spcPts val="0"/>
              </a:spcBef>
              <a:spcAft>
                <a:spcPts val="0"/>
              </a:spcAft>
              <a:buNone/>
            </a:pPr>
            <a:r>
              <a:rPr lang="en-US"/>
              <a:t>Ejemplo PCB: struct proc (xv6)</a:t>
            </a:r>
            <a:endParaRPr/>
          </a:p>
        </p:txBody>
      </p:sp>
      <p:sp>
        <p:nvSpPr>
          <p:cNvPr id="647" name="Google Shape;647;p67"/>
          <p:cNvSpPr txBox="1"/>
          <p:nvPr/>
        </p:nvSpPr>
        <p:spPr>
          <a:xfrm>
            <a:off x="901200" y="631214"/>
            <a:ext cx="6058535" cy="3683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2000">
                <a:solidFill>
                  <a:srgbClr val="595959"/>
                </a:solidFill>
                <a:latin typeface="Tahoma"/>
                <a:ea typeface="Tahoma"/>
                <a:cs typeface="Tahoma"/>
                <a:sym typeface="Tahoma"/>
              </a:rPr>
              <a:t>Recapitulando. </a:t>
            </a:r>
            <a:r>
              <a:rPr lang="en-US" sz="2000">
                <a:solidFill>
                  <a:srgbClr val="595959"/>
                </a:solidFill>
                <a:latin typeface="Tahoma"/>
                <a:ea typeface="Tahoma"/>
                <a:cs typeface="Tahoma"/>
                <a:sym typeface="Tahoma"/>
              </a:rPr>
              <a:t>Cada PCB en xv6 tiene:</a:t>
            </a:r>
            <a:endParaRPr sz="2000">
              <a:latin typeface="Tahoma"/>
              <a:ea typeface="Tahoma"/>
              <a:cs typeface="Tahoma"/>
              <a:sym typeface="Tahoma"/>
            </a:endParaRPr>
          </a:p>
          <a:p>
            <a:pPr indent="-381635" lvl="0" marL="469265" rtl="0" algn="l">
              <a:lnSpc>
                <a:spcPct val="100000"/>
              </a:lnSpc>
              <a:spcBef>
                <a:spcPts val="2400"/>
              </a:spcBef>
              <a:spcAft>
                <a:spcPts val="0"/>
              </a:spcAft>
              <a:buClr>
                <a:srgbClr val="595959"/>
              </a:buClr>
              <a:buSzPts val="2000"/>
              <a:buFont typeface="Arial"/>
              <a:buChar char="●"/>
            </a:pPr>
            <a:r>
              <a:rPr lang="en-US" sz="2000">
                <a:solidFill>
                  <a:srgbClr val="595959"/>
                </a:solidFill>
                <a:latin typeface="Tahoma"/>
                <a:ea typeface="Tahoma"/>
                <a:cs typeface="Tahoma"/>
                <a:sym typeface="Tahoma"/>
              </a:rPr>
              <a:t>Process Id</a:t>
            </a:r>
            <a:endParaRPr sz="2000">
              <a:latin typeface="Tahoma"/>
              <a:ea typeface="Tahoma"/>
              <a:cs typeface="Tahoma"/>
              <a:sym typeface="Tahoma"/>
            </a:endParaRPr>
          </a:p>
          <a:p>
            <a:pPr indent="-381635" lvl="0" marL="469265" rtl="0" algn="l">
              <a:lnSpc>
                <a:spcPct val="100000"/>
              </a:lnSpc>
              <a:spcBef>
                <a:spcPts val="0"/>
              </a:spcBef>
              <a:spcAft>
                <a:spcPts val="0"/>
              </a:spcAft>
              <a:buClr>
                <a:srgbClr val="595959"/>
              </a:buClr>
              <a:buSzPts val="2000"/>
              <a:buFont typeface="Arial"/>
              <a:buChar char="●"/>
            </a:pPr>
            <a:r>
              <a:rPr lang="en-US" sz="2000">
                <a:solidFill>
                  <a:srgbClr val="595959"/>
                </a:solidFill>
                <a:latin typeface="Tahoma"/>
                <a:ea typeface="Tahoma"/>
                <a:cs typeface="Tahoma"/>
                <a:sym typeface="Tahoma"/>
              </a:rPr>
              <a:t>Nombre</a:t>
            </a:r>
            <a:endParaRPr sz="2000">
              <a:latin typeface="Tahoma"/>
              <a:ea typeface="Tahoma"/>
              <a:cs typeface="Tahoma"/>
              <a:sym typeface="Tahoma"/>
            </a:endParaRPr>
          </a:p>
          <a:p>
            <a:pPr indent="-381635" lvl="0" marL="469265" rtl="0" algn="l">
              <a:lnSpc>
                <a:spcPct val="100000"/>
              </a:lnSpc>
              <a:spcBef>
                <a:spcPts val="0"/>
              </a:spcBef>
              <a:spcAft>
                <a:spcPts val="0"/>
              </a:spcAft>
              <a:buClr>
                <a:srgbClr val="595959"/>
              </a:buClr>
              <a:buSzPts val="2000"/>
              <a:buFont typeface="Arial"/>
              <a:buChar char="●"/>
            </a:pPr>
            <a:r>
              <a:rPr lang="en-US" sz="2000">
                <a:solidFill>
                  <a:srgbClr val="595959"/>
                </a:solidFill>
                <a:latin typeface="Tahoma"/>
                <a:ea typeface="Tahoma"/>
                <a:cs typeface="Tahoma"/>
                <a:sym typeface="Tahoma"/>
              </a:rPr>
              <a:t>Process State</a:t>
            </a:r>
            <a:endParaRPr sz="2000">
              <a:latin typeface="Tahoma"/>
              <a:ea typeface="Tahoma"/>
              <a:cs typeface="Tahoma"/>
              <a:sym typeface="Tahoma"/>
            </a:endParaRPr>
          </a:p>
          <a:p>
            <a:pPr indent="-381635" lvl="0" marL="469265" rtl="0" algn="l">
              <a:lnSpc>
                <a:spcPct val="100000"/>
              </a:lnSpc>
              <a:spcBef>
                <a:spcPts val="0"/>
              </a:spcBef>
              <a:spcAft>
                <a:spcPts val="0"/>
              </a:spcAft>
              <a:buClr>
                <a:srgbClr val="595959"/>
              </a:buClr>
              <a:buSzPts val="2000"/>
              <a:buFont typeface="Arial"/>
              <a:buChar char="●"/>
            </a:pPr>
            <a:r>
              <a:rPr lang="en-US" sz="2000">
                <a:solidFill>
                  <a:srgbClr val="595959"/>
                </a:solidFill>
                <a:latin typeface="Tahoma"/>
                <a:ea typeface="Tahoma"/>
                <a:cs typeface="Tahoma"/>
                <a:sym typeface="Tahoma"/>
              </a:rPr>
              <a:t>Exit state</a:t>
            </a:r>
            <a:endParaRPr sz="2000">
              <a:latin typeface="Tahoma"/>
              <a:ea typeface="Tahoma"/>
              <a:cs typeface="Tahoma"/>
              <a:sym typeface="Tahoma"/>
            </a:endParaRPr>
          </a:p>
          <a:p>
            <a:pPr indent="-381635" lvl="0" marL="469265" rtl="0" algn="l">
              <a:lnSpc>
                <a:spcPct val="100000"/>
              </a:lnSpc>
              <a:spcBef>
                <a:spcPts val="0"/>
              </a:spcBef>
              <a:spcAft>
                <a:spcPts val="0"/>
              </a:spcAft>
              <a:buClr>
                <a:srgbClr val="595959"/>
              </a:buClr>
              <a:buSzPts val="2000"/>
              <a:buFont typeface="Arial"/>
              <a:buChar char="●"/>
            </a:pPr>
            <a:r>
              <a:rPr lang="en-US" sz="2000">
                <a:solidFill>
                  <a:srgbClr val="595959"/>
                </a:solidFill>
                <a:latin typeface="Tahoma"/>
                <a:ea typeface="Tahoma"/>
                <a:cs typeface="Tahoma"/>
                <a:sym typeface="Tahoma"/>
              </a:rPr>
              <a:t>Parent Process</a:t>
            </a:r>
            <a:endParaRPr sz="2000">
              <a:latin typeface="Tahoma"/>
              <a:ea typeface="Tahoma"/>
              <a:cs typeface="Tahoma"/>
              <a:sym typeface="Tahoma"/>
            </a:endParaRPr>
          </a:p>
          <a:p>
            <a:pPr indent="-381635" lvl="0" marL="469265" rtl="0" algn="l">
              <a:lnSpc>
                <a:spcPct val="100000"/>
              </a:lnSpc>
              <a:spcBef>
                <a:spcPts val="0"/>
              </a:spcBef>
              <a:spcAft>
                <a:spcPts val="0"/>
              </a:spcAft>
              <a:buClr>
                <a:srgbClr val="595959"/>
              </a:buClr>
              <a:buSzPts val="2000"/>
              <a:buFont typeface="Arial"/>
              <a:buChar char="●"/>
            </a:pPr>
            <a:r>
              <a:rPr lang="en-US" sz="2000">
                <a:solidFill>
                  <a:srgbClr val="595959"/>
                </a:solidFill>
                <a:latin typeface="Tahoma"/>
                <a:ea typeface="Tahoma"/>
                <a:cs typeface="Tahoma"/>
                <a:sym typeface="Tahoma"/>
              </a:rPr>
              <a:t>Open files</a:t>
            </a:r>
            <a:endParaRPr sz="2000">
              <a:latin typeface="Tahoma"/>
              <a:ea typeface="Tahoma"/>
              <a:cs typeface="Tahoma"/>
              <a:sym typeface="Tahoma"/>
            </a:endParaRPr>
          </a:p>
          <a:p>
            <a:pPr indent="-381635" lvl="0" marL="469265" rtl="0" algn="l">
              <a:lnSpc>
                <a:spcPct val="100000"/>
              </a:lnSpc>
              <a:spcBef>
                <a:spcPts val="0"/>
              </a:spcBef>
              <a:spcAft>
                <a:spcPts val="0"/>
              </a:spcAft>
              <a:buClr>
                <a:srgbClr val="595959"/>
              </a:buClr>
              <a:buSzPts val="2000"/>
              <a:buFont typeface="Arial"/>
              <a:buChar char="●"/>
            </a:pPr>
            <a:r>
              <a:rPr lang="en-US" sz="2000">
                <a:solidFill>
                  <a:srgbClr val="595959"/>
                </a:solidFill>
                <a:latin typeface="Tahoma"/>
                <a:ea typeface="Tahoma"/>
                <a:cs typeface="Tahoma"/>
                <a:sym typeface="Tahoma"/>
              </a:rPr>
              <a:t>Current directory</a:t>
            </a:r>
            <a:endParaRPr sz="2000">
              <a:latin typeface="Tahoma"/>
              <a:ea typeface="Tahoma"/>
              <a:cs typeface="Tahoma"/>
              <a:sym typeface="Tahoma"/>
            </a:endParaRPr>
          </a:p>
          <a:p>
            <a:pPr indent="-381635" lvl="0" marL="469265" rtl="0" algn="l">
              <a:lnSpc>
                <a:spcPct val="100000"/>
              </a:lnSpc>
              <a:spcBef>
                <a:spcPts val="0"/>
              </a:spcBef>
              <a:spcAft>
                <a:spcPts val="0"/>
              </a:spcAft>
              <a:buClr>
                <a:srgbClr val="595959"/>
              </a:buClr>
              <a:buSzPts val="2000"/>
              <a:buFont typeface="Arial"/>
              <a:buChar char="●"/>
            </a:pPr>
            <a:r>
              <a:rPr lang="en-US" sz="2000">
                <a:solidFill>
                  <a:srgbClr val="595959"/>
                </a:solidFill>
                <a:latin typeface="Tahoma"/>
                <a:ea typeface="Tahoma"/>
                <a:cs typeface="Tahoma"/>
                <a:sym typeface="Tahoma"/>
              </a:rPr>
              <a:t>Page Table</a:t>
            </a:r>
            <a:endParaRPr sz="2000">
              <a:latin typeface="Tahoma"/>
              <a:ea typeface="Tahoma"/>
              <a:cs typeface="Tahoma"/>
              <a:sym typeface="Tahoma"/>
            </a:endParaRPr>
          </a:p>
          <a:p>
            <a:pPr indent="-381635" lvl="0" marL="469265" rtl="0" algn="l">
              <a:lnSpc>
                <a:spcPct val="100000"/>
              </a:lnSpc>
              <a:spcBef>
                <a:spcPts val="0"/>
              </a:spcBef>
              <a:spcAft>
                <a:spcPts val="0"/>
              </a:spcAft>
              <a:buClr>
                <a:srgbClr val="595959"/>
              </a:buClr>
              <a:buSzPts val="2000"/>
              <a:buFont typeface="Arial"/>
              <a:buChar char="●"/>
            </a:pPr>
            <a:r>
              <a:rPr lang="en-US" sz="2000">
                <a:solidFill>
                  <a:srgbClr val="595959"/>
                </a:solidFill>
                <a:latin typeface="Tahoma"/>
                <a:ea typeface="Tahoma"/>
                <a:cs typeface="Tahoma"/>
                <a:sym typeface="Tahoma"/>
              </a:rPr>
              <a:t>Kernel Stack</a:t>
            </a:r>
            <a:endParaRPr sz="2000">
              <a:latin typeface="Tahoma"/>
              <a:ea typeface="Tahoma"/>
              <a:cs typeface="Tahoma"/>
              <a:sym typeface="Tahoma"/>
            </a:endParaRPr>
          </a:p>
          <a:p>
            <a:pPr indent="-381635" lvl="0" marL="469265" rtl="0" algn="l">
              <a:lnSpc>
                <a:spcPct val="100000"/>
              </a:lnSpc>
              <a:spcBef>
                <a:spcPts val="0"/>
              </a:spcBef>
              <a:spcAft>
                <a:spcPts val="0"/>
              </a:spcAft>
              <a:buClr>
                <a:srgbClr val="595959"/>
              </a:buClr>
              <a:buSzPts val="2000"/>
              <a:buFont typeface="Arial"/>
              <a:buChar char="●"/>
            </a:pPr>
            <a:r>
              <a:rPr lang="en-US" sz="2000">
                <a:solidFill>
                  <a:srgbClr val="595959"/>
                </a:solidFill>
                <a:latin typeface="Tahoma"/>
                <a:ea typeface="Tahoma"/>
                <a:cs typeface="Tahoma"/>
                <a:sym typeface="Tahoma"/>
              </a:rPr>
              <a:t>Estructuras auxiliares para: context switch, locking</a:t>
            </a:r>
            <a:endParaRPr sz="2000">
              <a:latin typeface="Tahoma"/>
              <a:ea typeface="Tahoma"/>
              <a:cs typeface="Tahoma"/>
              <a:sym typeface="Tahoma"/>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68"/>
          <p:cNvSpPr txBox="1"/>
          <p:nvPr>
            <p:ph type="title"/>
          </p:nvPr>
        </p:nvSpPr>
        <p:spPr>
          <a:xfrm>
            <a:off x="73025" y="12837"/>
            <a:ext cx="7791285" cy="476369"/>
          </a:xfrm>
          <a:prstGeom prst="rect">
            <a:avLst/>
          </a:prstGeom>
          <a:noFill/>
          <a:ln>
            <a:noFill/>
          </a:ln>
        </p:spPr>
        <p:txBody>
          <a:bodyPr anchorCtr="0" anchor="t" bIns="0" lIns="0" spcFirstLastPara="1" rIns="0" wrap="square" tIns="66075">
            <a:spAutoFit/>
          </a:bodyPr>
          <a:lstStyle/>
          <a:p>
            <a:pPr indent="0" lvl="0" marL="739775" rtl="0" algn="l">
              <a:lnSpc>
                <a:spcPct val="100000"/>
              </a:lnSpc>
              <a:spcBef>
                <a:spcPts val="0"/>
              </a:spcBef>
              <a:spcAft>
                <a:spcPts val="0"/>
              </a:spcAft>
              <a:buNone/>
            </a:pPr>
            <a:r>
              <a:rPr lang="en-US"/>
              <a:t>Ejemplo PCB: task_struct (Linux)</a:t>
            </a:r>
            <a:endParaRPr/>
          </a:p>
        </p:txBody>
      </p:sp>
      <p:sp>
        <p:nvSpPr>
          <p:cNvPr id="653" name="Google Shape;653;p68"/>
          <p:cNvSpPr txBox="1"/>
          <p:nvPr/>
        </p:nvSpPr>
        <p:spPr>
          <a:xfrm>
            <a:off x="802475" y="1402688"/>
            <a:ext cx="3649345" cy="1357630"/>
          </a:xfrm>
          <a:prstGeom prst="rect">
            <a:avLst/>
          </a:prstGeom>
          <a:noFill/>
          <a:ln>
            <a:noFill/>
          </a:ln>
        </p:spPr>
        <p:txBody>
          <a:bodyPr anchorCtr="0" anchor="t" bIns="0" lIns="0" spcFirstLastPara="1" rIns="0" wrap="square" tIns="12700">
            <a:spAutoFit/>
          </a:bodyPr>
          <a:lstStyle/>
          <a:p>
            <a:pPr indent="0" lvl="0" marL="12700" marR="5080" rtl="0" algn="l">
              <a:lnSpc>
                <a:spcPct val="114999"/>
              </a:lnSpc>
              <a:spcBef>
                <a:spcPts val="0"/>
              </a:spcBef>
              <a:spcAft>
                <a:spcPts val="0"/>
              </a:spcAft>
              <a:buNone/>
            </a:pPr>
            <a:r>
              <a:rPr lang="en-US" sz="1900">
                <a:solidFill>
                  <a:srgbClr val="595959"/>
                </a:solidFill>
                <a:latin typeface="Tahoma"/>
                <a:ea typeface="Tahoma"/>
                <a:cs typeface="Tahoma"/>
                <a:sym typeface="Tahoma"/>
              </a:rPr>
              <a:t>El kernel almacena la lista de procesos en una lista circular doblemente enlazada llamada </a:t>
            </a:r>
            <a:r>
              <a:rPr b="1" lang="en-US" sz="1900">
                <a:solidFill>
                  <a:srgbClr val="595959"/>
                </a:solidFill>
                <a:latin typeface="Tahoma"/>
                <a:ea typeface="Tahoma"/>
                <a:cs typeface="Tahoma"/>
                <a:sym typeface="Tahoma"/>
              </a:rPr>
              <a:t>task list</a:t>
            </a:r>
            <a:r>
              <a:rPr lang="en-US" sz="1900">
                <a:solidFill>
                  <a:srgbClr val="595959"/>
                </a:solidFill>
                <a:latin typeface="Tahoma"/>
                <a:ea typeface="Tahoma"/>
                <a:cs typeface="Tahoma"/>
                <a:sym typeface="Tahoma"/>
              </a:rPr>
              <a:t>.</a:t>
            </a:r>
            <a:endParaRPr sz="1900">
              <a:latin typeface="Tahoma"/>
              <a:ea typeface="Tahoma"/>
              <a:cs typeface="Tahoma"/>
              <a:sym typeface="Tahoma"/>
            </a:endParaRPr>
          </a:p>
        </p:txBody>
      </p:sp>
      <p:pic>
        <p:nvPicPr>
          <p:cNvPr id="654" name="Google Shape;654;p68"/>
          <p:cNvPicPr preferRelativeResize="0"/>
          <p:nvPr/>
        </p:nvPicPr>
        <p:blipFill rotWithShape="1">
          <a:blip r:embed="rId3">
            <a:alphaModFix/>
          </a:blip>
          <a:srcRect b="0" l="0" r="0" t="0"/>
          <a:stretch/>
        </p:blipFill>
        <p:spPr>
          <a:xfrm>
            <a:off x="4787234" y="1213717"/>
            <a:ext cx="3472797" cy="2768852"/>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69"/>
          <p:cNvSpPr txBox="1"/>
          <p:nvPr>
            <p:ph type="ctrTitle"/>
          </p:nvPr>
        </p:nvSpPr>
        <p:spPr>
          <a:xfrm>
            <a:off x="323825" y="61137"/>
            <a:ext cx="5718175" cy="382270"/>
          </a:xfrm>
          <a:prstGeom prst="rect">
            <a:avLst/>
          </a:prstGeom>
          <a:noFill/>
          <a:ln>
            <a:noFill/>
          </a:ln>
        </p:spPr>
        <p:txBody>
          <a:bodyPr anchorCtr="0" anchor="t" bIns="0" lIns="0" spcFirstLastPara="1" rIns="0" wrap="square" tIns="17775">
            <a:spAutoFit/>
          </a:bodyPr>
          <a:lstStyle/>
          <a:p>
            <a:pPr indent="0" lvl="0" marL="488950" rtl="0" algn="l">
              <a:lnSpc>
                <a:spcPct val="100000"/>
              </a:lnSpc>
              <a:spcBef>
                <a:spcPts val="0"/>
              </a:spcBef>
              <a:spcAft>
                <a:spcPts val="0"/>
              </a:spcAft>
              <a:buNone/>
            </a:pPr>
            <a:r>
              <a:rPr lang="en-US"/>
              <a:t>Ejemplo PCB: task_struct (Linux)</a:t>
            </a:r>
            <a:endParaRPr/>
          </a:p>
        </p:txBody>
      </p:sp>
      <p:sp>
        <p:nvSpPr>
          <p:cNvPr id="660" name="Google Shape;660;p69"/>
          <p:cNvSpPr txBox="1"/>
          <p:nvPr/>
        </p:nvSpPr>
        <p:spPr>
          <a:xfrm>
            <a:off x="802475" y="1402688"/>
            <a:ext cx="3107055" cy="691515"/>
          </a:xfrm>
          <a:prstGeom prst="rect">
            <a:avLst/>
          </a:prstGeom>
          <a:noFill/>
          <a:ln>
            <a:noFill/>
          </a:ln>
        </p:spPr>
        <p:txBody>
          <a:bodyPr anchorCtr="0" anchor="t" bIns="0" lIns="0" spcFirstLastPara="1" rIns="0" wrap="square" tIns="12700">
            <a:spAutoFit/>
          </a:bodyPr>
          <a:lstStyle/>
          <a:p>
            <a:pPr indent="0" lvl="0" marL="12700" marR="5080" rtl="0" algn="l">
              <a:lnSpc>
                <a:spcPct val="114999"/>
              </a:lnSpc>
              <a:spcBef>
                <a:spcPts val="0"/>
              </a:spcBef>
              <a:spcAft>
                <a:spcPts val="0"/>
              </a:spcAft>
              <a:buNone/>
            </a:pPr>
            <a:r>
              <a:rPr lang="en-US" sz="1900">
                <a:solidFill>
                  <a:srgbClr val="595959"/>
                </a:solidFill>
                <a:latin typeface="Tahoma"/>
                <a:ea typeface="Tahoma"/>
                <a:cs typeface="Tahoma"/>
                <a:sym typeface="Tahoma"/>
              </a:rPr>
              <a:t>La task_struct en sí es una estructura compleja en Linux.</a:t>
            </a:r>
            <a:endParaRPr sz="1900">
              <a:latin typeface="Tahoma"/>
              <a:ea typeface="Tahoma"/>
              <a:cs typeface="Tahoma"/>
              <a:sym typeface="Tahoma"/>
            </a:endParaRPr>
          </a:p>
        </p:txBody>
      </p:sp>
      <p:pic>
        <p:nvPicPr>
          <p:cNvPr id="661" name="Google Shape;661;p69"/>
          <p:cNvPicPr preferRelativeResize="0"/>
          <p:nvPr/>
        </p:nvPicPr>
        <p:blipFill rotWithShape="1">
          <a:blip r:embed="rId3">
            <a:alphaModFix/>
          </a:blip>
          <a:srcRect b="0" l="0" r="0" t="0"/>
          <a:stretch/>
        </p:blipFill>
        <p:spPr>
          <a:xfrm>
            <a:off x="4752150" y="480925"/>
            <a:ext cx="4170016" cy="4662574"/>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70"/>
          <p:cNvSpPr txBox="1"/>
          <p:nvPr/>
        </p:nvSpPr>
        <p:spPr>
          <a:xfrm>
            <a:off x="802475" y="639469"/>
            <a:ext cx="7289800" cy="3795395"/>
          </a:xfrm>
          <a:prstGeom prst="rect">
            <a:avLst/>
          </a:prstGeom>
          <a:noFill/>
          <a:ln>
            <a:noFill/>
          </a:ln>
        </p:spPr>
        <p:txBody>
          <a:bodyPr anchorCtr="0" anchor="t" bIns="0" lIns="0" spcFirstLastPara="1" rIns="0" wrap="square" tIns="219700">
            <a:spAutoFit/>
          </a:bodyPr>
          <a:lstStyle/>
          <a:p>
            <a:pPr indent="0" lvl="0" marL="251459" rtl="0" algn="ctr">
              <a:lnSpc>
                <a:spcPct val="100000"/>
              </a:lnSpc>
              <a:spcBef>
                <a:spcPts val="0"/>
              </a:spcBef>
              <a:spcAft>
                <a:spcPts val="0"/>
              </a:spcAft>
              <a:buNone/>
            </a:pPr>
            <a:r>
              <a:rPr lang="en-US" sz="2400">
                <a:solidFill>
                  <a:srgbClr val="FF0000"/>
                </a:solidFill>
                <a:latin typeface="Tahoma"/>
                <a:ea typeface="Tahoma"/>
                <a:cs typeface="Tahoma"/>
                <a:sym typeface="Tahoma"/>
              </a:rPr>
              <a:t>Spoiler alert! </a:t>
            </a:r>
            <a:r>
              <a:rPr b="1" lang="en-US" sz="2400">
                <a:solidFill>
                  <a:srgbClr val="595959"/>
                </a:solidFill>
                <a:latin typeface="Tahoma"/>
                <a:ea typeface="Tahoma"/>
                <a:cs typeface="Tahoma"/>
                <a:sym typeface="Tahoma"/>
              </a:rPr>
              <a:t>El context switch</a:t>
            </a:r>
            <a:endParaRPr sz="2400">
              <a:latin typeface="Tahoma"/>
              <a:ea typeface="Tahoma"/>
              <a:cs typeface="Tahoma"/>
              <a:sym typeface="Tahoma"/>
            </a:endParaRPr>
          </a:p>
          <a:p>
            <a:pPr indent="0" lvl="0" marL="12700" rtl="0" algn="l">
              <a:lnSpc>
                <a:spcPct val="100000"/>
              </a:lnSpc>
              <a:spcBef>
                <a:spcPts val="1630"/>
              </a:spcBef>
              <a:spcAft>
                <a:spcPts val="0"/>
              </a:spcAft>
              <a:buNone/>
            </a:pPr>
            <a:r>
              <a:rPr b="1" lang="en-US" sz="2400">
                <a:solidFill>
                  <a:srgbClr val="595959"/>
                </a:solidFill>
                <a:latin typeface="Tahoma"/>
                <a:ea typeface="Tahoma"/>
                <a:cs typeface="Tahoma"/>
                <a:sym typeface="Tahoma"/>
              </a:rPr>
              <a:t>¿Como se cambia de contexto, de un proceso a otro?</a:t>
            </a:r>
            <a:endParaRPr sz="2400">
              <a:latin typeface="Tahoma"/>
              <a:ea typeface="Tahoma"/>
              <a:cs typeface="Tahoma"/>
              <a:sym typeface="Tahoma"/>
            </a:endParaRPr>
          </a:p>
          <a:p>
            <a:pPr indent="-396874" lvl="0" marL="926464" rtl="0" algn="l">
              <a:lnSpc>
                <a:spcPct val="100000"/>
              </a:lnSpc>
              <a:spcBef>
                <a:spcPts val="1639"/>
              </a:spcBef>
              <a:spcAft>
                <a:spcPts val="0"/>
              </a:spcAft>
              <a:buClr>
                <a:srgbClr val="595959"/>
              </a:buClr>
              <a:buSzPts val="2200"/>
              <a:buFont typeface="Arial"/>
              <a:buChar char="○"/>
            </a:pPr>
            <a:r>
              <a:rPr lang="en-US" sz="2200">
                <a:solidFill>
                  <a:srgbClr val="595959"/>
                </a:solidFill>
                <a:latin typeface="Tahoma"/>
                <a:ea typeface="Tahoma"/>
                <a:cs typeface="Tahoma"/>
                <a:sym typeface="Tahoma"/>
              </a:rPr>
              <a:t>Se cambia el User-level context (</a:t>
            </a:r>
            <a:r>
              <a:rPr b="1" lang="en-US" sz="2200">
                <a:solidFill>
                  <a:srgbClr val="595959"/>
                </a:solidFill>
                <a:latin typeface="Tahoma"/>
                <a:ea typeface="Tahoma"/>
                <a:cs typeface="Tahoma"/>
                <a:sym typeface="Tahoma"/>
              </a:rPr>
              <a:t>memoria</a:t>
            </a:r>
            <a:r>
              <a:rPr lang="en-US" sz="2200">
                <a:solidFill>
                  <a:srgbClr val="595959"/>
                </a:solidFill>
                <a:latin typeface="Tahoma"/>
                <a:ea typeface="Tahoma"/>
                <a:cs typeface="Tahoma"/>
                <a:sym typeface="Tahoma"/>
              </a:rPr>
              <a:t>)</a:t>
            </a:r>
            <a:endParaRPr sz="2200">
              <a:latin typeface="Tahoma"/>
              <a:ea typeface="Tahoma"/>
              <a:cs typeface="Tahoma"/>
              <a:sym typeface="Tahoma"/>
            </a:endParaRPr>
          </a:p>
          <a:p>
            <a:pPr indent="-396874" lvl="0" marL="926464" rtl="0" algn="l">
              <a:lnSpc>
                <a:spcPct val="100000"/>
              </a:lnSpc>
              <a:spcBef>
                <a:spcPts val="400"/>
              </a:spcBef>
              <a:spcAft>
                <a:spcPts val="0"/>
              </a:spcAft>
              <a:buClr>
                <a:srgbClr val="595959"/>
              </a:buClr>
              <a:buSzPts val="2200"/>
              <a:buFont typeface="Arial"/>
              <a:buChar char="○"/>
            </a:pPr>
            <a:r>
              <a:rPr lang="en-US" sz="2200">
                <a:solidFill>
                  <a:srgbClr val="595959"/>
                </a:solidFill>
                <a:latin typeface="Tahoma"/>
                <a:ea typeface="Tahoma"/>
                <a:cs typeface="Tahoma"/>
                <a:sym typeface="Tahoma"/>
              </a:rPr>
              <a:t>Se cambia el Register context (</a:t>
            </a:r>
            <a:r>
              <a:rPr b="1" lang="en-US" sz="2200">
                <a:solidFill>
                  <a:srgbClr val="595959"/>
                </a:solidFill>
                <a:latin typeface="Tahoma"/>
                <a:ea typeface="Tahoma"/>
                <a:cs typeface="Tahoma"/>
                <a:sym typeface="Tahoma"/>
              </a:rPr>
              <a:t>cpu</a:t>
            </a:r>
            <a:r>
              <a:rPr lang="en-US" sz="2200">
                <a:solidFill>
                  <a:srgbClr val="595959"/>
                </a:solidFill>
                <a:latin typeface="Tahoma"/>
                <a:ea typeface="Tahoma"/>
                <a:cs typeface="Tahoma"/>
                <a:sym typeface="Tahoma"/>
              </a:rPr>
              <a:t>)</a:t>
            </a:r>
            <a:endParaRPr sz="2200">
              <a:latin typeface="Tahoma"/>
              <a:ea typeface="Tahoma"/>
              <a:cs typeface="Tahoma"/>
              <a:sym typeface="Tahoma"/>
            </a:endParaRPr>
          </a:p>
          <a:p>
            <a:pPr indent="-397510" lvl="0" marL="927100" marR="260350" rtl="0" algn="l">
              <a:lnSpc>
                <a:spcPct val="114999"/>
              </a:lnSpc>
              <a:spcBef>
                <a:spcPts val="0"/>
              </a:spcBef>
              <a:spcAft>
                <a:spcPts val="0"/>
              </a:spcAft>
              <a:buClr>
                <a:srgbClr val="595959"/>
              </a:buClr>
              <a:buSzPts val="2200"/>
              <a:buFont typeface="Arial"/>
              <a:buChar char="○"/>
            </a:pPr>
            <a:r>
              <a:rPr lang="en-US" sz="2200">
                <a:solidFill>
                  <a:srgbClr val="595959"/>
                </a:solidFill>
                <a:latin typeface="Tahoma"/>
                <a:ea typeface="Tahoma"/>
                <a:cs typeface="Tahoma"/>
                <a:sym typeface="Tahoma"/>
              </a:rPr>
              <a:t>Se cambia el System-level context (</a:t>
            </a:r>
            <a:r>
              <a:rPr b="1" lang="en-US" sz="2200">
                <a:solidFill>
                  <a:srgbClr val="595959"/>
                </a:solidFill>
                <a:latin typeface="Tahoma"/>
                <a:ea typeface="Tahoma"/>
                <a:cs typeface="Tahoma"/>
                <a:sym typeface="Tahoma"/>
              </a:rPr>
              <a:t>estructuras del kernel</a:t>
            </a:r>
            <a:r>
              <a:rPr lang="en-US" sz="2200">
                <a:solidFill>
                  <a:srgbClr val="595959"/>
                </a:solidFill>
                <a:latin typeface="Tahoma"/>
                <a:ea typeface="Tahoma"/>
                <a:cs typeface="Tahoma"/>
                <a:sym typeface="Tahoma"/>
              </a:rPr>
              <a:t>)</a:t>
            </a:r>
            <a:endParaRPr sz="2200">
              <a:latin typeface="Tahoma"/>
              <a:ea typeface="Tahoma"/>
              <a:cs typeface="Tahoma"/>
              <a:sym typeface="Tahoma"/>
            </a:endParaRPr>
          </a:p>
          <a:p>
            <a:pPr indent="0" lvl="0" marL="249554" rtl="0" algn="ctr">
              <a:lnSpc>
                <a:spcPct val="100000"/>
              </a:lnSpc>
              <a:spcBef>
                <a:spcPts val="1595"/>
              </a:spcBef>
              <a:spcAft>
                <a:spcPts val="0"/>
              </a:spcAft>
              <a:buNone/>
            </a:pPr>
            <a:r>
              <a:rPr b="1" lang="en-US" sz="2200">
                <a:solidFill>
                  <a:srgbClr val="595959"/>
                </a:solidFill>
                <a:latin typeface="Tahoma"/>
                <a:ea typeface="Tahoma"/>
                <a:cs typeface="Tahoma"/>
                <a:sym typeface="Tahoma"/>
              </a:rPr>
              <a:t>Hágalo muy rápido y obtendrá la ilusión de concurrencia.</a:t>
            </a:r>
            <a:endParaRPr sz="2200">
              <a:latin typeface="Tahoma"/>
              <a:ea typeface="Tahoma"/>
              <a:cs typeface="Tahoma"/>
              <a:sym typeface="Tahoma"/>
            </a:endParaRPr>
          </a:p>
          <a:p>
            <a:pPr indent="0" lvl="0" marL="254000" rtl="0" algn="ctr">
              <a:lnSpc>
                <a:spcPct val="100000"/>
              </a:lnSpc>
              <a:spcBef>
                <a:spcPts val="395"/>
              </a:spcBef>
              <a:spcAft>
                <a:spcPts val="0"/>
              </a:spcAft>
              <a:buNone/>
            </a:pPr>
            <a:r>
              <a:rPr lang="en-US" sz="2200">
                <a:solidFill>
                  <a:srgbClr val="595959"/>
                </a:solidFill>
                <a:latin typeface="Tahoma"/>
                <a:ea typeface="Tahoma"/>
                <a:cs typeface="Tahoma"/>
                <a:sym typeface="Tahoma"/>
              </a:rPr>
              <a:t>Cientos de procesos ejecutándose en un solo procesador!</a:t>
            </a:r>
            <a:endParaRPr sz="2200">
              <a:latin typeface="Tahoma"/>
              <a:ea typeface="Tahoma"/>
              <a:cs typeface="Tahoma"/>
              <a:sym typeface="Tahoma"/>
            </a:endParaRPr>
          </a:p>
        </p:txBody>
      </p:sp>
      <p:sp>
        <p:nvSpPr>
          <p:cNvPr id="667" name="Google Shape;667;p70"/>
          <p:cNvSpPr txBox="1"/>
          <p:nvPr>
            <p:ph type="title"/>
          </p:nvPr>
        </p:nvSpPr>
        <p:spPr>
          <a:xfrm>
            <a:off x="73025" y="12837"/>
            <a:ext cx="7791285" cy="476369"/>
          </a:xfrm>
          <a:prstGeom prst="rect">
            <a:avLst/>
          </a:prstGeom>
          <a:noFill/>
          <a:ln>
            <a:noFill/>
          </a:ln>
        </p:spPr>
        <p:txBody>
          <a:bodyPr anchorCtr="0" anchor="t" bIns="0" lIns="0" spcFirstLastPara="1" rIns="0" wrap="square" tIns="17775">
            <a:spAutoFit/>
          </a:bodyPr>
          <a:lstStyle/>
          <a:p>
            <a:pPr indent="0" lvl="0" marL="741680" rtl="0" algn="l">
              <a:lnSpc>
                <a:spcPct val="100000"/>
              </a:lnSpc>
              <a:spcBef>
                <a:spcPts val="0"/>
              </a:spcBef>
              <a:spcAft>
                <a:spcPts val="0"/>
              </a:spcAft>
              <a:buNone/>
            </a:pPr>
            <a:r>
              <a:rPr lang="en-US"/>
              <a:t>Anticipo: Context Switch</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71" name="Shape 671"/>
        <p:cNvGrpSpPr/>
        <p:nvPr/>
      </p:nvGrpSpPr>
      <p:grpSpPr>
        <a:xfrm>
          <a:off x="0" y="0"/>
          <a:ext cx="0" cy="0"/>
          <a:chOff x="0" y="0"/>
          <a:chExt cx="0" cy="0"/>
        </a:xfrm>
      </p:grpSpPr>
      <p:pic>
        <p:nvPicPr>
          <p:cNvPr id="672" name="Google Shape;672;p71"/>
          <p:cNvPicPr preferRelativeResize="0"/>
          <p:nvPr/>
        </p:nvPicPr>
        <p:blipFill rotWithShape="1">
          <a:blip r:embed="rId3">
            <a:alphaModFix/>
          </a:blip>
          <a:srcRect b="0" l="0" r="0" t="0"/>
          <a:stretch/>
        </p:blipFill>
        <p:spPr>
          <a:xfrm>
            <a:off x="1329487" y="304800"/>
            <a:ext cx="6485025" cy="4067752"/>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72"/>
          <p:cNvSpPr txBox="1"/>
          <p:nvPr>
            <p:ph type="title"/>
          </p:nvPr>
        </p:nvSpPr>
        <p:spPr>
          <a:xfrm>
            <a:off x="73025" y="12837"/>
            <a:ext cx="7791285" cy="476369"/>
          </a:xfrm>
          <a:prstGeom prst="rect">
            <a:avLst/>
          </a:prstGeom>
          <a:noFill/>
          <a:ln>
            <a:noFill/>
          </a:ln>
        </p:spPr>
        <p:txBody>
          <a:bodyPr anchorCtr="0" anchor="t" bIns="0" lIns="0" spcFirstLastPara="1" rIns="0" wrap="square" tIns="17775">
            <a:spAutoFit/>
          </a:bodyPr>
          <a:lstStyle/>
          <a:p>
            <a:pPr indent="0" lvl="0" marL="741680" rtl="0" algn="l">
              <a:lnSpc>
                <a:spcPct val="100000"/>
              </a:lnSpc>
              <a:spcBef>
                <a:spcPts val="0"/>
              </a:spcBef>
              <a:spcAft>
                <a:spcPts val="0"/>
              </a:spcAft>
              <a:buNone/>
            </a:pPr>
            <a:r>
              <a:rPr lang="en-US"/>
              <a:t>Kernel stack</a:t>
            </a:r>
            <a:endParaRPr/>
          </a:p>
        </p:txBody>
      </p:sp>
      <p:sp>
        <p:nvSpPr>
          <p:cNvPr id="678" name="Google Shape;678;p72"/>
          <p:cNvSpPr txBox="1"/>
          <p:nvPr/>
        </p:nvSpPr>
        <p:spPr>
          <a:xfrm>
            <a:off x="607000" y="683163"/>
            <a:ext cx="8213090" cy="3707765"/>
          </a:xfrm>
          <a:prstGeom prst="rect">
            <a:avLst/>
          </a:prstGeom>
          <a:noFill/>
          <a:ln>
            <a:noFill/>
          </a:ln>
        </p:spPr>
        <p:txBody>
          <a:bodyPr anchorCtr="0" anchor="t" bIns="0" lIns="0" spcFirstLastPara="1" rIns="0" wrap="square" tIns="12700">
            <a:spAutoFit/>
          </a:bodyPr>
          <a:lstStyle/>
          <a:p>
            <a:pPr indent="0" lvl="0" marL="12700" marR="5080" rtl="0" algn="l">
              <a:lnSpc>
                <a:spcPct val="114999"/>
              </a:lnSpc>
              <a:spcBef>
                <a:spcPts val="0"/>
              </a:spcBef>
              <a:spcAft>
                <a:spcPts val="0"/>
              </a:spcAft>
              <a:buNone/>
            </a:pPr>
            <a:r>
              <a:rPr lang="en-US" sz="2300">
                <a:solidFill>
                  <a:srgbClr val="595959"/>
                </a:solidFill>
                <a:latin typeface="Tahoma"/>
                <a:ea typeface="Tahoma"/>
                <a:cs typeface="Tahoma"/>
                <a:sym typeface="Tahoma"/>
              </a:rPr>
              <a:t>El Kernel usa funciones como cualquier programa, pero no puede usar el stack del user space para implementar sus funciones:</a:t>
            </a:r>
            <a:endParaRPr sz="2300">
              <a:latin typeface="Tahoma"/>
              <a:ea typeface="Tahoma"/>
              <a:cs typeface="Tahoma"/>
              <a:sym typeface="Tahoma"/>
            </a:endParaRPr>
          </a:p>
          <a:p>
            <a:pPr indent="-404495" lvl="0" marL="469265" rtl="0" algn="l">
              <a:lnSpc>
                <a:spcPct val="100000"/>
              </a:lnSpc>
              <a:spcBef>
                <a:spcPts val="1610"/>
              </a:spcBef>
              <a:spcAft>
                <a:spcPts val="0"/>
              </a:spcAft>
              <a:buClr>
                <a:srgbClr val="595959"/>
              </a:buClr>
              <a:buSzPts val="2300"/>
              <a:buFont typeface="Arial"/>
              <a:buChar char="●"/>
            </a:pPr>
            <a:r>
              <a:rPr lang="en-US" sz="2300">
                <a:solidFill>
                  <a:srgbClr val="595959"/>
                </a:solidFill>
                <a:latin typeface="Tahoma"/>
                <a:ea typeface="Tahoma"/>
                <a:cs typeface="Tahoma"/>
                <a:sym typeface="Tahoma"/>
              </a:rPr>
              <a:t>No es seguro escribir datos del kernel en el user space</a:t>
            </a:r>
            <a:endParaRPr sz="2300">
              <a:latin typeface="Tahoma"/>
              <a:ea typeface="Tahoma"/>
              <a:cs typeface="Tahoma"/>
              <a:sym typeface="Tahoma"/>
            </a:endParaRPr>
          </a:p>
          <a:p>
            <a:pPr indent="-405130" lvl="0" marL="469900" marR="573405" rtl="0" algn="l">
              <a:lnSpc>
                <a:spcPct val="114999"/>
              </a:lnSpc>
              <a:spcBef>
                <a:spcPts val="0"/>
              </a:spcBef>
              <a:spcAft>
                <a:spcPts val="0"/>
              </a:spcAft>
              <a:buClr>
                <a:srgbClr val="595959"/>
              </a:buClr>
              <a:buSzPts val="2300"/>
              <a:buFont typeface="Arial"/>
              <a:buChar char="●"/>
            </a:pPr>
            <a:r>
              <a:rPr lang="en-US" sz="2300">
                <a:solidFill>
                  <a:srgbClr val="595959"/>
                </a:solidFill>
                <a:latin typeface="Tahoma"/>
                <a:ea typeface="Tahoma"/>
                <a:cs typeface="Tahoma"/>
                <a:sym typeface="Tahoma"/>
              </a:rPr>
              <a:t>Podria romper el user space (no hay garantías de como el user usa el stack)</a:t>
            </a:r>
            <a:endParaRPr sz="2300">
              <a:latin typeface="Tahoma"/>
              <a:ea typeface="Tahoma"/>
              <a:cs typeface="Tahoma"/>
              <a:sym typeface="Tahoma"/>
            </a:endParaRPr>
          </a:p>
          <a:p>
            <a:pPr indent="0" lvl="0" marL="0" rtl="0" algn="l">
              <a:lnSpc>
                <a:spcPct val="100000"/>
              </a:lnSpc>
              <a:spcBef>
                <a:spcPts val="0"/>
              </a:spcBef>
              <a:spcAft>
                <a:spcPts val="0"/>
              </a:spcAft>
              <a:buNone/>
            </a:pPr>
            <a:r>
              <a:t/>
            </a:r>
            <a:endParaRPr sz="2300">
              <a:latin typeface="Tahoma"/>
              <a:ea typeface="Tahoma"/>
              <a:cs typeface="Tahoma"/>
              <a:sym typeface="Tahoma"/>
            </a:endParaRPr>
          </a:p>
          <a:p>
            <a:pPr indent="0" lvl="0" marL="0" rtl="0" algn="l">
              <a:lnSpc>
                <a:spcPct val="100000"/>
              </a:lnSpc>
              <a:spcBef>
                <a:spcPts val="25"/>
              </a:spcBef>
              <a:spcAft>
                <a:spcPts val="0"/>
              </a:spcAft>
              <a:buNone/>
            </a:pPr>
            <a:r>
              <a:t/>
            </a:r>
            <a:endParaRPr sz="2300">
              <a:latin typeface="Tahoma"/>
              <a:ea typeface="Tahoma"/>
              <a:cs typeface="Tahoma"/>
              <a:sym typeface="Tahoma"/>
            </a:endParaRPr>
          </a:p>
          <a:p>
            <a:pPr indent="0" lvl="0" marL="12700" marR="544830" rtl="0" algn="l">
              <a:lnSpc>
                <a:spcPct val="114999"/>
              </a:lnSpc>
              <a:spcBef>
                <a:spcPts val="0"/>
              </a:spcBef>
              <a:spcAft>
                <a:spcPts val="0"/>
              </a:spcAft>
              <a:buNone/>
            </a:pPr>
            <a:r>
              <a:rPr b="1" lang="en-US" sz="2300">
                <a:solidFill>
                  <a:srgbClr val="595959"/>
                </a:solidFill>
                <a:latin typeface="Tahoma"/>
                <a:ea typeface="Tahoma"/>
                <a:cs typeface="Tahoma"/>
                <a:sym typeface="Tahoma"/>
              </a:rPr>
              <a:t>El Kernel va a tener su propio stack, separado, en la zona de memoria del Kernel, protegida del usuario.</a:t>
            </a:r>
            <a:endParaRPr sz="2300">
              <a:latin typeface="Tahoma"/>
              <a:ea typeface="Tahoma"/>
              <a:cs typeface="Tahoma"/>
              <a:sym typeface="Tahoma"/>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73"/>
          <p:cNvSpPr txBox="1"/>
          <p:nvPr>
            <p:ph type="title"/>
          </p:nvPr>
        </p:nvSpPr>
        <p:spPr>
          <a:xfrm>
            <a:off x="73025" y="12837"/>
            <a:ext cx="7791285" cy="476369"/>
          </a:xfrm>
          <a:prstGeom prst="rect">
            <a:avLst/>
          </a:prstGeom>
          <a:noFill/>
          <a:ln>
            <a:noFill/>
          </a:ln>
        </p:spPr>
        <p:txBody>
          <a:bodyPr anchorCtr="0" anchor="t" bIns="0" lIns="0" spcFirstLastPara="1" rIns="0" wrap="square" tIns="17775">
            <a:spAutoFit/>
          </a:bodyPr>
          <a:lstStyle/>
          <a:p>
            <a:pPr indent="0" lvl="0" marL="741680" rtl="0" algn="l">
              <a:lnSpc>
                <a:spcPct val="100000"/>
              </a:lnSpc>
              <a:spcBef>
                <a:spcPts val="0"/>
              </a:spcBef>
              <a:spcAft>
                <a:spcPts val="0"/>
              </a:spcAft>
              <a:buNone/>
            </a:pPr>
            <a:r>
              <a:rPr lang="en-US"/>
              <a:t>Kernel stack</a:t>
            </a:r>
            <a:endParaRPr/>
          </a:p>
        </p:txBody>
      </p:sp>
      <p:sp>
        <p:nvSpPr>
          <p:cNvPr id="684" name="Google Shape;684;p73"/>
          <p:cNvSpPr txBox="1"/>
          <p:nvPr/>
        </p:nvSpPr>
        <p:spPr>
          <a:xfrm>
            <a:off x="607000" y="507688"/>
            <a:ext cx="7882890" cy="4263390"/>
          </a:xfrm>
          <a:prstGeom prst="rect">
            <a:avLst/>
          </a:prstGeom>
          <a:noFill/>
          <a:ln>
            <a:noFill/>
          </a:ln>
        </p:spPr>
        <p:txBody>
          <a:bodyPr anchorCtr="0" anchor="t" bIns="0" lIns="0" spcFirstLastPara="1" rIns="0" wrap="square" tIns="217150">
            <a:spAutoFit/>
          </a:bodyPr>
          <a:lstStyle/>
          <a:p>
            <a:pPr indent="0" lvl="0" marL="12700" rtl="0" algn="l">
              <a:lnSpc>
                <a:spcPct val="100000"/>
              </a:lnSpc>
              <a:spcBef>
                <a:spcPts val="0"/>
              </a:spcBef>
              <a:spcAft>
                <a:spcPts val="0"/>
              </a:spcAft>
              <a:buNone/>
            </a:pPr>
            <a:r>
              <a:rPr b="1" lang="en-US" sz="2300">
                <a:solidFill>
                  <a:srgbClr val="595959"/>
                </a:solidFill>
                <a:latin typeface="Tahoma"/>
                <a:ea typeface="Tahoma"/>
                <a:cs typeface="Tahoma"/>
                <a:sym typeface="Tahoma"/>
              </a:rPr>
              <a:t>¿Por qué un kernel stack por proceso (y no uno solo global)?</a:t>
            </a:r>
            <a:endParaRPr sz="2300">
              <a:latin typeface="Tahoma"/>
              <a:ea typeface="Tahoma"/>
              <a:cs typeface="Tahoma"/>
              <a:sym typeface="Tahoma"/>
            </a:endParaRPr>
          </a:p>
          <a:p>
            <a:pPr indent="0" lvl="0" marL="12700" marR="421005" rtl="0" algn="l">
              <a:lnSpc>
                <a:spcPct val="114999"/>
              </a:lnSpc>
              <a:spcBef>
                <a:spcPts val="1200"/>
              </a:spcBef>
              <a:spcAft>
                <a:spcPts val="0"/>
              </a:spcAft>
              <a:buNone/>
            </a:pPr>
            <a:r>
              <a:rPr lang="en-US" sz="2300">
                <a:solidFill>
                  <a:srgbClr val="595959"/>
                </a:solidFill>
                <a:latin typeface="Tahoma"/>
                <a:ea typeface="Tahoma"/>
                <a:cs typeface="Tahoma"/>
                <a:sym typeface="Tahoma"/>
              </a:rPr>
              <a:t>Porque cada proceso “dormido” podía estar haciendo cosas completamente diferentes en el espacio Kernel antes de dormirse:</a:t>
            </a:r>
            <a:endParaRPr sz="2300">
              <a:latin typeface="Tahoma"/>
              <a:ea typeface="Tahoma"/>
              <a:cs typeface="Tahoma"/>
              <a:sym typeface="Tahoma"/>
            </a:endParaRPr>
          </a:p>
          <a:p>
            <a:pPr indent="0" lvl="0" marL="12700" rtl="0" algn="l">
              <a:lnSpc>
                <a:spcPct val="100000"/>
              </a:lnSpc>
              <a:spcBef>
                <a:spcPts val="1614"/>
              </a:spcBef>
              <a:spcAft>
                <a:spcPts val="0"/>
              </a:spcAft>
              <a:buNone/>
            </a:pPr>
            <a:r>
              <a:rPr lang="en-US" sz="2300">
                <a:solidFill>
                  <a:srgbClr val="595959"/>
                </a:solidFill>
                <a:latin typeface="Tahoma"/>
                <a:ea typeface="Tahoma"/>
                <a:cs typeface="Tahoma"/>
                <a:sym typeface="Tahoma"/>
              </a:rPr>
              <a:t>Eg.</a:t>
            </a:r>
            <a:endParaRPr sz="2300">
              <a:latin typeface="Tahoma"/>
              <a:ea typeface="Tahoma"/>
              <a:cs typeface="Tahoma"/>
              <a:sym typeface="Tahoma"/>
            </a:endParaRPr>
          </a:p>
          <a:p>
            <a:pPr indent="-404495" lvl="0" marL="469265" rtl="0" algn="l">
              <a:lnSpc>
                <a:spcPct val="100000"/>
              </a:lnSpc>
              <a:spcBef>
                <a:spcPts val="1614"/>
              </a:spcBef>
              <a:spcAft>
                <a:spcPts val="0"/>
              </a:spcAft>
              <a:buClr>
                <a:srgbClr val="595959"/>
              </a:buClr>
              <a:buSzPts val="2300"/>
              <a:buFont typeface="Arial"/>
              <a:buChar char="●"/>
            </a:pPr>
            <a:r>
              <a:rPr lang="en-US" sz="2300">
                <a:solidFill>
                  <a:srgbClr val="595959"/>
                </a:solidFill>
                <a:latin typeface="Tahoma"/>
                <a:ea typeface="Tahoma"/>
                <a:cs typeface="Tahoma"/>
                <a:sym typeface="Tahoma"/>
              </a:rPr>
              <a:t>Un proceso se bloqueo ejecutando read()</a:t>
            </a:r>
            <a:endParaRPr sz="2300">
              <a:latin typeface="Tahoma"/>
              <a:ea typeface="Tahoma"/>
              <a:cs typeface="Tahoma"/>
              <a:sym typeface="Tahoma"/>
            </a:endParaRPr>
          </a:p>
          <a:p>
            <a:pPr indent="-404495" lvl="0" marL="469265" rtl="0" algn="l">
              <a:lnSpc>
                <a:spcPct val="100000"/>
              </a:lnSpc>
              <a:spcBef>
                <a:spcPts val="415"/>
              </a:spcBef>
              <a:spcAft>
                <a:spcPts val="0"/>
              </a:spcAft>
              <a:buClr>
                <a:srgbClr val="595959"/>
              </a:buClr>
              <a:buSzPts val="2300"/>
              <a:buFont typeface="Arial"/>
              <a:buChar char="●"/>
            </a:pPr>
            <a:r>
              <a:rPr lang="en-US" sz="2300">
                <a:solidFill>
                  <a:srgbClr val="595959"/>
                </a:solidFill>
                <a:latin typeface="Tahoma"/>
                <a:ea typeface="Tahoma"/>
                <a:cs typeface="Tahoma"/>
                <a:sym typeface="Tahoma"/>
              </a:rPr>
              <a:t>Un proceso se bloqueo al hacer sleep()</a:t>
            </a:r>
            <a:endParaRPr sz="2300">
              <a:latin typeface="Tahoma"/>
              <a:ea typeface="Tahoma"/>
              <a:cs typeface="Tahoma"/>
              <a:sym typeface="Tahoma"/>
            </a:endParaRPr>
          </a:p>
          <a:p>
            <a:pPr indent="-405130" lvl="0" marL="469900" marR="5080" rtl="0" algn="l">
              <a:lnSpc>
                <a:spcPct val="114999"/>
              </a:lnSpc>
              <a:spcBef>
                <a:spcPts val="0"/>
              </a:spcBef>
              <a:spcAft>
                <a:spcPts val="0"/>
              </a:spcAft>
              <a:buClr>
                <a:srgbClr val="595959"/>
              </a:buClr>
              <a:buSzPts val="2300"/>
              <a:buFont typeface="Arial"/>
              <a:buChar char="●"/>
            </a:pPr>
            <a:r>
              <a:rPr lang="en-US" sz="2300">
                <a:solidFill>
                  <a:srgbClr val="595959"/>
                </a:solidFill>
                <a:latin typeface="Tahoma"/>
                <a:ea typeface="Tahoma"/>
                <a:cs typeface="Tahoma"/>
                <a:sym typeface="Tahoma"/>
              </a:rPr>
              <a:t>Un proceso se bloqueo mientras configuraba mas memoria virtual</a:t>
            </a:r>
            <a:endParaRPr sz="2300">
              <a:latin typeface="Tahoma"/>
              <a:ea typeface="Tahoma"/>
              <a:cs typeface="Tahoma"/>
              <a:sym typeface="Tahoma"/>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74"/>
          <p:cNvSpPr txBox="1"/>
          <p:nvPr>
            <p:ph type="title"/>
          </p:nvPr>
        </p:nvSpPr>
        <p:spPr>
          <a:xfrm>
            <a:off x="73025" y="12837"/>
            <a:ext cx="7791285" cy="476369"/>
          </a:xfrm>
          <a:prstGeom prst="rect">
            <a:avLst/>
          </a:prstGeom>
          <a:noFill/>
          <a:ln>
            <a:noFill/>
          </a:ln>
        </p:spPr>
        <p:txBody>
          <a:bodyPr anchorCtr="0" anchor="t" bIns="0" lIns="0" spcFirstLastPara="1" rIns="0" wrap="square" tIns="17775">
            <a:spAutoFit/>
          </a:bodyPr>
          <a:lstStyle/>
          <a:p>
            <a:pPr indent="0" lvl="0" marL="741680" rtl="0" algn="l">
              <a:lnSpc>
                <a:spcPct val="100000"/>
              </a:lnSpc>
              <a:spcBef>
                <a:spcPts val="0"/>
              </a:spcBef>
              <a:spcAft>
                <a:spcPts val="0"/>
              </a:spcAft>
              <a:buNone/>
            </a:pPr>
            <a:r>
              <a:rPr lang="en-US"/>
              <a:t>Kernel stack</a:t>
            </a:r>
            <a:endParaRPr/>
          </a:p>
        </p:txBody>
      </p:sp>
      <p:sp>
        <p:nvSpPr>
          <p:cNvPr id="690" name="Google Shape;690;p74"/>
          <p:cNvSpPr txBox="1"/>
          <p:nvPr/>
        </p:nvSpPr>
        <p:spPr>
          <a:xfrm>
            <a:off x="607000" y="507688"/>
            <a:ext cx="8190865" cy="3958590"/>
          </a:xfrm>
          <a:prstGeom prst="rect">
            <a:avLst/>
          </a:prstGeom>
          <a:noFill/>
          <a:ln>
            <a:noFill/>
          </a:ln>
        </p:spPr>
        <p:txBody>
          <a:bodyPr anchorCtr="0" anchor="t" bIns="0" lIns="0" spcFirstLastPara="1" rIns="0" wrap="square" tIns="217150">
            <a:spAutoFit/>
          </a:bodyPr>
          <a:lstStyle/>
          <a:p>
            <a:pPr indent="0" lvl="0" marL="12700" rtl="0" algn="l">
              <a:lnSpc>
                <a:spcPct val="100000"/>
              </a:lnSpc>
              <a:spcBef>
                <a:spcPts val="0"/>
              </a:spcBef>
              <a:spcAft>
                <a:spcPts val="0"/>
              </a:spcAft>
              <a:buNone/>
            </a:pPr>
            <a:r>
              <a:rPr lang="en-US" sz="2300">
                <a:solidFill>
                  <a:srgbClr val="595959"/>
                </a:solidFill>
                <a:latin typeface="Tahoma"/>
                <a:ea typeface="Tahoma"/>
                <a:cs typeface="Tahoma"/>
                <a:sym typeface="Tahoma"/>
              </a:rPr>
              <a:t>Cuando se hace un context-switch, pasan cosas:</a:t>
            </a:r>
            <a:endParaRPr sz="2300">
              <a:latin typeface="Tahoma"/>
              <a:ea typeface="Tahoma"/>
              <a:cs typeface="Tahoma"/>
              <a:sym typeface="Tahoma"/>
            </a:endParaRPr>
          </a:p>
          <a:p>
            <a:pPr indent="-330200" lvl="0" marL="469900" marR="377825" rtl="0" algn="l">
              <a:lnSpc>
                <a:spcPct val="114999"/>
              </a:lnSpc>
              <a:spcBef>
                <a:spcPts val="1200"/>
              </a:spcBef>
              <a:spcAft>
                <a:spcPts val="0"/>
              </a:spcAft>
              <a:buClr>
                <a:srgbClr val="595959"/>
              </a:buClr>
              <a:buSzPts val="2300"/>
              <a:buFont typeface="Tahoma"/>
              <a:buChar char="-"/>
            </a:pPr>
            <a:r>
              <a:rPr lang="en-US" sz="2300">
                <a:solidFill>
                  <a:srgbClr val="595959"/>
                </a:solidFill>
                <a:latin typeface="Tahoma"/>
                <a:ea typeface="Tahoma"/>
                <a:cs typeface="Tahoma"/>
                <a:sym typeface="Tahoma"/>
              </a:rPr>
              <a:t>Se restauran los registros del proceso entrante (EAX, EBX, etc.)</a:t>
            </a:r>
            <a:endParaRPr sz="2300">
              <a:latin typeface="Tahoma"/>
              <a:ea typeface="Tahoma"/>
              <a:cs typeface="Tahoma"/>
              <a:sym typeface="Tahoma"/>
            </a:endParaRPr>
          </a:p>
          <a:p>
            <a:pPr indent="-330200" lvl="0" marL="469900" marR="5080" rtl="0" algn="l">
              <a:lnSpc>
                <a:spcPct val="114999"/>
              </a:lnSpc>
              <a:spcBef>
                <a:spcPts val="0"/>
              </a:spcBef>
              <a:spcAft>
                <a:spcPts val="0"/>
              </a:spcAft>
              <a:buClr>
                <a:srgbClr val="595959"/>
              </a:buClr>
              <a:buSzPts val="2300"/>
              <a:buFont typeface="Tahoma"/>
              <a:buChar char="-"/>
            </a:pPr>
            <a:r>
              <a:rPr lang="en-US" sz="2300">
                <a:solidFill>
                  <a:srgbClr val="595959"/>
                </a:solidFill>
                <a:latin typeface="Tahoma"/>
                <a:ea typeface="Tahoma"/>
                <a:cs typeface="Tahoma"/>
                <a:sym typeface="Tahoma"/>
              </a:rPr>
              <a:t>Se cambia toda la zona de usuario por la del proceso entrante (stack, heap, text, data)</a:t>
            </a:r>
            <a:endParaRPr sz="2300">
              <a:latin typeface="Tahoma"/>
              <a:ea typeface="Tahoma"/>
              <a:cs typeface="Tahoma"/>
              <a:sym typeface="Tahoma"/>
            </a:endParaRPr>
          </a:p>
          <a:p>
            <a:pPr indent="-330200" lvl="0" marL="469900" marR="445769" rtl="0" algn="l">
              <a:lnSpc>
                <a:spcPct val="114999"/>
              </a:lnSpc>
              <a:spcBef>
                <a:spcPts val="0"/>
              </a:spcBef>
              <a:spcAft>
                <a:spcPts val="0"/>
              </a:spcAft>
              <a:buClr>
                <a:srgbClr val="595959"/>
              </a:buClr>
              <a:buSzPts val="2300"/>
              <a:buFont typeface="Tahoma"/>
              <a:buChar char="-"/>
            </a:pPr>
            <a:r>
              <a:rPr lang="en-US" sz="2300">
                <a:solidFill>
                  <a:srgbClr val="595959"/>
                </a:solidFill>
                <a:latin typeface="Tahoma"/>
                <a:ea typeface="Tahoma"/>
                <a:cs typeface="Tahoma"/>
                <a:sym typeface="Tahoma"/>
              </a:rPr>
              <a:t>No se modifica la memoria del Kernel, porque el Kernel es común y compartido a todos los procesos. </a:t>
            </a:r>
            <a:r>
              <a:rPr b="1" lang="en-US" sz="2300">
                <a:solidFill>
                  <a:srgbClr val="595959"/>
                </a:solidFill>
                <a:latin typeface="Tahoma"/>
                <a:ea typeface="Tahoma"/>
                <a:cs typeface="Tahoma"/>
                <a:sym typeface="Tahoma"/>
              </a:rPr>
              <a:t>Pero:</a:t>
            </a:r>
            <a:endParaRPr sz="2300">
              <a:latin typeface="Tahoma"/>
              <a:ea typeface="Tahoma"/>
              <a:cs typeface="Tahoma"/>
              <a:sym typeface="Tahoma"/>
            </a:endParaRPr>
          </a:p>
          <a:p>
            <a:pPr indent="-330200" lvl="0" marL="469900" marR="1051560" rtl="0" algn="l">
              <a:lnSpc>
                <a:spcPct val="114999"/>
              </a:lnSpc>
              <a:spcBef>
                <a:spcPts val="0"/>
              </a:spcBef>
              <a:spcAft>
                <a:spcPts val="0"/>
              </a:spcAft>
              <a:buClr>
                <a:srgbClr val="595959"/>
              </a:buClr>
              <a:buSzPts val="2300"/>
              <a:buFont typeface="Tahoma"/>
              <a:buChar char="-"/>
            </a:pPr>
            <a:r>
              <a:rPr lang="en-US" sz="2300">
                <a:solidFill>
                  <a:srgbClr val="595959"/>
                </a:solidFill>
                <a:latin typeface="Tahoma"/>
                <a:ea typeface="Tahoma"/>
                <a:cs typeface="Tahoma"/>
                <a:sym typeface="Tahoma"/>
              </a:rPr>
              <a:t>Se apunta el stack pointer al kernel stack del proceso entrante.</a:t>
            </a:r>
            <a:endParaRPr sz="2300">
              <a:latin typeface="Tahoma"/>
              <a:ea typeface="Tahoma"/>
              <a:cs typeface="Tahoma"/>
              <a:sym typeface="Tahoma"/>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1B3678"/>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2026-03-16T16:05:07Z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2026-03-16T00:00:00Z</vt:filetime>
  </property>
  <property fmtid="{D5CDD505-2E9C-101B-9397-08002B2CF9AE}" pid="3" name="Creator">
    <vt:lpwstr>Google</vt:lpwstr>
  </property>
  <property fmtid="{D5CDD505-2E9C-101B-9397-08002B2CF9AE}" pid="4" name="LastSaved">
    <vt:filetime>2026-03-16T00:00:00Z</vt:filetime>
  </property>
</Properties>
</file>