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Default Extension="jpg" ContentType="image/jpg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Default Extension="png" ContentType="image/png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475" y="1379787"/>
            <a:ext cx="3672840" cy="3822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59595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59595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488315"/>
          </a:xfrm>
          <a:custGeom>
            <a:avLst/>
            <a:gdLst/>
            <a:ahLst/>
            <a:cxnLst/>
            <a:rect l="l" t="t" r="r" b="b"/>
            <a:pathLst>
              <a:path w="9144000" h="488315">
                <a:moveTo>
                  <a:pt x="9143999" y="487799"/>
                </a:moveTo>
                <a:lnTo>
                  <a:pt x="0" y="48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487799"/>
                </a:lnTo>
                <a:close/>
              </a:path>
            </a:pathLst>
          </a:custGeom>
          <a:solidFill>
            <a:srgbClr val="E9EDE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203295" y="1191255"/>
            <a:ext cx="373380" cy="46355"/>
          </a:xfrm>
          <a:custGeom>
            <a:avLst/>
            <a:gdLst/>
            <a:ahLst/>
            <a:cxnLst/>
            <a:rect l="l" t="t" r="r" b="b"/>
            <a:pathLst>
              <a:path w="373380" h="46355">
                <a:moveTo>
                  <a:pt x="372859" y="45826"/>
                </a:moveTo>
                <a:lnTo>
                  <a:pt x="0" y="45826"/>
                </a:lnTo>
                <a:lnTo>
                  <a:pt x="0" y="0"/>
                </a:lnTo>
                <a:lnTo>
                  <a:pt x="372859" y="0"/>
                </a:lnTo>
                <a:lnTo>
                  <a:pt x="372859" y="45826"/>
                </a:lnTo>
                <a:close/>
              </a:path>
            </a:pathLst>
          </a:custGeom>
          <a:solidFill>
            <a:srgbClr val="EB55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830391" y="1191255"/>
            <a:ext cx="376555" cy="46355"/>
          </a:xfrm>
          <a:custGeom>
            <a:avLst/>
            <a:gdLst/>
            <a:ahLst/>
            <a:cxnLst/>
            <a:rect l="l" t="t" r="r" b="b"/>
            <a:pathLst>
              <a:path w="376555" h="46355">
                <a:moveTo>
                  <a:pt x="376012" y="45826"/>
                </a:moveTo>
                <a:lnTo>
                  <a:pt x="0" y="45826"/>
                </a:lnTo>
                <a:lnTo>
                  <a:pt x="0" y="0"/>
                </a:lnTo>
                <a:lnTo>
                  <a:pt x="376012" y="0"/>
                </a:lnTo>
                <a:lnTo>
                  <a:pt x="376012" y="45826"/>
                </a:lnTo>
                <a:close/>
              </a:path>
            </a:pathLst>
          </a:custGeom>
          <a:solidFill>
            <a:srgbClr val="1A99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4950" y="616687"/>
            <a:ext cx="7251065" cy="462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1A1A1A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00675" y="1283296"/>
            <a:ext cx="7800340" cy="3067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595959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4.jpg"/><Relationship Id="rId4" Type="http://schemas.openxmlformats.org/officeDocument/2006/relationships/image" Target="../media/image13.jpg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jpg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jpg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jpg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jpg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jpg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jpg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/Relationships>
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jpg"/></Relationships>
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jpg"/></Relationships>
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jpg"/></Relationships>
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9.jpg"/></Relationships>
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jpg"/></Relationships>
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1.jpg"/></Relationships>
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2.jpg"/></Relationships>
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fisop/sched-sim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487800"/>
              <a:ext cx="9144000" cy="4655820"/>
            </a:xfrm>
            <a:custGeom>
              <a:avLst/>
              <a:gdLst/>
              <a:ahLst/>
              <a:cxnLst/>
              <a:rect l="l" t="t" r="r" b="b"/>
              <a:pathLst>
                <a:path w="9144000" h="4655820">
                  <a:moveTo>
                    <a:pt x="0" y="4655699"/>
                  </a:moveTo>
                  <a:lnTo>
                    <a:pt x="9143999" y="4655699"/>
                  </a:lnTo>
                  <a:lnTo>
                    <a:pt x="9143999" y="0"/>
                  </a:lnTo>
                  <a:lnTo>
                    <a:pt x="0" y="0"/>
                  </a:lnTo>
                  <a:lnTo>
                    <a:pt x="0" y="4655699"/>
                  </a:lnTo>
                  <a:close/>
                </a:path>
              </a:pathLst>
            </a:custGeom>
            <a:solidFill>
              <a:srgbClr val="E9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488315"/>
            </a:xfrm>
            <a:custGeom>
              <a:avLst/>
              <a:gdLst/>
              <a:ahLst/>
              <a:cxnLst/>
              <a:rect l="l" t="t" r="r" b="b"/>
              <a:pathLst>
                <a:path w="9144000" h="488315">
                  <a:moveTo>
                    <a:pt x="9143999" y="487799"/>
                  </a:moveTo>
                  <a:lnTo>
                    <a:pt x="0" y="4877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487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203295" y="1191255"/>
              <a:ext cx="373380" cy="46355"/>
            </a:xfrm>
            <a:custGeom>
              <a:avLst/>
              <a:gdLst/>
              <a:ahLst/>
              <a:cxnLst/>
              <a:rect l="l" t="t" r="r" b="b"/>
              <a:pathLst>
                <a:path w="373380" h="46355">
                  <a:moveTo>
                    <a:pt x="372859" y="45826"/>
                  </a:moveTo>
                  <a:lnTo>
                    <a:pt x="0" y="45826"/>
                  </a:lnTo>
                  <a:lnTo>
                    <a:pt x="0" y="0"/>
                  </a:lnTo>
                  <a:lnTo>
                    <a:pt x="372859" y="0"/>
                  </a:lnTo>
                  <a:lnTo>
                    <a:pt x="372859" y="45826"/>
                  </a:lnTo>
                  <a:close/>
                </a:path>
              </a:pathLst>
            </a:custGeom>
            <a:solidFill>
              <a:srgbClr val="EB55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30391" y="1191255"/>
              <a:ext cx="376555" cy="46355"/>
            </a:xfrm>
            <a:custGeom>
              <a:avLst/>
              <a:gdLst/>
              <a:ahLst/>
              <a:cxnLst/>
              <a:rect l="l" t="t" r="r" b="b"/>
              <a:pathLst>
                <a:path w="376555" h="46355">
                  <a:moveTo>
                    <a:pt x="376012" y="45826"/>
                  </a:moveTo>
                  <a:lnTo>
                    <a:pt x="0" y="45826"/>
                  </a:lnTo>
                  <a:lnTo>
                    <a:pt x="0" y="0"/>
                  </a:lnTo>
                  <a:lnTo>
                    <a:pt x="376012" y="0"/>
                  </a:lnTo>
                  <a:lnTo>
                    <a:pt x="376012" y="45826"/>
                  </a:lnTo>
                  <a:close/>
                </a:path>
              </a:pathLst>
            </a:custGeom>
            <a:solidFill>
              <a:srgbClr val="1A998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802475" y="1374138"/>
            <a:ext cx="5246370" cy="13055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4200" spc="145"/>
              <a:t>Sistemas</a:t>
            </a:r>
            <a:r>
              <a:rPr dirty="0" sz="4200" spc="-235"/>
              <a:t> </a:t>
            </a:r>
            <a:r>
              <a:rPr dirty="0" sz="4200" spc="50"/>
              <a:t>Operativos </a:t>
            </a:r>
            <a:r>
              <a:rPr dirty="0" sz="4200" spc="130"/>
              <a:t>Scheduler</a:t>
            </a:r>
            <a:r>
              <a:rPr dirty="0" sz="4200" spc="-350"/>
              <a:t> </a:t>
            </a:r>
            <a:r>
              <a:rPr dirty="0" sz="4200" spc="-25"/>
              <a:t>II</a:t>
            </a:r>
            <a:endParaRPr sz="4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A99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30389" y="1191259"/>
            <a:ext cx="746125" cy="46355"/>
          </a:xfrm>
          <a:custGeom>
            <a:avLst/>
            <a:gdLst/>
            <a:ahLst/>
            <a:cxnLst/>
            <a:rect l="l" t="t" r="r" b="b"/>
            <a:pathLst>
              <a:path w="746125" h="46355">
                <a:moveTo>
                  <a:pt x="745756" y="0"/>
                </a:moveTo>
                <a:lnTo>
                  <a:pt x="376008" y="0"/>
                </a:lnTo>
                <a:lnTo>
                  <a:pt x="372897" y="0"/>
                </a:lnTo>
                <a:lnTo>
                  <a:pt x="0" y="0"/>
                </a:lnTo>
                <a:lnTo>
                  <a:pt x="0" y="45834"/>
                </a:lnTo>
                <a:lnTo>
                  <a:pt x="372897" y="45834"/>
                </a:lnTo>
                <a:lnTo>
                  <a:pt x="376008" y="45834"/>
                </a:lnTo>
                <a:lnTo>
                  <a:pt x="745756" y="45834"/>
                </a:lnTo>
                <a:lnTo>
                  <a:pt x="7457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02475" y="1377186"/>
            <a:ext cx="494601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190">
                <a:solidFill>
                  <a:srgbClr val="FFFFFF"/>
                </a:solidFill>
              </a:rPr>
              <a:t>Caso</a:t>
            </a:r>
            <a:r>
              <a:rPr dirty="0" sz="3600" spc="-195">
                <a:solidFill>
                  <a:srgbClr val="FFFFFF"/>
                </a:solidFill>
              </a:rPr>
              <a:t> </a:t>
            </a:r>
            <a:r>
              <a:rPr dirty="0" sz="3600" spc="145">
                <a:solidFill>
                  <a:srgbClr val="FFFFFF"/>
                </a:solidFill>
              </a:rPr>
              <a:t>de</a:t>
            </a:r>
            <a:r>
              <a:rPr dirty="0" sz="3600" spc="-200">
                <a:solidFill>
                  <a:srgbClr val="FFFFFF"/>
                </a:solidFill>
              </a:rPr>
              <a:t> </a:t>
            </a:r>
            <a:r>
              <a:rPr dirty="0" sz="3600">
                <a:solidFill>
                  <a:srgbClr val="FFFFFF"/>
                </a:solidFill>
              </a:rPr>
              <a:t>estudio:</a:t>
            </a:r>
            <a:r>
              <a:rPr dirty="0" sz="3600" spc="-195">
                <a:solidFill>
                  <a:srgbClr val="FFFFFF"/>
                </a:solidFill>
              </a:rPr>
              <a:t> </a:t>
            </a:r>
            <a:r>
              <a:rPr dirty="0" sz="3600" spc="-10">
                <a:solidFill>
                  <a:srgbClr val="FFFFFF"/>
                </a:solidFill>
              </a:rPr>
              <a:t>Linux</a:t>
            </a:r>
            <a:endParaRPr sz="3600"/>
          </a:p>
        </p:txBody>
      </p:sp>
      <p:sp>
        <p:nvSpPr>
          <p:cNvPr id="5" name="object 5"/>
          <p:cNvSpPr txBox="1"/>
          <p:nvPr/>
        </p:nvSpPr>
        <p:spPr>
          <a:xfrm>
            <a:off x="913550" y="3201581"/>
            <a:ext cx="3910965" cy="167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60" b="1">
                <a:solidFill>
                  <a:srgbClr val="FFFFFF"/>
                </a:solidFill>
                <a:latin typeface="Trebuchet MS"/>
                <a:cs typeface="Trebuchet MS"/>
              </a:rPr>
              <a:t>Conceptos</a:t>
            </a:r>
            <a:r>
              <a:rPr dirty="0" sz="1800" spc="-11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Trebuchet MS"/>
                <a:cs typeface="Trebuchet MS"/>
              </a:rPr>
              <a:t>clave: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45">
                <a:solidFill>
                  <a:srgbClr val="FFFFFF"/>
                </a:solidFill>
                <a:latin typeface="Trebuchet MS"/>
                <a:cs typeface="Trebuchet MS"/>
              </a:rPr>
              <a:t>Completely</a:t>
            </a:r>
            <a:r>
              <a:rPr dirty="0" sz="1800" spc="-11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Trebuchet MS"/>
                <a:cs typeface="Trebuchet MS"/>
              </a:rPr>
              <a:t>Fair</a:t>
            </a:r>
            <a:r>
              <a:rPr dirty="0" sz="18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FFFFFF"/>
                </a:solidFill>
                <a:latin typeface="Trebuchet MS"/>
                <a:cs typeface="Trebuchet MS"/>
              </a:rPr>
              <a:t>Scheduler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vruntime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-55">
                <a:solidFill>
                  <a:srgbClr val="FFFFFF"/>
                </a:solidFill>
                <a:latin typeface="Trebuchet MS"/>
                <a:cs typeface="Trebuchet MS"/>
              </a:rPr>
              <a:t>nice()</a:t>
            </a:r>
            <a:r>
              <a:rPr dirty="0" sz="1800" spc="-11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75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dirty="0" sz="1800" spc="-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prioridades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Latencia</a:t>
            </a:r>
            <a:r>
              <a:rPr dirty="0" sz="1800" spc="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objetivo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75">
                <a:solidFill>
                  <a:srgbClr val="FFFFFF"/>
                </a:solidFill>
                <a:latin typeface="Trebuchet MS"/>
                <a:cs typeface="Trebuchet MS"/>
              </a:rPr>
              <a:t>Scheduling</a:t>
            </a:r>
            <a:r>
              <a:rPr dirty="0" sz="1800" spc="-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85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-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95">
                <a:solidFill>
                  <a:srgbClr val="FFFFFF"/>
                </a:solidFill>
                <a:latin typeface="Trebuchet MS"/>
                <a:cs typeface="Trebuchet MS"/>
              </a:rPr>
              <a:t>grupos</a:t>
            </a:r>
            <a:r>
              <a:rPr dirty="0" sz="1800" spc="-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75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dirty="0" sz="1800" spc="-1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80">
                <a:solidFill>
                  <a:srgbClr val="FFFFFF"/>
                </a:solidFill>
                <a:latin typeface="Trebuchet MS"/>
                <a:cs typeface="Trebuchet MS"/>
              </a:rPr>
              <a:t>cgroups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229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dirty="0" spc="-10"/>
              <a:t>Linux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0675" y="1306690"/>
            <a:ext cx="7809865" cy="34848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84455">
              <a:lnSpc>
                <a:spcPct val="114999"/>
              </a:lnSpc>
              <a:spcBef>
                <a:spcPts val="100"/>
              </a:spcBef>
            </a:pP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planificador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tareas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Linux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desde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primer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versión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1991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pasando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todas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20" b="1">
                <a:solidFill>
                  <a:srgbClr val="595959"/>
                </a:solidFill>
                <a:latin typeface="Tahoma"/>
                <a:cs typeface="Tahoma"/>
              </a:rPr>
              <a:t>hasta</a:t>
            </a:r>
            <a:r>
              <a:rPr dirty="0" sz="1500" spc="-10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 b="1">
                <a:solidFill>
                  <a:srgbClr val="595959"/>
                </a:solidFill>
                <a:latin typeface="Tahoma"/>
                <a:cs typeface="Tahoma"/>
              </a:rPr>
              <a:t>el </a:t>
            </a:r>
            <a:r>
              <a:rPr dirty="0" sz="1500" spc="-95" b="1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1500" spc="-114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0" b="1">
                <a:solidFill>
                  <a:srgbClr val="595959"/>
                </a:solidFill>
                <a:latin typeface="Tahoma"/>
                <a:cs typeface="Tahoma"/>
              </a:rPr>
              <a:t>versión</a:t>
            </a:r>
            <a:r>
              <a:rPr dirty="0" sz="150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10" b="1">
                <a:solidFill>
                  <a:srgbClr val="595959"/>
                </a:solidFill>
                <a:latin typeface="Tahoma"/>
                <a:cs typeface="Tahoma"/>
              </a:rPr>
              <a:t>2.4</a:t>
            </a:r>
            <a:r>
              <a:rPr dirty="0" sz="1500" spc="-114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0" b="1">
                <a:solidFill>
                  <a:srgbClr val="595959"/>
                </a:solidFill>
                <a:latin typeface="Tahoma"/>
                <a:cs typeface="Tahoma"/>
              </a:rPr>
              <a:t>fue</a:t>
            </a:r>
            <a:r>
              <a:rPr dirty="0" sz="150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90" b="1">
                <a:solidFill>
                  <a:srgbClr val="595959"/>
                </a:solidFill>
                <a:latin typeface="Tahoma"/>
                <a:cs typeface="Tahoma"/>
              </a:rPr>
              <a:t>sencillo</a:t>
            </a:r>
            <a:r>
              <a:rPr dirty="0" sz="1500" spc="-10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casi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pedestre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lo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respecta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diseño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45">
                <a:solidFill>
                  <a:srgbClr val="595959"/>
                </a:solidFill>
                <a:latin typeface="Tahoma"/>
                <a:cs typeface="Tahoma"/>
              </a:rPr>
              <a:t>[LOV],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50">
                <a:solidFill>
                  <a:srgbClr val="595959"/>
                </a:solidFill>
                <a:latin typeface="Tahoma"/>
                <a:cs typeface="Tahoma"/>
              </a:rPr>
              <a:t>cap.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4.</a:t>
            </a:r>
            <a:endParaRPr sz="1500">
              <a:latin typeface="Tahoma"/>
              <a:cs typeface="Tahoma"/>
            </a:endParaRPr>
          </a:p>
          <a:p>
            <a:pPr marL="12700" marR="5080" indent="457200">
              <a:lnSpc>
                <a:spcPct val="114999"/>
              </a:lnSpc>
              <a:spcBef>
                <a:spcPts val="1200"/>
              </a:spcBef>
            </a:pPr>
            <a:r>
              <a:rPr dirty="0" sz="1500" spc="-120" b="1">
                <a:solidFill>
                  <a:srgbClr val="595959"/>
                </a:solidFill>
                <a:latin typeface="Tahoma"/>
                <a:cs typeface="Tahoma"/>
              </a:rPr>
              <a:t>Round-</a:t>
            </a:r>
            <a:r>
              <a:rPr dirty="0" sz="1500" spc="-105" b="1">
                <a:solidFill>
                  <a:srgbClr val="595959"/>
                </a:solidFill>
                <a:latin typeface="Tahoma"/>
                <a:cs typeface="Tahoma"/>
              </a:rPr>
              <a:t>Robin:</a:t>
            </a:r>
            <a:r>
              <a:rPr dirty="0" sz="1500" spc="-1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método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básico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planificación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era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round-robin,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30">
                <a:solidFill>
                  <a:srgbClr val="595959"/>
                </a:solidFill>
                <a:latin typeface="Tahoma"/>
                <a:cs typeface="Tahoma"/>
              </a:rPr>
              <a:t>asigna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cada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intervalo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fijo,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llamado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quantum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tiempo,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durante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cual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proceso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30">
                <a:solidFill>
                  <a:srgbClr val="595959"/>
                </a:solidFill>
                <a:latin typeface="Tahoma"/>
                <a:cs typeface="Tahoma"/>
              </a:rPr>
              <a:t>ejecutar.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vez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quantum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35">
                <a:solidFill>
                  <a:srgbClr val="595959"/>
                </a:solidFill>
                <a:latin typeface="Tahoma"/>
                <a:cs typeface="Tahoma"/>
              </a:rPr>
              <a:t>agota,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scheduler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pone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al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espera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30">
                <a:solidFill>
                  <a:srgbClr val="595959"/>
                </a:solidFill>
                <a:latin typeface="Tahoma"/>
                <a:cs typeface="Tahoma"/>
              </a:rPr>
              <a:t>pasa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siguiente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cola.</a:t>
            </a:r>
            <a:endParaRPr sz="1500">
              <a:latin typeface="Tahoma"/>
              <a:cs typeface="Tahoma"/>
            </a:endParaRPr>
          </a:p>
          <a:p>
            <a:pPr marL="12700" marR="83185" indent="457200">
              <a:lnSpc>
                <a:spcPct val="114999"/>
              </a:lnSpc>
              <a:spcBef>
                <a:spcPts val="1200"/>
              </a:spcBef>
            </a:pPr>
            <a:r>
              <a:rPr dirty="0" sz="1500" spc="-70" b="1">
                <a:solidFill>
                  <a:srgbClr val="595959"/>
                </a:solidFill>
                <a:latin typeface="Tahoma"/>
                <a:cs typeface="Tahoma"/>
              </a:rPr>
              <a:t>Multinivel</a:t>
            </a:r>
            <a:r>
              <a:rPr dirty="0" sz="1500" spc="-10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0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0" b="1">
                <a:solidFill>
                  <a:srgbClr val="595959"/>
                </a:solidFill>
                <a:latin typeface="Tahoma"/>
                <a:cs typeface="Tahoma"/>
              </a:rPr>
              <a:t>Feedback</a:t>
            </a:r>
            <a:r>
              <a:rPr dirty="0" sz="1500" spc="-10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90" b="1">
                <a:solidFill>
                  <a:srgbClr val="595959"/>
                </a:solidFill>
                <a:latin typeface="Tahoma"/>
                <a:cs typeface="Tahoma"/>
              </a:rPr>
              <a:t>Queue: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Linux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utilizaba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enfoque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múltiples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colas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para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manejar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diferentes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prioridades.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organizaban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diferentes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colas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basadas</a:t>
            </a:r>
            <a:r>
              <a:rPr dirty="0" sz="15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5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30">
                <a:solidFill>
                  <a:srgbClr val="595959"/>
                </a:solidFill>
                <a:latin typeface="Tahoma"/>
                <a:cs typeface="Tahoma"/>
              </a:rPr>
              <a:t>sus</a:t>
            </a:r>
            <a:r>
              <a:rPr dirty="0" sz="15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prioridades</a:t>
            </a:r>
            <a:r>
              <a:rPr dirty="0" sz="15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5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comportamiento</a:t>
            </a:r>
            <a:r>
              <a:rPr dirty="0" sz="15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(por</a:t>
            </a:r>
            <a:r>
              <a:rPr dirty="0" sz="15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30">
                <a:solidFill>
                  <a:srgbClr val="595959"/>
                </a:solidFill>
                <a:latin typeface="Tahoma"/>
                <a:cs typeface="Tahoma"/>
              </a:rPr>
              <a:t>ejemplo,</a:t>
            </a:r>
            <a:r>
              <a:rPr dirty="0" sz="15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5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5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5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utilizaba</a:t>
            </a:r>
            <a:r>
              <a:rPr dirty="0" sz="15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mucho</a:t>
            </a:r>
            <a:r>
              <a:rPr dirty="0" sz="15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el </a:t>
            </a:r>
            <a:r>
              <a:rPr dirty="0" sz="1500" spc="105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cedía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frecuentemente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CPU).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podía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moverse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entre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colas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su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comportamiento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30">
                <a:solidFill>
                  <a:srgbClr val="595959"/>
                </a:solidFill>
                <a:latin typeface="Tahoma"/>
                <a:cs typeface="Tahoma"/>
              </a:rPr>
              <a:t>cambiaba,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lo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permitía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adaptarse</a:t>
            </a:r>
            <a:r>
              <a:rPr dirty="0" sz="15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dinámicamente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dar</a:t>
            </a:r>
            <a:r>
              <a:rPr dirty="0" sz="15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más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105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parecían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necesitarlo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45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urgentemente.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229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dirty="0" spc="-10"/>
              <a:t>Linux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0675" y="1439095"/>
            <a:ext cx="7759700" cy="1287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85" b="1">
                <a:solidFill>
                  <a:srgbClr val="595959"/>
                </a:solidFill>
                <a:latin typeface="Tahoma"/>
                <a:cs typeface="Tahoma"/>
              </a:rPr>
              <a:t>Linux</a:t>
            </a:r>
            <a:r>
              <a:rPr dirty="0" sz="1300" spc="-95" b="1">
                <a:solidFill>
                  <a:srgbClr val="595959"/>
                </a:solidFill>
                <a:latin typeface="Tahoma"/>
                <a:cs typeface="Tahoma"/>
              </a:rPr>
              <a:t> 2.4 </a:t>
            </a:r>
            <a:r>
              <a:rPr dirty="0" sz="1300" spc="-60" b="1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300" spc="-10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85" b="1">
                <a:solidFill>
                  <a:srgbClr val="595959"/>
                </a:solidFill>
                <a:latin typeface="Tahoma"/>
                <a:cs typeface="Tahoma"/>
              </a:rPr>
              <a:t>versiones</a:t>
            </a:r>
            <a:r>
              <a:rPr dirty="0" sz="1300" spc="-9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75" b="1">
                <a:solidFill>
                  <a:srgbClr val="595959"/>
                </a:solidFill>
                <a:latin typeface="Tahoma"/>
                <a:cs typeface="Tahoma"/>
              </a:rPr>
              <a:t>anteriores</a:t>
            </a:r>
            <a:r>
              <a:rPr dirty="0" sz="1300" spc="-9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10" b="1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1300" spc="-9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 b="1">
                <a:solidFill>
                  <a:srgbClr val="595959"/>
                </a:solidFill>
                <a:latin typeface="Tahoma"/>
                <a:cs typeface="Tahoma"/>
              </a:rPr>
              <a:t>O(n)</a:t>
            </a:r>
            <a:endParaRPr sz="1300">
              <a:latin typeface="Tahoma"/>
              <a:cs typeface="Tahoma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primeras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versiones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Linux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utilizaban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scheduler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básico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basado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90" b="1">
                <a:solidFill>
                  <a:srgbClr val="595959"/>
                </a:solidFill>
                <a:latin typeface="Tahoma"/>
                <a:cs typeface="Tahoma"/>
              </a:rPr>
              <a:t>"round-</a:t>
            </a:r>
            <a:r>
              <a:rPr dirty="0" sz="1300" spc="-100" b="1">
                <a:solidFill>
                  <a:srgbClr val="595959"/>
                </a:solidFill>
                <a:latin typeface="Tahoma"/>
                <a:cs typeface="Tahoma"/>
              </a:rPr>
              <a:t>robin"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,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simplemente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asignaba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90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ciclo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fijo,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permitiendo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ejecutara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595959"/>
                </a:solidFill>
                <a:latin typeface="Tahoma"/>
                <a:cs typeface="Tahoma"/>
              </a:rPr>
              <a:t>timeslice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determinado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antes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pasar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siguiente.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Aunque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enfoque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era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simple,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resultaba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ineficiente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medida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que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sistemas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volvieron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complejos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mayor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carga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procesos.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0675" y="3263323"/>
            <a:ext cx="7761605" cy="1287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85" b="1">
                <a:solidFill>
                  <a:srgbClr val="595959"/>
                </a:solidFill>
                <a:latin typeface="Tahoma"/>
                <a:cs typeface="Tahoma"/>
              </a:rPr>
              <a:t>Linux</a:t>
            </a:r>
            <a:r>
              <a:rPr dirty="0" sz="1300" spc="-114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95" b="1">
                <a:solidFill>
                  <a:srgbClr val="595959"/>
                </a:solidFill>
                <a:latin typeface="Tahoma"/>
                <a:cs typeface="Tahoma"/>
              </a:rPr>
              <a:t>2.6</a:t>
            </a:r>
            <a:r>
              <a:rPr dirty="0" sz="1300" spc="-110" b="1">
                <a:solidFill>
                  <a:srgbClr val="595959"/>
                </a:solidFill>
                <a:latin typeface="Tahoma"/>
                <a:cs typeface="Tahoma"/>
              </a:rPr>
              <a:t> -</a:t>
            </a:r>
            <a:r>
              <a:rPr dirty="0" sz="130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 b="1">
                <a:solidFill>
                  <a:srgbClr val="595959"/>
                </a:solidFill>
                <a:latin typeface="Tahoma"/>
                <a:cs typeface="Tahoma"/>
              </a:rPr>
              <a:t>O(1)</a:t>
            </a:r>
            <a:endParaRPr sz="1300">
              <a:latin typeface="Tahoma"/>
              <a:cs typeface="Tahoma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Introducido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inicialmente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versión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2.5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estabilizado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45">
                <a:solidFill>
                  <a:srgbClr val="595959"/>
                </a:solidFill>
                <a:latin typeface="Tahoma"/>
                <a:cs typeface="Tahoma"/>
              </a:rPr>
              <a:t>2.6,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scheduler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O(1)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fue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diseñado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ser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altamente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eficiente,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complejidad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constante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45">
                <a:solidFill>
                  <a:srgbClr val="595959"/>
                </a:solidFill>
                <a:latin typeface="Tahoma"/>
                <a:cs typeface="Tahoma"/>
              </a:rPr>
              <a:t>O(1).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Esto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significa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necesario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tomar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decisiones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planificación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dependía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cantidad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ejecución,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lo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mejoró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significativamente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escalabilidad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rendimiento,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especialmente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sistemas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alta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carga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trabajo.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229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dirty="0" spc="-10"/>
              <a:t>Linux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0675" y="1439095"/>
            <a:ext cx="7823834" cy="34150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85" b="1">
                <a:solidFill>
                  <a:srgbClr val="595959"/>
                </a:solidFill>
                <a:latin typeface="Tahoma"/>
                <a:cs typeface="Tahoma"/>
              </a:rPr>
              <a:t>Linux</a:t>
            </a:r>
            <a:r>
              <a:rPr dirty="0" sz="1300" spc="-9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95" b="1">
                <a:solidFill>
                  <a:srgbClr val="595959"/>
                </a:solidFill>
                <a:latin typeface="Tahoma"/>
                <a:cs typeface="Tahoma"/>
              </a:rPr>
              <a:t>2.6.23</a:t>
            </a:r>
            <a:r>
              <a:rPr dirty="0" sz="1300" spc="-9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10" b="1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1300" spc="-8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80" b="1">
                <a:solidFill>
                  <a:srgbClr val="595959"/>
                </a:solidFill>
                <a:latin typeface="Tahoma"/>
                <a:cs typeface="Tahoma"/>
              </a:rPr>
              <a:t>Completely</a:t>
            </a:r>
            <a:r>
              <a:rPr dirty="0" sz="1300" spc="-9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60" b="1">
                <a:solidFill>
                  <a:srgbClr val="595959"/>
                </a:solidFill>
                <a:latin typeface="Tahoma"/>
                <a:cs typeface="Tahoma"/>
              </a:rPr>
              <a:t>Fair</a:t>
            </a:r>
            <a:r>
              <a:rPr dirty="0" sz="1300" spc="-9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90" b="1">
                <a:solidFill>
                  <a:srgbClr val="595959"/>
                </a:solidFill>
                <a:latin typeface="Tahoma"/>
                <a:cs typeface="Tahoma"/>
              </a:rPr>
              <a:t>Scheduler</a:t>
            </a:r>
            <a:r>
              <a:rPr dirty="0" sz="1300" spc="-9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 b="1">
                <a:solidFill>
                  <a:srgbClr val="595959"/>
                </a:solidFill>
                <a:latin typeface="Tahoma"/>
                <a:cs typeface="Tahoma"/>
              </a:rPr>
              <a:t>(CFS)</a:t>
            </a:r>
            <a:endParaRPr sz="1300">
              <a:latin typeface="Tahoma"/>
              <a:cs typeface="Tahoma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2007,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versión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5">
                <a:solidFill>
                  <a:srgbClr val="595959"/>
                </a:solidFill>
                <a:latin typeface="Tahoma"/>
                <a:cs typeface="Tahoma"/>
              </a:rPr>
              <a:t>2.6.23,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Linux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incorporó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Completely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Fair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Scheduler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45">
                <a:solidFill>
                  <a:srgbClr val="595959"/>
                </a:solidFill>
                <a:latin typeface="Tahoma"/>
                <a:cs typeface="Tahoma"/>
              </a:rPr>
              <a:t>(CFS),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diseñado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40">
                <a:solidFill>
                  <a:srgbClr val="595959"/>
                </a:solidFill>
                <a:latin typeface="Tahoma"/>
                <a:cs typeface="Tahoma"/>
              </a:rPr>
              <a:t>Ingo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Molnar.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scheduler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basa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planificación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proporcional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80">
                <a:solidFill>
                  <a:srgbClr val="595959"/>
                </a:solidFill>
                <a:latin typeface="Tahoma"/>
                <a:cs typeface="Tahoma"/>
              </a:rPr>
              <a:t>(</a:t>
            </a:r>
            <a:r>
              <a:rPr dirty="0" sz="1300" spc="-80" b="1">
                <a:solidFill>
                  <a:srgbClr val="595959"/>
                </a:solidFill>
                <a:latin typeface="Tahoma"/>
                <a:cs typeface="Tahoma"/>
              </a:rPr>
              <a:t>fair</a:t>
            </a:r>
            <a:r>
              <a:rPr dirty="0" sz="1300" spc="-8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0" b="1">
                <a:solidFill>
                  <a:srgbClr val="595959"/>
                </a:solidFill>
                <a:latin typeface="Tahoma"/>
                <a:cs typeface="Tahoma"/>
              </a:rPr>
              <a:t>scheduling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),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donde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recibe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una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cantidad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90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acorde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prioridad.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CFS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utiliza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estructura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datos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tipo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75" b="1">
                <a:solidFill>
                  <a:srgbClr val="595959"/>
                </a:solidFill>
                <a:latin typeface="Tahoma"/>
                <a:cs typeface="Tahoma"/>
              </a:rPr>
              <a:t>árbol</a:t>
            </a:r>
            <a:r>
              <a:rPr dirty="0" sz="1300" spc="-8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90" b="1">
                <a:solidFill>
                  <a:srgbClr val="595959"/>
                </a:solidFill>
                <a:latin typeface="Tahoma"/>
                <a:cs typeface="Tahoma"/>
              </a:rPr>
              <a:t>rojo-</a:t>
            </a:r>
            <a:r>
              <a:rPr dirty="0" sz="1300" spc="-10" b="1">
                <a:solidFill>
                  <a:srgbClr val="595959"/>
                </a:solidFill>
                <a:latin typeface="Tahoma"/>
                <a:cs typeface="Tahoma"/>
              </a:rPr>
              <a:t>negro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gestionar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ejecución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procesos,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permitiendo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asignación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justa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eficiente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del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CPU,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especialmente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sistemas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múltiples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núcleos.</a:t>
            </a:r>
            <a:endParaRPr sz="1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z="1300" spc="-85" b="1">
                <a:solidFill>
                  <a:srgbClr val="595959"/>
                </a:solidFill>
                <a:latin typeface="Tahoma"/>
                <a:cs typeface="Tahoma"/>
              </a:rPr>
              <a:t>Linux </a:t>
            </a:r>
            <a:r>
              <a:rPr dirty="0" sz="1300" spc="-95" b="1">
                <a:solidFill>
                  <a:srgbClr val="595959"/>
                </a:solidFill>
                <a:latin typeface="Tahoma"/>
                <a:cs typeface="Tahoma"/>
              </a:rPr>
              <a:t>6.6</a:t>
            </a:r>
            <a:r>
              <a:rPr dirty="0" sz="1300" spc="-8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10" b="1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1300" spc="-8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70" b="1">
                <a:solidFill>
                  <a:srgbClr val="595959"/>
                </a:solidFill>
                <a:latin typeface="Tahoma"/>
                <a:cs typeface="Tahoma"/>
              </a:rPr>
              <a:t>Earliest</a:t>
            </a:r>
            <a:r>
              <a:rPr dirty="0" sz="1300" spc="-85" b="1">
                <a:solidFill>
                  <a:srgbClr val="595959"/>
                </a:solidFill>
                <a:latin typeface="Tahoma"/>
                <a:cs typeface="Tahoma"/>
              </a:rPr>
              <a:t> eligible</a:t>
            </a:r>
            <a:r>
              <a:rPr dirty="0" sz="1300" spc="-9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70" b="1">
                <a:solidFill>
                  <a:srgbClr val="595959"/>
                </a:solidFill>
                <a:latin typeface="Tahoma"/>
                <a:cs typeface="Tahoma"/>
              </a:rPr>
              <a:t>virtual</a:t>
            </a:r>
            <a:r>
              <a:rPr dirty="0" sz="1300" spc="-8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90" b="1">
                <a:solidFill>
                  <a:srgbClr val="595959"/>
                </a:solidFill>
                <a:latin typeface="Tahoma"/>
                <a:cs typeface="Tahoma"/>
              </a:rPr>
              <a:t>deadline</a:t>
            </a:r>
            <a:r>
              <a:rPr dirty="0" sz="1300" spc="-8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65" b="1">
                <a:solidFill>
                  <a:srgbClr val="595959"/>
                </a:solidFill>
                <a:latin typeface="Tahoma"/>
                <a:cs typeface="Tahoma"/>
              </a:rPr>
              <a:t>first</a:t>
            </a:r>
            <a:r>
              <a:rPr dirty="0" sz="1300" spc="-8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595959"/>
                </a:solidFill>
                <a:latin typeface="Tahoma"/>
                <a:cs typeface="Tahoma"/>
              </a:rPr>
              <a:t>scheduling</a:t>
            </a:r>
            <a:endParaRPr sz="1300">
              <a:latin typeface="Tahoma"/>
              <a:cs typeface="Tahoma"/>
            </a:endParaRPr>
          </a:p>
          <a:p>
            <a:pPr marL="12700" marR="29209">
              <a:lnSpc>
                <a:spcPct val="114999"/>
              </a:lnSpc>
              <a:spcBef>
                <a:spcPts val="1200"/>
              </a:spcBef>
            </a:pPr>
            <a:r>
              <a:rPr dirty="0" sz="1300" spc="60">
                <a:solidFill>
                  <a:srgbClr val="595959"/>
                </a:solidFill>
                <a:latin typeface="Tahoma"/>
                <a:cs typeface="Tahoma"/>
              </a:rPr>
              <a:t>EEVDF</a:t>
            </a:r>
            <a:r>
              <a:rPr dirty="0" sz="13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fue</a:t>
            </a:r>
            <a:r>
              <a:rPr dirty="0" sz="13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descrito</a:t>
            </a:r>
            <a:r>
              <a:rPr dirty="0" sz="13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3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primera</a:t>
            </a:r>
            <a:r>
              <a:rPr dirty="0" sz="13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vez</a:t>
            </a:r>
            <a:r>
              <a:rPr dirty="0" sz="13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artículo</a:t>
            </a:r>
            <a:r>
              <a:rPr dirty="0" sz="13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1995</a:t>
            </a:r>
            <a:r>
              <a:rPr dirty="0" sz="13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titulado</a:t>
            </a:r>
            <a:r>
              <a:rPr dirty="0" sz="13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"Earliest</a:t>
            </a:r>
            <a:r>
              <a:rPr dirty="0" sz="13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Eligible</a:t>
            </a:r>
            <a:r>
              <a:rPr dirty="0" sz="13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Virtual</a:t>
            </a:r>
            <a:r>
              <a:rPr dirty="0" sz="13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Deadline</a:t>
            </a:r>
            <a:r>
              <a:rPr dirty="0" sz="13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First:</a:t>
            </a:r>
            <a:r>
              <a:rPr dirty="0" sz="13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55">
                <a:solidFill>
                  <a:srgbClr val="595959"/>
                </a:solidFill>
                <a:latin typeface="Tahoma"/>
                <a:cs typeface="Tahoma"/>
              </a:rPr>
              <a:t>A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Flexible</a:t>
            </a:r>
            <a:r>
              <a:rPr dirty="0" sz="13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and</a:t>
            </a:r>
            <a:r>
              <a:rPr dirty="0" sz="13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Accurate</a:t>
            </a:r>
            <a:r>
              <a:rPr dirty="0" sz="13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Mechanism</a:t>
            </a:r>
            <a:r>
              <a:rPr dirty="0" sz="13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for</a:t>
            </a:r>
            <a:r>
              <a:rPr dirty="0" sz="13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Proportional</a:t>
            </a:r>
            <a:r>
              <a:rPr dirty="0" sz="13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Share</a:t>
            </a:r>
            <a:r>
              <a:rPr dirty="0" sz="13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Resource</a:t>
            </a:r>
            <a:r>
              <a:rPr dirty="0" sz="13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Allocation"</a:t>
            </a:r>
            <a:r>
              <a:rPr dirty="0" sz="13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3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5">
                <a:solidFill>
                  <a:srgbClr val="595959"/>
                </a:solidFill>
                <a:latin typeface="Tahoma"/>
                <a:cs typeface="Tahoma"/>
              </a:rPr>
              <a:t>Ion</a:t>
            </a:r>
            <a:r>
              <a:rPr dirty="0" sz="13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Stoica</a:t>
            </a:r>
            <a:r>
              <a:rPr dirty="0" sz="13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3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Hussein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Abdel-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Wahab.</a:t>
            </a:r>
            <a:r>
              <a:rPr dirty="0" sz="13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Utiliza</a:t>
            </a:r>
            <a:r>
              <a:rPr dirty="0" sz="13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3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conceptos</a:t>
            </a:r>
            <a:r>
              <a:rPr dirty="0" sz="13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3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virtual,</a:t>
            </a:r>
            <a:r>
              <a:rPr dirty="0" sz="13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3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elegible,</a:t>
            </a:r>
            <a:r>
              <a:rPr dirty="0" sz="13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solicitudes</a:t>
            </a:r>
            <a:r>
              <a:rPr dirty="0" sz="13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virtuales</a:t>
            </a:r>
            <a:r>
              <a:rPr dirty="0" sz="13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3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plazos</a:t>
            </a:r>
            <a:r>
              <a:rPr dirty="0" sz="13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virtuales para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determinar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prioridad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programación.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propiedad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40">
                <a:solidFill>
                  <a:srgbClr val="595959"/>
                </a:solidFill>
                <a:latin typeface="Tahoma"/>
                <a:cs typeface="Tahoma"/>
              </a:rPr>
              <a:t>que,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cuando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trabajo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sigue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solicitando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servicio,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cantidad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servicio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obtenida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siempre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dentro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tamaño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máximo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quantum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tiene derecho.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scheduler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60">
                <a:solidFill>
                  <a:srgbClr val="595959"/>
                </a:solidFill>
                <a:latin typeface="Tahoma"/>
                <a:cs typeface="Tahoma"/>
              </a:rPr>
              <a:t>EEVDF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reemplazó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CFS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versión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6.6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Linux.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229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dirty="0" spc="-10"/>
              <a:t>Linux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0399" rIns="0" bIns="0" rtlCol="0" vert="horz">
            <a:spAutoFit/>
          </a:bodyPr>
          <a:lstStyle/>
          <a:p>
            <a:pPr marL="12700" marR="5080" indent="457200">
              <a:lnSpc>
                <a:spcPct val="114999"/>
              </a:lnSpc>
              <a:spcBef>
                <a:spcPts val="100"/>
              </a:spcBef>
            </a:pPr>
            <a:r>
              <a:rPr dirty="0" spc="-90" b="1">
                <a:latin typeface="Tahoma"/>
                <a:cs typeface="Tahoma"/>
              </a:rPr>
              <a:t>Prioridades</a:t>
            </a:r>
            <a:r>
              <a:rPr dirty="0" spc="-114" b="1">
                <a:latin typeface="Tahoma"/>
                <a:cs typeface="Tahoma"/>
              </a:rPr>
              <a:t> </a:t>
            </a:r>
            <a:r>
              <a:rPr dirty="0" spc="-80" b="1">
                <a:latin typeface="Tahoma"/>
                <a:cs typeface="Tahoma"/>
              </a:rPr>
              <a:t>y</a:t>
            </a:r>
            <a:r>
              <a:rPr dirty="0" spc="-120" b="1">
                <a:latin typeface="Tahoma"/>
                <a:cs typeface="Tahoma"/>
              </a:rPr>
              <a:t> </a:t>
            </a:r>
            <a:r>
              <a:rPr dirty="0" spc="-110" b="1">
                <a:latin typeface="Tahoma"/>
                <a:cs typeface="Tahoma"/>
              </a:rPr>
              <a:t>preemption</a:t>
            </a:r>
            <a:r>
              <a:rPr dirty="0" spc="-110"/>
              <a:t>:</a:t>
            </a:r>
            <a:r>
              <a:rPr dirty="0" spc="-150"/>
              <a:t> </a:t>
            </a:r>
            <a:r>
              <a:rPr dirty="0"/>
              <a:t>Aunque</a:t>
            </a:r>
            <a:r>
              <a:rPr dirty="0" spc="-145"/>
              <a:t> </a:t>
            </a:r>
            <a:r>
              <a:rPr dirty="0"/>
              <a:t>el</a:t>
            </a:r>
            <a:r>
              <a:rPr dirty="0" spc="-150"/>
              <a:t> </a:t>
            </a:r>
            <a:r>
              <a:rPr dirty="0"/>
              <a:t>núcleo</a:t>
            </a:r>
            <a:r>
              <a:rPr dirty="0" spc="-150"/>
              <a:t> </a:t>
            </a:r>
            <a:r>
              <a:rPr dirty="0"/>
              <a:t>Linux</a:t>
            </a:r>
            <a:r>
              <a:rPr dirty="0" spc="-150"/>
              <a:t> </a:t>
            </a:r>
            <a:r>
              <a:rPr dirty="0"/>
              <a:t>de</a:t>
            </a:r>
            <a:r>
              <a:rPr dirty="0" spc="-150"/>
              <a:t> </a:t>
            </a:r>
            <a:r>
              <a:rPr dirty="0"/>
              <a:t>la</a:t>
            </a:r>
            <a:r>
              <a:rPr dirty="0" spc="-150"/>
              <a:t> </a:t>
            </a:r>
            <a:r>
              <a:rPr dirty="0"/>
              <a:t>serie</a:t>
            </a:r>
            <a:r>
              <a:rPr dirty="0" spc="-145"/>
              <a:t> </a:t>
            </a:r>
            <a:r>
              <a:rPr dirty="0" spc="-20"/>
              <a:t>2.4</a:t>
            </a:r>
            <a:r>
              <a:rPr dirty="0" spc="-150"/>
              <a:t> </a:t>
            </a:r>
            <a:r>
              <a:rPr dirty="0"/>
              <a:t>no</a:t>
            </a:r>
            <a:r>
              <a:rPr dirty="0" spc="-150"/>
              <a:t> </a:t>
            </a:r>
            <a:r>
              <a:rPr dirty="0" spc="-25"/>
              <a:t>era </a:t>
            </a:r>
            <a:r>
              <a:rPr dirty="0"/>
              <a:t>completamente</a:t>
            </a:r>
            <a:r>
              <a:rPr dirty="0" spc="-170"/>
              <a:t> </a:t>
            </a:r>
            <a:r>
              <a:rPr dirty="0"/>
              <a:t>preemptivo</a:t>
            </a:r>
            <a:r>
              <a:rPr dirty="0" spc="-170"/>
              <a:t> </a:t>
            </a:r>
            <a:r>
              <a:rPr dirty="0"/>
              <a:t>en</a:t>
            </a:r>
            <a:r>
              <a:rPr dirty="0" spc="-170"/>
              <a:t> </a:t>
            </a:r>
            <a:r>
              <a:rPr dirty="0" spc="-10"/>
              <a:t>su</a:t>
            </a:r>
            <a:r>
              <a:rPr dirty="0" spc="-170"/>
              <a:t> </a:t>
            </a:r>
            <a:r>
              <a:rPr dirty="0" spc="-25"/>
              <a:t>manejo</a:t>
            </a:r>
            <a:r>
              <a:rPr dirty="0" spc="-170"/>
              <a:t> </a:t>
            </a:r>
            <a:r>
              <a:rPr dirty="0"/>
              <a:t>de</a:t>
            </a:r>
            <a:r>
              <a:rPr dirty="0" spc="-165"/>
              <a:t> </a:t>
            </a:r>
            <a:r>
              <a:rPr dirty="0"/>
              <a:t>procesos</a:t>
            </a:r>
            <a:r>
              <a:rPr dirty="0" spc="-170"/>
              <a:t> </a:t>
            </a:r>
            <a:r>
              <a:rPr dirty="0"/>
              <a:t>en</a:t>
            </a:r>
            <a:r>
              <a:rPr dirty="0" spc="-170"/>
              <a:t> </a:t>
            </a:r>
            <a:r>
              <a:rPr dirty="0"/>
              <a:t>espacio</a:t>
            </a:r>
            <a:r>
              <a:rPr dirty="0" spc="-170"/>
              <a:t> </a:t>
            </a:r>
            <a:r>
              <a:rPr dirty="0"/>
              <a:t>de</a:t>
            </a:r>
            <a:r>
              <a:rPr dirty="0" spc="-170"/>
              <a:t> </a:t>
            </a:r>
            <a:r>
              <a:rPr dirty="0" spc="-20"/>
              <a:t>usuario,</a:t>
            </a:r>
            <a:r>
              <a:rPr dirty="0" spc="-170"/>
              <a:t> </a:t>
            </a:r>
            <a:r>
              <a:rPr dirty="0"/>
              <a:t>sí</a:t>
            </a:r>
            <a:r>
              <a:rPr dirty="0" spc="-165"/>
              <a:t> </a:t>
            </a:r>
            <a:r>
              <a:rPr dirty="0" spc="-10"/>
              <a:t>tenía </a:t>
            </a:r>
            <a:r>
              <a:rPr dirty="0"/>
              <a:t>soporte</a:t>
            </a:r>
            <a:r>
              <a:rPr dirty="0" spc="-140"/>
              <a:t> </a:t>
            </a:r>
            <a:r>
              <a:rPr dirty="0"/>
              <a:t>básico</a:t>
            </a:r>
            <a:r>
              <a:rPr dirty="0" spc="-135"/>
              <a:t> </a:t>
            </a:r>
            <a:r>
              <a:rPr dirty="0" spc="-20"/>
              <a:t>para</a:t>
            </a:r>
            <a:r>
              <a:rPr dirty="0" spc="-135"/>
              <a:t> </a:t>
            </a:r>
            <a:r>
              <a:rPr dirty="0"/>
              <a:t>la</a:t>
            </a:r>
            <a:r>
              <a:rPr dirty="0" spc="-135"/>
              <a:t> </a:t>
            </a:r>
            <a:r>
              <a:rPr dirty="0"/>
              <a:t>preemption</a:t>
            </a:r>
            <a:r>
              <a:rPr dirty="0" spc="-140"/>
              <a:t> </a:t>
            </a:r>
            <a:r>
              <a:rPr dirty="0"/>
              <a:t>en</a:t>
            </a:r>
            <a:r>
              <a:rPr dirty="0" spc="-135"/>
              <a:t> </a:t>
            </a:r>
            <a:r>
              <a:rPr dirty="0"/>
              <a:t>el</a:t>
            </a:r>
            <a:r>
              <a:rPr dirty="0" spc="-135"/>
              <a:t> </a:t>
            </a:r>
            <a:r>
              <a:rPr dirty="0" spc="-25"/>
              <a:t>manejo</a:t>
            </a:r>
            <a:r>
              <a:rPr dirty="0" spc="-135"/>
              <a:t> </a:t>
            </a:r>
            <a:r>
              <a:rPr dirty="0"/>
              <a:t>de</a:t>
            </a:r>
            <a:r>
              <a:rPr dirty="0" spc="-135"/>
              <a:t> </a:t>
            </a:r>
            <a:r>
              <a:rPr dirty="0"/>
              <a:t>interrupciones</a:t>
            </a:r>
            <a:r>
              <a:rPr dirty="0" spc="-140"/>
              <a:t> </a:t>
            </a:r>
            <a:r>
              <a:rPr dirty="0"/>
              <a:t>y</a:t>
            </a:r>
            <a:r>
              <a:rPr dirty="0" spc="-135"/>
              <a:t> </a:t>
            </a:r>
            <a:r>
              <a:rPr dirty="0" spc="-25"/>
              <a:t>algunas</a:t>
            </a:r>
            <a:r>
              <a:rPr dirty="0" spc="-135"/>
              <a:t> </a:t>
            </a:r>
            <a:r>
              <a:rPr dirty="0" spc="-10"/>
              <a:t>operaciones </a:t>
            </a:r>
            <a:r>
              <a:rPr dirty="0"/>
              <a:t>críticas</a:t>
            </a:r>
            <a:r>
              <a:rPr dirty="0" spc="-105"/>
              <a:t> </a:t>
            </a:r>
            <a:r>
              <a:rPr dirty="0"/>
              <a:t>del</a:t>
            </a:r>
            <a:r>
              <a:rPr dirty="0" spc="-105"/>
              <a:t> </a:t>
            </a:r>
            <a:r>
              <a:rPr dirty="0" spc="-10"/>
              <a:t>kernel.</a:t>
            </a:r>
            <a:r>
              <a:rPr dirty="0" spc="-105"/>
              <a:t> </a:t>
            </a:r>
            <a:r>
              <a:rPr dirty="0"/>
              <a:t>Esto</a:t>
            </a:r>
            <a:r>
              <a:rPr dirty="0" spc="-105"/>
              <a:t> </a:t>
            </a:r>
            <a:r>
              <a:rPr dirty="0"/>
              <a:t>significa</a:t>
            </a:r>
            <a:r>
              <a:rPr dirty="0" spc="-105"/>
              <a:t> </a:t>
            </a:r>
            <a:r>
              <a:rPr dirty="0"/>
              <a:t>que</a:t>
            </a:r>
            <a:r>
              <a:rPr dirty="0" spc="-105"/>
              <a:t> </a:t>
            </a:r>
            <a:r>
              <a:rPr dirty="0"/>
              <a:t>ciertas</a:t>
            </a:r>
            <a:r>
              <a:rPr dirty="0" spc="-100"/>
              <a:t> </a:t>
            </a:r>
            <a:r>
              <a:rPr dirty="0"/>
              <a:t>tareas</a:t>
            </a:r>
            <a:r>
              <a:rPr dirty="0" spc="-105"/>
              <a:t> </a:t>
            </a:r>
            <a:r>
              <a:rPr dirty="0"/>
              <a:t>críticas</a:t>
            </a:r>
            <a:r>
              <a:rPr dirty="0" spc="-105"/>
              <a:t> </a:t>
            </a:r>
            <a:r>
              <a:rPr dirty="0"/>
              <a:t>podían</a:t>
            </a:r>
            <a:r>
              <a:rPr dirty="0" spc="-105"/>
              <a:t> </a:t>
            </a:r>
            <a:r>
              <a:rPr dirty="0"/>
              <a:t>interrumpir</a:t>
            </a:r>
            <a:r>
              <a:rPr dirty="0" spc="-105"/>
              <a:t> </a:t>
            </a:r>
            <a:r>
              <a:rPr dirty="0" spc="-10"/>
              <a:t>otras menos</a:t>
            </a:r>
            <a:r>
              <a:rPr dirty="0" spc="-160"/>
              <a:t> </a:t>
            </a:r>
            <a:r>
              <a:rPr dirty="0"/>
              <a:t>críticas</a:t>
            </a:r>
            <a:r>
              <a:rPr dirty="0" spc="-160"/>
              <a:t> </a:t>
            </a:r>
            <a:r>
              <a:rPr dirty="0" spc="-20"/>
              <a:t>para</a:t>
            </a:r>
            <a:r>
              <a:rPr dirty="0" spc="-160"/>
              <a:t> </a:t>
            </a:r>
            <a:r>
              <a:rPr dirty="0"/>
              <a:t>mejorar</a:t>
            </a:r>
            <a:r>
              <a:rPr dirty="0" spc="-160"/>
              <a:t> </a:t>
            </a:r>
            <a:r>
              <a:rPr dirty="0"/>
              <a:t>la</a:t>
            </a:r>
            <a:r>
              <a:rPr dirty="0" spc="-160"/>
              <a:t> </a:t>
            </a:r>
            <a:r>
              <a:rPr dirty="0" spc="-10"/>
              <a:t>capacidad</a:t>
            </a:r>
            <a:r>
              <a:rPr dirty="0" spc="-160"/>
              <a:t> </a:t>
            </a:r>
            <a:r>
              <a:rPr dirty="0"/>
              <a:t>de</a:t>
            </a:r>
            <a:r>
              <a:rPr dirty="0" spc="-160"/>
              <a:t> </a:t>
            </a:r>
            <a:r>
              <a:rPr dirty="0"/>
              <a:t>respuesta</a:t>
            </a:r>
            <a:r>
              <a:rPr dirty="0" spc="-160"/>
              <a:t> </a:t>
            </a:r>
            <a:r>
              <a:rPr dirty="0"/>
              <a:t>del</a:t>
            </a:r>
            <a:r>
              <a:rPr dirty="0" spc="-160"/>
              <a:t> </a:t>
            </a:r>
            <a:r>
              <a:rPr dirty="0" spc="-30"/>
              <a:t>sistema.</a:t>
            </a:r>
            <a:r>
              <a:rPr dirty="0" spc="-160"/>
              <a:t> </a:t>
            </a:r>
            <a:r>
              <a:rPr dirty="0"/>
              <a:t>Sin</a:t>
            </a:r>
            <a:r>
              <a:rPr dirty="0" spc="-160"/>
              <a:t> </a:t>
            </a:r>
            <a:r>
              <a:rPr dirty="0" spc="-35"/>
              <a:t>embargo,</a:t>
            </a:r>
            <a:r>
              <a:rPr dirty="0" spc="-160"/>
              <a:t> </a:t>
            </a:r>
            <a:r>
              <a:rPr dirty="0"/>
              <a:t>en</a:t>
            </a:r>
            <a:r>
              <a:rPr dirty="0" spc="-160"/>
              <a:t> </a:t>
            </a:r>
            <a:r>
              <a:rPr dirty="0" spc="-25"/>
              <a:t>el </a:t>
            </a:r>
            <a:r>
              <a:rPr dirty="0"/>
              <a:t>espacio</a:t>
            </a:r>
            <a:r>
              <a:rPr dirty="0" spc="-155"/>
              <a:t> </a:t>
            </a:r>
            <a:r>
              <a:rPr dirty="0"/>
              <a:t>de</a:t>
            </a:r>
            <a:r>
              <a:rPr dirty="0" spc="-155"/>
              <a:t> </a:t>
            </a:r>
            <a:r>
              <a:rPr dirty="0" spc="-20"/>
              <a:t>usuario,</a:t>
            </a:r>
            <a:r>
              <a:rPr dirty="0" spc="-160"/>
              <a:t> </a:t>
            </a:r>
            <a:r>
              <a:rPr dirty="0"/>
              <a:t>un</a:t>
            </a:r>
            <a:r>
              <a:rPr dirty="0" spc="-155"/>
              <a:t> </a:t>
            </a:r>
            <a:r>
              <a:rPr dirty="0"/>
              <a:t>proceso</a:t>
            </a:r>
            <a:r>
              <a:rPr dirty="0" spc="-155"/>
              <a:t> </a:t>
            </a:r>
            <a:r>
              <a:rPr dirty="0"/>
              <a:t>en</a:t>
            </a:r>
            <a:r>
              <a:rPr dirty="0" spc="-155"/>
              <a:t> </a:t>
            </a:r>
            <a:r>
              <a:rPr dirty="0"/>
              <a:t>ejecución</a:t>
            </a:r>
            <a:r>
              <a:rPr dirty="0" spc="-155"/>
              <a:t> </a:t>
            </a:r>
            <a:r>
              <a:rPr dirty="0"/>
              <a:t>no</a:t>
            </a:r>
            <a:r>
              <a:rPr dirty="0" spc="-155"/>
              <a:t> </a:t>
            </a:r>
            <a:r>
              <a:rPr dirty="0"/>
              <a:t>sería</a:t>
            </a:r>
            <a:r>
              <a:rPr dirty="0" spc="-155"/>
              <a:t> </a:t>
            </a:r>
            <a:r>
              <a:rPr dirty="0"/>
              <a:t>necesariamente</a:t>
            </a:r>
            <a:r>
              <a:rPr dirty="0" spc="-155"/>
              <a:t> </a:t>
            </a:r>
            <a:r>
              <a:rPr dirty="0"/>
              <a:t>interrumpido</a:t>
            </a:r>
            <a:r>
              <a:rPr dirty="0" spc="-155"/>
              <a:t> </a:t>
            </a:r>
            <a:r>
              <a:rPr dirty="0" spc="-10"/>
              <a:t>hasta </a:t>
            </a:r>
            <a:r>
              <a:rPr dirty="0"/>
              <a:t>que</a:t>
            </a:r>
            <a:r>
              <a:rPr dirty="0" spc="-170"/>
              <a:t> </a:t>
            </a:r>
            <a:r>
              <a:rPr dirty="0"/>
              <a:t>finalizara</a:t>
            </a:r>
            <a:r>
              <a:rPr dirty="0" spc="-165"/>
              <a:t> </a:t>
            </a:r>
            <a:r>
              <a:rPr dirty="0" spc="-10"/>
              <a:t>su</a:t>
            </a:r>
            <a:r>
              <a:rPr dirty="0" spc="-165"/>
              <a:t> </a:t>
            </a:r>
            <a:r>
              <a:rPr dirty="0"/>
              <a:t>quantum</a:t>
            </a:r>
            <a:r>
              <a:rPr dirty="0" spc="-170"/>
              <a:t> </a:t>
            </a:r>
            <a:r>
              <a:rPr dirty="0"/>
              <a:t>de</a:t>
            </a:r>
            <a:r>
              <a:rPr dirty="0" spc="-165"/>
              <a:t> </a:t>
            </a:r>
            <a:r>
              <a:rPr dirty="0" spc="-25"/>
              <a:t>tiempo,</a:t>
            </a:r>
            <a:r>
              <a:rPr dirty="0" spc="-165"/>
              <a:t> </a:t>
            </a:r>
            <a:r>
              <a:rPr dirty="0" spc="-40"/>
              <a:t>a</a:t>
            </a:r>
            <a:r>
              <a:rPr dirty="0" spc="-170"/>
              <a:t> </a:t>
            </a:r>
            <a:r>
              <a:rPr dirty="0" spc="-10"/>
              <a:t>menos</a:t>
            </a:r>
            <a:r>
              <a:rPr dirty="0" spc="-165"/>
              <a:t> </a:t>
            </a:r>
            <a:r>
              <a:rPr dirty="0"/>
              <a:t>que</a:t>
            </a:r>
            <a:r>
              <a:rPr dirty="0" spc="-165"/>
              <a:t> </a:t>
            </a:r>
            <a:r>
              <a:rPr dirty="0" spc="-10"/>
              <a:t>esperara</a:t>
            </a:r>
            <a:r>
              <a:rPr dirty="0" spc="-170"/>
              <a:t> </a:t>
            </a:r>
            <a:r>
              <a:rPr dirty="0"/>
              <a:t>por</a:t>
            </a:r>
            <a:r>
              <a:rPr dirty="0" spc="-165"/>
              <a:t> </a:t>
            </a:r>
            <a:r>
              <a:rPr dirty="0" spc="-20"/>
              <a:t>I/O</a:t>
            </a:r>
            <a:r>
              <a:rPr dirty="0" spc="-165"/>
              <a:t> </a:t>
            </a:r>
            <a:r>
              <a:rPr dirty="0"/>
              <a:t>u</a:t>
            </a:r>
            <a:r>
              <a:rPr dirty="0" spc="-170"/>
              <a:t> </a:t>
            </a:r>
            <a:r>
              <a:rPr dirty="0"/>
              <a:t>otra</a:t>
            </a:r>
            <a:r>
              <a:rPr dirty="0" spc="-165"/>
              <a:t> </a:t>
            </a:r>
            <a:r>
              <a:rPr dirty="0" spc="-10"/>
              <a:t>interrupción.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229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dirty="0" spc="-35"/>
              <a:t>Linux:</a:t>
            </a:r>
            <a:r>
              <a:rPr dirty="0" spc="-45"/>
              <a:t> </a:t>
            </a:r>
            <a:r>
              <a:rPr dirty="0"/>
              <a:t>Principios</a:t>
            </a:r>
            <a:r>
              <a:rPr dirty="0" spc="-45"/>
              <a:t> </a:t>
            </a:r>
            <a:r>
              <a:rPr dirty="0" spc="110"/>
              <a:t>Básicos</a:t>
            </a:r>
            <a:r>
              <a:rPr dirty="0" spc="-40"/>
              <a:t> </a:t>
            </a:r>
            <a:r>
              <a:rPr dirty="0" spc="100"/>
              <a:t>del</a:t>
            </a:r>
            <a:r>
              <a:rPr dirty="0" spc="-114"/>
              <a:t> </a:t>
            </a:r>
            <a:r>
              <a:rPr dirty="0" spc="114"/>
              <a:t>CFS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0675" y="1319872"/>
            <a:ext cx="7872095" cy="3354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0" b="1">
                <a:solidFill>
                  <a:srgbClr val="595959"/>
                </a:solidFill>
                <a:latin typeface="Tahoma"/>
                <a:cs typeface="Tahoma"/>
              </a:rPr>
              <a:t>Fairness </a:t>
            </a:r>
            <a:r>
              <a:rPr dirty="0" sz="1600" spc="-35" b="1">
                <a:solidFill>
                  <a:srgbClr val="595959"/>
                </a:solidFill>
                <a:latin typeface="Tahoma"/>
                <a:cs typeface="Tahoma"/>
              </a:rPr>
              <a:t>(equidad)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6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funcionaria</a:t>
            </a:r>
            <a:r>
              <a:rPr dirty="0" sz="16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teoría:</a:t>
            </a:r>
            <a:endParaRPr sz="1600">
              <a:latin typeface="Tahoma"/>
              <a:cs typeface="Tahoma"/>
            </a:endParaRPr>
          </a:p>
          <a:p>
            <a:pPr marL="469900" marR="310515">
              <a:lnSpc>
                <a:spcPct val="114999"/>
              </a:lnSpc>
            </a:pPr>
            <a:r>
              <a:rPr dirty="0" sz="1600" spc="-60" i="1">
                <a:solidFill>
                  <a:srgbClr val="595959"/>
                </a:solidFill>
                <a:latin typeface="Trebuchet MS"/>
                <a:cs typeface="Trebuchet MS"/>
              </a:rPr>
              <a:t>Si</a:t>
            </a:r>
            <a:r>
              <a:rPr dirty="0" sz="1600" spc="-14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40" i="1">
                <a:solidFill>
                  <a:srgbClr val="595959"/>
                </a:solidFill>
                <a:latin typeface="Trebuchet MS"/>
                <a:cs typeface="Trebuchet MS"/>
              </a:rPr>
              <a:t>hay</a:t>
            </a:r>
            <a:r>
              <a:rPr dirty="0" sz="1600" spc="-14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35" i="1">
                <a:solidFill>
                  <a:srgbClr val="595959"/>
                </a:solidFill>
                <a:latin typeface="Trebuchet MS"/>
                <a:cs typeface="Trebuchet MS"/>
              </a:rPr>
              <a:t>n</a:t>
            </a:r>
            <a:r>
              <a:rPr dirty="0" sz="1600" spc="-14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80" i="1">
                <a:solidFill>
                  <a:srgbClr val="595959"/>
                </a:solidFill>
                <a:latin typeface="Trebuchet MS"/>
                <a:cs typeface="Trebuchet MS"/>
              </a:rPr>
              <a:t>procesos</a:t>
            </a:r>
            <a:r>
              <a:rPr dirty="0" sz="1600" spc="-14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50" i="1">
                <a:solidFill>
                  <a:srgbClr val="595959"/>
                </a:solidFill>
                <a:latin typeface="Trebuchet MS"/>
                <a:cs typeface="Trebuchet MS"/>
              </a:rPr>
              <a:t>cada</a:t>
            </a:r>
            <a:r>
              <a:rPr dirty="0" sz="1600" spc="-14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85" i="1">
                <a:solidFill>
                  <a:srgbClr val="595959"/>
                </a:solidFill>
                <a:latin typeface="Trebuchet MS"/>
                <a:cs typeface="Trebuchet MS"/>
              </a:rPr>
              <a:t>proceso</a:t>
            </a:r>
            <a:r>
              <a:rPr dirty="0" sz="1600" spc="-14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90" i="1">
                <a:solidFill>
                  <a:srgbClr val="595959"/>
                </a:solidFill>
                <a:latin typeface="Trebuchet MS"/>
                <a:cs typeface="Trebuchet MS"/>
              </a:rPr>
              <a:t>se</a:t>
            </a:r>
            <a:r>
              <a:rPr dirty="0" sz="1600" spc="-14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05" i="1">
                <a:solidFill>
                  <a:srgbClr val="595959"/>
                </a:solidFill>
                <a:latin typeface="Trebuchet MS"/>
                <a:cs typeface="Trebuchet MS"/>
              </a:rPr>
              <a:t>ejecutaría</a:t>
            </a:r>
            <a:r>
              <a:rPr dirty="0" sz="1600" spc="-14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95" i="1">
                <a:solidFill>
                  <a:srgbClr val="595959"/>
                </a:solidFill>
                <a:latin typeface="Trebuchet MS"/>
                <a:cs typeface="Trebuchet MS"/>
              </a:rPr>
              <a:t>en</a:t>
            </a:r>
            <a:r>
              <a:rPr dirty="0" sz="1600" spc="-14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40" i="1">
                <a:solidFill>
                  <a:srgbClr val="595959"/>
                </a:solidFill>
                <a:latin typeface="Trebuchet MS"/>
                <a:cs typeface="Trebuchet MS"/>
              </a:rPr>
              <a:t>el</a:t>
            </a:r>
            <a:r>
              <a:rPr dirty="0" sz="1600" spc="-14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80" i="1">
                <a:solidFill>
                  <a:srgbClr val="595959"/>
                </a:solidFill>
                <a:latin typeface="Trebuchet MS"/>
                <a:cs typeface="Trebuchet MS"/>
              </a:rPr>
              <a:t>procesador</a:t>
            </a:r>
            <a:r>
              <a:rPr dirty="0" sz="1600" spc="-14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85" i="1">
                <a:solidFill>
                  <a:srgbClr val="595959"/>
                </a:solidFill>
                <a:latin typeface="Trebuchet MS"/>
                <a:cs typeface="Trebuchet MS"/>
              </a:rPr>
              <a:t>todo</a:t>
            </a:r>
            <a:r>
              <a:rPr dirty="0" sz="1600" spc="-140" i="1">
                <a:solidFill>
                  <a:srgbClr val="595959"/>
                </a:solidFill>
                <a:latin typeface="Trebuchet MS"/>
                <a:cs typeface="Trebuchet MS"/>
              </a:rPr>
              <a:t> el</a:t>
            </a:r>
            <a:r>
              <a:rPr dirty="0" sz="1600" spc="-14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05" i="1">
                <a:solidFill>
                  <a:srgbClr val="595959"/>
                </a:solidFill>
                <a:latin typeface="Trebuchet MS"/>
                <a:cs typeface="Trebuchet MS"/>
              </a:rPr>
              <a:t>tiempo</a:t>
            </a:r>
            <a:r>
              <a:rPr dirty="0" sz="1600" spc="-14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40" i="1">
                <a:solidFill>
                  <a:srgbClr val="595959"/>
                </a:solidFill>
                <a:latin typeface="Trebuchet MS"/>
                <a:cs typeface="Trebuchet MS"/>
              </a:rPr>
              <a:t>a</a:t>
            </a:r>
            <a:r>
              <a:rPr dirty="0" sz="1600" spc="-14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10" i="1">
                <a:solidFill>
                  <a:srgbClr val="595959"/>
                </a:solidFill>
                <a:latin typeface="Trebuchet MS"/>
                <a:cs typeface="Trebuchet MS"/>
              </a:rPr>
              <a:t>1/n</a:t>
            </a:r>
            <a:r>
              <a:rPr dirty="0" sz="1600" spc="-14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95" i="1">
                <a:solidFill>
                  <a:srgbClr val="595959"/>
                </a:solidFill>
                <a:latin typeface="Trebuchet MS"/>
                <a:cs typeface="Trebuchet MS"/>
              </a:rPr>
              <a:t>de</a:t>
            </a:r>
            <a:r>
              <a:rPr dirty="0" sz="1600" spc="-14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25" i="1">
                <a:solidFill>
                  <a:srgbClr val="595959"/>
                </a:solidFill>
                <a:latin typeface="Trebuchet MS"/>
                <a:cs typeface="Trebuchet MS"/>
              </a:rPr>
              <a:t>la </a:t>
            </a:r>
            <a:r>
              <a:rPr dirty="0" sz="1600" spc="-85" i="1">
                <a:solidFill>
                  <a:srgbClr val="595959"/>
                </a:solidFill>
                <a:latin typeface="Trebuchet MS"/>
                <a:cs typeface="Trebuchet MS"/>
              </a:rPr>
              <a:t>potencia</a:t>
            </a:r>
            <a:r>
              <a:rPr dirty="0" sz="1600" spc="-14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95" i="1">
                <a:solidFill>
                  <a:srgbClr val="595959"/>
                </a:solidFill>
                <a:latin typeface="Trebuchet MS"/>
                <a:cs typeface="Trebuchet MS"/>
              </a:rPr>
              <a:t>de</a:t>
            </a:r>
            <a:r>
              <a:rPr dirty="0" sz="1600" spc="-14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0" i="1">
                <a:solidFill>
                  <a:srgbClr val="595959"/>
                </a:solidFill>
                <a:latin typeface="Trebuchet MS"/>
                <a:cs typeface="Trebuchet MS"/>
              </a:rPr>
              <a:t>este.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funciona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práctica:</a:t>
            </a:r>
            <a:endParaRPr sz="16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290"/>
              </a:spcBef>
            </a:pPr>
            <a:r>
              <a:rPr dirty="0" sz="1600" spc="-35" i="1">
                <a:solidFill>
                  <a:srgbClr val="595959"/>
                </a:solidFill>
                <a:latin typeface="Trebuchet MS"/>
                <a:cs typeface="Trebuchet MS"/>
              </a:rPr>
              <a:t>En</a:t>
            </a:r>
            <a:r>
              <a:rPr dirty="0" sz="1600" spc="-145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50" i="1">
                <a:solidFill>
                  <a:srgbClr val="595959"/>
                </a:solidFill>
                <a:latin typeface="Trebuchet MS"/>
                <a:cs typeface="Trebuchet MS"/>
              </a:rPr>
              <a:t>una</a:t>
            </a:r>
            <a:r>
              <a:rPr dirty="0" sz="1600" spc="-14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70" i="1">
                <a:solidFill>
                  <a:srgbClr val="595959"/>
                </a:solidFill>
                <a:latin typeface="Trebuchet MS"/>
                <a:cs typeface="Trebuchet MS"/>
              </a:rPr>
              <a:t>ventana</a:t>
            </a:r>
            <a:r>
              <a:rPr dirty="0" sz="1600" spc="-14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95" i="1">
                <a:solidFill>
                  <a:srgbClr val="595959"/>
                </a:solidFill>
                <a:latin typeface="Trebuchet MS"/>
                <a:cs typeface="Trebuchet MS"/>
              </a:rPr>
              <a:t>de</a:t>
            </a:r>
            <a:r>
              <a:rPr dirty="0" sz="1600" spc="-14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25" i="1">
                <a:solidFill>
                  <a:srgbClr val="595959"/>
                </a:solidFill>
                <a:latin typeface="Trebuchet MS"/>
                <a:cs typeface="Trebuchet MS"/>
              </a:rPr>
              <a:t>tiempo,</a:t>
            </a:r>
            <a:r>
              <a:rPr dirty="0" sz="1600" spc="-140" i="1">
                <a:solidFill>
                  <a:srgbClr val="595959"/>
                </a:solidFill>
                <a:latin typeface="Trebuchet MS"/>
                <a:cs typeface="Trebuchet MS"/>
              </a:rPr>
              <a:t> el </a:t>
            </a:r>
            <a:r>
              <a:rPr dirty="0" sz="1600" spc="-80" i="1">
                <a:solidFill>
                  <a:srgbClr val="595959"/>
                </a:solidFill>
                <a:latin typeface="Trebuchet MS"/>
                <a:cs typeface="Trebuchet MS"/>
              </a:rPr>
              <a:t>procesador</a:t>
            </a:r>
            <a:r>
              <a:rPr dirty="0" sz="1600" spc="-14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10" i="1">
                <a:solidFill>
                  <a:srgbClr val="595959"/>
                </a:solidFill>
                <a:latin typeface="Trebuchet MS"/>
                <a:cs typeface="Trebuchet MS"/>
              </a:rPr>
              <a:t>ejecuta</a:t>
            </a:r>
            <a:r>
              <a:rPr dirty="0" sz="1600" spc="-14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50" i="1">
                <a:solidFill>
                  <a:srgbClr val="595959"/>
                </a:solidFill>
                <a:latin typeface="Trebuchet MS"/>
                <a:cs typeface="Trebuchet MS"/>
              </a:rPr>
              <a:t>cada</a:t>
            </a:r>
            <a:r>
              <a:rPr dirty="0" sz="1600" spc="-14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00" i="1">
                <a:solidFill>
                  <a:srgbClr val="595959"/>
                </a:solidFill>
                <a:latin typeface="Trebuchet MS"/>
                <a:cs typeface="Trebuchet MS"/>
              </a:rPr>
              <a:t>tarea</a:t>
            </a:r>
            <a:r>
              <a:rPr dirty="0" sz="1600" spc="-14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85" i="1">
                <a:solidFill>
                  <a:srgbClr val="595959"/>
                </a:solidFill>
                <a:latin typeface="Trebuchet MS"/>
                <a:cs typeface="Trebuchet MS"/>
              </a:rPr>
              <a:t>durante</a:t>
            </a:r>
            <a:r>
              <a:rPr dirty="0" sz="1600" spc="-14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10" i="1">
                <a:solidFill>
                  <a:srgbClr val="595959"/>
                </a:solidFill>
                <a:latin typeface="Trebuchet MS"/>
                <a:cs typeface="Trebuchet MS"/>
              </a:rPr>
              <a:t>1/n</a:t>
            </a:r>
            <a:r>
              <a:rPr dirty="0" sz="1600" spc="-14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14" i="1">
                <a:solidFill>
                  <a:srgbClr val="595959"/>
                </a:solidFill>
                <a:latin typeface="Trebuchet MS"/>
                <a:cs typeface="Trebuchet MS"/>
              </a:rPr>
              <a:t>del</a:t>
            </a:r>
            <a:r>
              <a:rPr dirty="0" sz="1600" spc="-140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0" i="1">
                <a:solidFill>
                  <a:srgbClr val="595959"/>
                </a:solidFill>
                <a:latin typeface="Trebuchet MS"/>
                <a:cs typeface="Trebuchet MS"/>
              </a:rPr>
              <a:t>tiempo.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Eg.</a:t>
            </a:r>
            <a:endParaRPr sz="1600">
              <a:latin typeface="Tahoma"/>
              <a:cs typeface="Tahoma"/>
            </a:endParaRPr>
          </a:p>
          <a:p>
            <a:pPr marL="12700" marR="5080">
              <a:lnSpc>
                <a:spcPct val="114999"/>
              </a:lnSpc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tengo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5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procesos,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100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segundos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ejecución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“justa”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asigna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5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durante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20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ms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a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proceso.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229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dirty="0" spc="-35"/>
              <a:t>Linux:</a:t>
            </a:r>
            <a:r>
              <a:rPr dirty="0" spc="-45"/>
              <a:t> </a:t>
            </a:r>
            <a:r>
              <a:rPr dirty="0"/>
              <a:t>Principios</a:t>
            </a:r>
            <a:r>
              <a:rPr dirty="0" spc="-45"/>
              <a:t> </a:t>
            </a:r>
            <a:r>
              <a:rPr dirty="0" spc="110"/>
              <a:t>Básicos</a:t>
            </a:r>
            <a:r>
              <a:rPr dirty="0" spc="-40"/>
              <a:t> </a:t>
            </a:r>
            <a:r>
              <a:rPr dirty="0" spc="100"/>
              <a:t>del</a:t>
            </a:r>
            <a:r>
              <a:rPr dirty="0" spc="-114"/>
              <a:t> </a:t>
            </a:r>
            <a:r>
              <a:rPr dirty="0" spc="114"/>
              <a:t>CFS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0675" y="1283296"/>
            <a:ext cx="7872095" cy="86677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Eg.</a:t>
            </a:r>
            <a:endParaRPr sz="1600">
              <a:latin typeface="Tahoma"/>
              <a:cs typeface="Tahoma"/>
            </a:endParaRPr>
          </a:p>
          <a:p>
            <a:pPr marL="12700" marR="5080">
              <a:lnSpc>
                <a:spcPct val="114999"/>
              </a:lnSpc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tengo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5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procesos,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100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segundos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ejecución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“justa”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asigna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5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durante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20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ms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a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proceso.</a:t>
            </a:r>
            <a:endParaRPr sz="16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186162" y="2631562"/>
          <a:ext cx="2252345" cy="417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3070"/>
                <a:gridCol w="433070"/>
                <a:gridCol w="433070"/>
                <a:gridCol w="433069"/>
                <a:gridCol w="433069"/>
              </a:tblGrid>
              <a:tr h="417830"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dirty="0" sz="1400" spc="-25">
                          <a:latin typeface="Tahoma"/>
                          <a:cs typeface="Tahoma"/>
                        </a:rPr>
                        <a:t>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9715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dirty="0" sz="1400" spc="-25">
                          <a:latin typeface="Tahoma"/>
                          <a:cs typeface="Tahoma"/>
                        </a:rPr>
                        <a:t>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9715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dirty="0" sz="1400" spc="-25">
                          <a:latin typeface="Tahoma"/>
                          <a:cs typeface="Tahoma"/>
                        </a:rPr>
                        <a:t>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9715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dirty="0" sz="1400" spc="-25">
                          <a:latin typeface="Tahoma"/>
                          <a:cs typeface="Tahoma"/>
                        </a:rPr>
                        <a:t>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9715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dirty="0" sz="1400" spc="-25">
                          <a:latin typeface="Tahoma"/>
                          <a:cs typeface="Tahoma"/>
                        </a:rPr>
                        <a:t>20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9715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336250" y="3120645"/>
            <a:ext cx="185420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5770" algn="l"/>
                <a:tab pos="878840" algn="l"/>
                <a:tab pos="1311910" algn="l"/>
                <a:tab pos="1744980" algn="l"/>
              </a:tabLst>
            </a:pPr>
            <a:r>
              <a:rPr dirty="0" sz="1300" spc="5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300" spc="25">
                <a:solidFill>
                  <a:srgbClr val="595959"/>
                </a:solidFill>
                <a:latin typeface="Tahoma"/>
                <a:cs typeface="Tahoma"/>
              </a:rPr>
              <a:t>B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300" spc="55">
                <a:solidFill>
                  <a:srgbClr val="595959"/>
                </a:solidFill>
                <a:latin typeface="Tahoma"/>
                <a:cs typeface="Tahoma"/>
              </a:rPr>
              <a:t>C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300" spc="35">
                <a:solidFill>
                  <a:srgbClr val="595959"/>
                </a:solidFill>
                <a:latin typeface="Tahoma"/>
                <a:cs typeface="Tahoma"/>
              </a:rPr>
              <a:t>D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300" spc="-50">
                <a:solidFill>
                  <a:srgbClr val="595959"/>
                </a:solidFill>
                <a:latin typeface="Tahoma"/>
                <a:cs typeface="Tahoma"/>
              </a:rPr>
              <a:t>E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229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dirty="0" spc="-35"/>
              <a:t>Linux:</a:t>
            </a:r>
            <a:r>
              <a:rPr dirty="0" spc="-45"/>
              <a:t> </a:t>
            </a:r>
            <a:r>
              <a:rPr dirty="0"/>
              <a:t>Principios</a:t>
            </a:r>
            <a:r>
              <a:rPr dirty="0" spc="-45"/>
              <a:t> </a:t>
            </a:r>
            <a:r>
              <a:rPr dirty="0" spc="110"/>
              <a:t>Básicos</a:t>
            </a:r>
            <a:r>
              <a:rPr dirty="0" spc="-40"/>
              <a:t> </a:t>
            </a:r>
            <a:r>
              <a:rPr dirty="0" spc="100"/>
              <a:t>del</a:t>
            </a:r>
            <a:r>
              <a:rPr dirty="0" spc="-114"/>
              <a:t> </a:t>
            </a:r>
            <a:r>
              <a:rPr dirty="0" spc="114"/>
              <a:t>CFS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0675" y="1283296"/>
            <a:ext cx="7901305" cy="264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7625">
              <a:lnSpc>
                <a:spcPct val="114999"/>
              </a:lnSpc>
              <a:spcBef>
                <a:spcPts val="100"/>
              </a:spcBef>
            </a:pPr>
            <a:r>
              <a:rPr dirty="0" sz="1600" spc="-100" b="1">
                <a:solidFill>
                  <a:srgbClr val="595959"/>
                </a:solidFill>
                <a:latin typeface="Tahoma"/>
                <a:cs typeface="Tahoma"/>
              </a:rPr>
              <a:t>Fairness</a:t>
            </a: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55" b="1">
                <a:solidFill>
                  <a:srgbClr val="595959"/>
                </a:solidFill>
                <a:latin typeface="Tahoma"/>
                <a:cs typeface="Tahoma"/>
              </a:rPr>
              <a:t>(equidad)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: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CFS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busca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ofrecer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porción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justa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CPU,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basándose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concepto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equidad.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75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asignan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cuotas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fijas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(time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slices),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sino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intenta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reciba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porción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5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(proporcional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peso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prioridad).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600">
              <a:latin typeface="Tahoma"/>
              <a:cs typeface="Tahoma"/>
            </a:endParaRPr>
          </a:p>
          <a:p>
            <a:pPr marL="12700" marR="5080">
              <a:lnSpc>
                <a:spcPct val="114999"/>
              </a:lnSpc>
              <a:spcBef>
                <a:spcPts val="5"/>
              </a:spcBef>
            </a:pPr>
            <a:r>
              <a:rPr dirty="0" sz="1800" spc="-75" b="1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20" b="1">
                <a:solidFill>
                  <a:srgbClr val="595959"/>
                </a:solidFill>
                <a:latin typeface="Tahoma"/>
                <a:cs typeface="Tahoma"/>
              </a:rPr>
              <a:t>scheduler</a:t>
            </a:r>
            <a:r>
              <a:rPr dirty="0" sz="18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10" b="1">
                <a:solidFill>
                  <a:srgbClr val="595959"/>
                </a:solidFill>
                <a:latin typeface="Tahoma"/>
                <a:cs typeface="Tahoma"/>
              </a:rPr>
              <a:t>resuelve</a:t>
            </a:r>
            <a:r>
              <a:rPr dirty="0" sz="18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50" b="1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-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20" b="1">
                <a:solidFill>
                  <a:srgbClr val="595959"/>
                </a:solidFill>
                <a:latin typeface="Tahoma"/>
                <a:cs typeface="Tahoma"/>
              </a:rPr>
              <a:t>problema</a:t>
            </a:r>
            <a:r>
              <a:rPr dirty="0" sz="18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3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10" b="1">
                <a:solidFill>
                  <a:srgbClr val="595959"/>
                </a:solidFill>
                <a:latin typeface="Tahoma"/>
                <a:cs typeface="Tahoma"/>
              </a:rPr>
              <a:t>optimización:</a:t>
            </a:r>
            <a:r>
              <a:rPr dirty="0" sz="18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95" b="1">
                <a:solidFill>
                  <a:srgbClr val="595959"/>
                </a:solidFill>
                <a:latin typeface="Tahoma"/>
                <a:cs typeface="Tahoma"/>
              </a:rPr>
              <a:t>reducir</a:t>
            </a:r>
            <a:r>
              <a:rPr dirty="0" sz="18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5" b="1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800" spc="-14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14" b="1">
                <a:solidFill>
                  <a:srgbClr val="595959"/>
                </a:solidFill>
                <a:latin typeface="Tahoma"/>
                <a:cs typeface="Tahoma"/>
              </a:rPr>
              <a:t>varianza</a:t>
            </a:r>
            <a:r>
              <a:rPr dirty="0" sz="1800" spc="-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 b="1">
                <a:solidFill>
                  <a:srgbClr val="595959"/>
                </a:solidFill>
                <a:latin typeface="Tahoma"/>
                <a:cs typeface="Tahoma"/>
              </a:rPr>
              <a:t>del </a:t>
            </a:r>
            <a:r>
              <a:rPr dirty="0" sz="1800" spc="-114" b="1">
                <a:solidFill>
                  <a:srgbClr val="595959"/>
                </a:solidFill>
                <a:latin typeface="Tahoma"/>
                <a:cs typeface="Tahoma"/>
              </a:rPr>
              <a:t>vruntime</a:t>
            </a:r>
            <a:r>
              <a:rPr dirty="0" sz="1800" spc="-16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3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5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10" b="1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800" spc="-1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0" b="1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800" spc="-1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20" b="1">
                <a:solidFill>
                  <a:srgbClr val="595959"/>
                </a:solidFill>
                <a:latin typeface="Tahoma"/>
                <a:cs typeface="Tahoma"/>
              </a:rPr>
              <a:t>procesos.</a:t>
            </a:r>
            <a:r>
              <a:rPr dirty="0" sz="1800" spc="-1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20" b="1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800" spc="-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25" b="1">
                <a:solidFill>
                  <a:srgbClr val="595959"/>
                </a:solidFill>
                <a:latin typeface="Tahoma"/>
                <a:cs typeface="Tahoma"/>
              </a:rPr>
              <a:t>decir,</a:t>
            </a:r>
            <a:r>
              <a:rPr dirty="0" sz="1800" spc="-15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0" b="1">
                <a:solidFill>
                  <a:srgbClr val="595959"/>
                </a:solidFill>
                <a:latin typeface="Tahoma"/>
                <a:cs typeface="Tahoma"/>
              </a:rPr>
              <a:t>trata</a:t>
            </a:r>
            <a:r>
              <a:rPr dirty="0" sz="1800" spc="-15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3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5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30" b="1">
                <a:solidFill>
                  <a:srgbClr val="595959"/>
                </a:solidFill>
                <a:latin typeface="Tahoma"/>
                <a:cs typeface="Tahoma"/>
              </a:rPr>
              <a:t>mantener</a:t>
            </a:r>
            <a:r>
              <a:rPr dirty="0" sz="1800" spc="-15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95" b="1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14" b="1">
                <a:solidFill>
                  <a:srgbClr val="595959"/>
                </a:solidFill>
                <a:latin typeface="Tahoma"/>
                <a:cs typeface="Tahoma"/>
              </a:rPr>
              <a:t>runtime</a:t>
            </a:r>
            <a:r>
              <a:rPr dirty="0" sz="1800" spc="-15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3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14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 b="1">
                <a:solidFill>
                  <a:srgbClr val="595959"/>
                </a:solidFill>
                <a:latin typeface="Tahoma"/>
                <a:cs typeface="Tahoma"/>
              </a:rPr>
              <a:t>cada </a:t>
            </a:r>
            <a:r>
              <a:rPr dirty="0" sz="1800" spc="-114" b="1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80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595959"/>
                </a:solidFill>
                <a:latin typeface="Tahoma"/>
                <a:cs typeface="Tahoma"/>
              </a:rPr>
              <a:t>igual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229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dirty="0" spc="-35"/>
              <a:t>Linux:</a:t>
            </a:r>
            <a:r>
              <a:rPr dirty="0" spc="-45"/>
              <a:t> </a:t>
            </a:r>
            <a:r>
              <a:rPr dirty="0"/>
              <a:t>Principios</a:t>
            </a:r>
            <a:r>
              <a:rPr dirty="0" spc="-45"/>
              <a:t> </a:t>
            </a:r>
            <a:r>
              <a:rPr dirty="0" spc="110"/>
              <a:t>Básicos</a:t>
            </a:r>
            <a:r>
              <a:rPr dirty="0" spc="-40"/>
              <a:t> </a:t>
            </a:r>
            <a:r>
              <a:rPr dirty="0" spc="100"/>
              <a:t>del</a:t>
            </a:r>
            <a:r>
              <a:rPr dirty="0" spc="-114"/>
              <a:t> </a:t>
            </a:r>
            <a:r>
              <a:rPr dirty="0" spc="114"/>
              <a:t>CFS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0675" y="1319872"/>
            <a:ext cx="4171315" cy="205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90" b="1">
                <a:solidFill>
                  <a:srgbClr val="595959"/>
                </a:solidFill>
                <a:latin typeface="Tahoma"/>
                <a:cs typeface="Tahoma"/>
              </a:rPr>
              <a:t>Algoritmo</a:t>
            </a:r>
            <a:r>
              <a:rPr dirty="0" sz="16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 b="1">
                <a:solidFill>
                  <a:srgbClr val="595959"/>
                </a:solidFill>
                <a:latin typeface="Tahoma"/>
                <a:cs typeface="Tahoma"/>
              </a:rPr>
              <a:t>selección: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600">
              <a:latin typeface="Tahoma"/>
              <a:cs typeface="Tahoma"/>
            </a:endParaRPr>
          </a:p>
          <a:p>
            <a:pPr algn="just" marL="12700" marR="5080">
              <a:lnSpc>
                <a:spcPct val="114999"/>
              </a:lnSpc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8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40">
                <a:solidFill>
                  <a:srgbClr val="595959"/>
                </a:solidFill>
                <a:latin typeface="Tahoma"/>
                <a:cs typeface="Tahoma"/>
              </a:rPr>
              <a:t>vez</a:t>
            </a:r>
            <a:r>
              <a:rPr dirty="0" sz="18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8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50">
                <a:solidFill>
                  <a:srgbClr val="595959"/>
                </a:solidFill>
                <a:latin typeface="Tahoma"/>
                <a:cs typeface="Tahoma"/>
              </a:rPr>
              <a:t>tenga</a:t>
            </a:r>
            <a:r>
              <a:rPr dirty="0" sz="18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8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elegir</a:t>
            </a:r>
            <a:r>
              <a:rPr dirty="0" sz="18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85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proceso, </a:t>
            </a:r>
            <a:r>
              <a:rPr dirty="0" sz="1800" spc="-45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scheduler</a:t>
            </a:r>
            <a:r>
              <a:rPr dirty="0" sz="18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elige</a:t>
            </a:r>
            <a:r>
              <a:rPr dirty="0" sz="18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siempre</a:t>
            </a:r>
            <a:r>
              <a:rPr dirty="0" sz="18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45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8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esté</a:t>
            </a:r>
            <a:r>
              <a:rPr dirty="0" sz="18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más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atrás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vruntime</a:t>
            </a:r>
            <a:r>
              <a:rPr dirty="0" sz="18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consumido.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800">
              <a:latin typeface="Tahoma"/>
              <a:cs typeface="Tahoma"/>
            </a:endParaRPr>
          </a:p>
          <a:p>
            <a:pPr algn="just" marL="12700">
              <a:lnSpc>
                <a:spcPct val="100000"/>
              </a:lnSpc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Eso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todo!</a:t>
            </a:r>
            <a:endParaRPr sz="16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70125" y="1808075"/>
            <a:ext cx="3200399" cy="26669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229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dirty="0" spc="-35"/>
              <a:t>Linux:</a:t>
            </a:r>
            <a:r>
              <a:rPr dirty="0" spc="-45"/>
              <a:t> </a:t>
            </a:r>
            <a:r>
              <a:rPr dirty="0"/>
              <a:t>Principios</a:t>
            </a:r>
            <a:r>
              <a:rPr dirty="0" spc="-45"/>
              <a:t> </a:t>
            </a:r>
            <a:r>
              <a:rPr dirty="0" spc="110"/>
              <a:t>Básicos</a:t>
            </a:r>
            <a:r>
              <a:rPr dirty="0" spc="-40"/>
              <a:t> </a:t>
            </a:r>
            <a:r>
              <a:rPr dirty="0" spc="100"/>
              <a:t>del</a:t>
            </a:r>
            <a:r>
              <a:rPr dirty="0" spc="-114"/>
              <a:t> </a:t>
            </a:r>
            <a:r>
              <a:rPr dirty="0" spc="114"/>
              <a:t>CFS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0675" y="1319872"/>
            <a:ext cx="1619885" cy="830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90" b="1">
                <a:solidFill>
                  <a:srgbClr val="595959"/>
                </a:solidFill>
                <a:latin typeface="Tahoma"/>
                <a:cs typeface="Tahoma"/>
              </a:rPr>
              <a:t>Algoritmo</a:t>
            </a:r>
            <a:r>
              <a:rPr dirty="0" sz="1600" spc="-114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95" b="1">
                <a:solidFill>
                  <a:srgbClr val="595959"/>
                </a:solidFill>
                <a:latin typeface="Tahoma"/>
                <a:cs typeface="Tahoma"/>
              </a:rPr>
              <a:t>básico: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Ejemplo:</a:t>
            </a:r>
            <a:endParaRPr sz="16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394112" y="2277737"/>
          <a:ext cx="2751455" cy="2373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2865"/>
                <a:gridCol w="1332865"/>
              </a:tblGrid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Proceso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10" b="1">
                          <a:latin typeface="Arial"/>
                          <a:cs typeface="Arial"/>
                        </a:rPr>
                        <a:t>Runtime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400" spc="-50">
                          <a:latin typeface="Arial MT"/>
                          <a:cs typeface="Arial MT"/>
                        </a:rPr>
                        <a:t>A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10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1400" spc="-25">
                          <a:latin typeface="Arial MT"/>
                          <a:cs typeface="Arial MT"/>
                        </a:rPr>
                        <a:t>32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10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50">
                          <a:latin typeface="Arial MT"/>
                          <a:cs typeface="Arial MT"/>
                        </a:rPr>
                        <a:t>B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25">
                          <a:latin typeface="Arial MT"/>
                          <a:cs typeface="Arial MT"/>
                        </a:rPr>
                        <a:t>31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50">
                          <a:latin typeface="Arial MT"/>
                          <a:cs typeface="Arial MT"/>
                        </a:rPr>
                        <a:t>C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25">
                          <a:latin typeface="Arial MT"/>
                          <a:cs typeface="Arial MT"/>
                        </a:rPr>
                        <a:t>26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50">
                          <a:latin typeface="Arial MT"/>
                          <a:cs typeface="Arial MT"/>
                        </a:rPr>
                        <a:t>D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25">
                          <a:latin typeface="Arial MT"/>
                          <a:cs typeface="Arial MT"/>
                        </a:rPr>
                        <a:t>35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50">
                          <a:latin typeface="Arial MT"/>
                          <a:cs typeface="Arial MT"/>
                        </a:rPr>
                        <a:t>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25">
                          <a:latin typeface="Arial MT"/>
                          <a:cs typeface="Arial MT"/>
                        </a:rPr>
                        <a:t>37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7874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2588887" y="3466337"/>
            <a:ext cx="739140" cy="374650"/>
            <a:chOff x="2588887" y="3466337"/>
            <a:chExt cx="739140" cy="374650"/>
          </a:xfrm>
        </p:grpSpPr>
        <p:sp>
          <p:nvSpPr>
            <p:cNvPr id="6" name="object 6"/>
            <p:cNvSpPr/>
            <p:nvPr/>
          </p:nvSpPr>
          <p:spPr>
            <a:xfrm>
              <a:off x="2593650" y="3471100"/>
              <a:ext cx="729615" cy="365125"/>
            </a:xfrm>
            <a:custGeom>
              <a:avLst/>
              <a:gdLst/>
              <a:ahLst/>
              <a:cxnLst/>
              <a:rect l="l" t="t" r="r" b="b"/>
              <a:pathLst>
                <a:path w="729614" h="365125">
                  <a:moveTo>
                    <a:pt x="546899" y="364799"/>
                  </a:moveTo>
                  <a:lnTo>
                    <a:pt x="546899" y="273599"/>
                  </a:lnTo>
                  <a:lnTo>
                    <a:pt x="0" y="273599"/>
                  </a:lnTo>
                  <a:lnTo>
                    <a:pt x="0" y="91199"/>
                  </a:lnTo>
                  <a:lnTo>
                    <a:pt x="546899" y="91199"/>
                  </a:lnTo>
                  <a:lnTo>
                    <a:pt x="546899" y="0"/>
                  </a:lnTo>
                  <a:lnTo>
                    <a:pt x="729299" y="182399"/>
                  </a:lnTo>
                  <a:lnTo>
                    <a:pt x="546899" y="364799"/>
                  </a:lnTo>
                  <a:close/>
                </a:path>
              </a:pathLst>
            </a:custGeom>
            <a:solidFill>
              <a:srgbClr val="E9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593650" y="3471100"/>
              <a:ext cx="729615" cy="365125"/>
            </a:xfrm>
            <a:custGeom>
              <a:avLst/>
              <a:gdLst/>
              <a:ahLst/>
              <a:cxnLst/>
              <a:rect l="l" t="t" r="r" b="b"/>
              <a:pathLst>
                <a:path w="729614" h="365125">
                  <a:moveTo>
                    <a:pt x="0" y="91199"/>
                  </a:moveTo>
                  <a:lnTo>
                    <a:pt x="546899" y="91199"/>
                  </a:lnTo>
                  <a:lnTo>
                    <a:pt x="546899" y="0"/>
                  </a:lnTo>
                  <a:lnTo>
                    <a:pt x="729299" y="182399"/>
                  </a:lnTo>
                  <a:lnTo>
                    <a:pt x="546899" y="364799"/>
                  </a:lnTo>
                  <a:lnTo>
                    <a:pt x="546899" y="273599"/>
                  </a:lnTo>
                  <a:lnTo>
                    <a:pt x="0" y="273599"/>
                  </a:lnTo>
                  <a:lnTo>
                    <a:pt x="0" y="91199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2746580" y="3549487"/>
            <a:ext cx="33274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Tahoma"/>
                <a:cs typeface="Tahoma"/>
              </a:rPr>
              <a:t>este!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dirty="0" spc="60"/>
              <a:t>Ejemplo</a:t>
            </a:r>
            <a:r>
              <a:rPr dirty="0" spc="-120"/>
              <a:t> </a:t>
            </a:r>
            <a:r>
              <a:rPr dirty="0" spc="95"/>
              <a:t>con</a:t>
            </a:r>
            <a:r>
              <a:rPr dirty="0" spc="-114"/>
              <a:t> </a:t>
            </a:r>
            <a:r>
              <a:rPr dirty="0" spc="105"/>
              <a:t>sched-sim</a:t>
            </a:r>
            <a:r>
              <a:rPr dirty="0" spc="-120"/>
              <a:t> </a:t>
            </a:r>
            <a:r>
              <a:rPr dirty="0"/>
              <a:t>(no</a:t>
            </a:r>
            <a:r>
              <a:rPr dirty="0" spc="-114"/>
              <a:t> </a:t>
            </a:r>
            <a:r>
              <a:rPr dirty="0" spc="50"/>
              <a:t>CFS)</a:t>
            </a:r>
          </a:p>
        </p:txBody>
      </p:sp>
      <p:sp>
        <p:nvSpPr>
          <p:cNvPr id="3" name="object 3"/>
          <p:cNvSpPr/>
          <p:nvPr/>
        </p:nvSpPr>
        <p:spPr>
          <a:xfrm>
            <a:off x="817300" y="1343025"/>
            <a:ext cx="7689215" cy="3648075"/>
          </a:xfrm>
          <a:custGeom>
            <a:avLst/>
            <a:gdLst/>
            <a:ahLst/>
            <a:cxnLst/>
            <a:rect l="l" t="t" r="r" b="b"/>
            <a:pathLst>
              <a:path w="7689215" h="3648075">
                <a:moveTo>
                  <a:pt x="0" y="0"/>
                </a:moveTo>
                <a:lnTo>
                  <a:pt x="7688699" y="0"/>
                </a:lnTo>
                <a:lnTo>
                  <a:pt x="7688699" y="3647999"/>
                </a:lnTo>
                <a:lnTo>
                  <a:pt x="0" y="36479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90325" y="1408429"/>
            <a:ext cx="5626735" cy="3454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2176780" indent="-3429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struct</a:t>
            </a:r>
            <a:r>
              <a:rPr dirty="0" sz="1500" spc="-3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proc*</a:t>
            </a:r>
            <a:r>
              <a:rPr dirty="0" sz="1500" spc="-2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spc="-10" b="1">
                <a:solidFill>
                  <a:srgbClr val="595959"/>
                </a:solidFill>
                <a:latin typeface="Courier New"/>
                <a:cs typeface="Courier New"/>
              </a:rPr>
              <a:t>select_next(){ </a:t>
            </a: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int</a:t>
            </a:r>
            <a:r>
              <a:rPr dirty="0" sz="1500" spc="-3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next_runtime</a:t>
            </a:r>
            <a:r>
              <a:rPr dirty="0" sz="1500" spc="-2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=</a:t>
            </a:r>
            <a:r>
              <a:rPr dirty="0" sz="1500" spc="-2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spc="-10" b="1">
                <a:solidFill>
                  <a:srgbClr val="595959"/>
                </a:solidFill>
                <a:latin typeface="Courier New"/>
                <a:cs typeface="Courier New"/>
              </a:rPr>
              <a:t>INT_MAX; </a:t>
            </a: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struct</a:t>
            </a:r>
            <a:r>
              <a:rPr dirty="0" sz="1500" spc="-3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proc*</a:t>
            </a:r>
            <a:r>
              <a:rPr dirty="0" sz="1500" spc="-2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next</a:t>
            </a:r>
            <a:r>
              <a:rPr dirty="0" sz="1500" spc="-2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=</a:t>
            </a:r>
            <a:r>
              <a:rPr dirty="0" sz="1500" spc="-2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spc="-10" b="1">
                <a:solidFill>
                  <a:srgbClr val="595959"/>
                </a:solidFill>
                <a:latin typeface="Courier New"/>
                <a:cs typeface="Courier New"/>
              </a:rPr>
              <a:t>NULL;</a:t>
            </a:r>
            <a:endParaRPr sz="1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500">
              <a:latin typeface="Courier New"/>
              <a:cs typeface="Courier New"/>
            </a:endParaRPr>
          </a:p>
          <a:p>
            <a:pPr marL="812800" marR="1033780" indent="-457200">
              <a:lnSpc>
                <a:spcPct val="100000"/>
              </a:lnSpc>
            </a:pP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for</a:t>
            </a:r>
            <a:r>
              <a:rPr dirty="0" sz="1500" spc="-1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(int</a:t>
            </a:r>
            <a:r>
              <a:rPr dirty="0" sz="1500" spc="-1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i</a:t>
            </a:r>
            <a:r>
              <a:rPr dirty="0" sz="1500" spc="-1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=</a:t>
            </a:r>
            <a:r>
              <a:rPr dirty="0" sz="1500" spc="-1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0;</a:t>
            </a:r>
            <a:r>
              <a:rPr dirty="0" sz="1500" spc="-1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i</a:t>
            </a:r>
            <a:r>
              <a:rPr dirty="0" sz="1500" spc="-1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&lt;</a:t>
            </a:r>
            <a:r>
              <a:rPr dirty="0" sz="1500" spc="-1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NUMPROC;</a:t>
            </a:r>
            <a:r>
              <a:rPr dirty="0" sz="1500" spc="-1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i++)</a:t>
            </a:r>
            <a:r>
              <a:rPr dirty="0" sz="1500" spc="-1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spc="-50" b="1">
                <a:solidFill>
                  <a:srgbClr val="595959"/>
                </a:solidFill>
                <a:latin typeface="Courier New"/>
                <a:cs typeface="Courier New"/>
              </a:rPr>
              <a:t>{ </a:t>
            </a: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if</a:t>
            </a:r>
            <a:r>
              <a:rPr dirty="0" sz="1500" spc="-3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(proc[i].status</a:t>
            </a:r>
            <a:r>
              <a:rPr dirty="0" sz="1500" spc="-3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==</a:t>
            </a:r>
            <a:r>
              <a:rPr dirty="0" sz="1500" spc="-3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RUNNABLE)</a:t>
            </a:r>
            <a:r>
              <a:rPr dirty="0" sz="1500" spc="-3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spc="-50" b="1">
                <a:solidFill>
                  <a:srgbClr val="595959"/>
                </a:solidFill>
                <a:latin typeface="Courier New"/>
                <a:cs typeface="Courier New"/>
              </a:rPr>
              <a:t>{</a:t>
            </a:r>
            <a:endParaRPr sz="1500">
              <a:latin typeface="Courier New"/>
              <a:cs typeface="Courier New"/>
            </a:endParaRPr>
          </a:p>
          <a:p>
            <a:pPr marL="1727200" marR="5080" indent="-457200">
              <a:lnSpc>
                <a:spcPct val="100000"/>
              </a:lnSpc>
            </a:pP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if</a:t>
            </a:r>
            <a:r>
              <a:rPr dirty="0" sz="1500" spc="-4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(proc[i].runtime</a:t>
            </a:r>
            <a:r>
              <a:rPr dirty="0" sz="1500" spc="-4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&lt;=</a:t>
            </a:r>
            <a:r>
              <a:rPr dirty="0" sz="1500" spc="-4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next_runtime)</a:t>
            </a:r>
            <a:r>
              <a:rPr dirty="0" sz="1500" spc="-4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spc="-50" b="1">
                <a:solidFill>
                  <a:srgbClr val="595959"/>
                </a:solidFill>
                <a:latin typeface="Courier New"/>
                <a:cs typeface="Courier New"/>
              </a:rPr>
              <a:t>{ </a:t>
            </a: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next_runtime</a:t>
            </a:r>
            <a:r>
              <a:rPr dirty="0" sz="1500" spc="-3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=</a:t>
            </a:r>
            <a:r>
              <a:rPr dirty="0" sz="1500" spc="-3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spc="-10" b="1">
                <a:solidFill>
                  <a:srgbClr val="595959"/>
                </a:solidFill>
                <a:latin typeface="Courier New"/>
                <a:cs typeface="Courier New"/>
              </a:rPr>
              <a:t>proc[i].runtime; </a:t>
            </a: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next</a:t>
            </a:r>
            <a:r>
              <a:rPr dirty="0" sz="1500" spc="-1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=</a:t>
            </a:r>
            <a:r>
              <a:rPr dirty="0" sz="1500" spc="-10" b="1">
                <a:solidFill>
                  <a:srgbClr val="595959"/>
                </a:solidFill>
                <a:latin typeface="Courier New"/>
                <a:cs typeface="Courier New"/>
              </a:rPr>
              <a:t> &amp;proc[i];</a:t>
            </a:r>
            <a:endParaRPr sz="1500">
              <a:latin typeface="Courier New"/>
              <a:cs typeface="Courier New"/>
            </a:endParaRPr>
          </a:p>
          <a:p>
            <a:pPr marL="1270000">
              <a:lnSpc>
                <a:spcPct val="100000"/>
              </a:lnSpc>
            </a:pPr>
            <a:r>
              <a:rPr dirty="0" sz="1500" spc="-50" b="1">
                <a:solidFill>
                  <a:srgbClr val="595959"/>
                </a:solidFill>
                <a:latin typeface="Courier New"/>
                <a:cs typeface="Courier New"/>
              </a:rPr>
              <a:t>}</a:t>
            </a:r>
            <a:endParaRPr sz="1500">
              <a:latin typeface="Courier New"/>
              <a:cs typeface="Courier New"/>
            </a:endParaRPr>
          </a:p>
          <a:p>
            <a:pPr marL="812800">
              <a:lnSpc>
                <a:spcPct val="100000"/>
              </a:lnSpc>
            </a:pPr>
            <a:r>
              <a:rPr dirty="0" sz="1500" spc="-50" b="1">
                <a:solidFill>
                  <a:srgbClr val="595959"/>
                </a:solidFill>
                <a:latin typeface="Courier New"/>
                <a:cs typeface="Courier New"/>
              </a:rPr>
              <a:t>}</a:t>
            </a:r>
            <a:endParaRPr sz="15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</a:pPr>
            <a:r>
              <a:rPr dirty="0" sz="1500" spc="-50" b="1">
                <a:solidFill>
                  <a:srgbClr val="595959"/>
                </a:solidFill>
                <a:latin typeface="Courier New"/>
                <a:cs typeface="Courier New"/>
              </a:rPr>
              <a:t>}</a:t>
            </a:r>
            <a:endParaRPr sz="1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5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</a:pPr>
            <a:r>
              <a:rPr dirty="0" sz="1500" b="1">
                <a:solidFill>
                  <a:srgbClr val="595959"/>
                </a:solidFill>
                <a:latin typeface="Courier New"/>
                <a:cs typeface="Courier New"/>
              </a:rPr>
              <a:t>return</a:t>
            </a:r>
            <a:r>
              <a:rPr dirty="0" sz="1500" spc="-3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500" spc="-10" b="1">
                <a:solidFill>
                  <a:srgbClr val="595959"/>
                </a:solidFill>
                <a:latin typeface="Courier New"/>
                <a:cs typeface="Courier New"/>
              </a:rPr>
              <a:t>next;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500" spc="-50" b="1">
                <a:solidFill>
                  <a:srgbClr val="595959"/>
                </a:solidFill>
                <a:latin typeface="Courier New"/>
                <a:cs typeface="Courier New"/>
              </a:rPr>
              <a:t>}</a:t>
            </a:r>
            <a:endParaRPr sz="1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229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dirty="0" spc="-35"/>
              <a:t>Linux:</a:t>
            </a:r>
            <a:r>
              <a:rPr dirty="0" spc="-45"/>
              <a:t> </a:t>
            </a:r>
            <a:r>
              <a:rPr dirty="0"/>
              <a:t>Principios</a:t>
            </a:r>
            <a:r>
              <a:rPr dirty="0" spc="-45"/>
              <a:t> </a:t>
            </a:r>
            <a:r>
              <a:rPr dirty="0" spc="110"/>
              <a:t>Básicos</a:t>
            </a:r>
            <a:r>
              <a:rPr dirty="0" spc="-40"/>
              <a:t> </a:t>
            </a:r>
            <a:r>
              <a:rPr dirty="0" spc="100"/>
              <a:t>del</a:t>
            </a:r>
            <a:r>
              <a:rPr dirty="0" spc="-114"/>
              <a:t> </a:t>
            </a:r>
            <a:r>
              <a:rPr dirty="0" spc="114"/>
              <a:t>CFS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0675" y="1319872"/>
            <a:ext cx="7478395" cy="1110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30" b="1">
                <a:solidFill>
                  <a:srgbClr val="595959"/>
                </a:solidFill>
                <a:latin typeface="Tahoma"/>
                <a:cs typeface="Tahoma"/>
              </a:rPr>
              <a:t>¿Cómo </a:t>
            </a:r>
            <a:r>
              <a:rPr dirty="0" sz="1600" spc="-120" b="1">
                <a:solidFill>
                  <a:srgbClr val="595959"/>
                </a:solidFill>
                <a:latin typeface="Tahoma"/>
                <a:cs typeface="Tahoma"/>
              </a:rPr>
              <a:t>modelamos </a:t>
            </a:r>
            <a:r>
              <a:rPr dirty="0" sz="1600" spc="-85" b="1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5" b="1">
                <a:solidFill>
                  <a:srgbClr val="595959"/>
                </a:solidFill>
                <a:latin typeface="Tahoma"/>
                <a:cs typeface="Tahoma"/>
              </a:rPr>
              <a:t>concepto</a:t>
            </a:r>
            <a:r>
              <a:rPr dirty="0" sz="16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 b="1">
                <a:solidFill>
                  <a:srgbClr val="595959"/>
                </a:solidFill>
                <a:latin typeface="Tahoma"/>
                <a:cs typeface="Tahoma"/>
              </a:rPr>
              <a:t>prioridad?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600">
              <a:latin typeface="Tahoma"/>
              <a:cs typeface="Tahoma"/>
            </a:endParaRPr>
          </a:p>
          <a:p>
            <a:pPr marL="12700" marR="5080">
              <a:lnSpc>
                <a:spcPct val="114999"/>
              </a:lnSpc>
            </a:pP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prioridad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corresponde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pesos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procesos.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2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pesa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los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demás.</a:t>
            </a:r>
            <a:endParaRPr sz="16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484250" y="2806287"/>
          <a:ext cx="2251710" cy="417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2965"/>
                <a:gridCol w="325754"/>
                <a:gridCol w="325755"/>
                <a:gridCol w="325755"/>
                <a:gridCol w="325755"/>
              </a:tblGrid>
              <a:tr h="4178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25">
                          <a:latin typeface="Tahoma"/>
                          <a:cs typeface="Tahoma"/>
                        </a:rPr>
                        <a:t>40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965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25">
                          <a:latin typeface="Tahoma"/>
                          <a:cs typeface="Tahoma"/>
                        </a:rPr>
                        <a:t>15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965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25">
                          <a:latin typeface="Tahoma"/>
                          <a:cs typeface="Tahoma"/>
                        </a:rPr>
                        <a:t>15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965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25">
                          <a:latin typeface="Tahoma"/>
                          <a:cs typeface="Tahoma"/>
                        </a:rPr>
                        <a:t>15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965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25">
                          <a:latin typeface="Tahoma"/>
                          <a:cs typeface="Tahoma"/>
                        </a:rPr>
                        <a:t>15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B="0" marT="5715">
                    <a:lnL w="9525">
                      <a:solidFill>
                        <a:srgbClr val="1A1A1A"/>
                      </a:solidFill>
                      <a:prstDash val="solid"/>
                    </a:lnL>
                    <a:lnR w="9525">
                      <a:solidFill>
                        <a:srgbClr val="1A1A1A"/>
                      </a:solidFill>
                      <a:prstDash val="solid"/>
                    </a:lnR>
                    <a:lnT w="9525">
                      <a:solidFill>
                        <a:srgbClr val="1A1A1A"/>
                      </a:solidFill>
                      <a:prstDash val="solid"/>
                    </a:lnT>
                    <a:lnB w="9525">
                      <a:solidFill>
                        <a:srgbClr val="1A1A1A"/>
                      </a:solidFill>
                      <a:prstDash val="solid"/>
                    </a:lnB>
                    <a:solidFill>
                      <a:srgbClr val="E9EDEE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849137" y="3295370"/>
            <a:ext cx="13779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5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43412" y="3295370"/>
            <a:ext cx="109918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8455" algn="l"/>
                <a:tab pos="654685" algn="l"/>
                <a:tab pos="989965" algn="l"/>
              </a:tabLst>
            </a:pPr>
            <a:r>
              <a:rPr dirty="0" sz="1300" spc="25">
                <a:solidFill>
                  <a:srgbClr val="595959"/>
                </a:solidFill>
                <a:latin typeface="Tahoma"/>
                <a:cs typeface="Tahoma"/>
              </a:rPr>
              <a:t>B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300" spc="55">
                <a:solidFill>
                  <a:srgbClr val="595959"/>
                </a:solidFill>
                <a:latin typeface="Tahoma"/>
                <a:cs typeface="Tahoma"/>
              </a:rPr>
              <a:t>C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300" spc="35">
                <a:solidFill>
                  <a:srgbClr val="595959"/>
                </a:solidFill>
                <a:latin typeface="Tahoma"/>
                <a:cs typeface="Tahoma"/>
              </a:rPr>
              <a:t>D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300" spc="-50">
                <a:solidFill>
                  <a:srgbClr val="595959"/>
                </a:solidFill>
                <a:latin typeface="Tahoma"/>
                <a:cs typeface="Tahoma"/>
              </a:rPr>
              <a:t>E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229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dirty="0" spc="-35"/>
              <a:t>Linux:</a:t>
            </a:r>
            <a:r>
              <a:rPr dirty="0" spc="-45"/>
              <a:t> </a:t>
            </a:r>
            <a:r>
              <a:rPr dirty="0"/>
              <a:t>Principios</a:t>
            </a:r>
            <a:r>
              <a:rPr dirty="0" spc="-45"/>
              <a:t> </a:t>
            </a:r>
            <a:r>
              <a:rPr dirty="0" spc="110"/>
              <a:t>Básicos</a:t>
            </a:r>
            <a:r>
              <a:rPr dirty="0" spc="-40"/>
              <a:t> </a:t>
            </a:r>
            <a:r>
              <a:rPr dirty="0" spc="100"/>
              <a:t>del</a:t>
            </a:r>
            <a:r>
              <a:rPr dirty="0" spc="-114"/>
              <a:t> </a:t>
            </a:r>
            <a:r>
              <a:rPr dirty="0" spc="114"/>
              <a:t>CFS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0675" y="1319872"/>
            <a:ext cx="4298950" cy="2512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30" b="1">
                <a:solidFill>
                  <a:srgbClr val="595959"/>
                </a:solidFill>
                <a:latin typeface="Tahoma"/>
                <a:cs typeface="Tahoma"/>
              </a:rPr>
              <a:t>¿Cómo </a:t>
            </a:r>
            <a:r>
              <a:rPr dirty="0" sz="1600" spc="-120" b="1">
                <a:solidFill>
                  <a:srgbClr val="595959"/>
                </a:solidFill>
                <a:latin typeface="Tahoma"/>
                <a:cs typeface="Tahoma"/>
              </a:rPr>
              <a:t>modelamos </a:t>
            </a:r>
            <a:r>
              <a:rPr dirty="0" sz="1600" spc="-85" b="1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5" b="1">
                <a:solidFill>
                  <a:srgbClr val="595959"/>
                </a:solidFill>
                <a:latin typeface="Tahoma"/>
                <a:cs typeface="Tahoma"/>
              </a:rPr>
              <a:t>concepto</a:t>
            </a:r>
            <a:r>
              <a:rPr dirty="0" sz="16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 b="1">
                <a:solidFill>
                  <a:srgbClr val="595959"/>
                </a:solidFill>
                <a:latin typeface="Tahoma"/>
                <a:cs typeface="Tahoma"/>
              </a:rPr>
              <a:t>prioridad?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600">
              <a:latin typeface="Tahoma"/>
              <a:cs typeface="Tahoma"/>
            </a:endParaRPr>
          </a:p>
          <a:p>
            <a:pPr marL="12700" marR="5080">
              <a:lnSpc>
                <a:spcPct val="114999"/>
              </a:lnSpc>
            </a:pPr>
            <a:r>
              <a:rPr dirty="0" sz="1600" spc="-75" b="1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95" b="1">
                <a:solidFill>
                  <a:srgbClr val="595959"/>
                </a:solidFill>
                <a:latin typeface="Tahoma"/>
                <a:cs typeface="Tahoma"/>
              </a:rPr>
              <a:t>reloj</a:t>
            </a:r>
            <a:r>
              <a:rPr dirty="0" sz="16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0" b="1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5" b="1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6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5" b="1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50" b="1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90" b="1">
                <a:solidFill>
                  <a:srgbClr val="595959"/>
                </a:solidFill>
                <a:latin typeface="Tahoma"/>
                <a:cs typeface="Tahoma"/>
              </a:rPr>
              <a:t>prioridad</a:t>
            </a:r>
            <a:r>
              <a:rPr dirty="0" sz="16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14" b="1">
                <a:solidFill>
                  <a:srgbClr val="595959"/>
                </a:solidFill>
                <a:latin typeface="Tahoma"/>
                <a:cs typeface="Tahoma"/>
              </a:rPr>
              <a:t>va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 a </a:t>
            </a:r>
            <a:r>
              <a:rPr dirty="0" sz="1600" spc="-25" b="1">
                <a:solidFill>
                  <a:srgbClr val="595959"/>
                </a:solidFill>
                <a:latin typeface="Tahoma"/>
                <a:cs typeface="Tahoma"/>
              </a:rPr>
              <a:t>ir </a:t>
            </a:r>
            <a:r>
              <a:rPr dirty="0" sz="1600" spc="-150" b="1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0" b="1">
                <a:solidFill>
                  <a:srgbClr val="595959"/>
                </a:solidFill>
                <a:latin typeface="Tahoma"/>
                <a:cs typeface="Tahoma"/>
              </a:rPr>
              <a:t>lento.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Entonces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consumen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menos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vruntime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van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ser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seleccionados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más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frecuentemente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mismo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algoritmo.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600">
              <a:latin typeface="Tahoma"/>
              <a:cs typeface="Tahoma"/>
            </a:endParaRPr>
          </a:p>
          <a:p>
            <a:pPr marL="12700" marR="291465">
              <a:lnSpc>
                <a:spcPct val="114999"/>
              </a:lnSpc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consecuencia,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terminan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teniendo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share mayor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CPU.</a:t>
            </a:r>
            <a:endParaRPr sz="16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41350" y="1323600"/>
            <a:ext cx="3650249" cy="36502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229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dirty="0" spc="-35"/>
              <a:t>Linux:</a:t>
            </a:r>
            <a:r>
              <a:rPr dirty="0" spc="-45"/>
              <a:t> </a:t>
            </a:r>
            <a:r>
              <a:rPr dirty="0"/>
              <a:t>Principios</a:t>
            </a:r>
            <a:r>
              <a:rPr dirty="0" spc="-45"/>
              <a:t> </a:t>
            </a:r>
            <a:r>
              <a:rPr dirty="0" spc="110"/>
              <a:t>Básicos</a:t>
            </a:r>
            <a:r>
              <a:rPr dirty="0" spc="-40"/>
              <a:t> </a:t>
            </a:r>
            <a:r>
              <a:rPr dirty="0" spc="100"/>
              <a:t>del</a:t>
            </a:r>
            <a:r>
              <a:rPr dirty="0" spc="-114"/>
              <a:t> </a:t>
            </a:r>
            <a:r>
              <a:rPr dirty="0" spc="114"/>
              <a:t>CFS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3296" y="1285585"/>
            <a:ext cx="4457476" cy="346017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229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dirty="0" spc="-35"/>
              <a:t>Linux:</a:t>
            </a:r>
            <a:r>
              <a:rPr dirty="0" spc="-45"/>
              <a:t> </a:t>
            </a:r>
            <a:r>
              <a:rPr dirty="0"/>
              <a:t>Principios</a:t>
            </a:r>
            <a:r>
              <a:rPr dirty="0" spc="-45"/>
              <a:t> </a:t>
            </a:r>
            <a:r>
              <a:rPr dirty="0" spc="110"/>
              <a:t>Básicos</a:t>
            </a:r>
            <a:r>
              <a:rPr dirty="0" spc="-40"/>
              <a:t> </a:t>
            </a:r>
            <a:r>
              <a:rPr dirty="0" spc="100"/>
              <a:t>del</a:t>
            </a:r>
            <a:r>
              <a:rPr dirty="0" spc="-114"/>
              <a:t> </a:t>
            </a:r>
            <a:r>
              <a:rPr dirty="0" spc="114"/>
              <a:t>CFS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0675" y="1274913"/>
            <a:ext cx="7708265" cy="2356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4765">
              <a:lnSpc>
                <a:spcPct val="114999"/>
              </a:lnSpc>
              <a:spcBef>
                <a:spcPts val="100"/>
              </a:spcBef>
            </a:pPr>
            <a:r>
              <a:rPr dirty="0" sz="1600" spc="-75" b="1">
                <a:solidFill>
                  <a:srgbClr val="595959"/>
                </a:solidFill>
                <a:latin typeface="Tahoma"/>
                <a:cs typeface="Tahoma"/>
              </a:rPr>
              <a:t>Vi</a:t>
            </a:r>
            <a:r>
              <a:rPr dirty="0" sz="1900" spc="-75" b="1">
                <a:solidFill>
                  <a:srgbClr val="595959"/>
                </a:solidFill>
                <a:latin typeface="Tahoma"/>
                <a:cs typeface="Tahoma"/>
              </a:rPr>
              <a:t>rtual</a:t>
            </a:r>
            <a:r>
              <a:rPr dirty="0" sz="19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40" b="1">
                <a:solidFill>
                  <a:srgbClr val="595959"/>
                </a:solidFill>
                <a:latin typeface="Tahoma"/>
                <a:cs typeface="Tahoma"/>
              </a:rPr>
              <a:t>Runtime</a:t>
            </a:r>
            <a:r>
              <a:rPr dirty="0" sz="19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65" b="1">
                <a:solidFill>
                  <a:srgbClr val="595959"/>
                </a:solidFill>
                <a:latin typeface="Tahoma"/>
                <a:cs typeface="Tahoma"/>
              </a:rPr>
              <a:t>(vruntime)</a:t>
            </a:r>
            <a:r>
              <a:rPr dirty="0" sz="1900" spc="-165">
                <a:solidFill>
                  <a:srgbClr val="595959"/>
                </a:solidFill>
                <a:latin typeface="Tahoma"/>
                <a:cs typeface="Tahoma"/>
              </a:rPr>
              <a:t>: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9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9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19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35" b="1" i="1">
                <a:solidFill>
                  <a:srgbClr val="595959"/>
                </a:solidFill>
                <a:latin typeface="Trebuchet MS"/>
                <a:cs typeface="Trebuchet MS"/>
              </a:rPr>
              <a:t>asociado</a:t>
            </a:r>
            <a:r>
              <a:rPr dirty="0" sz="1900" spc="-15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spc="-45" b="1" i="1">
                <a:solidFill>
                  <a:srgbClr val="595959"/>
                </a:solidFill>
                <a:latin typeface="Trebuchet MS"/>
                <a:cs typeface="Trebuchet MS"/>
              </a:rPr>
              <a:t>un</a:t>
            </a:r>
            <a:r>
              <a:rPr dirty="0" sz="1900" spc="-14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spc="-10" b="1" i="1">
                <a:solidFill>
                  <a:srgbClr val="595959"/>
                </a:solidFill>
                <a:latin typeface="Trebuchet MS"/>
                <a:cs typeface="Trebuchet MS"/>
              </a:rPr>
              <a:t>contador </a:t>
            </a:r>
            <a:r>
              <a:rPr dirty="0" sz="1900" spc="-130" b="1" i="1">
                <a:solidFill>
                  <a:srgbClr val="595959"/>
                </a:solidFill>
                <a:latin typeface="Trebuchet MS"/>
                <a:cs typeface="Trebuchet MS"/>
              </a:rPr>
              <a:t>llamado</a:t>
            </a:r>
            <a:r>
              <a:rPr dirty="0" sz="1900" spc="-17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spc="-135" b="1" i="1">
                <a:solidFill>
                  <a:srgbClr val="595959"/>
                </a:solidFill>
                <a:latin typeface="Trebuchet MS"/>
                <a:cs typeface="Trebuchet MS"/>
              </a:rPr>
              <a:t>vruntime,</a:t>
            </a:r>
            <a:r>
              <a:rPr dirty="0" sz="1900" spc="-17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spc="-125" b="1" i="1">
                <a:solidFill>
                  <a:srgbClr val="595959"/>
                </a:solidFill>
                <a:latin typeface="Trebuchet MS"/>
                <a:cs typeface="Trebuchet MS"/>
              </a:rPr>
              <a:t>que</a:t>
            </a:r>
            <a:r>
              <a:rPr dirty="0" sz="1900" spc="-17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spc="-160" b="1" i="1">
                <a:solidFill>
                  <a:srgbClr val="595959"/>
                </a:solidFill>
                <a:latin typeface="Trebuchet MS"/>
                <a:cs typeface="Trebuchet MS"/>
              </a:rPr>
              <a:t>representa</a:t>
            </a:r>
            <a:r>
              <a:rPr dirty="0" sz="1900" spc="-17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spc="-160" b="1" i="1">
                <a:solidFill>
                  <a:srgbClr val="595959"/>
                </a:solidFill>
                <a:latin typeface="Trebuchet MS"/>
                <a:cs typeface="Trebuchet MS"/>
              </a:rPr>
              <a:t>la</a:t>
            </a:r>
            <a:r>
              <a:rPr dirty="0" sz="1900" spc="-17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spc="-125" b="1" i="1">
                <a:solidFill>
                  <a:srgbClr val="595959"/>
                </a:solidFill>
                <a:latin typeface="Trebuchet MS"/>
                <a:cs typeface="Trebuchet MS"/>
              </a:rPr>
              <a:t>cantidad</a:t>
            </a:r>
            <a:r>
              <a:rPr dirty="0" sz="1900" spc="-17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spc="-140" b="1" i="1">
                <a:solidFill>
                  <a:srgbClr val="595959"/>
                </a:solidFill>
                <a:latin typeface="Trebuchet MS"/>
                <a:cs typeface="Trebuchet MS"/>
              </a:rPr>
              <a:t>de</a:t>
            </a:r>
            <a:r>
              <a:rPr dirty="0" sz="1900" spc="-17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spc="-145" b="1" i="1">
                <a:solidFill>
                  <a:srgbClr val="595959"/>
                </a:solidFill>
                <a:latin typeface="Trebuchet MS"/>
                <a:cs typeface="Trebuchet MS"/>
              </a:rPr>
              <a:t>tiempo</a:t>
            </a:r>
            <a:r>
              <a:rPr dirty="0" sz="1900" spc="-17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spc="-125" b="1" i="1">
                <a:solidFill>
                  <a:srgbClr val="595959"/>
                </a:solidFill>
                <a:latin typeface="Trebuchet MS"/>
                <a:cs typeface="Trebuchet MS"/>
              </a:rPr>
              <a:t>que</a:t>
            </a:r>
            <a:r>
              <a:rPr dirty="0" sz="1900" spc="-17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spc="-160" b="1" i="1">
                <a:solidFill>
                  <a:srgbClr val="595959"/>
                </a:solidFill>
                <a:latin typeface="Trebuchet MS"/>
                <a:cs typeface="Trebuchet MS"/>
              </a:rPr>
              <a:t>el</a:t>
            </a:r>
            <a:r>
              <a:rPr dirty="0" sz="1900" spc="-17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spc="-150" b="1" i="1">
                <a:solidFill>
                  <a:srgbClr val="595959"/>
                </a:solidFill>
                <a:latin typeface="Trebuchet MS"/>
                <a:cs typeface="Trebuchet MS"/>
              </a:rPr>
              <a:t>proceso</a:t>
            </a:r>
            <a:r>
              <a:rPr dirty="0" sz="1900" spc="-17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spc="-25" b="1" i="1">
                <a:solidFill>
                  <a:srgbClr val="595959"/>
                </a:solidFill>
                <a:latin typeface="Trebuchet MS"/>
                <a:cs typeface="Trebuchet MS"/>
              </a:rPr>
              <a:t>ha </a:t>
            </a:r>
            <a:r>
              <a:rPr dirty="0" sz="1900" spc="-150" b="1" i="1">
                <a:solidFill>
                  <a:srgbClr val="595959"/>
                </a:solidFill>
                <a:latin typeface="Trebuchet MS"/>
                <a:cs typeface="Trebuchet MS"/>
              </a:rPr>
              <a:t>estado</a:t>
            </a:r>
            <a:r>
              <a:rPr dirty="0" sz="1900" spc="-16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spc="-130" b="1" i="1">
                <a:solidFill>
                  <a:srgbClr val="595959"/>
                </a:solidFill>
                <a:latin typeface="Trebuchet MS"/>
                <a:cs typeface="Trebuchet MS"/>
              </a:rPr>
              <a:t>ejecutándose</a:t>
            </a:r>
            <a:r>
              <a:rPr dirty="0" sz="1900" spc="-15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spc="-114" b="1" i="1">
                <a:solidFill>
                  <a:srgbClr val="595959"/>
                </a:solidFill>
                <a:latin typeface="Trebuchet MS"/>
                <a:cs typeface="Trebuchet MS"/>
              </a:rPr>
              <a:t>en</a:t>
            </a:r>
            <a:r>
              <a:rPr dirty="0" sz="1900" spc="-160" b="1" i="1">
                <a:solidFill>
                  <a:srgbClr val="595959"/>
                </a:solidFill>
                <a:latin typeface="Trebuchet MS"/>
                <a:cs typeface="Trebuchet MS"/>
              </a:rPr>
              <a:t> el</a:t>
            </a:r>
            <a:r>
              <a:rPr dirty="0" sz="1900" spc="-15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spc="-60" b="1" i="1">
                <a:solidFill>
                  <a:srgbClr val="595959"/>
                </a:solidFill>
                <a:latin typeface="Trebuchet MS"/>
                <a:cs typeface="Trebuchet MS"/>
              </a:rPr>
              <a:t>CPU</a:t>
            </a:r>
            <a:r>
              <a:rPr dirty="0" sz="1900" spc="-60">
                <a:solidFill>
                  <a:srgbClr val="595959"/>
                </a:solidFill>
                <a:latin typeface="Tahoma"/>
                <a:cs typeface="Tahoma"/>
              </a:rPr>
              <a:t>.</a:t>
            </a:r>
            <a:r>
              <a:rPr dirty="0" sz="19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9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vruntime</a:t>
            </a:r>
            <a:r>
              <a:rPr dirty="0" sz="19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9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incrementa</a:t>
            </a:r>
            <a:r>
              <a:rPr dirty="0" sz="19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9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9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tick</a:t>
            </a:r>
            <a:r>
              <a:rPr dirty="0" sz="19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595959"/>
                </a:solidFill>
                <a:latin typeface="Tahoma"/>
                <a:cs typeface="Tahoma"/>
              </a:rPr>
              <a:t>del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reloj</a:t>
            </a:r>
            <a:r>
              <a:rPr dirty="0" sz="19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mientras</a:t>
            </a:r>
            <a:r>
              <a:rPr dirty="0" sz="19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9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9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19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2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9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595959"/>
                </a:solidFill>
                <a:latin typeface="Tahoma"/>
                <a:cs typeface="Tahoma"/>
              </a:rPr>
              <a:t>ejecución.</a:t>
            </a:r>
            <a:endParaRPr sz="1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900">
              <a:latin typeface="Tahoma"/>
              <a:cs typeface="Tahoma"/>
            </a:endParaRPr>
          </a:p>
          <a:p>
            <a:pPr marL="12700" marR="5080">
              <a:lnSpc>
                <a:spcPct val="114999"/>
              </a:lnSpc>
            </a:pPr>
            <a:r>
              <a:rPr dirty="0" sz="1900" spc="-130" b="1" i="1">
                <a:solidFill>
                  <a:srgbClr val="595959"/>
                </a:solidFill>
                <a:latin typeface="Trebuchet MS"/>
                <a:cs typeface="Trebuchet MS"/>
              </a:rPr>
              <a:t>Los</a:t>
            </a:r>
            <a:r>
              <a:rPr dirty="0" sz="1900" spc="-17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spc="-150" b="1" i="1">
                <a:solidFill>
                  <a:srgbClr val="595959"/>
                </a:solidFill>
                <a:latin typeface="Trebuchet MS"/>
                <a:cs typeface="Trebuchet MS"/>
              </a:rPr>
              <a:t>procesos</a:t>
            </a:r>
            <a:r>
              <a:rPr dirty="0" sz="1900" spc="-16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spc="-125" b="1" i="1">
                <a:solidFill>
                  <a:srgbClr val="595959"/>
                </a:solidFill>
                <a:latin typeface="Trebuchet MS"/>
                <a:cs typeface="Trebuchet MS"/>
              </a:rPr>
              <a:t>que</a:t>
            </a:r>
            <a:r>
              <a:rPr dirty="0" sz="1900" spc="-16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spc="-110" b="1" i="1">
                <a:solidFill>
                  <a:srgbClr val="595959"/>
                </a:solidFill>
                <a:latin typeface="Trebuchet MS"/>
                <a:cs typeface="Trebuchet MS"/>
              </a:rPr>
              <a:t>consumen</a:t>
            </a:r>
            <a:r>
              <a:rPr dirty="0" sz="1900" spc="-16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spc="-120" b="1" i="1">
                <a:solidFill>
                  <a:srgbClr val="595959"/>
                </a:solidFill>
                <a:latin typeface="Trebuchet MS"/>
                <a:cs typeface="Trebuchet MS"/>
              </a:rPr>
              <a:t>vruntime</a:t>
            </a:r>
            <a:r>
              <a:rPr dirty="0" sz="1900" spc="-16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spc="-130" b="1" i="1">
                <a:solidFill>
                  <a:srgbClr val="595959"/>
                </a:solidFill>
                <a:latin typeface="Trebuchet MS"/>
                <a:cs typeface="Trebuchet MS"/>
              </a:rPr>
              <a:t>mas</a:t>
            </a:r>
            <a:r>
              <a:rPr dirty="0" sz="1900" spc="-17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spc="-130" b="1" i="1">
                <a:solidFill>
                  <a:srgbClr val="595959"/>
                </a:solidFill>
                <a:latin typeface="Trebuchet MS"/>
                <a:cs typeface="Trebuchet MS"/>
              </a:rPr>
              <a:t>lentamente</a:t>
            </a:r>
            <a:r>
              <a:rPr dirty="0" sz="1900" spc="-16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spc="-135" b="1" i="1">
                <a:solidFill>
                  <a:srgbClr val="595959"/>
                </a:solidFill>
                <a:latin typeface="Trebuchet MS"/>
                <a:cs typeface="Trebuchet MS"/>
              </a:rPr>
              <a:t>(con</a:t>
            </a:r>
            <a:r>
              <a:rPr dirty="0" sz="1900" spc="-16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spc="-155" b="1" i="1">
                <a:solidFill>
                  <a:srgbClr val="595959"/>
                </a:solidFill>
                <a:latin typeface="Trebuchet MS"/>
                <a:cs typeface="Trebuchet MS"/>
              </a:rPr>
              <a:t>respecto</a:t>
            </a:r>
            <a:r>
              <a:rPr dirty="0" sz="1900" spc="-16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spc="-160" b="1" i="1">
                <a:solidFill>
                  <a:srgbClr val="595959"/>
                </a:solidFill>
                <a:latin typeface="Trebuchet MS"/>
                <a:cs typeface="Trebuchet MS"/>
              </a:rPr>
              <a:t>al</a:t>
            </a:r>
            <a:r>
              <a:rPr dirty="0" sz="1900" spc="-16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spc="-85" b="1" i="1">
                <a:solidFill>
                  <a:srgbClr val="595959"/>
                </a:solidFill>
                <a:latin typeface="Trebuchet MS"/>
                <a:cs typeface="Trebuchet MS"/>
              </a:rPr>
              <a:t>tiempo </a:t>
            </a:r>
            <a:r>
              <a:rPr dirty="0" sz="1900" spc="-175" b="1" i="1">
                <a:solidFill>
                  <a:srgbClr val="595959"/>
                </a:solidFill>
                <a:latin typeface="Trebuchet MS"/>
                <a:cs typeface="Trebuchet MS"/>
              </a:rPr>
              <a:t>real)</a:t>
            </a:r>
            <a:r>
              <a:rPr dirty="0" sz="1900" spc="-18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spc="-110" b="1" i="1">
                <a:solidFill>
                  <a:srgbClr val="595959"/>
                </a:solidFill>
                <a:latin typeface="Trebuchet MS"/>
                <a:cs typeface="Trebuchet MS"/>
              </a:rPr>
              <a:t>son</a:t>
            </a:r>
            <a:r>
              <a:rPr dirty="0" sz="1900" spc="-17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spc="-140" b="1" i="1">
                <a:solidFill>
                  <a:srgbClr val="595959"/>
                </a:solidFill>
                <a:latin typeface="Trebuchet MS"/>
                <a:cs typeface="Trebuchet MS"/>
              </a:rPr>
              <a:t>los</a:t>
            </a:r>
            <a:r>
              <a:rPr dirty="0" sz="1900" spc="-17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spc="-125" b="1" i="1">
                <a:solidFill>
                  <a:srgbClr val="595959"/>
                </a:solidFill>
                <a:latin typeface="Trebuchet MS"/>
                <a:cs typeface="Trebuchet MS"/>
              </a:rPr>
              <a:t>que</a:t>
            </a:r>
            <a:r>
              <a:rPr dirty="0" sz="1900" spc="-17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spc="-125" b="1" i="1">
                <a:solidFill>
                  <a:srgbClr val="595959"/>
                </a:solidFill>
                <a:latin typeface="Trebuchet MS"/>
                <a:cs typeface="Trebuchet MS"/>
              </a:rPr>
              <a:t>tienen</a:t>
            </a:r>
            <a:r>
              <a:rPr dirty="0" sz="1900" spc="-18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spc="-150" b="1" i="1">
                <a:solidFill>
                  <a:srgbClr val="595959"/>
                </a:solidFill>
                <a:latin typeface="Trebuchet MS"/>
                <a:cs typeface="Trebuchet MS"/>
              </a:rPr>
              <a:t>mayor</a:t>
            </a:r>
            <a:r>
              <a:rPr dirty="0" sz="1900" spc="-17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spc="-140" b="1" i="1">
                <a:solidFill>
                  <a:srgbClr val="595959"/>
                </a:solidFill>
                <a:latin typeface="Trebuchet MS"/>
                <a:cs typeface="Trebuchet MS"/>
              </a:rPr>
              <a:t>prioridad</a:t>
            </a:r>
            <a:r>
              <a:rPr dirty="0" sz="1900" spc="-17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spc="-165" b="1" i="1">
                <a:solidFill>
                  <a:srgbClr val="595959"/>
                </a:solidFill>
                <a:latin typeface="Trebuchet MS"/>
                <a:cs typeface="Trebuchet MS"/>
              </a:rPr>
              <a:t>para</a:t>
            </a:r>
            <a:r>
              <a:rPr dirty="0" sz="1900" spc="-17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spc="-160" b="1" i="1">
                <a:solidFill>
                  <a:srgbClr val="595959"/>
                </a:solidFill>
                <a:latin typeface="Trebuchet MS"/>
                <a:cs typeface="Trebuchet MS"/>
              </a:rPr>
              <a:t>ser</a:t>
            </a:r>
            <a:r>
              <a:rPr dirty="0" sz="1900" spc="-17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900" spc="-60" b="1" i="1">
                <a:solidFill>
                  <a:srgbClr val="595959"/>
                </a:solidFill>
                <a:latin typeface="Trebuchet MS"/>
                <a:cs typeface="Trebuchet MS"/>
              </a:rPr>
              <a:t>ejecutados.</a:t>
            </a:r>
            <a:endParaRPr sz="1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229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dirty="0" spc="-40"/>
              <a:t>Linux:</a:t>
            </a:r>
            <a:r>
              <a:rPr dirty="0" spc="-160"/>
              <a:t> </a:t>
            </a:r>
            <a:r>
              <a:rPr dirty="0" spc="-10"/>
              <a:t>vruntime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0675" y="1283296"/>
            <a:ext cx="7650480" cy="1299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cálculo</a:t>
            </a:r>
            <a:r>
              <a:rPr dirty="0" sz="16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vruntime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esencial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5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mantener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6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equidad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en</a:t>
            </a:r>
            <a:r>
              <a:rPr dirty="0" sz="16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acceso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6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procesador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entre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diferentes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procesos.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vruntime </a:t>
            </a:r>
            <a:r>
              <a:rPr dirty="0" sz="1600" spc="-305" b="1" i="1">
                <a:solidFill>
                  <a:srgbClr val="595959"/>
                </a:solidFill>
                <a:latin typeface="Trebuchet MS"/>
                <a:cs typeface="Trebuchet MS"/>
              </a:rPr>
              <a:t>se</a:t>
            </a:r>
            <a:r>
              <a:rPr dirty="0" sz="1600" spc="18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35" b="1" i="1">
                <a:solidFill>
                  <a:srgbClr val="595959"/>
                </a:solidFill>
                <a:latin typeface="Trebuchet MS"/>
                <a:cs typeface="Trebuchet MS"/>
              </a:rPr>
              <a:t>calcula</a:t>
            </a:r>
            <a:r>
              <a:rPr dirty="0" sz="1600" spc="3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240" b="1" i="1">
                <a:solidFill>
                  <a:srgbClr val="595959"/>
                </a:solidFill>
                <a:latin typeface="Trebuchet MS"/>
                <a:cs typeface="Trebuchet MS"/>
              </a:rPr>
              <a:t>en</a:t>
            </a:r>
            <a:r>
              <a:rPr dirty="0" sz="1600" spc="12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20" b="1" i="1">
                <a:solidFill>
                  <a:srgbClr val="595959"/>
                </a:solidFill>
                <a:latin typeface="Trebuchet MS"/>
                <a:cs typeface="Trebuchet MS"/>
              </a:rPr>
              <a:t>función</a:t>
            </a:r>
            <a:r>
              <a:rPr dirty="0" sz="1600" spc="3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215" b="1" i="1">
                <a:solidFill>
                  <a:srgbClr val="595959"/>
                </a:solidFill>
                <a:latin typeface="Trebuchet MS"/>
                <a:cs typeface="Trebuchet MS"/>
              </a:rPr>
              <a:t>del</a:t>
            </a:r>
            <a:r>
              <a:rPr dirty="0" sz="1600" spc="9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50" b="1" i="1">
                <a:solidFill>
                  <a:srgbClr val="595959"/>
                </a:solidFill>
                <a:latin typeface="Trebuchet MS"/>
                <a:cs typeface="Trebuchet MS"/>
              </a:rPr>
              <a:t>tiempo</a:t>
            </a:r>
            <a:r>
              <a:rPr dirty="0" sz="1600" spc="3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85" b="1" i="1">
                <a:solidFill>
                  <a:srgbClr val="595959"/>
                </a:solidFill>
                <a:latin typeface="Trebuchet MS"/>
                <a:cs typeface="Trebuchet MS"/>
              </a:rPr>
              <a:t>que</a:t>
            </a:r>
            <a:r>
              <a:rPr dirty="0" sz="1600" spc="6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35" b="1" i="1">
                <a:solidFill>
                  <a:srgbClr val="595959"/>
                </a:solidFill>
                <a:latin typeface="Trebuchet MS"/>
                <a:cs typeface="Trebuchet MS"/>
              </a:rPr>
              <a:t>un</a:t>
            </a:r>
            <a:r>
              <a:rPr dirty="0" sz="1600" spc="3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55" b="1" i="1">
                <a:solidFill>
                  <a:srgbClr val="595959"/>
                </a:solidFill>
                <a:latin typeface="Trebuchet MS"/>
                <a:cs typeface="Trebuchet MS"/>
              </a:rPr>
              <a:t>proceso</a:t>
            </a:r>
            <a:r>
              <a:rPr dirty="0" sz="1600" spc="3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25" b="1" i="1">
                <a:solidFill>
                  <a:srgbClr val="595959"/>
                </a:solidFill>
                <a:latin typeface="Trebuchet MS"/>
                <a:cs typeface="Trebuchet MS"/>
              </a:rPr>
              <a:t>ha </a:t>
            </a:r>
            <a:r>
              <a:rPr dirty="0" sz="1600" spc="-125" b="1" i="1">
                <a:solidFill>
                  <a:srgbClr val="595959"/>
                </a:solidFill>
                <a:latin typeface="Trebuchet MS"/>
                <a:cs typeface="Trebuchet MS"/>
              </a:rPr>
              <a:t>ejecutado</a:t>
            </a:r>
            <a:r>
              <a:rPr dirty="0" sz="1600" spc="-14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00" b="1" i="1">
                <a:solidFill>
                  <a:srgbClr val="595959"/>
                </a:solidFill>
                <a:latin typeface="Trebuchet MS"/>
                <a:cs typeface="Trebuchet MS"/>
              </a:rPr>
              <a:t>en</a:t>
            </a:r>
            <a:r>
              <a:rPr dirty="0" sz="1600" spc="-14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35" b="1" i="1">
                <a:solidFill>
                  <a:srgbClr val="595959"/>
                </a:solidFill>
                <a:latin typeface="Trebuchet MS"/>
                <a:cs typeface="Trebuchet MS"/>
              </a:rPr>
              <a:t>el</a:t>
            </a:r>
            <a:r>
              <a:rPr dirty="0" sz="1600" spc="-14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70" b="1" i="1">
                <a:solidFill>
                  <a:srgbClr val="595959"/>
                </a:solidFill>
                <a:latin typeface="Trebuchet MS"/>
                <a:cs typeface="Trebuchet MS"/>
              </a:rPr>
              <a:t>CPU,</a:t>
            </a:r>
            <a:r>
              <a:rPr dirty="0" sz="1600" spc="-140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25" b="1" i="1">
                <a:solidFill>
                  <a:srgbClr val="595959"/>
                </a:solidFill>
                <a:latin typeface="Trebuchet MS"/>
                <a:cs typeface="Trebuchet MS"/>
              </a:rPr>
              <a:t>ajustado</a:t>
            </a:r>
            <a:r>
              <a:rPr dirty="0" sz="1600" spc="-14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30" b="1" i="1">
                <a:solidFill>
                  <a:srgbClr val="595959"/>
                </a:solidFill>
                <a:latin typeface="Trebuchet MS"/>
                <a:cs typeface="Trebuchet MS"/>
              </a:rPr>
              <a:t>por</a:t>
            </a:r>
            <a:r>
              <a:rPr dirty="0" sz="1600" spc="-14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85" b="1" i="1">
                <a:solidFill>
                  <a:srgbClr val="595959"/>
                </a:solidFill>
                <a:latin typeface="Trebuchet MS"/>
                <a:cs typeface="Trebuchet MS"/>
              </a:rPr>
              <a:t>su</a:t>
            </a:r>
            <a:r>
              <a:rPr dirty="0" sz="1600" spc="-145" b="1" i="1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dirty="0" sz="1600" spc="-10" b="1" i="1">
                <a:solidFill>
                  <a:srgbClr val="595959"/>
                </a:solidFill>
                <a:latin typeface="Trebuchet MS"/>
                <a:cs typeface="Trebuchet MS"/>
              </a:rPr>
              <a:t>prioridad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.</a:t>
            </a:r>
            <a:endParaRPr sz="1600">
              <a:latin typeface="Tahoma"/>
              <a:cs typeface="Tahoma"/>
            </a:endParaRPr>
          </a:p>
          <a:p>
            <a:pPr algn="just" marL="12700">
              <a:lnSpc>
                <a:spcPct val="100000"/>
              </a:lnSpc>
              <a:spcBef>
                <a:spcPts val="1485"/>
              </a:spcBef>
            </a:pP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fórmula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general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actualizar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vruntime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es: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9583" y="3659211"/>
            <a:ext cx="7642225" cy="481330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340360" indent="-327660">
              <a:lnSpc>
                <a:spcPct val="100000"/>
              </a:lnSpc>
              <a:spcBef>
                <a:spcPts val="330"/>
              </a:spcBef>
              <a:buFont typeface="Arial MT"/>
              <a:buChar char="●"/>
              <a:tabLst>
                <a:tab pos="340360" algn="l"/>
              </a:tabLst>
            </a:pPr>
            <a:r>
              <a:rPr dirty="0" sz="1300" spc="-114" b="1">
                <a:solidFill>
                  <a:srgbClr val="595959"/>
                </a:solidFill>
                <a:latin typeface="Tahoma"/>
                <a:cs typeface="Tahoma"/>
              </a:rPr>
              <a:t>delta_exec</a:t>
            </a:r>
            <a:r>
              <a:rPr dirty="0" sz="1300" spc="-10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cantidad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ha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estado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ejecutando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desde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última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actualización.</a:t>
            </a:r>
            <a:endParaRPr sz="1300">
              <a:latin typeface="Tahoma"/>
              <a:cs typeface="Tahoma"/>
            </a:endParaRPr>
          </a:p>
          <a:p>
            <a:pPr marL="340360" indent="-327660">
              <a:lnSpc>
                <a:spcPct val="100000"/>
              </a:lnSpc>
              <a:spcBef>
                <a:spcPts val="235"/>
              </a:spcBef>
              <a:buFont typeface="Arial MT"/>
              <a:buChar char="●"/>
              <a:tabLst>
                <a:tab pos="340360" algn="l"/>
              </a:tabLst>
            </a:pPr>
            <a:r>
              <a:rPr dirty="0" sz="1300" spc="-100" b="1">
                <a:solidFill>
                  <a:srgbClr val="595959"/>
                </a:solidFill>
                <a:latin typeface="Tahoma"/>
                <a:cs typeface="Tahoma"/>
              </a:rPr>
              <a:t>weight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peso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asociado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prioridad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proceso.</a:t>
            </a:r>
            <a:endParaRPr sz="13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64568" y="2831850"/>
            <a:ext cx="2662406" cy="53339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229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dirty="0" spc="-35"/>
              <a:t>Linux:</a:t>
            </a:r>
            <a:r>
              <a:rPr dirty="0" spc="-130"/>
              <a:t> </a:t>
            </a:r>
            <a:r>
              <a:rPr dirty="0" spc="75"/>
              <a:t>Runqueue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0675" y="1283296"/>
            <a:ext cx="7770495" cy="2549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20" b="1">
                <a:solidFill>
                  <a:srgbClr val="595959"/>
                </a:solidFill>
                <a:latin typeface="Tahoma"/>
                <a:cs typeface="Tahoma"/>
              </a:rPr>
              <a:t>runqueue</a:t>
            </a:r>
            <a:r>
              <a:rPr dirty="0" sz="1600" spc="-10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(cola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ejecución)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estructura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datos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utilizada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planificador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(scheduler)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gestionar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hacer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seguimiento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(tareas)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que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están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listos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ejecutarse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núcleo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CPU.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núcleo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5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propia runqueue,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contiene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tareas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están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listas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ejecutar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pero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están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ejecutándose</a:t>
            </a:r>
            <a:r>
              <a:rPr dirty="0" sz="16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ese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momento.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600">
              <a:latin typeface="Tahoma"/>
              <a:cs typeface="Tahoma"/>
            </a:endParaRPr>
          </a:p>
          <a:p>
            <a:pPr marL="12700" marR="92075">
              <a:lnSpc>
                <a:spcPct val="114999"/>
              </a:lnSpc>
            </a:pP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ejecutables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colocan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runqueue,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extrae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misma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tiene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menor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vruntime.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5" b="1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 esencialmente </a:t>
            </a:r>
            <a:r>
              <a:rPr dirty="0" sz="1600" spc="-130" b="1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114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90" b="1">
                <a:solidFill>
                  <a:srgbClr val="595959"/>
                </a:solidFill>
                <a:latin typeface="Tahoma"/>
                <a:cs typeface="Tahoma"/>
              </a:rPr>
              <a:t>priority-</a:t>
            </a: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queue,</a:t>
            </a:r>
            <a:r>
              <a:rPr dirty="0" sz="1600" spc="-10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donde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prioridad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menor vruntime.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229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dirty="0" spc="-35"/>
              <a:t>Linux:</a:t>
            </a:r>
            <a:r>
              <a:rPr dirty="0" spc="-130"/>
              <a:t> </a:t>
            </a:r>
            <a:r>
              <a:rPr dirty="0" spc="75"/>
              <a:t>Runqueue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/>
              <a:t>Estamos</a:t>
            </a:r>
            <a:r>
              <a:rPr dirty="0" spc="-165"/>
              <a:t> </a:t>
            </a:r>
            <a:r>
              <a:rPr dirty="0" spc="-10"/>
              <a:t>ignorando</a:t>
            </a:r>
            <a:r>
              <a:rPr dirty="0" spc="-165"/>
              <a:t> </a:t>
            </a:r>
            <a:r>
              <a:rPr dirty="0"/>
              <a:t>un</a:t>
            </a:r>
            <a:r>
              <a:rPr dirty="0" spc="-165"/>
              <a:t> </a:t>
            </a:r>
            <a:r>
              <a:rPr dirty="0"/>
              <a:t>problema</a:t>
            </a:r>
            <a:r>
              <a:rPr dirty="0" spc="-165"/>
              <a:t> </a:t>
            </a:r>
            <a:r>
              <a:rPr dirty="0"/>
              <a:t>importante:</a:t>
            </a:r>
            <a:r>
              <a:rPr dirty="0" spc="-170"/>
              <a:t> </a:t>
            </a:r>
            <a:r>
              <a:rPr dirty="0" spc="-130" b="1">
                <a:latin typeface="Tahoma"/>
                <a:cs typeface="Tahoma"/>
              </a:rPr>
              <a:t>¿Como</a:t>
            </a:r>
            <a:r>
              <a:rPr dirty="0" spc="-135" b="1">
                <a:latin typeface="Tahoma"/>
                <a:cs typeface="Tahoma"/>
              </a:rPr>
              <a:t> </a:t>
            </a:r>
            <a:r>
              <a:rPr dirty="0" spc="-130" b="1">
                <a:latin typeface="Tahoma"/>
                <a:cs typeface="Tahoma"/>
              </a:rPr>
              <a:t>hacemos </a:t>
            </a:r>
            <a:r>
              <a:rPr dirty="0" spc="-120" b="1">
                <a:latin typeface="Tahoma"/>
                <a:cs typeface="Tahoma"/>
              </a:rPr>
              <a:t>para</a:t>
            </a:r>
            <a:r>
              <a:rPr dirty="0" spc="-135" b="1">
                <a:latin typeface="Tahoma"/>
                <a:cs typeface="Tahoma"/>
              </a:rPr>
              <a:t> </a:t>
            </a:r>
            <a:r>
              <a:rPr dirty="0" spc="-105" b="1">
                <a:latin typeface="Tahoma"/>
                <a:cs typeface="Tahoma"/>
              </a:rPr>
              <a:t>elegir</a:t>
            </a:r>
            <a:r>
              <a:rPr dirty="0" spc="-135" b="1">
                <a:latin typeface="Tahoma"/>
                <a:cs typeface="Tahoma"/>
              </a:rPr>
              <a:t> </a:t>
            </a:r>
            <a:r>
              <a:rPr dirty="0" spc="-85" b="1">
                <a:latin typeface="Tahoma"/>
                <a:cs typeface="Tahoma"/>
              </a:rPr>
              <a:t>el</a:t>
            </a:r>
            <a:r>
              <a:rPr dirty="0" spc="-130" b="1">
                <a:latin typeface="Tahoma"/>
                <a:cs typeface="Tahoma"/>
              </a:rPr>
              <a:t> </a:t>
            </a:r>
            <a:r>
              <a:rPr dirty="0" spc="-100" b="1">
                <a:latin typeface="Tahoma"/>
                <a:cs typeface="Tahoma"/>
              </a:rPr>
              <a:t>proceso</a:t>
            </a:r>
            <a:r>
              <a:rPr dirty="0" spc="-130" b="1">
                <a:latin typeface="Tahoma"/>
                <a:cs typeface="Tahoma"/>
              </a:rPr>
              <a:t> </a:t>
            </a:r>
            <a:r>
              <a:rPr dirty="0" spc="-25" b="1">
                <a:latin typeface="Tahoma"/>
                <a:cs typeface="Tahoma"/>
              </a:rPr>
              <a:t>con </a:t>
            </a:r>
            <a:r>
              <a:rPr dirty="0" spc="-114" b="1">
                <a:latin typeface="Tahoma"/>
                <a:cs typeface="Tahoma"/>
              </a:rPr>
              <a:t>menor</a:t>
            </a:r>
            <a:r>
              <a:rPr dirty="0" spc="-135" b="1">
                <a:latin typeface="Tahoma"/>
                <a:cs typeface="Tahoma"/>
              </a:rPr>
              <a:t> </a:t>
            </a:r>
            <a:r>
              <a:rPr dirty="0" spc="-105" b="1">
                <a:latin typeface="Tahoma"/>
                <a:cs typeface="Tahoma"/>
              </a:rPr>
              <a:t>vruntime</a:t>
            </a:r>
            <a:r>
              <a:rPr dirty="0" spc="-130" b="1">
                <a:latin typeface="Tahoma"/>
                <a:cs typeface="Tahoma"/>
              </a:rPr>
              <a:t> </a:t>
            </a:r>
            <a:r>
              <a:rPr dirty="0" spc="-110" b="1">
                <a:latin typeface="Tahoma"/>
                <a:cs typeface="Tahoma"/>
              </a:rPr>
              <a:t>de</a:t>
            </a:r>
            <a:r>
              <a:rPr dirty="0" spc="-130" b="1">
                <a:latin typeface="Tahoma"/>
                <a:cs typeface="Tahoma"/>
              </a:rPr>
              <a:t> una</a:t>
            </a:r>
            <a:r>
              <a:rPr dirty="0" spc="-135" b="1">
                <a:latin typeface="Tahoma"/>
                <a:cs typeface="Tahoma"/>
              </a:rPr>
              <a:t> </a:t>
            </a:r>
            <a:r>
              <a:rPr dirty="0" spc="-114" b="1">
                <a:latin typeface="Tahoma"/>
                <a:cs typeface="Tahoma"/>
              </a:rPr>
              <a:t>runqueue,</a:t>
            </a:r>
            <a:r>
              <a:rPr dirty="0" spc="-125" b="1">
                <a:latin typeface="Tahoma"/>
                <a:cs typeface="Tahoma"/>
              </a:rPr>
              <a:t> </a:t>
            </a:r>
            <a:r>
              <a:rPr dirty="0" spc="-120" b="1">
                <a:latin typeface="Tahoma"/>
                <a:cs typeface="Tahoma"/>
              </a:rPr>
              <a:t>en</a:t>
            </a:r>
            <a:r>
              <a:rPr dirty="0" spc="-130" b="1">
                <a:latin typeface="Tahoma"/>
                <a:cs typeface="Tahoma"/>
              </a:rPr>
              <a:t> </a:t>
            </a:r>
            <a:r>
              <a:rPr dirty="0" spc="-135" b="1">
                <a:latin typeface="Tahoma"/>
                <a:cs typeface="Tahoma"/>
              </a:rPr>
              <a:t>un </a:t>
            </a:r>
            <a:r>
              <a:rPr dirty="0" spc="-105" b="1">
                <a:latin typeface="Tahoma"/>
                <a:cs typeface="Tahoma"/>
              </a:rPr>
              <a:t>tiempo</a:t>
            </a:r>
            <a:r>
              <a:rPr dirty="0" spc="-130" b="1">
                <a:latin typeface="Tahoma"/>
                <a:cs typeface="Tahoma"/>
              </a:rPr>
              <a:t> </a:t>
            </a:r>
            <a:r>
              <a:rPr dirty="0" spc="-114" b="1">
                <a:latin typeface="Tahoma"/>
                <a:cs typeface="Tahoma"/>
              </a:rPr>
              <a:t>menor</a:t>
            </a:r>
            <a:r>
              <a:rPr dirty="0" spc="-130" b="1">
                <a:latin typeface="Tahoma"/>
                <a:cs typeface="Tahoma"/>
              </a:rPr>
              <a:t> </a:t>
            </a:r>
            <a:r>
              <a:rPr dirty="0" spc="-120" b="1">
                <a:latin typeface="Tahoma"/>
                <a:cs typeface="Tahoma"/>
              </a:rPr>
              <a:t>que</a:t>
            </a:r>
            <a:r>
              <a:rPr dirty="0" spc="-135" b="1">
                <a:latin typeface="Tahoma"/>
                <a:cs typeface="Tahoma"/>
              </a:rPr>
              <a:t> </a:t>
            </a:r>
            <a:r>
              <a:rPr dirty="0" spc="-10" b="1">
                <a:latin typeface="Tahoma"/>
                <a:cs typeface="Tahoma"/>
              </a:rPr>
              <a:t>O(n)?</a:t>
            </a:r>
          </a:p>
          <a:p>
            <a:pPr>
              <a:lnSpc>
                <a:spcPct val="100000"/>
              </a:lnSpc>
              <a:spcBef>
                <a:spcPts val="560"/>
              </a:spcBef>
            </a:p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Estructuras</a:t>
            </a:r>
            <a:r>
              <a:rPr dirty="0" spc="-150"/>
              <a:t> </a:t>
            </a:r>
            <a:r>
              <a:rPr dirty="0"/>
              <a:t>de</a:t>
            </a:r>
            <a:r>
              <a:rPr dirty="0" spc="-150"/>
              <a:t> </a:t>
            </a:r>
            <a:r>
              <a:rPr dirty="0"/>
              <a:t>datos</a:t>
            </a:r>
            <a:r>
              <a:rPr dirty="0" spc="-150"/>
              <a:t> </a:t>
            </a:r>
            <a:r>
              <a:rPr dirty="0"/>
              <a:t>al</a:t>
            </a:r>
            <a:r>
              <a:rPr dirty="0" spc="-150"/>
              <a:t> </a:t>
            </a:r>
            <a:r>
              <a:rPr dirty="0" spc="-10"/>
              <a:t>rescate!</a:t>
            </a:r>
          </a:p>
          <a:p>
            <a:pPr>
              <a:lnSpc>
                <a:spcPct val="100000"/>
              </a:lnSpc>
              <a:spcBef>
                <a:spcPts val="1450"/>
              </a:spcBef>
            </a:pPr>
          </a:p>
          <a:p>
            <a:pPr marL="12700" marR="28575">
              <a:lnSpc>
                <a:spcPct val="114999"/>
              </a:lnSpc>
              <a:spcBef>
                <a:spcPts val="5"/>
              </a:spcBef>
            </a:pPr>
            <a:r>
              <a:rPr dirty="0" sz="1700" spc="-114" b="1">
                <a:latin typeface="Tahoma"/>
                <a:cs typeface="Tahoma"/>
              </a:rPr>
              <a:t>Red-</a:t>
            </a:r>
            <a:r>
              <a:rPr dirty="0" sz="1700" spc="-105" b="1">
                <a:latin typeface="Tahoma"/>
                <a:cs typeface="Tahoma"/>
              </a:rPr>
              <a:t>Black</a:t>
            </a:r>
            <a:r>
              <a:rPr dirty="0" sz="1700" spc="-120" b="1">
                <a:latin typeface="Tahoma"/>
                <a:cs typeface="Tahoma"/>
              </a:rPr>
              <a:t> </a:t>
            </a:r>
            <a:r>
              <a:rPr dirty="0" sz="1700" spc="-130" b="1">
                <a:latin typeface="Tahoma"/>
                <a:cs typeface="Tahoma"/>
              </a:rPr>
              <a:t>Tree</a:t>
            </a:r>
            <a:r>
              <a:rPr dirty="0" sz="1700" spc="-130"/>
              <a:t>:</a:t>
            </a:r>
            <a:r>
              <a:rPr dirty="0" sz="1700" spc="-150"/>
              <a:t> </a:t>
            </a:r>
            <a:r>
              <a:rPr dirty="0" sz="1700" spc="50"/>
              <a:t>Un</a:t>
            </a:r>
            <a:r>
              <a:rPr dirty="0" sz="1700" spc="-150"/>
              <a:t> </a:t>
            </a:r>
            <a:r>
              <a:rPr dirty="0" sz="1700"/>
              <a:t>red-black</a:t>
            </a:r>
            <a:r>
              <a:rPr dirty="0" sz="1700" spc="-145"/>
              <a:t> </a:t>
            </a:r>
            <a:r>
              <a:rPr dirty="0" sz="1700"/>
              <a:t>tree</a:t>
            </a:r>
            <a:r>
              <a:rPr dirty="0" sz="1700" spc="-150"/>
              <a:t> </a:t>
            </a:r>
            <a:r>
              <a:rPr dirty="0" sz="1700" spc="-10"/>
              <a:t>(árbol</a:t>
            </a:r>
            <a:r>
              <a:rPr dirty="0" sz="1700" spc="-145"/>
              <a:t> </a:t>
            </a:r>
            <a:r>
              <a:rPr dirty="0" sz="1700"/>
              <a:t>rojo-</a:t>
            </a:r>
            <a:r>
              <a:rPr dirty="0" sz="1700" spc="-35"/>
              <a:t>negro)</a:t>
            </a:r>
            <a:r>
              <a:rPr dirty="0" sz="1700" spc="-150"/>
              <a:t> </a:t>
            </a:r>
            <a:r>
              <a:rPr dirty="0" sz="1700" spc="-30"/>
              <a:t>es</a:t>
            </a:r>
            <a:r>
              <a:rPr dirty="0" sz="1700" spc="-150"/>
              <a:t> </a:t>
            </a:r>
            <a:r>
              <a:rPr dirty="0" sz="1700" spc="-10"/>
              <a:t>un</a:t>
            </a:r>
            <a:r>
              <a:rPr dirty="0" sz="1700" spc="-145"/>
              <a:t> </a:t>
            </a:r>
            <a:r>
              <a:rPr dirty="0" sz="1700"/>
              <a:t>tipo</a:t>
            </a:r>
            <a:r>
              <a:rPr dirty="0" sz="1700" spc="-150"/>
              <a:t> </a:t>
            </a:r>
            <a:r>
              <a:rPr dirty="0" sz="1700"/>
              <a:t>de</a:t>
            </a:r>
            <a:r>
              <a:rPr dirty="0" sz="1700" spc="-150"/>
              <a:t> </a:t>
            </a:r>
            <a:r>
              <a:rPr dirty="0" sz="1700"/>
              <a:t>árbol</a:t>
            </a:r>
            <a:r>
              <a:rPr dirty="0" sz="1700" spc="-145"/>
              <a:t> </a:t>
            </a:r>
            <a:r>
              <a:rPr dirty="0" sz="1700"/>
              <a:t>binario</a:t>
            </a:r>
            <a:r>
              <a:rPr dirty="0" sz="1700" spc="-150"/>
              <a:t> </a:t>
            </a:r>
            <a:r>
              <a:rPr dirty="0" sz="1700" spc="-25"/>
              <a:t>de </a:t>
            </a:r>
            <a:r>
              <a:rPr dirty="0" sz="1700" spc="-10"/>
              <a:t>búsqueda</a:t>
            </a:r>
            <a:r>
              <a:rPr dirty="0" sz="1700" spc="-160"/>
              <a:t> </a:t>
            </a:r>
            <a:r>
              <a:rPr dirty="0" sz="1700"/>
              <a:t>auto-balanceado</a:t>
            </a:r>
            <a:r>
              <a:rPr dirty="0" sz="1700" spc="-160"/>
              <a:t> </a:t>
            </a:r>
            <a:r>
              <a:rPr dirty="0" sz="1700" spc="-10"/>
              <a:t>que</a:t>
            </a:r>
            <a:r>
              <a:rPr dirty="0" sz="1700" spc="-160"/>
              <a:t> </a:t>
            </a:r>
            <a:r>
              <a:rPr dirty="0" sz="1700" spc="-30"/>
              <a:t>se</a:t>
            </a:r>
            <a:r>
              <a:rPr dirty="0" sz="1700" spc="-160"/>
              <a:t> </a:t>
            </a:r>
            <a:r>
              <a:rPr dirty="0" sz="1700"/>
              <a:t>utiliza</a:t>
            </a:r>
            <a:r>
              <a:rPr dirty="0" sz="1700" spc="-160"/>
              <a:t> </a:t>
            </a:r>
            <a:r>
              <a:rPr dirty="0" sz="1700" spc="-10"/>
              <a:t>en</a:t>
            </a:r>
            <a:r>
              <a:rPr dirty="0" sz="1700" spc="-160"/>
              <a:t> </a:t>
            </a:r>
            <a:r>
              <a:rPr dirty="0" sz="1700"/>
              <a:t>informática</a:t>
            </a:r>
            <a:r>
              <a:rPr dirty="0" sz="1700" spc="-160"/>
              <a:t> </a:t>
            </a:r>
            <a:r>
              <a:rPr dirty="0" sz="1700" spc="-10"/>
              <a:t>para</a:t>
            </a:r>
            <a:r>
              <a:rPr dirty="0" sz="1700" spc="-160"/>
              <a:t> </a:t>
            </a:r>
            <a:r>
              <a:rPr dirty="0" sz="1700"/>
              <a:t>mantener</a:t>
            </a:r>
            <a:r>
              <a:rPr dirty="0" sz="1700" spc="-160"/>
              <a:t> </a:t>
            </a:r>
            <a:r>
              <a:rPr dirty="0" sz="1700" spc="-10"/>
              <a:t>datos </a:t>
            </a:r>
            <a:r>
              <a:rPr dirty="0" sz="1700"/>
              <a:t>ordenados</a:t>
            </a:r>
            <a:r>
              <a:rPr dirty="0" sz="1700" spc="-160"/>
              <a:t> </a:t>
            </a:r>
            <a:r>
              <a:rPr dirty="0" sz="1700"/>
              <a:t>y</a:t>
            </a:r>
            <a:r>
              <a:rPr dirty="0" sz="1700" spc="-155"/>
              <a:t> </a:t>
            </a:r>
            <a:r>
              <a:rPr dirty="0" sz="1700"/>
              <a:t>permitir</a:t>
            </a:r>
            <a:r>
              <a:rPr dirty="0" sz="1700" spc="-155"/>
              <a:t> </a:t>
            </a:r>
            <a:r>
              <a:rPr dirty="0" sz="1700" spc="-10"/>
              <a:t>inserciones,</a:t>
            </a:r>
            <a:r>
              <a:rPr dirty="0" sz="1700" spc="-155"/>
              <a:t> </a:t>
            </a:r>
            <a:r>
              <a:rPr dirty="0" sz="1700"/>
              <a:t>eliminaciones</a:t>
            </a:r>
            <a:r>
              <a:rPr dirty="0" sz="1700" spc="-155"/>
              <a:t> </a:t>
            </a:r>
            <a:r>
              <a:rPr dirty="0" sz="1700"/>
              <a:t>y</a:t>
            </a:r>
            <a:r>
              <a:rPr dirty="0" sz="1700" spc="-155"/>
              <a:t> </a:t>
            </a:r>
            <a:r>
              <a:rPr dirty="0" sz="1700" spc="-10"/>
              <a:t>búsquedas</a:t>
            </a:r>
            <a:r>
              <a:rPr dirty="0" sz="1700" spc="-160"/>
              <a:t> </a:t>
            </a:r>
            <a:r>
              <a:rPr dirty="0" sz="1700" spc="-10"/>
              <a:t>eficientes.</a:t>
            </a:r>
            <a:r>
              <a:rPr dirty="0" sz="1700" spc="-155"/>
              <a:t> </a:t>
            </a:r>
            <a:r>
              <a:rPr dirty="0" sz="1700"/>
              <a:t>Es</a:t>
            </a:r>
            <a:r>
              <a:rPr dirty="0" sz="1700" spc="-155"/>
              <a:t> </a:t>
            </a:r>
            <a:r>
              <a:rPr dirty="0" sz="1700" spc="-25"/>
              <a:t>una </a:t>
            </a:r>
            <a:r>
              <a:rPr dirty="0" sz="1700"/>
              <a:t>estructura</a:t>
            </a:r>
            <a:r>
              <a:rPr dirty="0" sz="1700" spc="-160"/>
              <a:t> </a:t>
            </a:r>
            <a:r>
              <a:rPr dirty="0" sz="1700"/>
              <a:t>de</a:t>
            </a:r>
            <a:r>
              <a:rPr dirty="0" sz="1700" spc="-160"/>
              <a:t> </a:t>
            </a:r>
            <a:r>
              <a:rPr dirty="0" sz="1700"/>
              <a:t>datos</a:t>
            </a:r>
            <a:r>
              <a:rPr dirty="0" sz="1700" spc="-160"/>
              <a:t> </a:t>
            </a:r>
            <a:r>
              <a:rPr dirty="0" sz="1700"/>
              <a:t>comúnmente</a:t>
            </a:r>
            <a:r>
              <a:rPr dirty="0" sz="1700" spc="-155"/>
              <a:t> </a:t>
            </a:r>
            <a:r>
              <a:rPr dirty="0" sz="1700"/>
              <a:t>utilizada</a:t>
            </a:r>
            <a:r>
              <a:rPr dirty="0" sz="1700" spc="-160"/>
              <a:t> </a:t>
            </a:r>
            <a:r>
              <a:rPr dirty="0" sz="1700" spc="-10"/>
              <a:t>en</a:t>
            </a:r>
            <a:r>
              <a:rPr dirty="0" sz="1700" spc="-160"/>
              <a:t> </a:t>
            </a:r>
            <a:r>
              <a:rPr dirty="0" sz="1700" spc="-10"/>
              <a:t>sistemas</a:t>
            </a:r>
            <a:r>
              <a:rPr dirty="0" sz="1700" spc="-155"/>
              <a:t> </a:t>
            </a:r>
            <a:r>
              <a:rPr dirty="0" sz="1700" spc="-10"/>
              <a:t>operativos,</a:t>
            </a:r>
            <a:r>
              <a:rPr dirty="0" sz="1700" spc="-160"/>
              <a:t> </a:t>
            </a:r>
            <a:r>
              <a:rPr dirty="0" sz="1700" spc="-25"/>
              <a:t>bases</a:t>
            </a:r>
            <a:r>
              <a:rPr dirty="0" sz="1700" spc="-160"/>
              <a:t> </a:t>
            </a:r>
            <a:r>
              <a:rPr dirty="0" sz="1700"/>
              <a:t>de</a:t>
            </a:r>
            <a:r>
              <a:rPr dirty="0" sz="1700" spc="-160"/>
              <a:t> </a:t>
            </a:r>
            <a:r>
              <a:rPr dirty="0" sz="1700"/>
              <a:t>datos</a:t>
            </a:r>
            <a:r>
              <a:rPr dirty="0" sz="1700" spc="-155"/>
              <a:t> </a:t>
            </a:r>
            <a:r>
              <a:rPr dirty="0" sz="1700" spc="-50"/>
              <a:t>y </a:t>
            </a:r>
            <a:r>
              <a:rPr dirty="0" sz="1700"/>
              <a:t>otras</a:t>
            </a:r>
            <a:r>
              <a:rPr dirty="0" sz="1700" spc="-175"/>
              <a:t> </a:t>
            </a:r>
            <a:r>
              <a:rPr dirty="0" sz="1700"/>
              <a:t>aplicaciones</a:t>
            </a:r>
            <a:r>
              <a:rPr dirty="0" sz="1700" spc="-170"/>
              <a:t> </a:t>
            </a:r>
            <a:r>
              <a:rPr dirty="0" sz="1700" spc="-10"/>
              <a:t>que</a:t>
            </a:r>
            <a:r>
              <a:rPr dirty="0" sz="1700" spc="-170"/>
              <a:t> </a:t>
            </a:r>
            <a:r>
              <a:rPr dirty="0" sz="1700"/>
              <a:t>requieren</a:t>
            </a:r>
            <a:r>
              <a:rPr dirty="0" sz="1700" spc="-175"/>
              <a:t> </a:t>
            </a:r>
            <a:r>
              <a:rPr dirty="0" sz="1700"/>
              <a:t>operaciones</a:t>
            </a:r>
            <a:r>
              <a:rPr dirty="0" sz="1700" spc="-170"/>
              <a:t> </a:t>
            </a:r>
            <a:r>
              <a:rPr dirty="0" sz="1700" spc="-10"/>
              <a:t>rápidas</a:t>
            </a:r>
            <a:r>
              <a:rPr dirty="0" sz="1700" spc="-170"/>
              <a:t> </a:t>
            </a:r>
            <a:r>
              <a:rPr dirty="0" sz="1700"/>
              <a:t>de</a:t>
            </a:r>
            <a:r>
              <a:rPr dirty="0" sz="1700" spc="-170"/>
              <a:t> </a:t>
            </a:r>
            <a:r>
              <a:rPr dirty="0" sz="1700" spc="-10"/>
              <a:t>búsqueda</a:t>
            </a:r>
            <a:r>
              <a:rPr dirty="0" sz="1700" spc="-175"/>
              <a:t> </a:t>
            </a:r>
            <a:r>
              <a:rPr dirty="0" sz="1700"/>
              <a:t>y</a:t>
            </a:r>
            <a:r>
              <a:rPr dirty="0" sz="1700" spc="-170"/>
              <a:t> </a:t>
            </a:r>
            <a:r>
              <a:rPr dirty="0" sz="1700" spc="-10"/>
              <a:t>modificación.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229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dirty="0" spc="-40"/>
              <a:t>Linux:</a:t>
            </a:r>
            <a:r>
              <a:rPr dirty="0" spc="-155"/>
              <a:t> </a:t>
            </a:r>
            <a:r>
              <a:rPr dirty="0" spc="65"/>
              <a:t>Arbol</a:t>
            </a:r>
            <a:r>
              <a:rPr dirty="0" spc="-140"/>
              <a:t> </a:t>
            </a:r>
            <a:r>
              <a:rPr dirty="0"/>
              <a:t>Rojo</a:t>
            </a:r>
            <a:r>
              <a:rPr dirty="0" spc="-70"/>
              <a:t> </a:t>
            </a:r>
            <a:r>
              <a:rPr dirty="0" spc="105"/>
              <a:t>Negro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59246" y="1283296"/>
            <a:ext cx="2950845" cy="1708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3855" marR="5080" indent="-351790">
              <a:lnSpc>
                <a:spcPct val="114999"/>
              </a:lnSpc>
              <a:spcBef>
                <a:spcPts val="100"/>
              </a:spcBef>
              <a:buFont typeface="Arial MT"/>
              <a:buChar char="●"/>
              <a:tabLst>
                <a:tab pos="363855" algn="l"/>
              </a:tabLst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Acceso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O(1)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nodo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izquierda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(tiempo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virtual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más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bajo).</a:t>
            </a:r>
            <a:endParaRPr sz="1600">
              <a:latin typeface="Tahoma"/>
              <a:cs typeface="Tahoma"/>
            </a:endParaRPr>
          </a:p>
          <a:p>
            <a:pPr marL="363855" indent="-351155">
              <a:lnSpc>
                <a:spcPct val="100000"/>
              </a:lnSpc>
              <a:spcBef>
                <a:spcPts val="285"/>
              </a:spcBef>
              <a:buFont typeface="Arial MT"/>
              <a:buChar char="●"/>
              <a:tabLst>
                <a:tab pos="363855" algn="l"/>
              </a:tabLst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Inserción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O(log</a:t>
            </a:r>
            <a:r>
              <a:rPr dirty="0" sz="16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n).</a:t>
            </a:r>
            <a:endParaRPr sz="1600">
              <a:latin typeface="Tahoma"/>
              <a:cs typeface="Tahoma"/>
            </a:endParaRPr>
          </a:p>
          <a:p>
            <a:pPr marL="363855" indent="-351155">
              <a:lnSpc>
                <a:spcPct val="100000"/>
              </a:lnSpc>
              <a:spcBef>
                <a:spcPts val="290"/>
              </a:spcBef>
              <a:buFont typeface="Arial MT"/>
              <a:buChar char="●"/>
              <a:tabLst>
                <a:tab pos="363855" algn="l"/>
              </a:tabLst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Eliminación</a:t>
            </a:r>
            <a:r>
              <a:rPr dirty="0" sz="16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O(log</a:t>
            </a:r>
            <a:r>
              <a:rPr dirty="0" sz="16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n).</a:t>
            </a:r>
            <a:endParaRPr sz="1600">
              <a:latin typeface="Tahoma"/>
              <a:cs typeface="Tahoma"/>
            </a:endParaRPr>
          </a:p>
          <a:p>
            <a:pPr marL="363855" indent="-351155">
              <a:lnSpc>
                <a:spcPct val="100000"/>
              </a:lnSpc>
              <a:spcBef>
                <a:spcPts val="285"/>
              </a:spcBef>
              <a:buFont typeface="Arial MT"/>
              <a:buChar char="●"/>
              <a:tabLst>
                <a:tab pos="363855" algn="l"/>
              </a:tabLst>
            </a:pP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Autoequilibrado.</a:t>
            </a:r>
            <a:endParaRPr sz="16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7637" y="1808800"/>
            <a:ext cx="4648199" cy="260984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229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dirty="0" spc="-40"/>
              <a:t>Linux:</a:t>
            </a:r>
            <a:r>
              <a:rPr dirty="0" spc="-155"/>
              <a:t> </a:t>
            </a:r>
            <a:r>
              <a:rPr dirty="0" spc="65"/>
              <a:t>Arbol</a:t>
            </a:r>
            <a:r>
              <a:rPr dirty="0" spc="-140"/>
              <a:t> </a:t>
            </a:r>
            <a:r>
              <a:rPr dirty="0"/>
              <a:t>Rojo</a:t>
            </a:r>
            <a:r>
              <a:rPr dirty="0" spc="-70"/>
              <a:t> </a:t>
            </a:r>
            <a:r>
              <a:rPr dirty="0" spc="105"/>
              <a:t>Negro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1514" y="1542025"/>
            <a:ext cx="4228718" cy="344562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229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dirty="0" spc="-35"/>
              <a:t>Linux:</a:t>
            </a:r>
            <a:r>
              <a:rPr dirty="0" spc="-125"/>
              <a:t> </a:t>
            </a:r>
            <a:r>
              <a:rPr dirty="0" spc="50"/>
              <a:t>Funcionamiento</a:t>
            </a:r>
            <a:r>
              <a:rPr dirty="0" spc="-125"/>
              <a:t> </a:t>
            </a:r>
            <a:r>
              <a:rPr dirty="0" spc="80"/>
              <a:t>Detallado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8381" y="1283296"/>
            <a:ext cx="7807325" cy="3670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1955" marR="119380" indent="-389890">
              <a:lnSpc>
                <a:spcPct val="114999"/>
              </a:lnSpc>
              <a:spcBef>
                <a:spcPts val="100"/>
              </a:spcBef>
              <a:buFont typeface="Tahoma"/>
              <a:buAutoNum type="arabicPeriod"/>
              <a:tabLst>
                <a:tab pos="401955" algn="l"/>
              </a:tabLst>
            </a:pPr>
            <a:r>
              <a:rPr dirty="0" sz="1600" spc="-105" b="1">
                <a:solidFill>
                  <a:srgbClr val="595959"/>
                </a:solidFill>
                <a:latin typeface="Tahoma"/>
                <a:cs typeface="Tahoma"/>
              </a:rPr>
              <a:t>Selección</a:t>
            </a: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95" b="1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0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5" b="1">
                <a:solidFill>
                  <a:srgbClr val="595959"/>
                </a:solidFill>
                <a:latin typeface="Tahoma"/>
                <a:cs typeface="Tahoma"/>
              </a:rPr>
              <a:t>Proceso:</a:t>
            </a:r>
            <a:r>
              <a:rPr dirty="0" sz="1600" spc="-10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scheduler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siempre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intenta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ejecutar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el </a:t>
            </a:r>
            <a:r>
              <a:rPr dirty="0" sz="1600" spc="-114" b="1">
                <a:solidFill>
                  <a:srgbClr val="595959"/>
                </a:solidFill>
                <a:latin typeface="Tahoma"/>
                <a:cs typeface="Tahoma"/>
              </a:rPr>
              <a:t>menor </a:t>
            </a: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vruntime</a:t>
            </a:r>
            <a:r>
              <a:rPr dirty="0" sz="1600" spc="-110">
                <a:solidFill>
                  <a:srgbClr val="595959"/>
                </a:solidFill>
                <a:latin typeface="Tahoma"/>
                <a:cs typeface="Tahoma"/>
              </a:rPr>
              <a:t>.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Esto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asegura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tengan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oportunidad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ejecutarse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manera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justa,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proporcionando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ejecución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proporcional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a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6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peso.</a:t>
            </a:r>
            <a:endParaRPr sz="1600">
              <a:latin typeface="Tahoma"/>
              <a:cs typeface="Tahoma"/>
            </a:endParaRPr>
          </a:p>
          <a:p>
            <a:pPr marL="401955" marR="122555" indent="-389890">
              <a:lnSpc>
                <a:spcPct val="114999"/>
              </a:lnSpc>
              <a:buFont typeface="Tahoma"/>
              <a:buAutoNum type="arabicPeriod"/>
              <a:tabLst>
                <a:tab pos="401955" algn="l"/>
              </a:tabLst>
            </a:pPr>
            <a:r>
              <a:rPr dirty="0" sz="1600" spc="-90" b="1">
                <a:solidFill>
                  <a:srgbClr val="595959"/>
                </a:solidFill>
                <a:latin typeface="Tahoma"/>
                <a:cs typeface="Tahoma"/>
              </a:rPr>
              <a:t>Uso</a:t>
            </a:r>
            <a:r>
              <a:rPr dirty="0" sz="160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14" b="1">
                <a:solidFill>
                  <a:srgbClr val="595959"/>
                </a:solidFill>
                <a:latin typeface="Tahoma"/>
                <a:cs typeface="Tahoma"/>
              </a:rPr>
              <a:t> Red-</a:t>
            </a:r>
            <a:r>
              <a:rPr dirty="0" sz="1600" spc="-100" b="1">
                <a:solidFill>
                  <a:srgbClr val="595959"/>
                </a:solidFill>
                <a:latin typeface="Tahoma"/>
                <a:cs typeface="Tahoma"/>
              </a:rPr>
              <a:t>Black</a:t>
            </a:r>
            <a:r>
              <a:rPr dirty="0" sz="1600" spc="-114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25" b="1">
                <a:solidFill>
                  <a:srgbClr val="595959"/>
                </a:solidFill>
                <a:latin typeface="Tahoma"/>
                <a:cs typeface="Tahoma"/>
              </a:rPr>
              <a:t>Trees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: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organizar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eficientemente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su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vruntime,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CFS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utiliza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estructura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datos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90" b="1">
                <a:solidFill>
                  <a:srgbClr val="595959"/>
                </a:solidFill>
                <a:latin typeface="Tahoma"/>
                <a:cs typeface="Tahoma"/>
              </a:rPr>
              <a:t>árbol</a:t>
            </a:r>
            <a:r>
              <a:rPr dirty="0" sz="1600" spc="-105" b="1">
                <a:solidFill>
                  <a:srgbClr val="595959"/>
                </a:solidFill>
                <a:latin typeface="Tahoma"/>
                <a:cs typeface="Tahoma"/>
              </a:rPr>
              <a:t> rojo-</a:t>
            </a:r>
            <a:r>
              <a:rPr dirty="0" sz="1600" spc="-130" b="1">
                <a:solidFill>
                  <a:srgbClr val="595959"/>
                </a:solidFill>
                <a:latin typeface="Tahoma"/>
                <a:cs typeface="Tahoma"/>
              </a:rPr>
              <a:t>negro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.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tipo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árbol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permite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inserciones,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eliminaciones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búsquedas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logarítmico,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que es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crucial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mantener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rendimiento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scheduler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gran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número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procesos.</a:t>
            </a:r>
            <a:endParaRPr sz="1600">
              <a:latin typeface="Tahoma"/>
              <a:cs typeface="Tahoma"/>
            </a:endParaRPr>
          </a:p>
          <a:p>
            <a:pPr marL="401955" marR="5080" indent="-389890">
              <a:lnSpc>
                <a:spcPct val="114999"/>
              </a:lnSpc>
              <a:buFont typeface="Tahoma"/>
              <a:buAutoNum type="arabicPeriod"/>
              <a:tabLst>
                <a:tab pos="401955" algn="l"/>
              </a:tabLst>
            </a:pPr>
            <a:r>
              <a:rPr dirty="0" sz="1600" spc="-125" b="1">
                <a:solidFill>
                  <a:srgbClr val="595959"/>
                </a:solidFill>
                <a:latin typeface="Tahoma"/>
                <a:cs typeface="Tahoma"/>
              </a:rPr>
              <a:t>Sleeping</a:t>
            </a:r>
            <a:r>
              <a:rPr dirty="0" sz="1600" spc="-120" b="1">
                <a:solidFill>
                  <a:srgbClr val="595959"/>
                </a:solidFill>
                <a:latin typeface="Tahoma"/>
                <a:cs typeface="Tahoma"/>
              </a:rPr>
              <a:t> and</a:t>
            </a: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20" b="1">
                <a:solidFill>
                  <a:srgbClr val="595959"/>
                </a:solidFill>
                <a:latin typeface="Tahoma"/>
                <a:cs typeface="Tahoma"/>
              </a:rPr>
              <a:t>Waking</a:t>
            </a:r>
            <a:r>
              <a:rPr dirty="0" sz="1600" spc="-114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5" b="1">
                <a:solidFill>
                  <a:srgbClr val="595959"/>
                </a:solidFill>
                <a:latin typeface="Tahoma"/>
                <a:cs typeface="Tahoma"/>
              </a:rPr>
              <a:t>Up</a:t>
            </a:r>
            <a:r>
              <a:rPr dirty="0" sz="1600" spc="-105">
                <a:solidFill>
                  <a:srgbClr val="595959"/>
                </a:solidFill>
                <a:latin typeface="Tahoma"/>
                <a:cs typeface="Tahoma"/>
              </a:rPr>
              <a:t>: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Cuando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bloquea,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ejemplo,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esperando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65">
                <a:solidFill>
                  <a:srgbClr val="595959"/>
                </a:solidFill>
                <a:latin typeface="Tahoma"/>
                <a:cs typeface="Tahoma"/>
              </a:rPr>
              <a:t>I/O,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14" b="1">
                <a:solidFill>
                  <a:srgbClr val="595959"/>
                </a:solidFill>
                <a:latin typeface="Tahoma"/>
                <a:cs typeface="Tahoma"/>
              </a:rPr>
              <a:t>elimina</a:t>
            </a: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95" b="1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90" b="1">
                <a:solidFill>
                  <a:srgbClr val="595959"/>
                </a:solidFill>
                <a:latin typeface="Tahoma"/>
                <a:cs typeface="Tahoma"/>
              </a:rPr>
              <a:t>árbol</a:t>
            </a: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5" b="1">
                <a:solidFill>
                  <a:srgbClr val="595959"/>
                </a:solidFill>
                <a:latin typeface="Tahoma"/>
                <a:cs typeface="Tahoma"/>
              </a:rPr>
              <a:t>rojo-</a:t>
            </a:r>
            <a:r>
              <a:rPr dirty="0" sz="1600" spc="-130" b="1">
                <a:solidFill>
                  <a:srgbClr val="595959"/>
                </a:solidFill>
                <a:latin typeface="Tahoma"/>
                <a:cs typeface="Tahoma"/>
              </a:rPr>
              <a:t>negro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.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Cuando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despierta,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vuelve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insertar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en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árbol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vruntime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ajustado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necesario,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manera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penalizado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estuvo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bloqueado.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229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dirty="0" spc="-35"/>
              <a:t>Linux:</a:t>
            </a:r>
            <a:r>
              <a:rPr dirty="0" spc="-125"/>
              <a:t> </a:t>
            </a:r>
            <a:r>
              <a:rPr dirty="0" spc="50"/>
              <a:t>Funcionamiento</a:t>
            </a:r>
            <a:r>
              <a:rPr dirty="0" spc="-125"/>
              <a:t> </a:t>
            </a:r>
            <a:r>
              <a:rPr dirty="0" spc="80"/>
              <a:t>Detallado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8381" y="1283296"/>
            <a:ext cx="7839075" cy="34150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1955" marR="5080" indent="-38989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401955" algn="l"/>
              </a:tabLst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Cuando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ejecutando,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5" b="1">
                <a:solidFill>
                  <a:srgbClr val="595959"/>
                </a:solidFill>
                <a:latin typeface="Tahoma"/>
                <a:cs typeface="Tahoma"/>
              </a:rPr>
              <a:t>vruntime</a:t>
            </a:r>
            <a:r>
              <a:rPr dirty="0" sz="160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aumentará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constantemente,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por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finalmente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moverá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hacia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derecha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árbol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rojo-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negro.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Debido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el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vruntime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aumentará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lentamente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importantes,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estos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también</a:t>
            </a:r>
            <a:r>
              <a:rPr dirty="0" sz="16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moverán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hacia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derecha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lentamente,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</a:t>
            </a:r>
            <a:r>
              <a:rPr dirty="0" sz="16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aumenta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su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probabilidad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ser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programados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comparación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menos</a:t>
            </a:r>
            <a:r>
              <a:rPr dirty="0" sz="1600" spc="5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importante,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tal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requiere.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595959"/>
              </a:buClr>
              <a:buFont typeface="Tahoma"/>
              <a:buAutoNum type="arabicPeriod"/>
            </a:pP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45"/>
              </a:spcBef>
              <a:buClr>
                <a:srgbClr val="595959"/>
              </a:buClr>
              <a:buFont typeface="Tahoma"/>
              <a:buAutoNum type="arabicPeriod"/>
            </a:pPr>
            <a:endParaRPr sz="1600">
              <a:latin typeface="Tahoma"/>
              <a:cs typeface="Tahoma"/>
            </a:endParaRPr>
          </a:p>
          <a:p>
            <a:pPr marL="401955" marR="250825" indent="-389890">
              <a:lnSpc>
                <a:spcPct val="114999"/>
              </a:lnSpc>
              <a:buAutoNum type="arabicPeriod"/>
              <a:tabLst>
                <a:tab pos="401955" algn="l"/>
              </a:tabLst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duerme,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vruntime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permanecerá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sin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cambios.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Debido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el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min_vruntime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cola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(arbol)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aumenta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mientras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tanto,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estaba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dormido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colocará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izquierda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despertarse,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porque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clave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hizo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más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pequeña.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229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dirty="0" spc="-35"/>
              <a:t>Linux:</a:t>
            </a:r>
            <a:r>
              <a:rPr dirty="0" spc="-125"/>
              <a:t> </a:t>
            </a:r>
            <a:r>
              <a:rPr dirty="0" spc="50"/>
              <a:t>Funcionamiento</a:t>
            </a:r>
            <a:r>
              <a:rPr dirty="0" spc="-125"/>
              <a:t> </a:t>
            </a:r>
            <a:r>
              <a:rPr dirty="0" spc="80"/>
              <a:t>Detallado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8381" y="1283296"/>
            <a:ext cx="7733030" cy="1988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1955" marR="5080" indent="-389890">
              <a:lnSpc>
                <a:spcPct val="114999"/>
              </a:lnSpc>
              <a:spcBef>
                <a:spcPts val="100"/>
              </a:spcBef>
              <a:buFont typeface="Tahoma"/>
              <a:buAutoNum type="arabicPeriod"/>
              <a:tabLst>
                <a:tab pos="401955" algn="l"/>
              </a:tabLst>
            </a:pP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Balance</a:t>
            </a:r>
            <a:r>
              <a:rPr dirty="0" sz="16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14" b="1">
                <a:solidFill>
                  <a:srgbClr val="595959"/>
                </a:solidFill>
                <a:latin typeface="Tahoma"/>
                <a:cs typeface="Tahoma"/>
              </a:rPr>
              <a:t>Carga:</a:t>
            </a:r>
            <a:r>
              <a:rPr dirty="0" sz="1600" spc="-1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CFS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también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encarga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equilibrar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carga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trabajo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entre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múltiples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CPUs.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Esto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logra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30" b="1">
                <a:solidFill>
                  <a:srgbClr val="595959"/>
                </a:solidFill>
                <a:latin typeface="Tahoma"/>
                <a:cs typeface="Tahoma"/>
              </a:rPr>
              <a:t>migrando</a:t>
            </a:r>
            <a:r>
              <a:rPr dirty="0" sz="160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5" b="1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600" spc="-114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5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otra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detecta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5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sobrecargada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mientras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otra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inactiva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menos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cargada.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5"/>
              </a:spcBef>
              <a:buClr>
                <a:srgbClr val="595959"/>
              </a:buClr>
              <a:buFont typeface="Tahoma"/>
              <a:buAutoNum type="arabicPeriod"/>
            </a:pPr>
            <a:endParaRPr sz="1600">
              <a:latin typeface="Tahoma"/>
              <a:cs typeface="Tahoma"/>
            </a:endParaRPr>
          </a:p>
          <a:p>
            <a:pPr marL="401955" marR="149225" indent="-389890">
              <a:lnSpc>
                <a:spcPct val="114999"/>
              </a:lnSpc>
              <a:buFont typeface="Tahoma"/>
              <a:buAutoNum type="arabicPeriod"/>
              <a:tabLst>
                <a:tab pos="401955" algn="l"/>
              </a:tabLst>
            </a:pPr>
            <a:r>
              <a:rPr dirty="0" sz="1600" spc="-100" b="1">
                <a:solidFill>
                  <a:srgbClr val="595959"/>
                </a:solidFill>
                <a:latin typeface="Tahoma"/>
                <a:cs typeface="Tahoma"/>
              </a:rPr>
              <a:t>Soporte</a:t>
            </a:r>
            <a:r>
              <a:rPr dirty="0" sz="1600" spc="-1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20" b="1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1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90" b="1">
                <a:solidFill>
                  <a:srgbClr val="595959"/>
                </a:solidFill>
                <a:latin typeface="Tahoma"/>
                <a:cs typeface="Tahoma"/>
              </a:rPr>
              <a:t>Multi-</a:t>
            </a:r>
            <a:r>
              <a:rPr dirty="0" sz="1600" spc="-105" b="1">
                <a:solidFill>
                  <a:srgbClr val="595959"/>
                </a:solidFill>
                <a:latin typeface="Tahoma"/>
                <a:cs typeface="Tahoma"/>
              </a:rPr>
              <a:t>threading</a:t>
            </a:r>
            <a:r>
              <a:rPr dirty="0" sz="1600" spc="-105">
                <a:solidFill>
                  <a:srgbClr val="595959"/>
                </a:solidFill>
                <a:latin typeface="Tahoma"/>
                <a:cs typeface="Tahoma"/>
              </a:rPr>
              <a:t>: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CFS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maneja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hilos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ejecución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(threads)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manera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similar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maneja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procesos.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hilo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tratado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proceso separado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propio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vruntime.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Ver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threads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mas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adelante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229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dirty="0" spc="-35"/>
              <a:t>Linux:</a:t>
            </a:r>
            <a:r>
              <a:rPr dirty="0" spc="-130"/>
              <a:t> </a:t>
            </a:r>
            <a:r>
              <a:rPr dirty="0" spc="-20"/>
              <a:t>nice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0675" y="1283296"/>
            <a:ext cx="7752080" cy="1427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valor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0" b="1">
                <a:solidFill>
                  <a:srgbClr val="595959"/>
                </a:solidFill>
                <a:latin typeface="Tahoma"/>
                <a:cs typeface="Tahoma"/>
              </a:rPr>
              <a:t>nice</a:t>
            </a: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característica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operativo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Linux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usa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ajustar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prioridad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cuanto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planificación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uso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CPU.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esencia,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el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valor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nice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permite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usuarios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manipular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prioridad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manera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los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mayor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prioridad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obtengan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5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comparado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que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tienen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menor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prioridad.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0675" y="3307167"/>
            <a:ext cx="387794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configurar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system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call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nice()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229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140"/>
              </a:spcBef>
            </a:pPr>
            <a:r>
              <a:rPr dirty="0" spc="-35"/>
              <a:t>Linux:</a:t>
            </a:r>
            <a:r>
              <a:rPr dirty="0" spc="-65"/>
              <a:t> </a:t>
            </a:r>
            <a:r>
              <a:rPr dirty="0" spc="50"/>
              <a:t>Funcionamiento</a:t>
            </a:r>
            <a:r>
              <a:rPr dirty="0" spc="-60"/>
              <a:t> </a:t>
            </a:r>
            <a:r>
              <a:rPr dirty="0" spc="100"/>
              <a:t>del</a:t>
            </a:r>
            <a:r>
              <a:rPr dirty="0" spc="-204"/>
              <a:t> </a:t>
            </a:r>
            <a:r>
              <a:rPr dirty="0"/>
              <a:t>valor</a:t>
            </a:r>
            <a:r>
              <a:rPr dirty="0" spc="-120"/>
              <a:t> </a:t>
            </a:r>
            <a:r>
              <a:rPr dirty="0" spc="-20"/>
              <a:t>nice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0675" y="1283296"/>
            <a:ext cx="7836534" cy="3670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6510" indent="457200">
              <a:lnSpc>
                <a:spcPct val="114999"/>
              </a:lnSpc>
              <a:spcBef>
                <a:spcPts val="100"/>
              </a:spcBef>
            </a:pP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Rango</a:t>
            </a:r>
            <a:r>
              <a:rPr dirty="0" sz="160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14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valores</a:t>
            </a:r>
            <a:r>
              <a:rPr dirty="0" sz="1600" spc="-110">
                <a:solidFill>
                  <a:srgbClr val="595959"/>
                </a:solidFill>
                <a:latin typeface="Tahoma"/>
                <a:cs typeface="Tahoma"/>
              </a:rPr>
              <a:t>: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valor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nice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variar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-20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hasta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19.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5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valor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nice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-20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es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alto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nivel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prioridad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5">
                <a:solidFill>
                  <a:srgbClr val="595959"/>
                </a:solidFill>
                <a:latin typeface="Tahoma"/>
                <a:cs typeface="Tahoma"/>
              </a:rPr>
              <a:t>(menos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60">
                <a:solidFill>
                  <a:srgbClr val="595959"/>
                </a:solidFill>
                <a:latin typeface="Tahoma"/>
                <a:cs typeface="Tahoma"/>
              </a:rPr>
              <a:t>"nice",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decir,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menos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amable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demás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procesos),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19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nivel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bajo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(más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60">
                <a:solidFill>
                  <a:srgbClr val="595959"/>
                </a:solidFill>
                <a:latin typeface="Tahoma"/>
                <a:cs typeface="Tahoma"/>
              </a:rPr>
              <a:t>"nice",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55">
                <a:solidFill>
                  <a:srgbClr val="595959"/>
                </a:solidFill>
                <a:latin typeface="Tahoma"/>
                <a:cs typeface="Tahoma"/>
              </a:rPr>
              <a:t>amable).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defecto,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procesos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suelen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iniciarse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valor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nice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0.</a:t>
            </a:r>
            <a:endParaRPr sz="1600">
              <a:latin typeface="Tahoma"/>
              <a:cs typeface="Tahoma"/>
            </a:endParaRPr>
          </a:p>
          <a:p>
            <a:pPr marL="12700" marR="5080" indent="457200">
              <a:lnSpc>
                <a:spcPct val="114999"/>
              </a:lnSpc>
            </a:pP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Asignación</a:t>
            </a:r>
            <a:r>
              <a:rPr dirty="0" sz="16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65" b="1">
                <a:solidFill>
                  <a:srgbClr val="595959"/>
                </a:solidFill>
                <a:latin typeface="Tahoma"/>
                <a:cs typeface="Tahoma"/>
              </a:rPr>
              <a:t>CPU:</a:t>
            </a:r>
            <a:r>
              <a:rPr dirty="0" sz="1600" spc="-114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5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valor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nice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bajo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(más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cercano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20)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hace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sea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55">
                <a:solidFill>
                  <a:srgbClr val="595959"/>
                </a:solidFill>
                <a:latin typeface="Tahoma"/>
                <a:cs typeface="Tahoma"/>
              </a:rPr>
              <a:t>"egoísta",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obteniendo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CPU.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contrario,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valor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nice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alto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(más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cercano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19)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hace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sea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5">
                <a:solidFill>
                  <a:srgbClr val="595959"/>
                </a:solidFill>
                <a:latin typeface="Tahoma"/>
                <a:cs typeface="Tahoma"/>
              </a:rPr>
              <a:t>"generoso",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cediendo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5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otros procesos.</a:t>
            </a:r>
            <a:endParaRPr sz="1600">
              <a:latin typeface="Tahoma"/>
              <a:cs typeface="Tahoma"/>
            </a:endParaRPr>
          </a:p>
          <a:p>
            <a:pPr marL="12700" marR="46355" indent="457200">
              <a:lnSpc>
                <a:spcPct val="114999"/>
              </a:lnSpc>
            </a:pPr>
            <a:r>
              <a:rPr dirty="0" sz="1600" spc="-90" b="1">
                <a:solidFill>
                  <a:srgbClr val="595959"/>
                </a:solidFill>
                <a:latin typeface="Tahoma"/>
                <a:cs typeface="Tahoma"/>
              </a:rPr>
              <a:t>Modificación</a:t>
            </a:r>
            <a:r>
              <a:rPr dirty="0" sz="1600" spc="-1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95" b="1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95" b="1">
                <a:solidFill>
                  <a:srgbClr val="595959"/>
                </a:solidFill>
                <a:latin typeface="Tahoma"/>
                <a:cs typeface="Tahoma"/>
              </a:rPr>
              <a:t>valor</a:t>
            </a:r>
            <a:r>
              <a:rPr dirty="0" sz="1600" spc="-1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14" b="1">
                <a:solidFill>
                  <a:srgbClr val="595959"/>
                </a:solidFill>
                <a:latin typeface="Tahoma"/>
                <a:cs typeface="Tahoma"/>
              </a:rPr>
              <a:t>nice: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usuarios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pueden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cambiar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valor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nice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un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afectar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prioridad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planificación.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Esto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hace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generalmente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través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línea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comandos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herramientas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nice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renice.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ejemplo,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iniciar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un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valor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nice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específico,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utiliza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comando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nice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n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[valor]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60">
                <a:solidFill>
                  <a:srgbClr val="595959"/>
                </a:solidFill>
                <a:latin typeface="Tahoma"/>
                <a:cs typeface="Tahoma"/>
              </a:rPr>
              <a:t>[comando].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Para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cambiar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valor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nice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ya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ejecución,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usa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renice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[nuevo_valor]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p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[pid].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229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dirty="0" spc="-35"/>
              <a:t>Linux:</a:t>
            </a:r>
            <a:r>
              <a:rPr dirty="0" spc="-130"/>
              <a:t> </a:t>
            </a:r>
            <a:r>
              <a:rPr dirty="0" spc="-20"/>
              <a:t>nice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pc="-110" b="1">
                <a:latin typeface="Tahoma"/>
                <a:cs typeface="Tahoma"/>
              </a:rPr>
              <a:t>Pesos</a:t>
            </a:r>
            <a:r>
              <a:rPr dirty="0" spc="-120" b="1">
                <a:latin typeface="Tahoma"/>
                <a:cs typeface="Tahoma"/>
              </a:rPr>
              <a:t> </a:t>
            </a:r>
            <a:r>
              <a:rPr dirty="0" spc="-110" b="1">
                <a:latin typeface="Tahoma"/>
                <a:cs typeface="Tahoma"/>
              </a:rPr>
              <a:t>de</a:t>
            </a:r>
            <a:r>
              <a:rPr dirty="0" spc="-120" b="1">
                <a:latin typeface="Tahoma"/>
                <a:cs typeface="Tahoma"/>
              </a:rPr>
              <a:t> </a:t>
            </a:r>
            <a:r>
              <a:rPr dirty="0" spc="-80" b="1">
                <a:latin typeface="Tahoma"/>
                <a:cs typeface="Tahoma"/>
              </a:rPr>
              <a:t>Prioridad</a:t>
            </a:r>
            <a:r>
              <a:rPr dirty="0" spc="-114" b="1">
                <a:latin typeface="Tahoma"/>
                <a:cs typeface="Tahoma"/>
              </a:rPr>
              <a:t> </a:t>
            </a:r>
            <a:r>
              <a:rPr dirty="0" spc="-145" b="1">
                <a:latin typeface="Tahoma"/>
                <a:cs typeface="Tahoma"/>
              </a:rPr>
              <a:t>(Weight)</a:t>
            </a:r>
            <a:r>
              <a:rPr dirty="0" spc="-145"/>
              <a:t>:</a:t>
            </a:r>
            <a:r>
              <a:rPr dirty="0" spc="-155"/>
              <a:t> </a:t>
            </a:r>
            <a:r>
              <a:rPr dirty="0"/>
              <a:t>Cada</a:t>
            </a:r>
            <a:r>
              <a:rPr dirty="0" spc="-150"/>
              <a:t> </a:t>
            </a:r>
            <a:r>
              <a:rPr dirty="0"/>
              <a:t>proceso</a:t>
            </a:r>
            <a:r>
              <a:rPr dirty="0" spc="-155"/>
              <a:t> </a:t>
            </a:r>
            <a:r>
              <a:rPr dirty="0"/>
              <a:t>tiene</a:t>
            </a:r>
            <a:r>
              <a:rPr dirty="0" spc="-150"/>
              <a:t> </a:t>
            </a:r>
            <a:r>
              <a:rPr dirty="0"/>
              <a:t>un</a:t>
            </a:r>
            <a:r>
              <a:rPr dirty="0" spc="-150"/>
              <a:t> </a:t>
            </a:r>
            <a:r>
              <a:rPr dirty="0" spc="-10"/>
              <a:t>peso</a:t>
            </a:r>
            <a:r>
              <a:rPr dirty="0" spc="-155"/>
              <a:t> </a:t>
            </a:r>
            <a:r>
              <a:rPr dirty="0" spc="-25"/>
              <a:t>asignado</a:t>
            </a:r>
            <a:r>
              <a:rPr dirty="0" spc="-150"/>
              <a:t> </a:t>
            </a:r>
            <a:r>
              <a:rPr dirty="0" spc="-10"/>
              <a:t>basado</a:t>
            </a:r>
            <a:r>
              <a:rPr dirty="0" spc="-155"/>
              <a:t> </a:t>
            </a:r>
            <a:r>
              <a:rPr dirty="0"/>
              <a:t>en</a:t>
            </a:r>
            <a:r>
              <a:rPr dirty="0" spc="-150"/>
              <a:t> </a:t>
            </a:r>
            <a:r>
              <a:rPr dirty="0" spc="-25"/>
              <a:t>su </a:t>
            </a:r>
            <a:r>
              <a:rPr dirty="0"/>
              <a:t>prioridad</a:t>
            </a:r>
            <a:r>
              <a:rPr dirty="0" spc="-150"/>
              <a:t> </a:t>
            </a:r>
            <a:r>
              <a:rPr dirty="0"/>
              <a:t>de</a:t>
            </a:r>
            <a:r>
              <a:rPr dirty="0" spc="-145"/>
              <a:t> </a:t>
            </a:r>
            <a:r>
              <a:rPr dirty="0" spc="-25"/>
              <a:t>nice,</a:t>
            </a:r>
            <a:r>
              <a:rPr dirty="0" spc="-150"/>
              <a:t> </a:t>
            </a:r>
            <a:r>
              <a:rPr dirty="0"/>
              <a:t>que</a:t>
            </a:r>
            <a:r>
              <a:rPr dirty="0" spc="-145"/>
              <a:t> </a:t>
            </a:r>
            <a:r>
              <a:rPr dirty="0"/>
              <a:t>puede</a:t>
            </a:r>
            <a:r>
              <a:rPr dirty="0" spc="-150"/>
              <a:t> </a:t>
            </a:r>
            <a:r>
              <a:rPr dirty="0"/>
              <a:t>variar</a:t>
            </a:r>
            <a:r>
              <a:rPr dirty="0" spc="-145"/>
              <a:t> </a:t>
            </a:r>
            <a:r>
              <a:rPr dirty="0"/>
              <a:t>de</a:t>
            </a:r>
            <a:r>
              <a:rPr dirty="0" spc="-150"/>
              <a:t> </a:t>
            </a:r>
            <a:r>
              <a:rPr dirty="0"/>
              <a:t>-20</a:t>
            </a:r>
            <a:r>
              <a:rPr dirty="0" spc="-145"/>
              <a:t> </a:t>
            </a:r>
            <a:r>
              <a:rPr dirty="0" spc="-70"/>
              <a:t>(más</a:t>
            </a:r>
            <a:r>
              <a:rPr dirty="0" spc="-150"/>
              <a:t> </a:t>
            </a:r>
            <a:r>
              <a:rPr dirty="0" spc="-25"/>
              <a:t>favorable)</a:t>
            </a:r>
            <a:r>
              <a:rPr dirty="0" spc="-145"/>
              <a:t> </a:t>
            </a:r>
            <a:r>
              <a:rPr dirty="0" spc="-40"/>
              <a:t>a</a:t>
            </a:r>
            <a:r>
              <a:rPr dirty="0" spc="-145"/>
              <a:t> </a:t>
            </a:r>
            <a:r>
              <a:rPr dirty="0" spc="50"/>
              <a:t>19</a:t>
            </a:r>
            <a:r>
              <a:rPr dirty="0" spc="-150"/>
              <a:t> </a:t>
            </a:r>
            <a:r>
              <a:rPr dirty="0" spc="-45"/>
              <a:t>(menos</a:t>
            </a:r>
            <a:r>
              <a:rPr dirty="0" spc="-145"/>
              <a:t> </a:t>
            </a:r>
            <a:r>
              <a:rPr dirty="0" spc="-35"/>
              <a:t>favorable).</a:t>
            </a:r>
            <a:r>
              <a:rPr dirty="0" spc="-150"/>
              <a:t> </a:t>
            </a:r>
            <a:r>
              <a:rPr dirty="0" spc="-10"/>
              <a:t>Estos </a:t>
            </a:r>
            <a:r>
              <a:rPr dirty="0"/>
              <a:t>valores</a:t>
            </a:r>
            <a:r>
              <a:rPr dirty="0" spc="-155"/>
              <a:t> </a:t>
            </a:r>
            <a:r>
              <a:rPr dirty="0"/>
              <a:t>de</a:t>
            </a:r>
            <a:r>
              <a:rPr dirty="0" spc="-150"/>
              <a:t> </a:t>
            </a:r>
            <a:r>
              <a:rPr dirty="0"/>
              <a:t>nice</a:t>
            </a:r>
            <a:r>
              <a:rPr dirty="0" spc="-150"/>
              <a:t> </a:t>
            </a:r>
            <a:r>
              <a:rPr dirty="0" spc="-25"/>
              <a:t>se</a:t>
            </a:r>
            <a:r>
              <a:rPr dirty="0" spc="-150"/>
              <a:t> </a:t>
            </a:r>
            <a:r>
              <a:rPr dirty="0" spc="-25"/>
              <a:t>mapean</a:t>
            </a:r>
            <a:r>
              <a:rPr dirty="0" spc="-155"/>
              <a:t> </a:t>
            </a:r>
            <a:r>
              <a:rPr dirty="0" spc="-40"/>
              <a:t>a</a:t>
            </a:r>
            <a:r>
              <a:rPr dirty="0" spc="-150"/>
              <a:t> </a:t>
            </a:r>
            <a:r>
              <a:rPr dirty="0"/>
              <a:t>un</a:t>
            </a:r>
            <a:r>
              <a:rPr dirty="0" spc="-150"/>
              <a:t> </a:t>
            </a:r>
            <a:r>
              <a:rPr dirty="0" spc="-10"/>
              <a:t>peso</a:t>
            </a:r>
            <a:r>
              <a:rPr dirty="0" spc="-150"/>
              <a:t> </a:t>
            </a:r>
            <a:r>
              <a:rPr dirty="0"/>
              <a:t>específico</a:t>
            </a:r>
            <a:r>
              <a:rPr dirty="0" spc="-155"/>
              <a:t> </a:t>
            </a:r>
            <a:r>
              <a:rPr dirty="0"/>
              <a:t>utilizando</a:t>
            </a:r>
            <a:r>
              <a:rPr dirty="0" spc="-150"/>
              <a:t> </a:t>
            </a:r>
            <a:r>
              <a:rPr dirty="0" spc="-10"/>
              <a:t>una</a:t>
            </a:r>
            <a:r>
              <a:rPr dirty="0" spc="-150"/>
              <a:t> </a:t>
            </a:r>
            <a:r>
              <a:rPr dirty="0"/>
              <a:t>tabla</a:t>
            </a:r>
            <a:r>
              <a:rPr dirty="0" spc="-150"/>
              <a:t> </a:t>
            </a:r>
            <a:r>
              <a:rPr dirty="0"/>
              <a:t>predefinida</a:t>
            </a:r>
            <a:r>
              <a:rPr dirty="0" spc="-155"/>
              <a:t> </a:t>
            </a:r>
            <a:r>
              <a:rPr dirty="0"/>
              <a:t>en</a:t>
            </a:r>
            <a:r>
              <a:rPr dirty="0" spc="-150"/>
              <a:t> </a:t>
            </a:r>
            <a:r>
              <a:rPr dirty="0" spc="-25"/>
              <a:t>el </a:t>
            </a:r>
            <a:r>
              <a:rPr dirty="0" spc="-10"/>
              <a:t>kernel.</a:t>
            </a:r>
            <a:r>
              <a:rPr dirty="0" spc="-155"/>
              <a:t> </a:t>
            </a:r>
            <a:r>
              <a:rPr dirty="0" spc="-10"/>
              <a:t>Los</a:t>
            </a:r>
            <a:r>
              <a:rPr dirty="0" spc="-155"/>
              <a:t> </a:t>
            </a:r>
            <a:r>
              <a:rPr dirty="0" spc="-10"/>
              <a:t>pesos</a:t>
            </a:r>
            <a:r>
              <a:rPr dirty="0" spc="-150"/>
              <a:t> </a:t>
            </a:r>
            <a:r>
              <a:rPr dirty="0" spc="-20"/>
              <a:t>ayudan</a:t>
            </a:r>
            <a:r>
              <a:rPr dirty="0" spc="-155"/>
              <a:t> </a:t>
            </a:r>
            <a:r>
              <a:rPr dirty="0" spc="-40"/>
              <a:t>a</a:t>
            </a:r>
            <a:r>
              <a:rPr dirty="0" spc="-150"/>
              <a:t> </a:t>
            </a:r>
            <a:r>
              <a:rPr dirty="0"/>
              <a:t>determinar</a:t>
            </a:r>
            <a:r>
              <a:rPr dirty="0" spc="-160"/>
              <a:t> </a:t>
            </a:r>
            <a:r>
              <a:rPr dirty="0" spc="-80" b="1" i="1">
                <a:latin typeface="Trebuchet MS"/>
                <a:cs typeface="Trebuchet MS"/>
              </a:rPr>
              <a:t>cuán</a:t>
            </a:r>
            <a:r>
              <a:rPr dirty="0" spc="-130" b="1" i="1">
                <a:latin typeface="Trebuchet MS"/>
                <a:cs typeface="Trebuchet MS"/>
              </a:rPr>
              <a:t> rápido</a:t>
            </a:r>
            <a:r>
              <a:rPr dirty="0" spc="-135" b="1" i="1">
                <a:latin typeface="Trebuchet MS"/>
                <a:cs typeface="Trebuchet MS"/>
              </a:rPr>
              <a:t> </a:t>
            </a:r>
            <a:r>
              <a:rPr dirty="0" spc="-45" b="1" i="1">
                <a:latin typeface="Trebuchet MS"/>
                <a:cs typeface="Trebuchet MS"/>
              </a:rPr>
              <a:t>un</a:t>
            </a:r>
            <a:r>
              <a:rPr dirty="0" spc="-130" b="1" i="1">
                <a:latin typeface="Trebuchet MS"/>
                <a:cs typeface="Trebuchet MS"/>
              </a:rPr>
              <a:t> proceso</a:t>
            </a:r>
            <a:r>
              <a:rPr dirty="0" spc="-135" b="1" i="1">
                <a:latin typeface="Trebuchet MS"/>
                <a:cs typeface="Trebuchet MS"/>
              </a:rPr>
              <a:t> </a:t>
            </a:r>
            <a:r>
              <a:rPr dirty="0" spc="-95" b="1" i="1">
                <a:latin typeface="Trebuchet MS"/>
                <a:cs typeface="Trebuchet MS"/>
              </a:rPr>
              <a:t>acumula</a:t>
            </a:r>
            <a:r>
              <a:rPr dirty="0" spc="-130" b="1" i="1">
                <a:latin typeface="Trebuchet MS"/>
                <a:cs typeface="Trebuchet MS"/>
              </a:rPr>
              <a:t> </a:t>
            </a:r>
            <a:r>
              <a:rPr dirty="0" spc="-100" b="1" i="1">
                <a:latin typeface="Trebuchet MS"/>
                <a:cs typeface="Trebuchet MS"/>
              </a:rPr>
              <a:t>vruntime</a:t>
            </a:r>
            <a:r>
              <a:rPr dirty="0" spc="-130" b="1" i="1">
                <a:latin typeface="Trebuchet MS"/>
                <a:cs typeface="Trebuchet MS"/>
              </a:rPr>
              <a:t> </a:t>
            </a:r>
            <a:r>
              <a:rPr dirty="0" spc="-25" b="1" i="1">
                <a:latin typeface="Trebuchet MS"/>
                <a:cs typeface="Trebuchet MS"/>
              </a:rPr>
              <a:t>en </a:t>
            </a:r>
            <a:r>
              <a:rPr dirty="0" spc="-114" b="1" i="1">
                <a:latin typeface="Trebuchet MS"/>
                <a:cs typeface="Trebuchet MS"/>
              </a:rPr>
              <a:t>comparación</a:t>
            </a:r>
            <a:r>
              <a:rPr dirty="0" spc="-130" b="1" i="1">
                <a:latin typeface="Trebuchet MS"/>
                <a:cs typeface="Trebuchet MS"/>
              </a:rPr>
              <a:t> </a:t>
            </a:r>
            <a:r>
              <a:rPr dirty="0" spc="-90" b="1" i="1">
                <a:latin typeface="Trebuchet MS"/>
                <a:cs typeface="Trebuchet MS"/>
              </a:rPr>
              <a:t>con</a:t>
            </a:r>
            <a:r>
              <a:rPr dirty="0" spc="-130" b="1" i="1">
                <a:latin typeface="Trebuchet MS"/>
                <a:cs typeface="Trebuchet MS"/>
              </a:rPr>
              <a:t> </a:t>
            </a:r>
            <a:r>
              <a:rPr dirty="0" spc="-135" b="1" i="1">
                <a:latin typeface="Trebuchet MS"/>
                <a:cs typeface="Trebuchet MS"/>
              </a:rPr>
              <a:t>otros</a:t>
            </a:r>
            <a:r>
              <a:rPr dirty="0" spc="-130" b="1" i="1">
                <a:latin typeface="Trebuchet MS"/>
                <a:cs typeface="Trebuchet MS"/>
              </a:rPr>
              <a:t> </a:t>
            </a:r>
            <a:r>
              <a:rPr dirty="0" spc="-10" b="1" i="1">
                <a:latin typeface="Trebuchet MS"/>
                <a:cs typeface="Trebuchet MS"/>
              </a:rPr>
              <a:t>procesos</a:t>
            </a:r>
            <a:r>
              <a:rPr dirty="0" spc="-10"/>
              <a:t>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448018" y="3300950"/>
            <a:ext cx="2896235" cy="772795"/>
            <a:chOff x="3448018" y="3300950"/>
            <a:chExt cx="2896235" cy="7727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48018" y="3300950"/>
              <a:ext cx="2662405" cy="5333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32830" y="3723974"/>
              <a:ext cx="406400" cy="344805"/>
            </a:xfrm>
            <a:custGeom>
              <a:avLst/>
              <a:gdLst/>
              <a:ahLst/>
              <a:cxnLst/>
              <a:rect l="l" t="t" r="r" b="b"/>
              <a:pathLst>
                <a:path w="406400" h="344804">
                  <a:moveTo>
                    <a:pt x="323999" y="344783"/>
                  </a:moveTo>
                  <a:lnTo>
                    <a:pt x="85355" y="189674"/>
                  </a:lnTo>
                  <a:lnTo>
                    <a:pt x="44255" y="252899"/>
                  </a:lnTo>
                  <a:lnTo>
                    <a:pt x="0" y="44258"/>
                  </a:lnTo>
                  <a:lnTo>
                    <a:pt x="208655" y="0"/>
                  </a:lnTo>
                  <a:lnTo>
                    <a:pt x="167555" y="63224"/>
                  </a:lnTo>
                  <a:lnTo>
                    <a:pt x="406199" y="218333"/>
                  </a:lnTo>
                  <a:lnTo>
                    <a:pt x="323999" y="344783"/>
                  </a:lnTo>
                  <a:close/>
                </a:path>
              </a:pathLst>
            </a:custGeom>
            <a:solidFill>
              <a:srgbClr val="E9ED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932830" y="3723974"/>
              <a:ext cx="406400" cy="344805"/>
            </a:xfrm>
            <a:custGeom>
              <a:avLst/>
              <a:gdLst/>
              <a:ahLst/>
              <a:cxnLst/>
              <a:rect l="l" t="t" r="r" b="b"/>
              <a:pathLst>
                <a:path w="406400" h="344804">
                  <a:moveTo>
                    <a:pt x="323999" y="344783"/>
                  </a:moveTo>
                  <a:lnTo>
                    <a:pt x="85355" y="189674"/>
                  </a:lnTo>
                  <a:lnTo>
                    <a:pt x="44255" y="252899"/>
                  </a:lnTo>
                  <a:lnTo>
                    <a:pt x="0" y="44258"/>
                  </a:lnTo>
                  <a:lnTo>
                    <a:pt x="208655" y="0"/>
                  </a:lnTo>
                  <a:lnTo>
                    <a:pt x="167555" y="63224"/>
                  </a:lnTo>
                  <a:lnTo>
                    <a:pt x="406199" y="218333"/>
                  </a:lnTo>
                  <a:lnTo>
                    <a:pt x="323999" y="344783"/>
                  </a:lnTo>
                  <a:close/>
                </a:path>
              </a:pathLst>
            </a:custGeom>
            <a:ln w="9524">
              <a:solidFill>
                <a:srgbClr val="1A1A1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800675" y="697137"/>
            <a:ext cx="3954779" cy="3822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2300" spc="-40" b="1">
                <a:solidFill>
                  <a:srgbClr val="1A1A1A"/>
                </a:solidFill>
                <a:latin typeface="Trebuchet MS"/>
                <a:cs typeface="Trebuchet MS"/>
              </a:rPr>
              <a:t>Linux:</a:t>
            </a:r>
            <a:r>
              <a:rPr dirty="0" sz="2300" spc="-190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300" spc="90" b="1">
                <a:solidFill>
                  <a:srgbClr val="1A1A1A"/>
                </a:solidFill>
                <a:latin typeface="Trebuchet MS"/>
                <a:cs typeface="Trebuchet MS"/>
              </a:rPr>
              <a:t>Weighting</a:t>
            </a:r>
            <a:r>
              <a:rPr dirty="0" sz="2300" spc="-100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300" spc="45" b="1">
                <a:solidFill>
                  <a:srgbClr val="1A1A1A"/>
                </a:solidFill>
                <a:latin typeface="Trebuchet MS"/>
                <a:cs typeface="Trebuchet MS"/>
              </a:rPr>
              <a:t>(Niceness)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0675" y="1319872"/>
            <a:ext cx="48456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CFS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mapea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nice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value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peso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muestra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:</a:t>
            </a:r>
            <a:endParaRPr sz="16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4100" y="1700550"/>
            <a:ext cx="6262699" cy="316642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0675" y="1469214"/>
            <a:ext cx="7903209" cy="2922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55" b="1">
                <a:solidFill>
                  <a:srgbClr val="595959"/>
                </a:solidFill>
                <a:latin typeface="Tahoma"/>
                <a:cs typeface="Tahoma"/>
              </a:rPr>
              <a:t>Ya</a:t>
            </a:r>
            <a:r>
              <a:rPr dirty="0" sz="1700" spc="-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14" b="1">
                <a:solidFill>
                  <a:srgbClr val="595959"/>
                </a:solidFill>
                <a:latin typeface="Tahoma"/>
                <a:cs typeface="Tahoma"/>
              </a:rPr>
              <a:t>elegí</a:t>
            </a:r>
            <a:r>
              <a:rPr dirty="0" sz="1700" spc="-140" b="1">
                <a:solidFill>
                  <a:srgbClr val="595959"/>
                </a:solidFill>
                <a:latin typeface="Tahoma"/>
                <a:cs typeface="Tahoma"/>
              </a:rPr>
              <a:t> un</a:t>
            </a:r>
            <a:r>
              <a:rPr dirty="0" sz="1700" spc="-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14" b="1">
                <a:solidFill>
                  <a:srgbClr val="595959"/>
                </a:solidFill>
                <a:latin typeface="Tahoma"/>
                <a:cs typeface="Tahoma"/>
              </a:rPr>
              <a:t>proceso.</a:t>
            </a:r>
            <a:r>
              <a:rPr dirty="0" sz="17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25" b="1">
                <a:solidFill>
                  <a:srgbClr val="595959"/>
                </a:solidFill>
                <a:latin typeface="Tahoma"/>
                <a:cs typeface="Tahoma"/>
              </a:rPr>
              <a:t>¿Cuánto</a:t>
            </a:r>
            <a:r>
              <a:rPr dirty="0" sz="1700" spc="-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20" b="1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700" spc="-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20" b="1">
                <a:solidFill>
                  <a:srgbClr val="595959"/>
                </a:solidFill>
                <a:latin typeface="Tahoma"/>
                <a:cs typeface="Tahoma"/>
              </a:rPr>
              <a:t>va</a:t>
            </a:r>
            <a:r>
              <a:rPr dirty="0" sz="1700" spc="-140" b="1">
                <a:solidFill>
                  <a:srgbClr val="595959"/>
                </a:solidFill>
                <a:latin typeface="Tahoma"/>
                <a:cs typeface="Tahoma"/>
              </a:rPr>
              <a:t> a</a:t>
            </a:r>
            <a:r>
              <a:rPr dirty="0" sz="1700" spc="-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 b="1">
                <a:solidFill>
                  <a:srgbClr val="595959"/>
                </a:solidFill>
                <a:latin typeface="Tahoma"/>
                <a:cs typeface="Tahoma"/>
              </a:rPr>
              <a:t>ejecutar?</a:t>
            </a:r>
            <a:endParaRPr sz="1700">
              <a:latin typeface="Tahoma"/>
              <a:cs typeface="Tahoma"/>
            </a:endParaRPr>
          </a:p>
          <a:p>
            <a:pPr marL="12700" marR="354330">
              <a:lnSpc>
                <a:spcPct val="114999"/>
              </a:lnSpc>
              <a:spcBef>
                <a:spcPts val="1905"/>
              </a:spcBef>
            </a:pPr>
            <a:r>
              <a:rPr dirty="0" sz="1600" spc="-105" b="1">
                <a:solidFill>
                  <a:srgbClr val="595959"/>
                </a:solidFill>
                <a:latin typeface="Tahoma"/>
                <a:cs typeface="Tahoma"/>
              </a:rPr>
              <a:t>Latencia</a:t>
            </a:r>
            <a:r>
              <a:rPr dirty="0" sz="1600" spc="-114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0" b="1">
                <a:solidFill>
                  <a:srgbClr val="595959"/>
                </a:solidFill>
                <a:latin typeface="Tahoma"/>
                <a:cs typeface="Tahoma"/>
              </a:rPr>
              <a:t>objetivo</a:t>
            </a: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45" b="1">
                <a:solidFill>
                  <a:srgbClr val="595959"/>
                </a:solidFill>
                <a:latin typeface="Tahoma"/>
                <a:cs typeface="Tahoma"/>
              </a:rPr>
              <a:t>(sched_latency):</a:t>
            </a:r>
            <a:r>
              <a:rPr dirty="0" sz="1600" spc="-10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valor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define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período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tiempo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durante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cual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scheduler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intenta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ejecutables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ejecuten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al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menos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vez.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defecto,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período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alrededor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48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ms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sistemas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un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número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considerable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tareas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ejecutándose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5">
                <a:solidFill>
                  <a:srgbClr val="595959"/>
                </a:solidFill>
                <a:latin typeface="Tahoma"/>
                <a:cs typeface="Tahoma"/>
              </a:rPr>
              <a:t>(el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default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20ms).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valor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ajusta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según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número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tareas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activas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mantener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rendimiento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scheduler.</a:t>
            </a:r>
            <a:endParaRPr sz="1600">
              <a:latin typeface="Tahoma"/>
              <a:cs typeface="Tahoma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Basicamente,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calcular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cuánto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va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correr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ser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elegido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toma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proporcional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sched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latency,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prioridad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dividida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total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todas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prioridades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runnables.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229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dirty="0" spc="-40"/>
              <a:t>Linux:</a:t>
            </a:r>
            <a:r>
              <a:rPr dirty="0" spc="-185"/>
              <a:t> </a:t>
            </a:r>
            <a:r>
              <a:rPr dirty="0" spc="55"/>
              <a:t>Timeslice</a:t>
            </a:r>
            <a:r>
              <a:rPr dirty="0" spc="-114"/>
              <a:t> </a:t>
            </a:r>
            <a:r>
              <a:rPr dirty="0" spc="65"/>
              <a:t>dinámico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229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dirty="0" spc="-40"/>
              <a:t>Linux:</a:t>
            </a:r>
            <a:r>
              <a:rPr dirty="0" spc="-185"/>
              <a:t> </a:t>
            </a:r>
            <a:r>
              <a:rPr dirty="0" spc="55"/>
              <a:t>Timeslice</a:t>
            </a:r>
            <a:r>
              <a:rPr dirty="0" spc="-114"/>
              <a:t> </a:t>
            </a:r>
            <a:r>
              <a:rPr dirty="0" spc="65"/>
              <a:t>dinámico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0675" y="1480113"/>
            <a:ext cx="7628890" cy="150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7155">
              <a:lnSpc>
                <a:spcPct val="100000"/>
              </a:lnSpc>
              <a:spcBef>
                <a:spcPts val="100"/>
              </a:spcBef>
            </a:pPr>
            <a:r>
              <a:rPr dirty="0" sz="1700" spc="-10" b="1">
                <a:solidFill>
                  <a:srgbClr val="595959"/>
                </a:solidFill>
                <a:latin typeface="Tahoma"/>
                <a:cs typeface="Tahoma"/>
              </a:rPr>
              <a:t>Ejemplo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sched_latency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20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ms:</a:t>
            </a:r>
            <a:endParaRPr sz="1600">
              <a:latin typeface="Tahoma"/>
              <a:cs typeface="Tahoma"/>
            </a:endParaRPr>
          </a:p>
          <a:p>
            <a:pPr marL="469265" indent="-351155">
              <a:lnSpc>
                <a:spcPct val="100000"/>
              </a:lnSpc>
              <a:spcBef>
                <a:spcPts val="148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tengo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dos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igual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prioridad,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timeslice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uno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sera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10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ms.</a:t>
            </a:r>
            <a:endParaRPr sz="1600">
              <a:latin typeface="Tahoma"/>
              <a:cs typeface="Tahoma"/>
            </a:endParaRPr>
          </a:p>
          <a:p>
            <a:pPr marL="469265" indent="-351155">
              <a:lnSpc>
                <a:spcPct val="100000"/>
              </a:lnSpc>
              <a:spcBef>
                <a:spcPts val="29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tengo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cuatro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igual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prioridad,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timeslice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sera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5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ms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229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dirty="0" spc="-40"/>
              <a:t>Linux:</a:t>
            </a:r>
            <a:r>
              <a:rPr dirty="0" spc="-185"/>
              <a:t> </a:t>
            </a:r>
            <a:r>
              <a:rPr dirty="0" spc="55"/>
              <a:t>Timeslice</a:t>
            </a:r>
            <a:r>
              <a:rPr dirty="0" spc="-114"/>
              <a:t> </a:t>
            </a:r>
            <a:r>
              <a:rPr dirty="0" spc="65"/>
              <a:t>dinámico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0675" y="1480113"/>
            <a:ext cx="5086985" cy="3145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7155">
              <a:lnSpc>
                <a:spcPct val="100000"/>
              </a:lnSpc>
              <a:spcBef>
                <a:spcPts val="100"/>
              </a:spcBef>
            </a:pPr>
            <a:r>
              <a:rPr dirty="0" sz="1700" spc="-10" b="1">
                <a:solidFill>
                  <a:srgbClr val="595959"/>
                </a:solidFill>
                <a:latin typeface="Tahoma"/>
                <a:cs typeface="Tahoma"/>
              </a:rPr>
              <a:t>Ejemplo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sched_latency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20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ms:</a:t>
            </a:r>
            <a:endParaRPr sz="1600">
              <a:latin typeface="Tahoma"/>
              <a:cs typeface="Tahoma"/>
            </a:endParaRPr>
          </a:p>
          <a:p>
            <a:pPr marL="469265" indent="-351155">
              <a:lnSpc>
                <a:spcPct val="100000"/>
              </a:lnSpc>
              <a:spcBef>
                <a:spcPts val="148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A: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nice-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0</a:t>
            </a:r>
            <a:endParaRPr sz="1600">
              <a:latin typeface="Tahoma"/>
              <a:cs typeface="Tahoma"/>
            </a:endParaRPr>
          </a:p>
          <a:p>
            <a:pPr marL="469265" indent="-351155">
              <a:lnSpc>
                <a:spcPct val="100000"/>
              </a:lnSpc>
              <a:spcBef>
                <a:spcPts val="29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5">
                <a:solidFill>
                  <a:srgbClr val="595959"/>
                </a:solidFill>
                <a:latin typeface="Tahoma"/>
                <a:cs typeface="Tahoma"/>
              </a:rPr>
              <a:t>B: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nice-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5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90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nice-0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0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30">
                <a:solidFill>
                  <a:srgbClr val="595959"/>
                </a:solidFill>
                <a:latin typeface="Tahoma"/>
                <a:cs typeface="Tahoma"/>
              </a:rPr>
              <a:t>1024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Nice-5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0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6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5">
                <a:solidFill>
                  <a:srgbClr val="595959"/>
                </a:solidFill>
                <a:latin typeface="Tahoma"/>
                <a:cs typeface="Tahoma"/>
              </a:rPr>
              <a:t>335</a:t>
            </a:r>
            <a:endParaRPr sz="1600">
              <a:latin typeface="Tahoma"/>
              <a:cs typeface="Tahoma"/>
            </a:endParaRPr>
          </a:p>
          <a:p>
            <a:pPr marL="469265" indent="-327660">
              <a:lnSpc>
                <a:spcPct val="100000"/>
              </a:lnSpc>
              <a:spcBef>
                <a:spcPts val="1465"/>
              </a:spcBef>
              <a:buSzPct val="81250"/>
              <a:buFont typeface="Arial MT"/>
              <a:buChar char="●"/>
              <a:tabLst>
                <a:tab pos="469265" algn="l"/>
              </a:tabLst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timeslice(A)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0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20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ms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45">
                <a:solidFill>
                  <a:srgbClr val="595959"/>
                </a:solidFill>
                <a:latin typeface="Tahoma"/>
                <a:cs typeface="Tahoma"/>
              </a:rPr>
              <a:t>*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1024/(1024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0">
                <a:solidFill>
                  <a:srgbClr val="595959"/>
                </a:solidFill>
                <a:latin typeface="Tahoma"/>
                <a:cs typeface="Tahoma"/>
              </a:rPr>
              <a:t>+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335)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0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50">
                <a:solidFill>
                  <a:srgbClr val="1F1F1F"/>
                </a:solidFill>
                <a:latin typeface="Arial MT"/>
                <a:cs typeface="Arial MT"/>
              </a:rPr>
              <a:t>15</a:t>
            </a:r>
            <a:r>
              <a:rPr dirty="0" sz="2250" spc="5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250" spc="-25">
                <a:solidFill>
                  <a:srgbClr val="1F1F1F"/>
                </a:solidFill>
                <a:latin typeface="Arial MT"/>
                <a:cs typeface="Arial MT"/>
              </a:rPr>
              <a:t>ms</a:t>
            </a:r>
            <a:endParaRPr sz="2250">
              <a:latin typeface="Arial MT"/>
              <a:cs typeface="Arial MT"/>
            </a:endParaRPr>
          </a:p>
          <a:p>
            <a:pPr marL="469265" indent="-327660">
              <a:lnSpc>
                <a:spcPct val="100000"/>
              </a:lnSpc>
              <a:spcBef>
                <a:spcPts val="405"/>
              </a:spcBef>
              <a:buSzPct val="81250"/>
              <a:buFont typeface="Arial MT"/>
              <a:buChar char="●"/>
              <a:tabLst>
                <a:tab pos="469265" algn="l"/>
              </a:tabLst>
            </a:pP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timeslice(B)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0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20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ms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45">
                <a:solidFill>
                  <a:srgbClr val="595959"/>
                </a:solidFill>
                <a:latin typeface="Tahoma"/>
                <a:cs typeface="Tahoma"/>
              </a:rPr>
              <a:t>*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335/(1024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0">
                <a:solidFill>
                  <a:srgbClr val="595959"/>
                </a:solidFill>
                <a:latin typeface="Tahoma"/>
                <a:cs typeface="Tahoma"/>
              </a:rPr>
              <a:t>+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335)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0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50">
                <a:solidFill>
                  <a:srgbClr val="1F1F1F"/>
                </a:solidFill>
                <a:latin typeface="Arial MT"/>
                <a:cs typeface="Arial MT"/>
              </a:rPr>
              <a:t>5</a:t>
            </a:r>
            <a:r>
              <a:rPr dirty="0" sz="2250" spc="5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250" spc="-25">
                <a:solidFill>
                  <a:srgbClr val="1F1F1F"/>
                </a:solidFill>
                <a:latin typeface="Arial MT"/>
                <a:cs typeface="Arial MT"/>
              </a:rPr>
              <a:t>ms</a:t>
            </a:r>
            <a:endParaRPr sz="22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229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dirty="0" spc="-40"/>
              <a:t>Linux:</a:t>
            </a:r>
            <a:r>
              <a:rPr dirty="0" spc="-185"/>
              <a:t> </a:t>
            </a:r>
            <a:r>
              <a:rPr dirty="0" spc="55"/>
              <a:t>Timeslice</a:t>
            </a:r>
            <a:r>
              <a:rPr dirty="0" spc="-114"/>
              <a:t> </a:t>
            </a:r>
            <a:r>
              <a:rPr dirty="0" spc="65"/>
              <a:t>dinámico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0675" y="1480113"/>
            <a:ext cx="2384425" cy="2222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7155">
              <a:lnSpc>
                <a:spcPct val="100000"/>
              </a:lnSpc>
              <a:spcBef>
                <a:spcPts val="100"/>
              </a:spcBef>
            </a:pPr>
            <a:r>
              <a:rPr dirty="0" sz="1700" spc="-10" b="1">
                <a:solidFill>
                  <a:srgbClr val="595959"/>
                </a:solidFill>
                <a:latin typeface="Tahoma"/>
                <a:cs typeface="Tahoma"/>
              </a:rPr>
              <a:t>Ejemplo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sched_latency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20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ms:</a:t>
            </a:r>
            <a:endParaRPr sz="1600">
              <a:latin typeface="Tahoma"/>
              <a:cs typeface="Tahoma"/>
            </a:endParaRPr>
          </a:p>
          <a:p>
            <a:pPr marL="469265" indent="-351155">
              <a:lnSpc>
                <a:spcPct val="100000"/>
              </a:lnSpc>
              <a:spcBef>
                <a:spcPts val="148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A: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nice-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10</a:t>
            </a:r>
            <a:endParaRPr sz="1600">
              <a:latin typeface="Tahoma"/>
              <a:cs typeface="Tahoma"/>
            </a:endParaRPr>
          </a:p>
          <a:p>
            <a:pPr marL="469265" indent="-351155">
              <a:lnSpc>
                <a:spcPct val="100000"/>
              </a:lnSpc>
              <a:spcBef>
                <a:spcPts val="29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5">
                <a:solidFill>
                  <a:srgbClr val="595959"/>
                </a:solidFill>
                <a:latin typeface="Tahoma"/>
                <a:cs typeface="Tahoma"/>
              </a:rPr>
              <a:t>B:</a:t>
            </a:r>
            <a:r>
              <a:rPr dirty="0" sz="16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nice-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15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90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nice-10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0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5">
                <a:solidFill>
                  <a:srgbClr val="595959"/>
                </a:solidFill>
                <a:latin typeface="Tahoma"/>
                <a:cs typeface="Tahoma"/>
              </a:rPr>
              <a:t>110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nice-15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0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25">
                <a:solidFill>
                  <a:srgbClr val="595959"/>
                </a:solidFill>
                <a:latin typeface="Tahoma"/>
                <a:cs typeface="Tahoma"/>
              </a:rPr>
              <a:t>36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9583" y="3811365"/>
            <a:ext cx="4605020" cy="814069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340360" indent="-327660">
              <a:lnSpc>
                <a:spcPct val="100000"/>
              </a:lnSpc>
              <a:spcBef>
                <a:spcPts val="505"/>
              </a:spcBef>
              <a:buSzPct val="81250"/>
              <a:buFont typeface="Arial MT"/>
              <a:buChar char="●"/>
              <a:tabLst>
                <a:tab pos="340360" algn="l"/>
              </a:tabLst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timeslice(A)</a:t>
            </a:r>
            <a:r>
              <a:rPr dirty="0" sz="16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0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20</a:t>
            </a:r>
            <a:r>
              <a:rPr dirty="0" sz="16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ms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45">
                <a:solidFill>
                  <a:srgbClr val="595959"/>
                </a:solidFill>
                <a:latin typeface="Tahoma"/>
                <a:cs typeface="Tahoma"/>
              </a:rPr>
              <a:t>*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110/(110</a:t>
            </a:r>
            <a:r>
              <a:rPr dirty="0" sz="16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0">
                <a:solidFill>
                  <a:srgbClr val="595959"/>
                </a:solidFill>
                <a:latin typeface="Tahoma"/>
                <a:cs typeface="Tahoma"/>
              </a:rPr>
              <a:t>+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36)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0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6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50">
                <a:solidFill>
                  <a:srgbClr val="1F1F1F"/>
                </a:solidFill>
                <a:latin typeface="Arial MT"/>
                <a:cs typeface="Arial MT"/>
              </a:rPr>
              <a:t>15</a:t>
            </a:r>
            <a:r>
              <a:rPr dirty="0" sz="2250" spc="35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250" spc="-25">
                <a:solidFill>
                  <a:srgbClr val="1F1F1F"/>
                </a:solidFill>
                <a:latin typeface="Arial MT"/>
                <a:cs typeface="Arial MT"/>
              </a:rPr>
              <a:t>ms</a:t>
            </a:r>
            <a:endParaRPr sz="2250">
              <a:latin typeface="Arial MT"/>
              <a:cs typeface="Arial MT"/>
            </a:endParaRPr>
          </a:p>
          <a:p>
            <a:pPr marL="340360" indent="-327660">
              <a:lnSpc>
                <a:spcPct val="100000"/>
              </a:lnSpc>
              <a:spcBef>
                <a:spcPts val="405"/>
              </a:spcBef>
              <a:buSzPct val="81250"/>
              <a:buFont typeface="Arial MT"/>
              <a:buChar char="●"/>
              <a:tabLst>
                <a:tab pos="340360" algn="l"/>
              </a:tabLst>
            </a:pP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timeslice(B)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0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20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ms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45">
                <a:solidFill>
                  <a:srgbClr val="595959"/>
                </a:solidFill>
                <a:latin typeface="Tahoma"/>
                <a:cs typeface="Tahoma"/>
              </a:rPr>
              <a:t>*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36/(110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0">
                <a:solidFill>
                  <a:srgbClr val="595959"/>
                </a:solidFill>
                <a:latin typeface="Tahoma"/>
                <a:cs typeface="Tahoma"/>
              </a:rPr>
              <a:t>+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36)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0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6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2250">
                <a:solidFill>
                  <a:srgbClr val="1F1F1F"/>
                </a:solidFill>
                <a:latin typeface="Arial MT"/>
                <a:cs typeface="Arial MT"/>
              </a:rPr>
              <a:t>5</a:t>
            </a:r>
            <a:r>
              <a:rPr dirty="0" sz="2250" spc="4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250" spc="-25">
                <a:solidFill>
                  <a:srgbClr val="1F1F1F"/>
                </a:solidFill>
                <a:latin typeface="Arial MT"/>
                <a:cs typeface="Arial MT"/>
              </a:rPr>
              <a:t>ms</a:t>
            </a:r>
            <a:endParaRPr sz="22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14450" y="4053895"/>
            <a:ext cx="207518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valor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nice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sentido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relativo.</a:t>
            </a:r>
            <a:r>
              <a:rPr dirty="0" sz="13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7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3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absoluto!!!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229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dirty="0" spc="-35"/>
              <a:t>Linux:</a:t>
            </a:r>
            <a:r>
              <a:rPr dirty="0" spc="-65"/>
              <a:t> </a:t>
            </a:r>
            <a:r>
              <a:rPr dirty="0" spc="80"/>
              <a:t>Constantes</a:t>
            </a:r>
            <a:r>
              <a:rPr dirty="0" spc="-135"/>
              <a:t> </a:t>
            </a:r>
            <a:r>
              <a:rPr dirty="0" spc="60"/>
              <a:t>y</a:t>
            </a:r>
            <a:r>
              <a:rPr dirty="0" spc="-125"/>
              <a:t> </a:t>
            </a:r>
            <a:r>
              <a:rPr dirty="0"/>
              <a:t>Factores</a:t>
            </a:r>
            <a:r>
              <a:rPr dirty="0" spc="-65"/>
              <a:t> </a:t>
            </a:r>
            <a:r>
              <a:rPr dirty="0" spc="50"/>
              <a:t>en</a:t>
            </a:r>
            <a:r>
              <a:rPr dirty="0" spc="-60"/>
              <a:t> </a:t>
            </a:r>
            <a:r>
              <a:rPr dirty="0" spc="70"/>
              <a:t>el</a:t>
            </a:r>
            <a:r>
              <a:rPr dirty="0" spc="-135"/>
              <a:t> </a:t>
            </a:r>
            <a:r>
              <a:rPr dirty="0" spc="114"/>
              <a:t>CFS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457200">
              <a:lnSpc>
                <a:spcPct val="114999"/>
              </a:lnSpc>
              <a:spcBef>
                <a:spcPts val="100"/>
              </a:spcBef>
            </a:pPr>
            <a:r>
              <a:rPr dirty="0" spc="-90" b="1">
                <a:latin typeface="Tahoma"/>
                <a:cs typeface="Tahoma"/>
              </a:rPr>
              <a:t>Mínimo</a:t>
            </a:r>
            <a:r>
              <a:rPr dirty="0" spc="-105" b="1">
                <a:latin typeface="Tahoma"/>
                <a:cs typeface="Tahoma"/>
              </a:rPr>
              <a:t> tiempo</a:t>
            </a:r>
            <a:r>
              <a:rPr dirty="0" spc="-100" b="1">
                <a:latin typeface="Tahoma"/>
                <a:cs typeface="Tahoma"/>
              </a:rPr>
              <a:t> </a:t>
            </a:r>
            <a:r>
              <a:rPr dirty="0" spc="-110" b="1">
                <a:latin typeface="Tahoma"/>
                <a:cs typeface="Tahoma"/>
              </a:rPr>
              <a:t>de</a:t>
            </a:r>
            <a:r>
              <a:rPr dirty="0" spc="-100" b="1">
                <a:latin typeface="Tahoma"/>
                <a:cs typeface="Tahoma"/>
              </a:rPr>
              <a:t> </a:t>
            </a:r>
            <a:r>
              <a:rPr dirty="0" spc="-114" b="1">
                <a:latin typeface="Tahoma"/>
                <a:cs typeface="Tahoma"/>
              </a:rPr>
              <a:t>ejecución</a:t>
            </a:r>
            <a:r>
              <a:rPr dirty="0" spc="-100" b="1">
                <a:latin typeface="Tahoma"/>
                <a:cs typeface="Tahoma"/>
              </a:rPr>
              <a:t> </a:t>
            </a:r>
            <a:r>
              <a:rPr dirty="0" spc="-114" b="1">
                <a:latin typeface="Tahoma"/>
                <a:cs typeface="Tahoma"/>
              </a:rPr>
              <a:t>garantizado</a:t>
            </a:r>
            <a:r>
              <a:rPr dirty="0" spc="-100" b="1">
                <a:latin typeface="Tahoma"/>
                <a:cs typeface="Tahoma"/>
              </a:rPr>
              <a:t> </a:t>
            </a:r>
            <a:r>
              <a:rPr dirty="0" spc="-145" b="1">
                <a:latin typeface="Tahoma"/>
                <a:cs typeface="Tahoma"/>
              </a:rPr>
              <a:t>(min_granularity)</a:t>
            </a:r>
            <a:r>
              <a:rPr dirty="0" spc="-145"/>
              <a:t>:</a:t>
            </a:r>
            <a:r>
              <a:rPr dirty="0" spc="-130"/>
              <a:t> </a:t>
            </a:r>
            <a:r>
              <a:rPr dirty="0"/>
              <a:t>Este</a:t>
            </a:r>
            <a:r>
              <a:rPr dirty="0" spc="-130"/>
              <a:t> </a:t>
            </a:r>
            <a:r>
              <a:rPr dirty="0"/>
              <a:t>valor</a:t>
            </a:r>
            <a:r>
              <a:rPr dirty="0" spc="-135"/>
              <a:t> </a:t>
            </a:r>
            <a:r>
              <a:rPr dirty="0"/>
              <a:t>define</a:t>
            </a:r>
            <a:r>
              <a:rPr dirty="0" spc="-130"/>
              <a:t> </a:t>
            </a:r>
            <a:r>
              <a:rPr dirty="0" spc="-25"/>
              <a:t>el </a:t>
            </a:r>
            <a:r>
              <a:rPr dirty="0" spc="-120" b="1">
                <a:latin typeface="Tahoma"/>
                <a:cs typeface="Tahoma"/>
              </a:rPr>
              <a:t>mínimo</a:t>
            </a:r>
            <a:r>
              <a:rPr dirty="0" spc="-135" b="1">
                <a:latin typeface="Tahoma"/>
                <a:cs typeface="Tahoma"/>
              </a:rPr>
              <a:t> </a:t>
            </a:r>
            <a:r>
              <a:rPr dirty="0" spc="-105" b="1">
                <a:latin typeface="Tahoma"/>
                <a:cs typeface="Tahoma"/>
              </a:rPr>
              <a:t>tiempo</a:t>
            </a:r>
            <a:r>
              <a:rPr dirty="0" spc="-130" b="1">
                <a:latin typeface="Tahoma"/>
                <a:cs typeface="Tahoma"/>
              </a:rPr>
              <a:t> </a:t>
            </a:r>
            <a:r>
              <a:rPr dirty="0" spc="-110" b="1">
                <a:latin typeface="Tahoma"/>
                <a:cs typeface="Tahoma"/>
              </a:rPr>
              <a:t>de</a:t>
            </a:r>
            <a:r>
              <a:rPr dirty="0" spc="-130" b="1">
                <a:latin typeface="Tahoma"/>
                <a:cs typeface="Tahoma"/>
              </a:rPr>
              <a:t> </a:t>
            </a:r>
            <a:r>
              <a:rPr dirty="0" spc="-114" b="1">
                <a:latin typeface="Tahoma"/>
                <a:cs typeface="Tahoma"/>
              </a:rPr>
              <a:t>ejecución</a:t>
            </a:r>
            <a:r>
              <a:rPr dirty="0" spc="-130" b="1">
                <a:latin typeface="Tahoma"/>
                <a:cs typeface="Tahoma"/>
              </a:rPr>
              <a:t> </a:t>
            </a:r>
            <a:r>
              <a:rPr dirty="0" spc="-120" b="1">
                <a:latin typeface="Tahoma"/>
                <a:cs typeface="Tahoma"/>
              </a:rPr>
              <a:t>que</a:t>
            </a:r>
            <a:r>
              <a:rPr dirty="0" spc="-135" b="1">
                <a:latin typeface="Tahoma"/>
                <a:cs typeface="Tahoma"/>
              </a:rPr>
              <a:t> un</a:t>
            </a:r>
            <a:r>
              <a:rPr dirty="0" spc="-130" b="1">
                <a:latin typeface="Tahoma"/>
                <a:cs typeface="Tahoma"/>
              </a:rPr>
              <a:t> </a:t>
            </a:r>
            <a:r>
              <a:rPr dirty="0" spc="-100" b="1">
                <a:latin typeface="Tahoma"/>
                <a:cs typeface="Tahoma"/>
              </a:rPr>
              <a:t>proceso</a:t>
            </a:r>
            <a:r>
              <a:rPr dirty="0" spc="-130" b="1">
                <a:latin typeface="Tahoma"/>
                <a:cs typeface="Tahoma"/>
              </a:rPr>
              <a:t> </a:t>
            </a:r>
            <a:r>
              <a:rPr dirty="0" spc="-105" b="1">
                <a:latin typeface="Tahoma"/>
                <a:cs typeface="Tahoma"/>
              </a:rPr>
              <a:t>debería</a:t>
            </a:r>
            <a:r>
              <a:rPr dirty="0" spc="-130" b="1">
                <a:latin typeface="Tahoma"/>
                <a:cs typeface="Tahoma"/>
              </a:rPr>
              <a:t> </a:t>
            </a:r>
            <a:r>
              <a:rPr dirty="0" spc="-95" b="1">
                <a:latin typeface="Tahoma"/>
                <a:cs typeface="Tahoma"/>
              </a:rPr>
              <a:t>tener</a:t>
            </a:r>
            <a:r>
              <a:rPr dirty="0" spc="-135" b="1">
                <a:latin typeface="Tahoma"/>
                <a:cs typeface="Tahoma"/>
              </a:rPr>
              <a:t> </a:t>
            </a:r>
            <a:r>
              <a:rPr dirty="0" spc="-114" b="1">
                <a:latin typeface="Tahoma"/>
                <a:cs typeface="Tahoma"/>
              </a:rPr>
              <a:t>antes</a:t>
            </a:r>
            <a:r>
              <a:rPr dirty="0" spc="-125" b="1">
                <a:latin typeface="Tahoma"/>
                <a:cs typeface="Tahoma"/>
              </a:rPr>
              <a:t> </a:t>
            </a:r>
            <a:r>
              <a:rPr dirty="0" spc="-110" b="1">
                <a:latin typeface="Tahoma"/>
                <a:cs typeface="Tahoma"/>
              </a:rPr>
              <a:t>de</a:t>
            </a:r>
            <a:r>
              <a:rPr dirty="0" spc="-130" b="1">
                <a:latin typeface="Tahoma"/>
                <a:cs typeface="Tahoma"/>
              </a:rPr>
              <a:t> </a:t>
            </a:r>
            <a:r>
              <a:rPr dirty="0" spc="-100" b="1">
                <a:latin typeface="Tahoma"/>
                <a:cs typeface="Tahoma"/>
              </a:rPr>
              <a:t>ser</a:t>
            </a:r>
            <a:r>
              <a:rPr dirty="0" spc="-130" b="1">
                <a:latin typeface="Tahoma"/>
                <a:cs typeface="Tahoma"/>
              </a:rPr>
              <a:t> </a:t>
            </a:r>
            <a:r>
              <a:rPr dirty="0" spc="-114" b="1">
                <a:latin typeface="Tahoma"/>
                <a:cs typeface="Tahoma"/>
              </a:rPr>
              <a:t>desalojado</a:t>
            </a:r>
            <a:r>
              <a:rPr dirty="0" spc="-135" b="1">
                <a:latin typeface="Tahoma"/>
                <a:cs typeface="Tahoma"/>
              </a:rPr>
              <a:t> </a:t>
            </a:r>
            <a:r>
              <a:rPr dirty="0" spc="-25" b="1">
                <a:latin typeface="Tahoma"/>
                <a:cs typeface="Tahoma"/>
              </a:rPr>
              <a:t>del </a:t>
            </a:r>
            <a:r>
              <a:rPr dirty="0" spc="-65" b="1">
                <a:latin typeface="Tahoma"/>
                <a:cs typeface="Tahoma"/>
              </a:rPr>
              <a:t>CPU</a:t>
            </a:r>
            <a:r>
              <a:rPr dirty="0" spc="-65"/>
              <a:t>.</a:t>
            </a:r>
            <a:r>
              <a:rPr dirty="0" spc="-145"/>
              <a:t> </a:t>
            </a:r>
            <a:r>
              <a:rPr dirty="0"/>
              <a:t>Esto</a:t>
            </a:r>
            <a:r>
              <a:rPr dirty="0" spc="-140"/>
              <a:t> </a:t>
            </a:r>
            <a:r>
              <a:rPr dirty="0"/>
              <a:t>evita</a:t>
            </a:r>
            <a:r>
              <a:rPr dirty="0" spc="-140"/>
              <a:t> </a:t>
            </a:r>
            <a:r>
              <a:rPr dirty="0"/>
              <a:t>que</a:t>
            </a:r>
            <a:r>
              <a:rPr dirty="0" spc="-140"/>
              <a:t> </a:t>
            </a:r>
            <a:r>
              <a:rPr dirty="0"/>
              <a:t>el</a:t>
            </a:r>
            <a:r>
              <a:rPr dirty="0" spc="-140"/>
              <a:t> </a:t>
            </a:r>
            <a:r>
              <a:rPr dirty="0"/>
              <a:t>timeslice</a:t>
            </a:r>
            <a:r>
              <a:rPr dirty="0" spc="-140"/>
              <a:t> </a:t>
            </a:r>
            <a:r>
              <a:rPr dirty="0"/>
              <a:t>calculado</a:t>
            </a:r>
            <a:r>
              <a:rPr dirty="0" spc="-145"/>
              <a:t> </a:t>
            </a:r>
            <a:r>
              <a:rPr dirty="0" spc="-10"/>
              <a:t>(diapositiva</a:t>
            </a:r>
            <a:r>
              <a:rPr dirty="0" spc="-140"/>
              <a:t> </a:t>
            </a:r>
            <a:r>
              <a:rPr dirty="0"/>
              <a:t>anterior)</a:t>
            </a:r>
            <a:r>
              <a:rPr dirty="0" spc="-140"/>
              <a:t> </a:t>
            </a:r>
            <a:r>
              <a:rPr dirty="0" spc="-25"/>
              <a:t>sea</a:t>
            </a:r>
            <a:r>
              <a:rPr dirty="0" spc="-140"/>
              <a:t> </a:t>
            </a:r>
            <a:r>
              <a:rPr dirty="0" spc="-10"/>
              <a:t>demasiado</a:t>
            </a:r>
            <a:r>
              <a:rPr dirty="0" spc="-140"/>
              <a:t> </a:t>
            </a:r>
            <a:r>
              <a:rPr dirty="0" spc="-10"/>
              <a:t>pequeño </a:t>
            </a:r>
            <a:r>
              <a:rPr dirty="0"/>
              <a:t>cuando</a:t>
            </a:r>
            <a:r>
              <a:rPr dirty="0" spc="-190"/>
              <a:t> </a:t>
            </a:r>
            <a:r>
              <a:rPr dirty="0" spc="-25"/>
              <a:t>hay</a:t>
            </a:r>
            <a:r>
              <a:rPr dirty="0" spc="-185"/>
              <a:t> </a:t>
            </a:r>
            <a:r>
              <a:rPr dirty="0"/>
              <a:t>muchísimos</a:t>
            </a:r>
            <a:r>
              <a:rPr dirty="0" spc="-185"/>
              <a:t> </a:t>
            </a:r>
            <a:r>
              <a:rPr dirty="0" spc="-10"/>
              <a:t>procesos.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229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dirty="0" spc="-35"/>
              <a:t>Linux:</a:t>
            </a:r>
            <a:r>
              <a:rPr dirty="0" spc="-125"/>
              <a:t> </a:t>
            </a:r>
            <a:r>
              <a:rPr dirty="0" spc="50"/>
              <a:t>Funcionamiento</a:t>
            </a:r>
            <a:r>
              <a:rPr dirty="0" spc="-125"/>
              <a:t> </a:t>
            </a:r>
            <a:r>
              <a:rPr dirty="0" spc="114"/>
              <a:t>de</a:t>
            </a:r>
            <a:r>
              <a:rPr dirty="0" spc="-125"/>
              <a:t> </a:t>
            </a:r>
            <a:r>
              <a:rPr dirty="0" spc="45"/>
              <a:t>sched_latency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0675" y="1283296"/>
            <a:ext cx="7893684" cy="3695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21945" indent="457200">
              <a:lnSpc>
                <a:spcPct val="114999"/>
              </a:lnSpc>
              <a:spcBef>
                <a:spcPts val="100"/>
              </a:spcBef>
            </a:pPr>
            <a:r>
              <a:rPr dirty="0" sz="1600" spc="-120" b="1">
                <a:solidFill>
                  <a:srgbClr val="595959"/>
                </a:solidFill>
                <a:latin typeface="Tahoma"/>
                <a:cs typeface="Tahoma"/>
              </a:rPr>
              <a:t>Interacción</a:t>
            </a: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5" b="1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min_granularity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: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sched_latency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trabaja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conjunto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otro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parámetro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llamado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min_granularity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.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último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establece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mínimo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un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debe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ejecutarse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antes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ser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desalojado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CPU,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evitar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procesos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sean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interrumpidos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demasiado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rápidamente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cual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podría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llevar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aumento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el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overhead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cambios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contexto.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min_granularity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suele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ser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fracción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del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sched_latency,</a:t>
            </a:r>
            <a:r>
              <a:rPr dirty="0" sz="16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típicamente</a:t>
            </a:r>
            <a:r>
              <a:rPr dirty="0" sz="16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alrededor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5">
                <a:solidFill>
                  <a:srgbClr val="595959"/>
                </a:solidFill>
                <a:latin typeface="Tahoma"/>
                <a:cs typeface="Tahoma"/>
              </a:rPr>
              <a:t>10-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20%.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dirty="0" sz="1600" spc="-125" b="1">
                <a:solidFill>
                  <a:srgbClr val="595959"/>
                </a:solidFill>
                <a:latin typeface="Tahoma"/>
                <a:cs typeface="Tahoma"/>
              </a:rPr>
              <a:t>Ejemplo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95" b="1">
                <a:solidFill>
                  <a:srgbClr val="595959"/>
                </a:solidFill>
                <a:latin typeface="Tahoma"/>
                <a:cs typeface="Tahoma"/>
              </a:rPr>
              <a:t>Ajuste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50" b="1">
                <a:solidFill>
                  <a:srgbClr val="595959"/>
                </a:solidFill>
                <a:latin typeface="Tahoma"/>
                <a:cs typeface="Tahoma"/>
              </a:rPr>
              <a:t>sched_latency</a:t>
            </a:r>
            <a:endParaRPr sz="1600">
              <a:latin typeface="Tahoma"/>
              <a:cs typeface="Tahoma"/>
            </a:endParaRPr>
          </a:p>
          <a:p>
            <a:pPr marL="12700" marR="5080" indent="457200">
              <a:lnSpc>
                <a:spcPct val="114999"/>
              </a:lnSpc>
              <a:spcBef>
                <a:spcPts val="1200"/>
              </a:spcBef>
            </a:pP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Supongamos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100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tareas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activas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sched_latency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estándar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48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ms.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número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tareas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supera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valor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ideal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scheduler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manejar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efectivamente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dentro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ese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período,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digamos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25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tareas,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decidir</a:t>
            </a:r>
            <a:r>
              <a:rPr dirty="0" sz="1600" spc="5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duplicar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sched_latency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96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ms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permitir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todas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tareas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sean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planificadas adecuadamente</a:t>
            </a:r>
            <a:r>
              <a:rPr dirty="0" sz="16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sin</a:t>
            </a:r>
            <a:r>
              <a:rPr dirty="0" sz="16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aumentar</a:t>
            </a:r>
            <a:r>
              <a:rPr dirty="0" sz="16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demasiado</a:t>
            </a:r>
            <a:r>
              <a:rPr dirty="0" sz="16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frecuencia</a:t>
            </a:r>
            <a:r>
              <a:rPr dirty="0" sz="16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cambio</a:t>
            </a:r>
            <a:r>
              <a:rPr dirty="0" sz="16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contexto.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229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dirty="0" spc="-35"/>
              <a:t>Linux:</a:t>
            </a:r>
            <a:r>
              <a:rPr dirty="0" spc="-65"/>
              <a:t> </a:t>
            </a:r>
            <a:r>
              <a:rPr dirty="0" spc="80"/>
              <a:t>Constantes</a:t>
            </a:r>
            <a:r>
              <a:rPr dirty="0" spc="-135"/>
              <a:t> </a:t>
            </a:r>
            <a:r>
              <a:rPr dirty="0" spc="60"/>
              <a:t>y</a:t>
            </a:r>
            <a:r>
              <a:rPr dirty="0" spc="-125"/>
              <a:t> </a:t>
            </a:r>
            <a:r>
              <a:rPr dirty="0"/>
              <a:t>Factores</a:t>
            </a:r>
            <a:r>
              <a:rPr dirty="0" spc="-65"/>
              <a:t> </a:t>
            </a:r>
            <a:r>
              <a:rPr dirty="0" spc="50"/>
              <a:t>en</a:t>
            </a:r>
            <a:r>
              <a:rPr dirty="0" spc="-60"/>
              <a:t> </a:t>
            </a:r>
            <a:r>
              <a:rPr dirty="0" spc="70"/>
              <a:t>el</a:t>
            </a:r>
            <a:r>
              <a:rPr dirty="0" spc="-135"/>
              <a:t> </a:t>
            </a:r>
            <a:r>
              <a:rPr dirty="0" spc="114"/>
              <a:t>CFS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39625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pc="-100" b="1">
                <a:latin typeface="Tahoma"/>
                <a:cs typeface="Tahoma"/>
              </a:rPr>
              <a:t>Normalización</a:t>
            </a:r>
            <a:r>
              <a:rPr dirty="0" spc="-114" b="1">
                <a:latin typeface="Tahoma"/>
                <a:cs typeface="Tahoma"/>
              </a:rPr>
              <a:t> </a:t>
            </a:r>
            <a:r>
              <a:rPr dirty="0" spc="-110" b="1">
                <a:latin typeface="Tahoma"/>
                <a:cs typeface="Tahoma"/>
              </a:rPr>
              <a:t>de</a:t>
            </a:r>
            <a:r>
              <a:rPr dirty="0" spc="-114" b="1">
                <a:latin typeface="Tahoma"/>
                <a:cs typeface="Tahoma"/>
              </a:rPr>
              <a:t> tiempos</a:t>
            </a:r>
            <a:r>
              <a:rPr dirty="0" spc="-114"/>
              <a:t>:</a:t>
            </a:r>
            <a:r>
              <a:rPr dirty="0" spc="-145"/>
              <a:t> </a:t>
            </a:r>
            <a:r>
              <a:rPr dirty="0"/>
              <a:t>Para</a:t>
            </a:r>
            <a:r>
              <a:rPr dirty="0" spc="-145"/>
              <a:t> </a:t>
            </a:r>
            <a:r>
              <a:rPr dirty="0"/>
              <a:t>garantizar</a:t>
            </a:r>
            <a:r>
              <a:rPr dirty="0" spc="-145"/>
              <a:t> </a:t>
            </a:r>
            <a:r>
              <a:rPr dirty="0"/>
              <a:t>que</a:t>
            </a:r>
            <a:r>
              <a:rPr dirty="0" spc="-140"/>
              <a:t> </a:t>
            </a:r>
            <a:r>
              <a:rPr dirty="0"/>
              <a:t>los</a:t>
            </a:r>
            <a:r>
              <a:rPr dirty="0" spc="-145"/>
              <a:t> </a:t>
            </a:r>
            <a:r>
              <a:rPr dirty="0"/>
              <a:t>cálculos</a:t>
            </a:r>
            <a:r>
              <a:rPr dirty="0" spc="-145"/>
              <a:t> </a:t>
            </a:r>
            <a:r>
              <a:rPr dirty="0" spc="-25"/>
              <a:t>se</a:t>
            </a:r>
            <a:r>
              <a:rPr dirty="0" spc="-145"/>
              <a:t> </a:t>
            </a:r>
            <a:r>
              <a:rPr dirty="0" spc="-25"/>
              <a:t>mantengan</a:t>
            </a:r>
            <a:r>
              <a:rPr dirty="0" spc="-145"/>
              <a:t> </a:t>
            </a:r>
            <a:r>
              <a:rPr dirty="0"/>
              <a:t>dentro</a:t>
            </a:r>
            <a:r>
              <a:rPr dirty="0" spc="-145"/>
              <a:t> </a:t>
            </a:r>
            <a:r>
              <a:rPr dirty="0" spc="-25"/>
              <a:t>de </a:t>
            </a:r>
            <a:r>
              <a:rPr dirty="0"/>
              <a:t>límites</a:t>
            </a:r>
            <a:r>
              <a:rPr dirty="0" spc="-140"/>
              <a:t> </a:t>
            </a:r>
            <a:r>
              <a:rPr dirty="0" spc="-25"/>
              <a:t>manejables</a:t>
            </a:r>
            <a:r>
              <a:rPr dirty="0" spc="-135"/>
              <a:t> </a:t>
            </a:r>
            <a:r>
              <a:rPr dirty="0"/>
              <a:t>y</a:t>
            </a:r>
            <a:r>
              <a:rPr dirty="0" spc="-135"/>
              <a:t> </a:t>
            </a:r>
            <a:r>
              <a:rPr dirty="0"/>
              <a:t>evitar</a:t>
            </a:r>
            <a:r>
              <a:rPr dirty="0" spc="-135"/>
              <a:t> </a:t>
            </a:r>
            <a:r>
              <a:rPr dirty="0"/>
              <a:t>el</a:t>
            </a:r>
            <a:r>
              <a:rPr dirty="0" spc="-135"/>
              <a:t> </a:t>
            </a:r>
            <a:r>
              <a:rPr dirty="0"/>
              <a:t>desbordamiento</a:t>
            </a:r>
            <a:r>
              <a:rPr dirty="0" spc="-135"/>
              <a:t> </a:t>
            </a:r>
            <a:r>
              <a:rPr dirty="0"/>
              <a:t>de</a:t>
            </a:r>
            <a:r>
              <a:rPr dirty="0" spc="-135"/>
              <a:t> </a:t>
            </a:r>
            <a:r>
              <a:rPr dirty="0" spc="-10"/>
              <a:t>enteros,</a:t>
            </a:r>
            <a:r>
              <a:rPr dirty="0" spc="-135"/>
              <a:t> </a:t>
            </a:r>
            <a:r>
              <a:rPr dirty="0"/>
              <a:t>los</a:t>
            </a:r>
            <a:r>
              <a:rPr dirty="0" spc="-135"/>
              <a:t> </a:t>
            </a:r>
            <a:r>
              <a:rPr dirty="0"/>
              <a:t>tiempos</a:t>
            </a:r>
            <a:r>
              <a:rPr dirty="0" spc="-135"/>
              <a:t> </a:t>
            </a:r>
            <a:r>
              <a:rPr dirty="0"/>
              <a:t>de</a:t>
            </a:r>
            <a:r>
              <a:rPr dirty="0" spc="-135"/>
              <a:t> </a:t>
            </a:r>
            <a:r>
              <a:rPr dirty="0" spc="-10"/>
              <a:t>ejecución </a:t>
            </a:r>
            <a:r>
              <a:rPr dirty="0"/>
              <a:t>pueden</a:t>
            </a:r>
            <a:r>
              <a:rPr dirty="0" spc="-155"/>
              <a:t> </a:t>
            </a:r>
            <a:r>
              <a:rPr dirty="0"/>
              <a:t>ser</a:t>
            </a:r>
            <a:r>
              <a:rPr dirty="0" spc="-155"/>
              <a:t> </a:t>
            </a:r>
            <a:r>
              <a:rPr dirty="0"/>
              <a:t>normalizados</a:t>
            </a:r>
            <a:r>
              <a:rPr dirty="0" spc="-155"/>
              <a:t> </a:t>
            </a:r>
            <a:r>
              <a:rPr dirty="0"/>
              <a:t>periódicamente.</a:t>
            </a:r>
            <a:r>
              <a:rPr dirty="0" spc="-155"/>
              <a:t> </a:t>
            </a:r>
            <a:r>
              <a:rPr dirty="0"/>
              <a:t>Esto</a:t>
            </a:r>
            <a:r>
              <a:rPr dirty="0" spc="-155"/>
              <a:t> </a:t>
            </a:r>
            <a:r>
              <a:rPr dirty="0"/>
              <a:t>implica</a:t>
            </a:r>
            <a:r>
              <a:rPr dirty="0" spc="-155"/>
              <a:t> </a:t>
            </a:r>
            <a:r>
              <a:rPr dirty="0"/>
              <a:t>ajustar</a:t>
            </a:r>
            <a:r>
              <a:rPr dirty="0" spc="-155"/>
              <a:t> </a:t>
            </a:r>
            <a:r>
              <a:rPr dirty="0"/>
              <a:t>los</a:t>
            </a:r>
            <a:r>
              <a:rPr dirty="0" spc="-150"/>
              <a:t> </a:t>
            </a:r>
            <a:r>
              <a:rPr dirty="0"/>
              <a:t>vruntime</a:t>
            </a:r>
            <a:r>
              <a:rPr dirty="0" spc="-155"/>
              <a:t> </a:t>
            </a:r>
            <a:r>
              <a:rPr dirty="0"/>
              <a:t>de</a:t>
            </a:r>
            <a:r>
              <a:rPr dirty="0" spc="-155"/>
              <a:t> </a:t>
            </a:r>
            <a:r>
              <a:rPr dirty="0"/>
              <a:t>todos</a:t>
            </a:r>
            <a:r>
              <a:rPr dirty="0" spc="-155"/>
              <a:t> </a:t>
            </a:r>
            <a:r>
              <a:rPr dirty="0" spc="-25"/>
              <a:t>los </a:t>
            </a:r>
            <a:r>
              <a:rPr dirty="0" spc="-20"/>
              <a:t>procesos,</a:t>
            </a:r>
            <a:r>
              <a:rPr dirty="0" spc="-140"/>
              <a:t> </a:t>
            </a:r>
            <a:r>
              <a:rPr dirty="0"/>
              <a:t>reduciendo</a:t>
            </a:r>
            <a:r>
              <a:rPr dirty="0" spc="-135"/>
              <a:t> </a:t>
            </a:r>
            <a:r>
              <a:rPr dirty="0"/>
              <a:t>todos</a:t>
            </a:r>
            <a:r>
              <a:rPr dirty="0" spc="-140"/>
              <a:t> </a:t>
            </a:r>
            <a:r>
              <a:rPr dirty="0"/>
              <a:t>los</a:t>
            </a:r>
            <a:r>
              <a:rPr dirty="0" spc="-135"/>
              <a:t> </a:t>
            </a:r>
            <a:r>
              <a:rPr dirty="0"/>
              <a:t>valores</a:t>
            </a:r>
            <a:r>
              <a:rPr dirty="0" spc="-135"/>
              <a:t> </a:t>
            </a:r>
            <a:r>
              <a:rPr dirty="0"/>
              <a:t>en</a:t>
            </a:r>
            <a:r>
              <a:rPr dirty="0" spc="-140"/>
              <a:t> </a:t>
            </a:r>
            <a:r>
              <a:rPr dirty="0"/>
              <a:t>función</a:t>
            </a:r>
            <a:r>
              <a:rPr dirty="0" spc="-135"/>
              <a:t> </a:t>
            </a:r>
            <a:r>
              <a:rPr dirty="0"/>
              <a:t>del</a:t>
            </a:r>
            <a:r>
              <a:rPr dirty="0" spc="-140"/>
              <a:t> </a:t>
            </a:r>
            <a:r>
              <a:rPr dirty="0"/>
              <a:t>proceso</a:t>
            </a:r>
            <a:r>
              <a:rPr dirty="0" spc="-135"/>
              <a:t> </a:t>
            </a:r>
            <a:r>
              <a:rPr dirty="0"/>
              <a:t>con</a:t>
            </a:r>
            <a:r>
              <a:rPr dirty="0" spc="-135"/>
              <a:t> </a:t>
            </a:r>
            <a:r>
              <a:rPr dirty="0"/>
              <a:t>el</a:t>
            </a:r>
            <a:r>
              <a:rPr dirty="0" spc="-140"/>
              <a:t> </a:t>
            </a:r>
            <a:r>
              <a:rPr dirty="0"/>
              <a:t>menor</a:t>
            </a:r>
            <a:r>
              <a:rPr dirty="0" spc="-135"/>
              <a:t> </a:t>
            </a:r>
            <a:r>
              <a:rPr dirty="0" spc="-10"/>
              <a:t>vruntime.</a:t>
            </a: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/>
              <a:t>Esto</a:t>
            </a:r>
            <a:r>
              <a:rPr dirty="0" spc="-155"/>
              <a:t> </a:t>
            </a:r>
            <a:r>
              <a:rPr dirty="0"/>
              <a:t>evita</a:t>
            </a:r>
            <a:r>
              <a:rPr dirty="0" spc="-155"/>
              <a:t> </a:t>
            </a:r>
            <a:r>
              <a:rPr dirty="0"/>
              <a:t>que</a:t>
            </a:r>
            <a:r>
              <a:rPr dirty="0" spc="-150"/>
              <a:t> </a:t>
            </a:r>
            <a:r>
              <a:rPr dirty="0" spc="-30"/>
              <a:t>haya</a:t>
            </a:r>
            <a:r>
              <a:rPr dirty="0" spc="-155"/>
              <a:t> </a:t>
            </a:r>
            <a:r>
              <a:rPr dirty="0"/>
              <a:t>overflows</a:t>
            </a:r>
            <a:r>
              <a:rPr dirty="0" spc="-155"/>
              <a:t> </a:t>
            </a:r>
            <a:r>
              <a:rPr dirty="0"/>
              <a:t>de</a:t>
            </a:r>
            <a:r>
              <a:rPr dirty="0" spc="-150"/>
              <a:t> </a:t>
            </a:r>
            <a:r>
              <a:rPr dirty="0"/>
              <a:t>las</a:t>
            </a:r>
            <a:r>
              <a:rPr dirty="0" spc="-155"/>
              <a:t> </a:t>
            </a:r>
            <a:r>
              <a:rPr dirty="0" spc="-10"/>
              <a:t>variables.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140"/>
              </a:spcBef>
            </a:pPr>
            <a:r>
              <a:rPr dirty="0" spc="-35"/>
              <a:t>Linux:</a:t>
            </a:r>
            <a:r>
              <a:rPr dirty="0" spc="-130"/>
              <a:t> </a:t>
            </a:r>
            <a:r>
              <a:rPr dirty="0" spc="114"/>
              <a:t>Esquema</a:t>
            </a:r>
            <a:r>
              <a:rPr dirty="0" spc="-125"/>
              <a:t> </a:t>
            </a:r>
            <a:r>
              <a:rPr dirty="0" spc="100"/>
              <a:t>del</a:t>
            </a:r>
            <a:r>
              <a:rPr dirty="0" spc="-185"/>
              <a:t> </a:t>
            </a:r>
            <a:r>
              <a:rPr dirty="0" spc="50"/>
              <a:t>Funcionamiento</a:t>
            </a:r>
            <a:r>
              <a:rPr dirty="0" spc="-130"/>
              <a:t> </a:t>
            </a:r>
            <a:r>
              <a:rPr dirty="0" spc="100"/>
              <a:t>del</a:t>
            </a:r>
            <a:r>
              <a:rPr dirty="0" spc="-185"/>
              <a:t> </a:t>
            </a:r>
            <a:r>
              <a:rPr dirty="0" spc="114"/>
              <a:t>CFS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8725" y="1430152"/>
            <a:ext cx="8994775" cy="324739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469900">
              <a:lnSpc>
                <a:spcPct val="100000"/>
              </a:lnSpc>
              <a:spcBef>
                <a:spcPts val="459"/>
              </a:spcBef>
            </a:pPr>
            <a:r>
              <a:rPr dirty="0" sz="1300" spc="-20" b="1">
                <a:solidFill>
                  <a:srgbClr val="595959"/>
                </a:solidFill>
                <a:latin typeface="Tahoma"/>
                <a:cs typeface="Tahoma"/>
              </a:rPr>
              <a:t>Inicialización</a:t>
            </a:r>
            <a:endParaRPr sz="13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359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recibe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valor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vruntime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inicial,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cero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cuando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creado.</a:t>
            </a:r>
            <a:endParaRPr sz="13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229"/>
              </a:spcBef>
            </a:pPr>
            <a:r>
              <a:rPr dirty="0" sz="1300" spc="-75" b="1">
                <a:solidFill>
                  <a:srgbClr val="595959"/>
                </a:solidFill>
                <a:latin typeface="Tahoma"/>
                <a:cs typeface="Tahoma"/>
              </a:rPr>
              <a:t>Cálculo</a:t>
            </a:r>
            <a:r>
              <a:rPr dirty="0" sz="1300" spc="-9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9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9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595959"/>
                </a:solidFill>
                <a:latin typeface="Tahoma"/>
                <a:cs typeface="Tahoma"/>
              </a:rPr>
              <a:t>Pesos</a:t>
            </a:r>
            <a:endParaRPr sz="13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235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Basado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valor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nice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proceso,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asigna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peso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específico.</a:t>
            </a:r>
            <a:endParaRPr sz="13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235"/>
              </a:spcBef>
            </a:pP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tabla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mapeo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nice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pesos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determina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cuán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rápido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acumula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vruntime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dado.</a:t>
            </a:r>
            <a:endParaRPr sz="13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235"/>
              </a:spcBef>
            </a:pPr>
            <a:r>
              <a:rPr dirty="0" sz="1300" spc="-75" b="1">
                <a:solidFill>
                  <a:srgbClr val="595959"/>
                </a:solidFill>
                <a:latin typeface="Tahoma"/>
                <a:cs typeface="Tahoma"/>
              </a:rPr>
              <a:t>Gestión</a:t>
            </a:r>
            <a:r>
              <a:rPr dirty="0" sz="1300" spc="-10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9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0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595959"/>
                </a:solidFill>
                <a:latin typeface="Tahoma"/>
                <a:cs typeface="Tahoma"/>
              </a:rPr>
              <a:t>vruntime</a:t>
            </a:r>
            <a:endParaRPr sz="13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234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vruntime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incrementa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función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pasa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ejecutándose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CPU.</a:t>
            </a:r>
            <a:endParaRPr sz="1300">
              <a:latin typeface="Tahoma"/>
              <a:cs typeface="Tahoma"/>
            </a:endParaRPr>
          </a:p>
          <a:p>
            <a:pPr marL="12700" marR="5080" indent="914400">
              <a:lnSpc>
                <a:spcPct val="114999"/>
              </a:lnSpc>
            </a:pP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tasa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incremento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ajusta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peso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proceso: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mayor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peso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(menos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nice)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acumulan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vruntim </a:t>
            </a: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lentamente.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3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</a:pPr>
            <a:r>
              <a:rPr dirty="0" sz="1300" spc="-75" b="1">
                <a:solidFill>
                  <a:srgbClr val="595959"/>
                </a:solidFill>
                <a:latin typeface="Tahoma"/>
                <a:cs typeface="Tahoma"/>
              </a:rPr>
              <a:t>Uso</a:t>
            </a:r>
            <a:r>
              <a:rPr dirty="0" sz="1300" spc="-10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9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0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90" b="1">
                <a:solidFill>
                  <a:srgbClr val="595959"/>
                </a:solidFill>
                <a:latin typeface="Tahoma"/>
                <a:cs typeface="Tahoma"/>
              </a:rPr>
              <a:t>Red-</a:t>
            </a:r>
            <a:r>
              <a:rPr dirty="0" sz="1300" spc="-80" b="1">
                <a:solidFill>
                  <a:srgbClr val="595959"/>
                </a:solidFill>
                <a:latin typeface="Tahoma"/>
                <a:cs typeface="Tahoma"/>
              </a:rPr>
              <a:t>Black</a:t>
            </a:r>
            <a:r>
              <a:rPr dirty="0" sz="1300" spc="-10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 b="1">
                <a:solidFill>
                  <a:srgbClr val="595959"/>
                </a:solidFill>
                <a:latin typeface="Tahoma"/>
                <a:cs typeface="Tahoma"/>
              </a:rPr>
              <a:t>Tree</a:t>
            </a:r>
            <a:endParaRPr sz="13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235"/>
              </a:spcBef>
            </a:pP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listos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ejecutarse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son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almacenados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árbol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rojo-negro,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organizados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vruntime.</a:t>
            </a:r>
            <a:endParaRPr sz="1300">
              <a:latin typeface="Tahoma"/>
              <a:cs typeface="Tahoma"/>
            </a:endParaRPr>
          </a:p>
          <a:p>
            <a:pPr marL="12700" marR="103505" indent="457200">
              <a:lnSpc>
                <a:spcPct val="114999"/>
              </a:lnSpc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menor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vruntime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encuentra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siempre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izquierda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raíz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árbol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seleccionado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para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ejecutarse.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40"/>
              </a:spcBef>
            </a:pPr>
            <a:r>
              <a:rPr dirty="0" spc="-35"/>
              <a:t>Linux:</a:t>
            </a:r>
            <a:r>
              <a:rPr dirty="0" spc="-130"/>
              <a:t> </a:t>
            </a:r>
            <a:r>
              <a:rPr dirty="0" spc="114"/>
              <a:t>Esquema</a:t>
            </a:r>
            <a:r>
              <a:rPr dirty="0" spc="-125"/>
              <a:t> </a:t>
            </a:r>
            <a:r>
              <a:rPr dirty="0" spc="100"/>
              <a:t>del</a:t>
            </a:r>
            <a:r>
              <a:rPr dirty="0" spc="-185"/>
              <a:t> </a:t>
            </a:r>
            <a:r>
              <a:rPr dirty="0" spc="50"/>
              <a:t>Funcionamiento</a:t>
            </a:r>
            <a:r>
              <a:rPr dirty="0" spc="-130"/>
              <a:t> </a:t>
            </a:r>
            <a:r>
              <a:rPr dirty="0" spc="100"/>
              <a:t>del</a:t>
            </a:r>
            <a:r>
              <a:rPr dirty="0" spc="-185"/>
              <a:t> </a:t>
            </a:r>
            <a:r>
              <a:rPr dirty="0" spc="114"/>
              <a:t>CFS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9475" y="1405203"/>
            <a:ext cx="8607425" cy="367093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469900">
              <a:lnSpc>
                <a:spcPct val="100000"/>
              </a:lnSpc>
              <a:spcBef>
                <a:spcPts val="330"/>
              </a:spcBef>
            </a:pPr>
            <a:r>
              <a:rPr dirty="0" sz="1300" spc="-85" b="1">
                <a:solidFill>
                  <a:srgbClr val="595959"/>
                </a:solidFill>
                <a:latin typeface="Tahoma"/>
                <a:cs typeface="Tahoma"/>
              </a:rPr>
              <a:t>Selección</a:t>
            </a:r>
            <a:r>
              <a:rPr dirty="0" sz="1300" spc="-10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9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0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endParaRPr sz="13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235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scheduler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selecciona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menor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vruntime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árbol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ejecución.</a:t>
            </a:r>
            <a:endParaRPr sz="1300">
              <a:latin typeface="Tahoma"/>
              <a:cs typeface="Tahoma"/>
            </a:endParaRPr>
          </a:p>
          <a:p>
            <a:pPr marL="12700" marR="5080" indent="457200">
              <a:lnSpc>
                <a:spcPct val="114999"/>
              </a:lnSpc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ejecuta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hasta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vruntime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ya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mínimo,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hasta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bloquea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termina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quantum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ejecución.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13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</a:pPr>
            <a:r>
              <a:rPr dirty="0" sz="1300" spc="-75" b="1">
                <a:solidFill>
                  <a:srgbClr val="595959"/>
                </a:solidFill>
                <a:latin typeface="Tahoma"/>
                <a:cs typeface="Tahoma"/>
              </a:rPr>
              <a:t>Preemptividad</a:t>
            </a:r>
            <a:r>
              <a:rPr dirty="0" sz="1300" spc="-7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60" b="1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300" spc="-7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595959"/>
                </a:solidFill>
                <a:latin typeface="Tahoma"/>
                <a:cs typeface="Tahoma"/>
              </a:rPr>
              <a:t>Voluntariedad</a:t>
            </a:r>
            <a:endParaRPr sz="13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235"/>
              </a:spcBef>
            </a:pP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bloquea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esperando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55">
                <a:solidFill>
                  <a:srgbClr val="595959"/>
                </a:solidFill>
                <a:latin typeface="Tahoma"/>
                <a:cs typeface="Tahoma"/>
              </a:rPr>
              <a:t>I/O,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retira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árbol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temporalmente.</a:t>
            </a:r>
            <a:endParaRPr sz="13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234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Cuando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despierta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creado,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calcula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vruntime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ajustado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inserta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árbol.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3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</a:pPr>
            <a:r>
              <a:rPr dirty="0" sz="1300" spc="-80" b="1">
                <a:solidFill>
                  <a:srgbClr val="595959"/>
                </a:solidFill>
                <a:latin typeface="Tahoma"/>
                <a:cs typeface="Tahoma"/>
              </a:rPr>
              <a:t>Ajuste</a:t>
            </a:r>
            <a:r>
              <a:rPr dirty="0" sz="1300" spc="-10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595959"/>
                </a:solidFill>
                <a:latin typeface="Tahoma"/>
                <a:cs typeface="Tahoma"/>
              </a:rPr>
              <a:t>Dinámico</a:t>
            </a:r>
            <a:endParaRPr sz="1300">
              <a:latin typeface="Tahoma"/>
              <a:cs typeface="Tahoma"/>
            </a:endParaRPr>
          </a:p>
          <a:p>
            <a:pPr marL="469900" marR="52069">
              <a:lnSpc>
                <a:spcPct val="114999"/>
              </a:lnSpc>
            </a:pP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sched_latency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min_granularity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utilizan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ajustar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cantidad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ejecutarse.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sistemas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muchos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procesos,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estos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valores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ajustan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balancear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equidad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eficiencia.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13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</a:pPr>
            <a:r>
              <a:rPr dirty="0" sz="1300" spc="-85" b="1">
                <a:solidFill>
                  <a:srgbClr val="595959"/>
                </a:solidFill>
                <a:latin typeface="Tahoma"/>
                <a:cs typeface="Tahoma"/>
              </a:rPr>
              <a:t>Balanceo</a:t>
            </a:r>
            <a:r>
              <a:rPr dirty="0" sz="1300" spc="-10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9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0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85" b="1">
                <a:solidFill>
                  <a:srgbClr val="595959"/>
                </a:solidFill>
                <a:latin typeface="Tahoma"/>
                <a:cs typeface="Tahoma"/>
              </a:rPr>
              <a:t>Carga</a:t>
            </a:r>
            <a:r>
              <a:rPr dirty="0" sz="1300" spc="-10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80" b="1">
                <a:solidFill>
                  <a:srgbClr val="595959"/>
                </a:solidFill>
                <a:latin typeface="Tahoma"/>
                <a:cs typeface="Tahoma"/>
              </a:rPr>
              <a:t>entre</a:t>
            </a:r>
            <a:r>
              <a:rPr dirty="0" sz="1300" spc="-10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 b="1">
                <a:solidFill>
                  <a:srgbClr val="595959"/>
                </a:solidFill>
                <a:latin typeface="Tahoma"/>
                <a:cs typeface="Tahoma"/>
              </a:rPr>
              <a:t>CPUs</a:t>
            </a:r>
            <a:endParaRPr sz="13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235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CFS</a:t>
            </a:r>
            <a:r>
              <a:rPr dirty="0" sz="13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también</a:t>
            </a:r>
            <a:r>
              <a:rPr dirty="0" sz="13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maneja</a:t>
            </a:r>
            <a:r>
              <a:rPr dirty="0" sz="13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distribución</a:t>
            </a:r>
            <a:r>
              <a:rPr dirty="0" sz="13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3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entre</a:t>
            </a:r>
            <a:r>
              <a:rPr dirty="0" sz="13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múltiples</a:t>
            </a:r>
            <a:r>
              <a:rPr dirty="0" sz="13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CPUs.</a:t>
            </a:r>
            <a:endParaRPr sz="13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235"/>
              </a:spcBef>
            </a:pP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pueden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ser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migrados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entre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65">
                <a:solidFill>
                  <a:srgbClr val="595959"/>
                </a:solidFill>
                <a:latin typeface="Tahoma"/>
                <a:cs typeface="Tahoma"/>
              </a:rPr>
              <a:t>CPUs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optimizar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carga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minimizar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latencia.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229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dirty="0" spc="-35"/>
              <a:t>Linux:</a:t>
            </a:r>
            <a:r>
              <a:rPr dirty="0" spc="-130"/>
              <a:t> </a:t>
            </a:r>
            <a:r>
              <a:rPr dirty="0" spc="50"/>
              <a:t>Ejemplo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0675" y="1319872"/>
            <a:ext cx="3463290" cy="1823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Detalles</a:t>
            </a:r>
            <a:r>
              <a:rPr dirty="0" sz="16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6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Valores</a:t>
            </a:r>
            <a:r>
              <a:rPr dirty="0" sz="16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Nice</a:t>
            </a:r>
            <a:endParaRPr sz="1600">
              <a:latin typeface="Tahoma"/>
              <a:cs typeface="Tahoma"/>
            </a:endParaRPr>
          </a:p>
          <a:p>
            <a:pPr marL="469900" marR="1146810">
              <a:lnSpc>
                <a:spcPct val="114999"/>
              </a:lnSpc>
              <a:spcBef>
                <a:spcPts val="1200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A: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nice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0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0 Proceso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5">
                <a:solidFill>
                  <a:srgbClr val="595959"/>
                </a:solidFill>
                <a:latin typeface="Tahoma"/>
                <a:cs typeface="Tahoma"/>
              </a:rPr>
              <a:t>B: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nice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0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5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C: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nice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0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5">
                <a:solidFill>
                  <a:srgbClr val="595959"/>
                </a:solidFill>
                <a:latin typeface="Tahoma"/>
                <a:cs typeface="Tahoma"/>
              </a:rPr>
              <a:t>10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D: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nice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0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0 Proceso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75">
                <a:solidFill>
                  <a:srgbClr val="595959"/>
                </a:solidFill>
                <a:latin typeface="Tahoma"/>
                <a:cs typeface="Tahoma"/>
              </a:rPr>
              <a:t>E: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nice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0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10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229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dirty="0" spc="-35"/>
              <a:t>Linux:</a:t>
            </a:r>
            <a:r>
              <a:rPr dirty="0" spc="-130"/>
              <a:t> </a:t>
            </a:r>
            <a:r>
              <a:rPr dirty="0" spc="110"/>
              <a:t>Cálculo</a:t>
            </a:r>
            <a:r>
              <a:rPr dirty="0" spc="-125"/>
              <a:t> </a:t>
            </a:r>
            <a:r>
              <a:rPr dirty="0" spc="114"/>
              <a:t>de</a:t>
            </a:r>
            <a:r>
              <a:rPr dirty="0" spc="-125"/>
              <a:t> </a:t>
            </a:r>
            <a:r>
              <a:rPr dirty="0" spc="90"/>
              <a:t>Pesos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0675" y="1283296"/>
            <a:ext cx="7785100" cy="866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peso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basa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valor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nice.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Linux,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pesos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están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predefinidos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pueden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ver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código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fuente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kernel.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ejemplo,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vamos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suponer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algunos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valores</a:t>
            </a:r>
            <a:r>
              <a:rPr dirty="0" sz="16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hipotéticos</a:t>
            </a:r>
            <a:r>
              <a:rPr dirty="0" sz="16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pesos: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7875" y="2746335"/>
            <a:ext cx="5440680" cy="1567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Valor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nice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-10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(Proceso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60">
                <a:solidFill>
                  <a:srgbClr val="595959"/>
                </a:solidFill>
                <a:latin typeface="Tahoma"/>
                <a:cs typeface="Tahoma"/>
              </a:rPr>
              <a:t>E)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corresponde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peso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1024.</a:t>
            </a:r>
            <a:endParaRPr sz="1600">
              <a:latin typeface="Tahoma"/>
              <a:cs typeface="Tahoma"/>
            </a:endParaRPr>
          </a:p>
          <a:p>
            <a:pPr marL="12700" marR="5080">
              <a:lnSpc>
                <a:spcPct val="177500"/>
              </a:lnSpc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Valor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nice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-5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(Proceso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B)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corresponde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peso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512.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Valor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nice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0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(Proceso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2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D)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corresponde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peso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256.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Valor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nice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0">
                <a:solidFill>
                  <a:srgbClr val="595959"/>
                </a:solidFill>
                <a:latin typeface="Tahoma"/>
                <a:cs typeface="Tahoma"/>
              </a:rPr>
              <a:t>10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(Proceso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C)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corresponde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peso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128.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229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dirty="0" spc="-10"/>
              <a:t>Linux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0675" y="1237620"/>
            <a:ext cx="7822565" cy="38690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Inicio: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empiezan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vruntime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4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0.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3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</a:pPr>
            <a:r>
              <a:rPr dirty="0" sz="1300" spc="-55" b="1">
                <a:solidFill>
                  <a:srgbClr val="595959"/>
                </a:solidFill>
                <a:latin typeface="Tahoma"/>
                <a:cs typeface="Tahoma"/>
              </a:rPr>
              <a:t>Ciclo</a:t>
            </a:r>
            <a:r>
              <a:rPr dirty="0" sz="1300" spc="-10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 b="1">
                <a:solidFill>
                  <a:srgbClr val="595959"/>
                </a:solidFill>
                <a:latin typeface="Tahoma"/>
                <a:cs typeface="Tahoma"/>
              </a:rPr>
              <a:t>1:</a:t>
            </a:r>
            <a:endParaRPr sz="1300">
              <a:latin typeface="Tahoma"/>
              <a:cs typeface="Tahoma"/>
            </a:endParaRPr>
          </a:p>
          <a:p>
            <a:pPr marL="12700" marR="226060" indent="457200">
              <a:lnSpc>
                <a:spcPct val="114999"/>
              </a:lnSpc>
            </a:pP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tienen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mismo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vruntime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inicial,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pero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peso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alto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y,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lo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tanto,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menos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penalizado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acumulación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vruntime.</a:t>
            </a:r>
            <a:endParaRPr sz="1300">
              <a:latin typeface="Tahoma"/>
              <a:cs typeface="Tahoma"/>
            </a:endParaRPr>
          </a:p>
          <a:p>
            <a:pPr marL="12700" marR="5080" indent="457200">
              <a:lnSpc>
                <a:spcPct val="114999"/>
              </a:lnSpc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ejecuta,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digamos,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unidad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tiempo.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vruntime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incrementa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menos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debido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su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alto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peso.</a:t>
            </a:r>
            <a:endParaRPr sz="13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235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Nuevo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vruntime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4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0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4">
                <a:solidFill>
                  <a:srgbClr val="595959"/>
                </a:solidFill>
                <a:latin typeface="Tahoma"/>
                <a:cs typeface="Tahoma"/>
              </a:rPr>
              <a:t>+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45">
                <a:solidFill>
                  <a:srgbClr val="595959"/>
                </a:solidFill>
                <a:latin typeface="Tahoma"/>
                <a:cs typeface="Tahoma"/>
              </a:rPr>
              <a:t>(1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unidad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/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1024)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4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0.0009765625.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13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</a:pPr>
            <a:r>
              <a:rPr dirty="0" sz="1300" spc="-55" b="1">
                <a:solidFill>
                  <a:srgbClr val="595959"/>
                </a:solidFill>
                <a:latin typeface="Tahoma"/>
                <a:cs typeface="Tahoma"/>
              </a:rPr>
              <a:t>Ciclo</a:t>
            </a:r>
            <a:r>
              <a:rPr dirty="0" sz="1300" spc="-10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 b="1">
                <a:solidFill>
                  <a:srgbClr val="595959"/>
                </a:solidFill>
                <a:latin typeface="Tahoma"/>
                <a:cs typeface="Tahoma"/>
              </a:rPr>
              <a:t>2:</a:t>
            </a:r>
            <a:endParaRPr sz="1300">
              <a:latin typeface="Tahoma"/>
              <a:cs typeface="Tahoma"/>
            </a:endParaRPr>
          </a:p>
          <a:p>
            <a:pPr marL="469900" marR="1496060">
              <a:lnSpc>
                <a:spcPct val="114999"/>
              </a:lnSpc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75">
                <a:solidFill>
                  <a:srgbClr val="595959"/>
                </a:solidFill>
                <a:latin typeface="Tahoma"/>
                <a:cs typeface="Tahoma"/>
              </a:rPr>
              <a:t>B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siguiente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peso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alto.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ejecuta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unidad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tiempo.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Nuevo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vruntime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75">
                <a:solidFill>
                  <a:srgbClr val="595959"/>
                </a:solidFill>
                <a:latin typeface="Tahoma"/>
                <a:cs typeface="Tahoma"/>
              </a:rPr>
              <a:t>B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4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0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4">
                <a:solidFill>
                  <a:srgbClr val="595959"/>
                </a:solidFill>
                <a:latin typeface="Tahoma"/>
                <a:cs typeface="Tahoma"/>
              </a:rPr>
              <a:t>+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45">
                <a:solidFill>
                  <a:srgbClr val="595959"/>
                </a:solidFill>
                <a:latin typeface="Tahoma"/>
                <a:cs typeface="Tahoma"/>
              </a:rPr>
              <a:t>(1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unidad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/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512)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4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0.001953125.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13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</a:pPr>
            <a:r>
              <a:rPr dirty="0" sz="1300" spc="-55" b="1">
                <a:solidFill>
                  <a:srgbClr val="595959"/>
                </a:solidFill>
                <a:latin typeface="Tahoma"/>
                <a:cs typeface="Tahoma"/>
              </a:rPr>
              <a:t>Ciclo</a:t>
            </a:r>
            <a:r>
              <a:rPr dirty="0" sz="1300" spc="-10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 b="1">
                <a:solidFill>
                  <a:srgbClr val="595959"/>
                </a:solidFill>
                <a:latin typeface="Tahoma"/>
                <a:cs typeface="Tahoma"/>
              </a:rPr>
              <a:t>3:</a:t>
            </a:r>
            <a:endParaRPr sz="13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234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10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85">
                <a:solidFill>
                  <a:srgbClr val="595959"/>
                </a:solidFill>
                <a:latin typeface="Tahoma"/>
                <a:cs typeface="Tahoma"/>
              </a:rPr>
              <a:t>D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5">
                <a:solidFill>
                  <a:srgbClr val="595959"/>
                </a:solidFill>
                <a:latin typeface="Tahoma"/>
                <a:cs typeface="Tahoma"/>
              </a:rPr>
              <a:t>(ambos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tienen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nice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4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0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mismo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peso).</a:t>
            </a:r>
            <a:endParaRPr sz="1300">
              <a:latin typeface="Tahoma"/>
              <a:cs typeface="Tahoma"/>
            </a:endParaRPr>
          </a:p>
          <a:p>
            <a:pPr marL="469900" marR="1530350">
              <a:lnSpc>
                <a:spcPct val="114999"/>
              </a:lnSpc>
            </a:pP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Supongamos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selecciona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A.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ejecuta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unidad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tiempo.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Nuevo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vruntime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10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4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0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4">
                <a:solidFill>
                  <a:srgbClr val="595959"/>
                </a:solidFill>
                <a:latin typeface="Tahoma"/>
                <a:cs typeface="Tahoma"/>
              </a:rPr>
              <a:t>+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45">
                <a:solidFill>
                  <a:srgbClr val="595959"/>
                </a:solidFill>
                <a:latin typeface="Tahoma"/>
                <a:cs typeface="Tahoma"/>
              </a:rPr>
              <a:t>(1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unidad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/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256)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4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0.00390625.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229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dirty="0" spc="-10"/>
              <a:t>Linux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0675" y="1294471"/>
            <a:ext cx="7881620" cy="254952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dirty="0" sz="1200" spc="-50" b="1">
                <a:solidFill>
                  <a:srgbClr val="595959"/>
                </a:solidFill>
                <a:latin typeface="Tahoma"/>
                <a:cs typeface="Tahoma"/>
              </a:rPr>
              <a:t>Ciclo</a:t>
            </a:r>
            <a:r>
              <a:rPr dirty="0" sz="1200" spc="-10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25" b="1">
                <a:solidFill>
                  <a:srgbClr val="595959"/>
                </a:solidFill>
                <a:latin typeface="Tahoma"/>
                <a:cs typeface="Tahoma"/>
              </a:rPr>
              <a:t>4:</a:t>
            </a:r>
            <a:endParaRPr sz="12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215"/>
              </a:spcBef>
            </a:pPr>
            <a:r>
              <a:rPr dirty="0" sz="12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2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ejecuta</a:t>
            </a:r>
            <a:r>
              <a:rPr dirty="0" sz="12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2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2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85">
                <a:solidFill>
                  <a:srgbClr val="595959"/>
                </a:solidFill>
                <a:latin typeface="Tahoma"/>
                <a:cs typeface="Tahoma"/>
              </a:rPr>
              <a:t>D</a:t>
            </a:r>
            <a:r>
              <a:rPr dirty="0" sz="12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595959"/>
                </a:solidFill>
                <a:latin typeface="Tahoma"/>
                <a:cs typeface="Tahoma"/>
              </a:rPr>
              <a:t>bajo</a:t>
            </a:r>
            <a:r>
              <a:rPr dirty="0" sz="12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2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595959"/>
                </a:solidFill>
                <a:latin typeface="Tahoma"/>
                <a:cs typeface="Tahoma"/>
              </a:rPr>
              <a:t>mismas</a:t>
            </a:r>
            <a:r>
              <a:rPr dirty="0" sz="12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condiciones</a:t>
            </a:r>
            <a:r>
              <a:rPr dirty="0" sz="12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2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595959"/>
                </a:solidFill>
                <a:latin typeface="Tahoma"/>
                <a:cs typeface="Tahoma"/>
              </a:rPr>
              <a:t>A.</a:t>
            </a:r>
            <a:endParaRPr sz="12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215"/>
              </a:spcBef>
            </a:pP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Nuevo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vruntime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85">
                <a:solidFill>
                  <a:srgbClr val="595959"/>
                </a:solidFill>
                <a:latin typeface="Tahoma"/>
                <a:cs typeface="Tahoma"/>
              </a:rPr>
              <a:t>D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90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0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90">
                <a:solidFill>
                  <a:srgbClr val="595959"/>
                </a:solidFill>
                <a:latin typeface="Tahoma"/>
                <a:cs typeface="Tahoma"/>
              </a:rPr>
              <a:t>+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40">
                <a:solidFill>
                  <a:srgbClr val="595959"/>
                </a:solidFill>
                <a:latin typeface="Tahoma"/>
                <a:cs typeface="Tahoma"/>
              </a:rPr>
              <a:t>(1</a:t>
            </a:r>
            <a:r>
              <a:rPr dirty="0" sz="12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unidad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595959"/>
                </a:solidFill>
                <a:latin typeface="Tahoma"/>
                <a:cs typeface="Tahoma"/>
              </a:rPr>
              <a:t>/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256)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90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0.00390625.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2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</a:pPr>
            <a:r>
              <a:rPr dirty="0" sz="1200" spc="-50" b="1">
                <a:solidFill>
                  <a:srgbClr val="595959"/>
                </a:solidFill>
                <a:latin typeface="Tahoma"/>
                <a:cs typeface="Tahoma"/>
              </a:rPr>
              <a:t>Ciclo</a:t>
            </a:r>
            <a:r>
              <a:rPr dirty="0" sz="1200" spc="-10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25" b="1">
                <a:solidFill>
                  <a:srgbClr val="595959"/>
                </a:solidFill>
                <a:latin typeface="Tahoma"/>
                <a:cs typeface="Tahoma"/>
              </a:rPr>
              <a:t>5:</a:t>
            </a:r>
            <a:endParaRPr sz="1200">
              <a:latin typeface="Tahoma"/>
              <a:cs typeface="Tahoma"/>
            </a:endParaRPr>
          </a:p>
          <a:p>
            <a:pPr marL="12700" marR="5080" indent="457200">
              <a:lnSpc>
                <a:spcPct val="114999"/>
              </a:lnSpc>
            </a:pP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2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90">
                <a:solidFill>
                  <a:srgbClr val="595959"/>
                </a:solidFill>
                <a:latin typeface="Tahoma"/>
                <a:cs typeface="Tahoma"/>
              </a:rPr>
              <a:t>C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12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2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peso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2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595959"/>
                </a:solidFill>
                <a:latin typeface="Tahoma"/>
                <a:cs typeface="Tahoma"/>
              </a:rPr>
              <a:t>bajo</a:t>
            </a:r>
            <a:r>
              <a:rPr dirty="0" sz="12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2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lo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tanto,</a:t>
            </a:r>
            <a:r>
              <a:rPr dirty="0" sz="12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2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vruntime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crece</a:t>
            </a:r>
            <a:r>
              <a:rPr dirty="0" sz="12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2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rápidamente.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2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ejecuta</a:t>
            </a:r>
            <a:r>
              <a:rPr dirty="0" sz="12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2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unidad de</a:t>
            </a:r>
            <a:r>
              <a:rPr dirty="0" sz="12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tiempo.</a:t>
            </a:r>
            <a:endParaRPr sz="12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215"/>
              </a:spcBef>
            </a:pP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Nuevo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vruntime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90">
                <a:solidFill>
                  <a:srgbClr val="595959"/>
                </a:solidFill>
                <a:latin typeface="Tahoma"/>
                <a:cs typeface="Tahoma"/>
              </a:rPr>
              <a:t>C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90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0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90">
                <a:solidFill>
                  <a:srgbClr val="595959"/>
                </a:solidFill>
                <a:latin typeface="Tahoma"/>
                <a:cs typeface="Tahoma"/>
              </a:rPr>
              <a:t>+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40">
                <a:solidFill>
                  <a:srgbClr val="595959"/>
                </a:solidFill>
                <a:latin typeface="Tahoma"/>
                <a:cs typeface="Tahoma"/>
              </a:rPr>
              <a:t>(1</a:t>
            </a:r>
            <a:r>
              <a:rPr dirty="0" sz="12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unidad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595959"/>
                </a:solidFill>
                <a:latin typeface="Tahoma"/>
                <a:cs typeface="Tahoma"/>
              </a:rPr>
              <a:t>/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128)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90">
                <a:solidFill>
                  <a:srgbClr val="595959"/>
                </a:solidFill>
                <a:latin typeface="Tahoma"/>
                <a:cs typeface="Tahoma"/>
              </a:rPr>
              <a:t>=</a:t>
            </a:r>
            <a:r>
              <a:rPr dirty="0" sz="12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0.0078125.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2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</a:pPr>
            <a:r>
              <a:rPr dirty="0" sz="1200" spc="-85" b="1">
                <a:solidFill>
                  <a:srgbClr val="595959"/>
                </a:solidFill>
                <a:latin typeface="Tahoma"/>
                <a:cs typeface="Tahoma"/>
              </a:rPr>
              <a:t>Revisión </a:t>
            </a:r>
            <a:r>
              <a:rPr dirty="0" sz="1200" spc="-55" b="1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200" spc="-80" b="1">
                <a:solidFill>
                  <a:srgbClr val="595959"/>
                </a:solidFill>
                <a:latin typeface="Tahoma"/>
                <a:cs typeface="Tahoma"/>
              </a:rPr>
              <a:t> Selección</a:t>
            </a:r>
            <a:r>
              <a:rPr dirty="0" sz="1200" spc="-8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595959"/>
                </a:solidFill>
                <a:latin typeface="Tahoma"/>
                <a:cs typeface="Tahoma"/>
              </a:rPr>
              <a:t>Continua:</a:t>
            </a:r>
            <a:endParaRPr sz="1200">
              <a:latin typeface="Tahoma"/>
              <a:cs typeface="Tahoma"/>
            </a:endParaRPr>
          </a:p>
          <a:p>
            <a:pPr marL="12700" marR="16510" indent="457200">
              <a:lnSpc>
                <a:spcPct val="114999"/>
              </a:lnSpc>
            </a:pPr>
            <a:r>
              <a:rPr dirty="0" sz="1200" spc="6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2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final</a:t>
            </a:r>
            <a:r>
              <a:rPr dirty="0" sz="12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2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estos</a:t>
            </a:r>
            <a:r>
              <a:rPr dirty="0" sz="12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ciclos,</a:t>
            </a:r>
            <a:r>
              <a:rPr dirty="0" sz="12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2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scheduler</a:t>
            </a:r>
            <a:r>
              <a:rPr dirty="0" sz="12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revisa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2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2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vruntime.</a:t>
            </a:r>
            <a:r>
              <a:rPr dirty="0" sz="12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2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2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55">
                <a:solidFill>
                  <a:srgbClr val="595959"/>
                </a:solidFill>
                <a:latin typeface="Tahoma"/>
                <a:cs typeface="Tahoma"/>
              </a:rPr>
              <a:t>E,</a:t>
            </a:r>
            <a:r>
              <a:rPr dirty="0" sz="12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2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595959"/>
                </a:solidFill>
                <a:latin typeface="Tahoma"/>
                <a:cs typeface="Tahoma"/>
              </a:rPr>
              <a:t>ha</a:t>
            </a:r>
            <a:r>
              <a:rPr dirty="0" sz="12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acumulado</a:t>
            </a:r>
            <a:r>
              <a:rPr dirty="0" sz="12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2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menor</a:t>
            </a:r>
            <a:r>
              <a:rPr dirty="0" sz="12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vruntime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(0.0009765625),</a:t>
            </a:r>
            <a:r>
              <a:rPr dirty="0" sz="12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sería</a:t>
            </a:r>
            <a:r>
              <a:rPr dirty="0" sz="12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normalmente</a:t>
            </a:r>
            <a:r>
              <a:rPr dirty="0" sz="12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seleccionado</a:t>
            </a:r>
            <a:r>
              <a:rPr dirty="0" sz="12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595959"/>
                </a:solidFill>
                <a:latin typeface="Tahoma"/>
                <a:cs typeface="Tahoma"/>
              </a:rPr>
              <a:t>nuevamente,</a:t>
            </a:r>
            <a:r>
              <a:rPr dirty="0" sz="12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ya</a:t>
            </a:r>
            <a:r>
              <a:rPr dirty="0" sz="12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2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25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2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vruntime</a:t>
            </a:r>
            <a:r>
              <a:rPr dirty="0" sz="12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20">
                <a:solidFill>
                  <a:srgbClr val="595959"/>
                </a:solidFill>
                <a:latin typeface="Tahoma"/>
                <a:cs typeface="Tahoma"/>
              </a:rPr>
              <a:t>sigue</a:t>
            </a:r>
            <a:r>
              <a:rPr dirty="0" sz="12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siendo</a:t>
            </a:r>
            <a:r>
              <a:rPr dirty="0" sz="12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2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30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2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595959"/>
                </a:solidFill>
                <a:latin typeface="Tahoma"/>
                <a:cs typeface="Tahoma"/>
              </a:rPr>
              <a:t>bajo.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800675" y="697137"/>
            <a:ext cx="3513454" cy="3822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2300" spc="-35" b="1">
                <a:solidFill>
                  <a:srgbClr val="1A1A1A"/>
                </a:solidFill>
                <a:latin typeface="Trebuchet MS"/>
                <a:cs typeface="Trebuchet MS"/>
              </a:rPr>
              <a:t>Linux:</a:t>
            </a:r>
            <a:r>
              <a:rPr dirty="0" sz="2300" spc="-130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300" spc="70" b="1">
                <a:solidFill>
                  <a:srgbClr val="1A1A1A"/>
                </a:solidFill>
                <a:latin typeface="Trebuchet MS"/>
                <a:cs typeface="Trebuchet MS"/>
              </a:rPr>
              <a:t>Group</a:t>
            </a:r>
            <a:r>
              <a:rPr dirty="0" sz="2300" spc="-130" b="1">
                <a:solidFill>
                  <a:srgbClr val="1A1A1A"/>
                </a:solidFill>
                <a:latin typeface="Trebuchet MS"/>
                <a:cs typeface="Trebuchet MS"/>
              </a:rPr>
              <a:t> </a:t>
            </a:r>
            <a:r>
              <a:rPr dirty="0" sz="2300" spc="90" b="1">
                <a:solidFill>
                  <a:srgbClr val="1A1A1A"/>
                </a:solidFill>
                <a:latin typeface="Trebuchet MS"/>
                <a:cs typeface="Trebuchet MS"/>
              </a:rPr>
              <a:t>Scheduling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0675" y="1199521"/>
            <a:ext cx="7451725" cy="586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colocan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diferentes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grupos,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planificador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primero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justo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entre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estos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grupos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luego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justo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entre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dentro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grupo.</a:t>
            </a:r>
            <a:endParaRPr sz="16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0867" y="2707938"/>
            <a:ext cx="6478841" cy="182217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229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dirty="0" spc="-35"/>
              <a:t>Linux:</a:t>
            </a:r>
            <a:r>
              <a:rPr dirty="0" spc="-130"/>
              <a:t> </a:t>
            </a:r>
            <a:r>
              <a:rPr dirty="0" spc="70"/>
              <a:t>Group</a:t>
            </a:r>
            <a:r>
              <a:rPr dirty="0" spc="-130"/>
              <a:t> </a:t>
            </a:r>
            <a:r>
              <a:rPr dirty="0" spc="90"/>
              <a:t>Scheduling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0675" y="1199521"/>
            <a:ext cx="7766684" cy="1708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Esto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permite,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0">
                <a:solidFill>
                  <a:srgbClr val="595959"/>
                </a:solidFill>
                <a:latin typeface="Tahoma"/>
                <a:cs typeface="Tahoma"/>
              </a:rPr>
              <a:t>ejemplo,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otorgar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partes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iguales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5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disponible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cada usuario.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vez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planificador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ha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decidido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cuánto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obtiene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usuario,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el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intervalo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determinado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distribuye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manera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justa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entre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usuario.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Esto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implica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naturalmente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5">
                <a:solidFill>
                  <a:srgbClr val="595959"/>
                </a:solidFill>
                <a:latin typeface="Tahoma"/>
                <a:cs typeface="Tahoma"/>
              </a:rPr>
              <a:t>que,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cuanto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ejecute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usuario,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menor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será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share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105">
                <a:solidFill>
                  <a:srgbClr val="595959"/>
                </a:solidFill>
                <a:latin typeface="Tahoma"/>
                <a:cs typeface="Tahoma"/>
              </a:rPr>
              <a:t>CPU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obtendrá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5">
                <a:solidFill>
                  <a:srgbClr val="595959"/>
                </a:solidFill>
                <a:latin typeface="Tahoma"/>
                <a:cs typeface="Tahoma"/>
              </a:rPr>
              <a:t>proceso.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Sin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embargo,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cantidad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tiempo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total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el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usuario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ve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influenciada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número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procesos.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800675" y="697137"/>
            <a:ext cx="796290" cy="3822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2300" spc="-10" b="1">
                <a:solidFill>
                  <a:srgbClr val="1A1A1A"/>
                </a:solidFill>
                <a:latin typeface="Trebuchet MS"/>
                <a:cs typeface="Trebuchet MS"/>
              </a:rPr>
              <a:t>Linux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0675" y="1400995"/>
            <a:ext cx="7745730" cy="866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57200">
              <a:lnSpc>
                <a:spcPct val="114999"/>
              </a:lnSpc>
              <a:spcBef>
                <a:spcPts val="100"/>
              </a:spcBef>
            </a:pPr>
            <a:r>
              <a:rPr dirty="0" sz="1600" spc="-100" b="1">
                <a:solidFill>
                  <a:srgbClr val="595959"/>
                </a:solidFill>
                <a:latin typeface="Tahoma"/>
                <a:cs typeface="Tahoma"/>
              </a:rPr>
              <a:t>Cgroups</a:t>
            </a: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80" b="1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80" b="1">
                <a:solidFill>
                  <a:srgbClr val="595959"/>
                </a:solidFill>
                <a:latin typeface="Tahoma"/>
                <a:cs typeface="Tahoma"/>
              </a:rPr>
              <a:t>control</a:t>
            </a:r>
            <a:r>
              <a:rPr dirty="0" sz="1600" spc="-10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14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recursos</a:t>
            </a:r>
            <a:r>
              <a:rPr dirty="0" sz="1600" spc="-110">
                <a:solidFill>
                  <a:srgbClr val="595959"/>
                </a:solidFill>
                <a:latin typeface="Tahoma"/>
                <a:cs typeface="Tahoma"/>
              </a:rPr>
              <a:t>: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también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ofrece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grupos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control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(control </a:t>
            </a:r>
            <a:r>
              <a:rPr dirty="0" sz="1600" spc="-45">
                <a:solidFill>
                  <a:srgbClr val="595959"/>
                </a:solidFill>
                <a:latin typeface="Tahoma"/>
                <a:cs typeface="Tahoma"/>
              </a:rPr>
              <a:t>groups),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permiten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85">
                <a:solidFill>
                  <a:srgbClr val="595959"/>
                </a:solidFill>
                <a:latin typeface="Tahoma"/>
                <a:cs typeface="Tahoma"/>
              </a:rPr>
              <a:t>(a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través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filesystem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especial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5">
                <a:solidFill>
                  <a:srgbClr val="595959"/>
                </a:solidFill>
                <a:latin typeface="Tahoma"/>
                <a:cs typeface="Tahoma"/>
              </a:rPr>
              <a:t>cgroups),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crear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colecciones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arbitrarias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tareas,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incluso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pueden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ordenarse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múltiples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jerarquías.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8229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dirty="0" spc="-10"/>
              <a:t>Linux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0675" y="1400995"/>
            <a:ext cx="7487284" cy="586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otro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gran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uso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grupos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scheduler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son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threads.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threads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agrupan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un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grupo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representa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proceso…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0675" y="2583619"/>
            <a:ext cx="252730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…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pero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¿qué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son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threads?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A99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30389" y="1191259"/>
            <a:ext cx="746125" cy="46355"/>
          </a:xfrm>
          <a:custGeom>
            <a:avLst/>
            <a:gdLst/>
            <a:ahLst/>
            <a:cxnLst/>
            <a:rect l="l" t="t" r="r" b="b"/>
            <a:pathLst>
              <a:path w="746125" h="46355">
                <a:moveTo>
                  <a:pt x="745756" y="0"/>
                </a:moveTo>
                <a:lnTo>
                  <a:pt x="376008" y="0"/>
                </a:lnTo>
                <a:lnTo>
                  <a:pt x="372897" y="0"/>
                </a:lnTo>
                <a:lnTo>
                  <a:pt x="0" y="0"/>
                </a:lnTo>
                <a:lnTo>
                  <a:pt x="0" y="45834"/>
                </a:lnTo>
                <a:lnTo>
                  <a:pt x="372897" y="45834"/>
                </a:lnTo>
                <a:lnTo>
                  <a:pt x="376008" y="45834"/>
                </a:lnTo>
                <a:lnTo>
                  <a:pt x="745756" y="45834"/>
                </a:lnTo>
                <a:lnTo>
                  <a:pt x="7457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02475" y="1377186"/>
            <a:ext cx="3622675" cy="87249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65">
                <a:solidFill>
                  <a:srgbClr val="FFFFFF"/>
                </a:solidFill>
              </a:rPr>
              <a:t>Threads</a:t>
            </a:r>
            <a:endParaRPr sz="3600"/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900" spc="-60">
                <a:solidFill>
                  <a:srgbClr val="FFFFFF"/>
                </a:solidFill>
              </a:rPr>
              <a:t>(y</a:t>
            </a:r>
            <a:r>
              <a:rPr dirty="0" sz="1900" spc="-130">
                <a:solidFill>
                  <a:srgbClr val="FFFFFF"/>
                </a:solidFill>
              </a:rPr>
              <a:t> </a:t>
            </a:r>
            <a:r>
              <a:rPr dirty="0" sz="1900" spc="85">
                <a:solidFill>
                  <a:srgbClr val="FFFFFF"/>
                </a:solidFill>
              </a:rPr>
              <a:t>su</a:t>
            </a:r>
            <a:r>
              <a:rPr dirty="0" sz="1900" spc="-80">
                <a:solidFill>
                  <a:srgbClr val="FFFFFF"/>
                </a:solidFill>
              </a:rPr>
              <a:t> </a:t>
            </a:r>
            <a:r>
              <a:rPr dirty="0" sz="1900">
                <a:solidFill>
                  <a:srgbClr val="FFFFFF"/>
                </a:solidFill>
              </a:rPr>
              <a:t>relación</a:t>
            </a:r>
            <a:r>
              <a:rPr dirty="0" sz="1900" spc="-85">
                <a:solidFill>
                  <a:srgbClr val="FFFFFF"/>
                </a:solidFill>
              </a:rPr>
              <a:t> </a:t>
            </a:r>
            <a:r>
              <a:rPr dirty="0" sz="1900" spc="55">
                <a:solidFill>
                  <a:srgbClr val="FFFFFF"/>
                </a:solidFill>
              </a:rPr>
              <a:t>con</a:t>
            </a:r>
            <a:r>
              <a:rPr dirty="0" sz="1900" spc="-80">
                <a:solidFill>
                  <a:srgbClr val="FFFFFF"/>
                </a:solidFill>
              </a:rPr>
              <a:t> </a:t>
            </a:r>
            <a:r>
              <a:rPr dirty="0" sz="1900" spc="70">
                <a:solidFill>
                  <a:srgbClr val="FFFFFF"/>
                </a:solidFill>
              </a:rPr>
              <a:t>los</a:t>
            </a:r>
            <a:r>
              <a:rPr dirty="0" sz="1900" spc="-80">
                <a:solidFill>
                  <a:srgbClr val="FFFFFF"/>
                </a:solidFill>
              </a:rPr>
              <a:t> </a:t>
            </a:r>
            <a:r>
              <a:rPr dirty="0" sz="1900" spc="-10">
                <a:solidFill>
                  <a:srgbClr val="FFFFFF"/>
                </a:solidFill>
              </a:rPr>
              <a:t>procesos)</a:t>
            </a:r>
            <a:endParaRPr sz="1900"/>
          </a:p>
        </p:txBody>
      </p:sp>
      <p:sp>
        <p:nvSpPr>
          <p:cNvPr id="5" name="object 5"/>
          <p:cNvSpPr txBox="1"/>
          <p:nvPr/>
        </p:nvSpPr>
        <p:spPr>
          <a:xfrm>
            <a:off x="913550" y="3201581"/>
            <a:ext cx="361124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60" b="1">
                <a:solidFill>
                  <a:srgbClr val="FFFFFF"/>
                </a:solidFill>
                <a:latin typeface="Trebuchet MS"/>
                <a:cs typeface="Trebuchet MS"/>
              </a:rPr>
              <a:t>Conceptos</a:t>
            </a:r>
            <a:r>
              <a:rPr dirty="0" sz="1800" spc="-11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Trebuchet MS"/>
                <a:cs typeface="Trebuchet MS"/>
              </a:rPr>
              <a:t>clave: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Definición</a:t>
            </a:r>
            <a:r>
              <a:rPr dirty="0" sz="18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85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-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threads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Thread</a:t>
            </a:r>
            <a:r>
              <a:rPr dirty="0" sz="1800" spc="11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40">
                <a:solidFill>
                  <a:srgbClr val="FFFFFF"/>
                </a:solidFill>
                <a:latin typeface="Trebuchet MS"/>
                <a:cs typeface="Trebuchet MS"/>
              </a:rPr>
              <a:t>scheduler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Interleaving</a:t>
            </a:r>
            <a:r>
              <a:rPr dirty="0" sz="1800" spc="-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(entrelazamiento)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251904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100"/>
              <a:t>A</a:t>
            </a:r>
            <a:r>
              <a:rPr dirty="0" spc="-200"/>
              <a:t> </a:t>
            </a:r>
            <a:r>
              <a:rPr dirty="0" spc="90"/>
              <a:t>qué</a:t>
            </a:r>
            <a:r>
              <a:rPr dirty="0" spc="-130"/>
              <a:t> </a:t>
            </a:r>
            <a:r>
              <a:rPr dirty="0" spc="90"/>
              <a:t>apuntamos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2475" y="2115578"/>
            <a:ext cx="7242175" cy="709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concepto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clave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escribir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programa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concurrente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secuencia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streams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ejecución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50">
                <a:solidFill>
                  <a:srgbClr val="595959"/>
                </a:solidFill>
                <a:latin typeface="Tahoma"/>
                <a:cs typeface="Tahoma"/>
              </a:rPr>
              <a:t>o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threads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interactúan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comparten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datos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manera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muy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precisa.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concepto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básico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el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siguiente:</a:t>
            </a:r>
            <a:endParaRPr sz="13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838" y="2791452"/>
            <a:ext cx="5206992" cy="2243726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2134870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100"/>
              <a:t>La</a:t>
            </a:r>
            <a:r>
              <a:rPr dirty="0" spc="-204"/>
              <a:t> </a:t>
            </a:r>
            <a:r>
              <a:rPr dirty="0" spc="50"/>
              <a:t>Abstraccion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2475" y="2107195"/>
            <a:ext cx="7355205" cy="2421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770890">
              <a:lnSpc>
                <a:spcPct val="114999"/>
              </a:lnSpc>
              <a:spcBef>
                <a:spcPts val="100"/>
              </a:spcBef>
            </a:pPr>
            <a:r>
              <a:rPr dirty="0" sz="1600" spc="55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secuencia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ejecución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atómica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representa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tarea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planificable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ejecución</a:t>
            </a:r>
            <a:endParaRPr sz="1600">
              <a:latin typeface="Tahoma"/>
              <a:cs typeface="Tahoma"/>
            </a:endParaRPr>
          </a:p>
          <a:p>
            <a:pPr marL="469900" marR="5080" indent="-351790">
              <a:lnSpc>
                <a:spcPct val="114999"/>
              </a:lnSpc>
              <a:spcBef>
                <a:spcPts val="1200"/>
              </a:spcBef>
              <a:buFont typeface="Arial MT"/>
              <a:buChar char="●"/>
              <a:tabLst>
                <a:tab pos="469900" algn="l"/>
              </a:tabLst>
            </a:pPr>
            <a:r>
              <a:rPr dirty="0" sz="1600" spc="-120" b="1">
                <a:solidFill>
                  <a:srgbClr val="595959"/>
                </a:solidFill>
                <a:latin typeface="Tahoma"/>
                <a:cs typeface="Tahoma"/>
              </a:rPr>
              <a:t>Secuencia</a:t>
            </a:r>
            <a:r>
              <a:rPr dirty="0" sz="1600" spc="-1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14" b="1">
                <a:solidFill>
                  <a:srgbClr val="595959"/>
                </a:solidFill>
                <a:latin typeface="Tahoma"/>
                <a:cs typeface="Tahoma"/>
              </a:rPr>
              <a:t>ejecución</a:t>
            </a:r>
            <a:r>
              <a:rPr dirty="0" sz="1600" spc="-1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20" b="1">
                <a:solidFill>
                  <a:srgbClr val="595959"/>
                </a:solidFill>
                <a:latin typeface="Tahoma"/>
                <a:cs typeface="Tahoma"/>
              </a:rPr>
              <a:t>atómica:</a:t>
            </a:r>
            <a:r>
              <a:rPr dirty="0" sz="1600" spc="-10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ejecuta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secuencia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instrucciones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hace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bloque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código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modelo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programación secuencial.</a:t>
            </a:r>
            <a:endParaRPr sz="1600">
              <a:latin typeface="Tahoma"/>
              <a:cs typeface="Tahoma"/>
            </a:endParaRPr>
          </a:p>
          <a:p>
            <a:pPr marL="469900" marR="92075" indent="-351790">
              <a:lnSpc>
                <a:spcPct val="114999"/>
              </a:lnSpc>
              <a:buFont typeface="Arial MT"/>
              <a:buChar char="●"/>
              <a:tabLst>
                <a:tab pos="469900" algn="l"/>
              </a:tabLst>
            </a:pPr>
            <a:r>
              <a:rPr dirty="0" sz="1600" spc="-140" b="1">
                <a:solidFill>
                  <a:srgbClr val="595959"/>
                </a:solidFill>
                <a:latin typeface="Tahoma"/>
                <a:cs typeface="Tahoma"/>
              </a:rPr>
              <a:t>Tarea</a:t>
            </a:r>
            <a:r>
              <a:rPr dirty="0" sz="1600" spc="-105" b="1">
                <a:solidFill>
                  <a:srgbClr val="595959"/>
                </a:solidFill>
                <a:latin typeface="Tahoma"/>
                <a:cs typeface="Tahoma"/>
              </a:rPr>
              <a:t> planificable</a:t>
            </a:r>
            <a:r>
              <a:rPr dirty="0" sz="1600" spc="-10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1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0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14" b="1">
                <a:solidFill>
                  <a:srgbClr val="595959"/>
                </a:solidFill>
                <a:latin typeface="Tahoma"/>
                <a:cs typeface="Tahoma"/>
              </a:rPr>
              <a:t>ejecución:</a:t>
            </a:r>
            <a:r>
              <a:rPr dirty="0" sz="1600" spc="-9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operativo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tiene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injerencia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sobre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el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mismo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cualquier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momento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ejecutarlo,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suspenderlo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continuarlo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cuando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él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desee.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293052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65"/>
              <a:t>Threads</a:t>
            </a:r>
            <a:r>
              <a:rPr dirty="0" spc="-190"/>
              <a:t> </a:t>
            </a:r>
            <a:r>
              <a:rPr dirty="0" spc="105"/>
              <a:t>vs</a:t>
            </a:r>
            <a:r>
              <a:rPr dirty="0" spc="-125"/>
              <a:t> </a:t>
            </a:r>
            <a:r>
              <a:rPr dirty="0" spc="85"/>
              <a:t>procesos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2475" y="2112085"/>
            <a:ext cx="3212465" cy="1524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13664">
              <a:lnSpc>
                <a:spcPct val="117100"/>
              </a:lnSpc>
              <a:spcBef>
                <a:spcPts val="95"/>
              </a:spcBef>
            </a:pPr>
            <a:r>
              <a:rPr dirty="0" sz="1400" spc="-85" b="1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400" spc="-85">
                <a:solidFill>
                  <a:srgbClr val="595959"/>
                </a:solidFill>
                <a:latin typeface="Tahoma"/>
                <a:cs typeface="Tahoma"/>
              </a:rPr>
              <a:t>:</a:t>
            </a:r>
            <a:r>
              <a:rPr dirty="0" sz="14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4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programa</a:t>
            </a:r>
            <a:r>
              <a:rPr dirty="0" sz="14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4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ejecución</a:t>
            </a:r>
            <a:r>
              <a:rPr dirty="0" sz="14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595959"/>
                </a:solidFill>
                <a:latin typeface="Tahoma"/>
                <a:cs typeface="Tahoma"/>
              </a:rPr>
              <a:t>con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derechos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restringidos.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400">
              <a:latin typeface="Tahoma"/>
              <a:cs typeface="Tahoma"/>
            </a:endParaRPr>
          </a:p>
          <a:p>
            <a:pPr algn="just" marL="12700" marR="5080">
              <a:lnSpc>
                <a:spcPct val="117100"/>
              </a:lnSpc>
            </a:pPr>
            <a:r>
              <a:rPr dirty="0" sz="1400" spc="-105" b="1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r>
              <a:rPr dirty="0" sz="1400" spc="-105">
                <a:solidFill>
                  <a:srgbClr val="595959"/>
                </a:solidFill>
                <a:latin typeface="Tahoma"/>
                <a:cs typeface="Tahoma"/>
              </a:rPr>
              <a:t>:</a:t>
            </a:r>
            <a:r>
              <a:rPr dirty="0" sz="1400" spc="-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400" spc="-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secuencia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independiente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instrucciones</a:t>
            </a:r>
            <a:r>
              <a:rPr dirty="0" sz="14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ejecutándose</a:t>
            </a:r>
            <a:r>
              <a:rPr dirty="0" sz="140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dentro</a:t>
            </a:r>
            <a:r>
              <a:rPr dirty="0" sz="1400" spc="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0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595959"/>
                </a:solidFill>
                <a:latin typeface="Tahoma"/>
                <a:cs typeface="Tahoma"/>
              </a:rPr>
              <a:t>un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programa.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150" y="1729050"/>
            <a:ext cx="4267849" cy="2984849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118935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55"/>
              <a:t>Threads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2475" y="2142641"/>
            <a:ext cx="4703445" cy="2205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Esta</a:t>
            </a:r>
            <a:r>
              <a:rPr dirty="0" sz="18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abstracción,</a:t>
            </a:r>
            <a:r>
              <a:rPr dirty="0" sz="18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thread,</a:t>
            </a:r>
            <a:r>
              <a:rPr dirty="0" sz="1800" spc="2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caracteriza</a:t>
            </a:r>
            <a:r>
              <a:rPr dirty="0" sz="18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8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50">
                <a:solidFill>
                  <a:srgbClr val="595959"/>
                </a:solidFill>
                <a:latin typeface="Tahoma"/>
                <a:cs typeface="Tahoma"/>
              </a:rPr>
              <a:t>:</a:t>
            </a:r>
            <a:endParaRPr sz="1800">
              <a:latin typeface="Tahoma"/>
              <a:cs typeface="Tahoma"/>
            </a:endParaRPr>
          </a:p>
          <a:p>
            <a:pPr marL="469265" indent="-368300">
              <a:lnSpc>
                <a:spcPct val="100000"/>
              </a:lnSpc>
              <a:spcBef>
                <a:spcPts val="133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r>
              <a:rPr dirty="0" sz="18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id</a:t>
            </a:r>
            <a:endParaRPr sz="1800">
              <a:latin typeface="Tahoma"/>
              <a:cs typeface="Tahoma"/>
            </a:endParaRPr>
          </a:p>
          <a:p>
            <a:pPr marL="469265" indent="-368300">
              <a:lnSpc>
                <a:spcPct val="100000"/>
              </a:lnSpc>
              <a:spcBef>
                <a:spcPts val="14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conjunto</a:t>
            </a:r>
            <a:r>
              <a:rPr dirty="0" sz="18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8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valores</a:t>
            </a:r>
            <a:r>
              <a:rPr dirty="0" sz="18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registros</a:t>
            </a:r>
            <a:endParaRPr sz="1800">
              <a:latin typeface="Tahoma"/>
              <a:cs typeface="Tahoma"/>
            </a:endParaRPr>
          </a:p>
          <a:p>
            <a:pPr marL="469265" indent="-368300">
              <a:lnSpc>
                <a:spcPct val="100000"/>
              </a:lnSpc>
              <a:spcBef>
                <a:spcPts val="13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stack</a:t>
            </a:r>
            <a:r>
              <a:rPr dirty="0" sz="18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propio</a:t>
            </a:r>
            <a:endParaRPr sz="1800">
              <a:latin typeface="Tahoma"/>
              <a:cs typeface="Tahoma"/>
            </a:endParaRPr>
          </a:p>
          <a:p>
            <a:pPr marL="469265" indent="-368300">
              <a:lnSpc>
                <a:spcPct val="100000"/>
              </a:lnSpc>
              <a:spcBef>
                <a:spcPts val="13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8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política</a:t>
            </a:r>
            <a:r>
              <a:rPr dirty="0" sz="18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8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prioridad</a:t>
            </a:r>
            <a:r>
              <a:rPr dirty="0" sz="18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ejecución</a:t>
            </a:r>
            <a:endParaRPr sz="1800">
              <a:latin typeface="Tahoma"/>
              <a:cs typeface="Tahoma"/>
            </a:endParaRPr>
          </a:p>
          <a:p>
            <a:pPr marL="469265" indent="-368300">
              <a:lnSpc>
                <a:spcPct val="100000"/>
              </a:lnSpc>
              <a:spcBef>
                <a:spcPts val="14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propio</a:t>
            </a:r>
            <a:r>
              <a:rPr dirty="0" sz="18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errno</a:t>
            </a:r>
            <a:endParaRPr sz="1800">
              <a:latin typeface="Tahoma"/>
              <a:cs typeface="Tahoma"/>
            </a:endParaRPr>
          </a:p>
          <a:p>
            <a:pPr marL="469265" indent="-368300">
              <a:lnSpc>
                <a:spcPct val="100000"/>
              </a:lnSpc>
              <a:spcBef>
                <a:spcPts val="13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datos</a:t>
            </a:r>
            <a:r>
              <a:rPr dirty="0" sz="18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específicos</a:t>
            </a:r>
            <a:r>
              <a:rPr dirty="0" sz="18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8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43137" y="1853837"/>
            <a:ext cx="1171574" cy="2600324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44250" y="1964650"/>
            <a:ext cx="2243455" cy="2827020"/>
            <a:chOff x="6144250" y="1964650"/>
            <a:chExt cx="2243455" cy="28270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44250" y="1964650"/>
              <a:ext cx="2243171" cy="282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69337" y="3242925"/>
              <a:ext cx="303207" cy="1013849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55"/>
              <a:t>Threads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02475" y="2142641"/>
            <a:ext cx="4392930" cy="88646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algn="just" marL="12700" marR="5080">
              <a:lnSpc>
                <a:spcPts val="2300"/>
              </a:lnSpc>
              <a:spcBef>
                <a:spcPts val="80"/>
              </a:spcBef>
            </a:pPr>
            <a:r>
              <a:rPr dirty="0" sz="1800" b="1">
                <a:solidFill>
                  <a:srgbClr val="595959"/>
                </a:solidFill>
                <a:latin typeface="Tahoma"/>
                <a:cs typeface="Tahoma"/>
              </a:rPr>
              <a:t>One</a:t>
            </a:r>
            <a:r>
              <a:rPr dirty="0" sz="1800" spc="9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40" b="1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r>
              <a:rPr dirty="0" sz="1800" spc="10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b="1">
                <a:solidFill>
                  <a:srgbClr val="595959"/>
                </a:solidFill>
                <a:latin typeface="Tahoma"/>
                <a:cs typeface="Tahoma"/>
              </a:rPr>
              <a:t>per</a:t>
            </a:r>
            <a:r>
              <a:rPr dirty="0" sz="1800" spc="9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75" b="1">
                <a:solidFill>
                  <a:srgbClr val="595959"/>
                </a:solidFill>
                <a:latin typeface="Tahoma"/>
                <a:cs typeface="Tahoma"/>
              </a:rPr>
              <a:t>process:</a:t>
            </a:r>
            <a:r>
              <a:rPr dirty="0" sz="1800" spc="10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800" spc="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con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800" spc="29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única</a:t>
            </a:r>
            <a:r>
              <a:rPr dirty="0" sz="1800" spc="29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secuencia</a:t>
            </a:r>
            <a:r>
              <a:rPr dirty="0" sz="1800" spc="29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29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instrucciones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ejecutándose</a:t>
            </a:r>
            <a:r>
              <a:rPr dirty="0" sz="18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inicio</a:t>
            </a:r>
            <a:r>
              <a:rPr dirty="0" sz="18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8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fin.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118935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55"/>
              <a:t>Threads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4466" y="1990141"/>
            <a:ext cx="5497195" cy="322008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algn="just" marL="379730" marR="5080" indent="-367665">
              <a:lnSpc>
                <a:spcPts val="2300"/>
              </a:lnSpc>
              <a:spcBef>
                <a:spcPts val="50"/>
              </a:spcBef>
              <a:buFont typeface="Arial MT"/>
              <a:buChar char="●"/>
              <a:tabLst>
                <a:tab pos="381000" algn="l"/>
              </a:tabLst>
            </a:pPr>
            <a:r>
              <a:rPr dirty="0" sz="1800" spc="65">
                <a:solidFill>
                  <a:srgbClr val="595959"/>
                </a:solidFill>
                <a:latin typeface="Tahoma"/>
                <a:cs typeface="Tahoma"/>
              </a:rPr>
              <a:t>Many</a:t>
            </a:r>
            <a:r>
              <a:rPr dirty="0" sz="1800" spc="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threads</a:t>
            </a:r>
            <a:r>
              <a:rPr dirty="0" sz="1800" spc="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per</a:t>
            </a:r>
            <a:r>
              <a:rPr dirty="0" sz="1800" spc="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process:</a:t>
            </a:r>
            <a:r>
              <a:rPr dirty="0" sz="1800" spc="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programa</a:t>
            </a:r>
            <a:r>
              <a:rPr dirty="0" sz="1800" spc="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800" spc="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visto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800" spc="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threads</a:t>
            </a:r>
            <a:r>
              <a:rPr dirty="0" sz="1800" spc="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ejecutándose</a:t>
            </a:r>
            <a:r>
              <a:rPr dirty="0" sz="1800" spc="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dentro</a:t>
            </a:r>
            <a:r>
              <a:rPr dirty="0" sz="1800" spc="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proceso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800" spc="3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derechos</a:t>
            </a:r>
            <a:r>
              <a:rPr dirty="0" sz="1800" spc="3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restringidos.</a:t>
            </a:r>
            <a:r>
              <a:rPr dirty="0" sz="1800" spc="3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800" spc="3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800" spc="3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determinado 	instante,</a:t>
            </a:r>
            <a:r>
              <a:rPr dirty="0" sz="18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algunos</a:t>
            </a:r>
            <a:r>
              <a:rPr dirty="0" sz="18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threads</a:t>
            </a:r>
            <a:r>
              <a:rPr dirty="0" sz="18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pueden</a:t>
            </a:r>
            <a:r>
              <a:rPr dirty="0" sz="18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estar</a:t>
            </a:r>
            <a:r>
              <a:rPr dirty="0" sz="18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corriendo</a:t>
            </a:r>
            <a:r>
              <a:rPr dirty="0" sz="18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50">
                <a:solidFill>
                  <a:srgbClr val="595959"/>
                </a:solidFill>
                <a:latin typeface="Tahoma"/>
                <a:cs typeface="Tahoma"/>
              </a:rPr>
              <a:t>y </a:t>
            </a:r>
            <a:r>
              <a:rPr dirty="0" sz="1800" spc="-5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otros</a:t>
            </a:r>
            <a:r>
              <a:rPr dirty="0" sz="1800" spc="3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estar</a:t>
            </a:r>
            <a:r>
              <a:rPr dirty="0" sz="1800" spc="3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suspendidos.</a:t>
            </a:r>
            <a:r>
              <a:rPr dirty="0" sz="1800" spc="3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Cuando</a:t>
            </a:r>
            <a:r>
              <a:rPr dirty="0" sz="1800" spc="3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3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detecta</a:t>
            </a:r>
            <a:r>
              <a:rPr dirty="0" sz="1800" spc="3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por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ejemplo</a:t>
            </a:r>
            <a:r>
              <a:rPr dirty="0" sz="1800" spc="30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800" spc="31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operación</a:t>
            </a:r>
            <a:r>
              <a:rPr dirty="0" sz="1800" spc="31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31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I/O</a:t>
            </a:r>
            <a:r>
              <a:rPr dirty="0" sz="1800" spc="30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800" spc="31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alguna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interrupción,</a:t>
            </a:r>
            <a:r>
              <a:rPr dirty="0" sz="1800" spc="26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26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1800" spc="26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desaloja</a:t>
            </a:r>
            <a:r>
              <a:rPr dirty="0" sz="1800" spc="26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(preempt)</a:t>
            </a:r>
            <a:r>
              <a:rPr dirty="0" sz="1800" spc="26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800" spc="-50">
                <a:solidFill>
                  <a:srgbClr val="595959"/>
                </a:solidFill>
                <a:latin typeface="Tahoma"/>
                <a:cs typeface="Tahoma"/>
              </a:rPr>
              <a:t>a </a:t>
            </a:r>
            <a:r>
              <a:rPr dirty="0" sz="1800" spc="-5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algunos</a:t>
            </a:r>
            <a:r>
              <a:rPr dirty="0" sz="1800" spc="130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13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800" spc="13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threads</a:t>
            </a:r>
            <a:r>
              <a:rPr dirty="0" sz="1800" spc="13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800" spc="13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están</a:t>
            </a:r>
            <a:r>
              <a:rPr dirty="0" sz="1800" spc="135">
                <a:solidFill>
                  <a:srgbClr val="595959"/>
                </a:solidFill>
                <a:latin typeface="Tahoma"/>
                <a:cs typeface="Tahoma"/>
              </a:rPr>
              <a:t> 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corriendo,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atiende</a:t>
            </a:r>
            <a:r>
              <a:rPr dirty="0" sz="18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8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interrupción,</a:t>
            </a:r>
            <a:r>
              <a:rPr dirty="0" sz="18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8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8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terminar</a:t>
            </a:r>
            <a:r>
              <a:rPr dirty="0" sz="18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8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0">
                <a:solidFill>
                  <a:srgbClr val="595959"/>
                </a:solidFill>
                <a:latin typeface="Tahoma"/>
                <a:cs typeface="Tahoma"/>
              </a:rPr>
              <a:t>manejar</a:t>
            </a:r>
            <a:r>
              <a:rPr dirty="0" sz="18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interrupción</a:t>
            </a:r>
            <a:r>
              <a:rPr dirty="0" sz="1800" spc="305">
                <a:solidFill>
                  <a:srgbClr val="595959"/>
                </a:solidFill>
                <a:latin typeface="Tahoma"/>
                <a:cs typeface="Tahoma"/>
              </a:rPr>
              <a:t>  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vuelve</a:t>
            </a:r>
            <a:r>
              <a:rPr dirty="0" sz="1800" spc="305">
                <a:solidFill>
                  <a:srgbClr val="595959"/>
                </a:solidFill>
                <a:latin typeface="Tahoma"/>
                <a:cs typeface="Tahoma"/>
              </a:rPr>
              <a:t>  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800" spc="310">
                <a:solidFill>
                  <a:srgbClr val="595959"/>
                </a:solidFill>
                <a:latin typeface="Tahoma"/>
                <a:cs typeface="Tahoma"/>
              </a:rPr>
              <a:t>  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correr</a:t>
            </a:r>
            <a:r>
              <a:rPr dirty="0" sz="1800" spc="305">
                <a:solidFill>
                  <a:srgbClr val="595959"/>
                </a:solidFill>
                <a:latin typeface="Tahoma"/>
                <a:cs typeface="Tahoma"/>
              </a:rPr>
              <a:t>  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310">
                <a:solidFill>
                  <a:srgbClr val="595959"/>
                </a:solidFill>
                <a:latin typeface="Tahoma"/>
                <a:cs typeface="Tahoma"/>
              </a:rPr>
              <a:t>  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thread 	nuevamente.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44250" y="1964650"/>
            <a:ext cx="2243455" cy="2827020"/>
            <a:chOff x="6144250" y="1964650"/>
            <a:chExt cx="2243455" cy="28270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44250" y="1964650"/>
              <a:ext cx="2243171" cy="28269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60787" y="3160850"/>
              <a:ext cx="416402" cy="10138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29590" y="3160850"/>
              <a:ext cx="416402" cy="101384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98393" y="3160850"/>
              <a:ext cx="303206" cy="10138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825" y="0"/>
            <a:ext cx="7751049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258381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55"/>
              <a:t>Thread</a:t>
            </a:r>
            <a:r>
              <a:rPr dirty="0" spc="-135"/>
              <a:t> </a:t>
            </a:r>
            <a:r>
              <a:rPr dirty="0" spc="70"/>
              <a:t>Scheduler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2475" y="2109990"/>
            <a:ext cx="7538084" cy="2696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15240">
              <a:lnSpc>
                <a:spcPct val="114999"/>
              </a:lnSpc>
              <a:spcBef>
                <a:spcPts val="100"/>
              </a:spcBef>
            </a:pP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¿Cómo</a:t>
            </a:r>
            <a:r>
              <a:rPr dirty="0" sz="1500" spc="2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hace</a:t>
            </a:r>
            <a:r>
              <a:rPr dirty="0" sz="1500" spc="2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2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S.O.</a:t>
            </a:r>
            <a:r>
              <a:rPr dirty="0" sz="1500" spc="2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500" spc="2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crear</a:t>
            </a:r>
            <a:r>
              <a:rPr dirty="0" sz="1500" spc="2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500" spc="2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ilusión</a:t>
            </a:r>
            <a:r>
              <a:rPr dirty="0" sz="1500" spc="2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2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muchos</a:t>
            </a:r>
            <a:r>
              <a:rPr dirty="0" sz="1500" spc="2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threads</a:t>
            </a:r>
            <a:r>
              <a:rPr dirty="0" sz="1500" spc="2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500" spc="2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500" spc="2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número</a:t>
            </a:r>
            <a:r>
              <a:rPr dirty="0" sz="1500" spc="2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fijo</a:t>
            </a:r>
            <a:r>
              <a:rPr dirty="0" sz="1500" spc="2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procesadores?</a:t>
            </a:r>
            <a:endParaRPr sz="1500">
              <a:latin typeface="Tahoma"/>
              <a:cs typeface="Tahoma"/>
            </a:endParaRPr>
          </a:p>
          <a:p>
            <a:pPr algn="just"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Obviamente</a:t>
            </a:r>
            <a:r>
              <a:rPr dirty="0" sz="1500" spc="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500" spc="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necesario</a:t>
            </a:r>
            <a:r>
              <a:rPr dirty="0" sz="1500" spc="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500" spc="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planificador</a:t>
            </a:r>
            <a:r>
              <a:rPr dirty="0" sz="1500" spc="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r>
              <a:rPr dirty="0" sz="1500" spc="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500" spc="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threads</a:t>
            </a:r>
            <a:r>
              <a:rPr dirty="0" sz="1500" spc="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scheduler,</a:t>
            </a:r>
            <a:r>
              <a:rPr dirty="0" sz="1500" spc="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ya</a:t>
            </a:r>
            <a:r>
              <a:rPr dirty="0" sz="1500" spc="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500" spc="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S.O.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podría</a:t>
            </a:r>
            <a:r>
              <a:rPr dirty="0" sz="15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estar</a:t>
            </a:r>
            <a:r>
              <a:rPr dirty="0" sz="15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trabajando</a:t>
            </a:r>
            <a:r>
              <a:rPr dirty="0" sz="15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5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3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5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único</a:t>
            </a:r>
            <a:r>
              <a:rPr dirty="0" sz="15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procesador.</a:t>
            </a:r>
            <a:r>
              <a:rPr dirty="0" sz="15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cambio</a:t>
            </a:r>
            <a:r>
              <a:rPr dirty="0" sz="15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entre</a:t>
            </a:r>
            <a:r>
              <a:rPr dirty="0" sz="15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threads</a:t>
            </a:r>
            <a:r>
              <a:rPr dirty="0" sz="15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5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5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transparente,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500" spc="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decir</a:t>
            </a:r>
            <a:r>
              <a:rPr dirty="0" sz="15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5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programador</a:t>
            </a:r>
            <a:r>
              <a:rPr dirty="0" sz="15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debe</a:t>
            </a:r>
            <a:r>
              <a:rPr dirty="0" sz="15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preocuparse</a:t>
            </a:r>
            <a:r>
              <a:rPr dirty="0" sz="1500" spc="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5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secuencia</a:t>
            </a:r>
            <a:r>
              <a:rPr dirty="0" sz="15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instrucciones</a:t>
            </a:r>
            <a:r>
              <a:rPr dirty="0" sz="1500" spc="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5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500" spc="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el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cuando</a:t>
            </a:r>
            <a:r>
              <a:rPr dirty="0" sz="15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éste</a:t>
            </a:r>
            <a:r>
              <a:rPr dirty="0" sz="15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debe</a:t>
            </a:r>
            <a:r>
              <a:rPr dirty="0" sz="15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ser</a:t>
            </a:r>
            <a:r>
              <a:rPr dirty="0" sz="15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suspendido</a:t>
            </a:r>
            <a:r>
              <a:rPr dirty="0" sz="15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5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no.</a:t>
            </a:r>
            <a:endParaRPr sz="1500">
              <a:latin typeface="Tahoma"/>
              <a:cs typeface="Tahoma"/>
            </a:endParaRPr>
          </a:p>
          <a:p>
            <a:pPr algn="just" marL="12700" marR="19050">
              <a:lnSpc>
                <a:spcPct val="114999"/>
              </a:lnSpc>
              <a:spcBef>
                <a:spcPts val="1200"/>
              </a:spcBef>
            </a:pP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ende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500" spc="-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Threads </a:t>
            </a:r>
            <a:r>
              <a:rPr dirty="0" sz="1500" spc="-110" b="1">
                <a:solidFill>
                  <a:srgbClr val="595959"/>
                </a:solidFill>
                <a:latin typeface="Tahoma"/>
                <a:cs typeface="Tahoma"/>
              </a:rPr>
              <a:t>proveen</a:t>
            </a:r>
            <a:r>
              <a:rPr dirty="0" sz="1500" spc="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15" b="1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500" spc="1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14" b="1">
                <a:solidFill>
                  <a:srgbClr val="595959"/>
                </a:solidFill>
                <a:latin typeface="Tahoma"/>
                <a:cs typeface="Tahoma"/>
              </a:rPr>
              <a:t>modelo</a:t>
            </a:r>
            <a:r>
              <a:rPr dirty="0" sz="1500" spc="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7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6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14" b="1">
                <a:solidFill>
                  <a:srgbClr val="595959"/>
                </a:solidFill>
                <a:latin typeface="Tahoma"/>
                <a:cs typeface="Tahoma"/>
              </a:rPr>
              <a:t>ejecución</a:t>
            </a:r>
            <a:r>
              <a:rPr dirty="0" sz="1500" spc="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85" b="1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500" spc="7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10" b="1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14" b="1">
                <a:solidFill>
                  <a:srgbClr val="595959"/>
                </a:solidFill>
                <a:latin typeface="Tahoma"/>
                <a:cs typeface="Tahoma"/>
              </a:rPr>
              <a:t>cual</a:t>
            </a:r>
            <a:r>
              <a:rPr dirty="0" sz="1500" spc="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45" b="1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500" spc="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0" b="1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r>
              <a:rPr dirty="0" sz="1500" spc="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80" b="1">
                <a:solidFill>
                  <a:srgbClr val="595959"/>
                </a:solidFill>
                <a:latin typeface="Tahoma"/>
                <a:cs typeface="Tahoma"/>
              </a:rPr>
              <a:t>corre</a:t>
            </a:r>
            <a:r>
              <a:rPr dirty="0" sz="1500" spc="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85" b="1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500" spc="8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 b="1">
                <a:solidFill>
                  <a:srgbClr val="595959"/>
                </a:solidFill>
                <a:latin typeface="Tahoma"/>
                <a:cs typeface="Tahoma"/>
              </a:rPr>
              <a:t>un </a:t>
            </a:r>
            <a:r>
              <a:rPr dirty="0" sz="1500" spc="-50" b="1">
                <a:solidFill>
                  <a:srgbClr val="595959"/>
                </a:solidFill>
                <a:latin typeface="Tahoma"/>
                <a:cs typeface="Tahoma"/>
              </a:rPr>
              <a:t>procesador</a:t>
            </a:r>
            <a:r>
              <a:rPr dirty="0" sz="1500" spc="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 b="1">
                <a:solidFill>
                  <a:srgbClr val="595959"/>
                </a:solidFill>
                <a:latin typeface="Tahoma"/>
                <a:cs typeface="Tahoma"/>
              </a:rPr>
              <a:t>virtual</a:t>
            </a:r>
            <a:r>
              <a:rPr dirty="0" sz="1500" spc="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35" b="1">
                <a:solidFill>
                  <a:srgbClr val="595959"/>
                </a:solidFill>
                <a:latin typeface="Tahoma"/>
                <a:cs typeface="Tahoma"/>
              </a:rPr>
              <a:t>dedicado</a:t>
            </a:r>
            <a:r>
              <a:rPr dirty="0" sz="1500" spc="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0" b="1">
                <a:solidFill>
                  <a:srgbClr val="595959"/>
                </a:solidFill>
                <a:latin typeface="Tahoma"/>
                <a:cs typeface="Tahoma"/>
              </a:rPr>
              <a:t>(exclusivo)</a:t>
            </a:r>
            <a:r>
              <a:rPr dirty="0" sz="1500" spc="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b="1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500" spc="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b="1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500" spc="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35" b="1">
                <a:solidFill>
                  <a:srgbClr val="595959"/>
                </a:solidFill>
                <a:latin typeface="Tahoma"/>
                <a:cs typeface="Tahoma"/>
              </a:rPr>
              <a:t>velocidad</a:t>
            </a:r>
            <a:r>
              <a:rPr dirty="0" sz="1500" spc="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 b="1">
                <a:solidFill>
                  <a:srgbClr val="595959"/>
                </a:solidFill>
                <a:latin typeface="Tahoma"/>
                <a:cs typeface="Tahoma"/>
              </a:rPr>
              <a:t>variable</a:t>
            </a:r>
            <a:r>
              <a:rPr dirty="0" sz="1500" spc="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b="1">
                <a:solidFill>
                  <a:srgbClr val="595959"/>
                </a:solidFill>
                <a:latin typeface="Tahoma"/>
                <a:cs typeface="Tahoma"/>
              </a:rPr>
              <a:t>e</a:t>
            </a:r>
            <a:r>
              <a:rPr dirty="0" sz="1500" spc="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50" b="1">
                <a:solidFill>
                  <a:srgbClr val="595959"/>
                </a:solidFill>
                <a:latin typeface="Tahoma"/>
                <a:cs typeface="Tahoma"/>
              </a:rPr>
              <a:t>impredecible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Anderson-Dahlin,</a:t>
            </a:r>
            <a:r>
              <a:rPr dirty="0" sz="15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40">
                <a:solidFill>
                  <a:srgbClr val="595959"/>
                </a:solidFill>
                <a:latin typeface="Tahoma"/>
                <a:cs typeface="Tahoma"/>
              </a:rPr>
              <a:t>pag</a:t>
            </a:r>
            <a:r>
              <a:rPr dirty="0" sz="15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138.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55"/>
              <a:t>Thread</a:t>
            </a:r>
            <a:r>
              <a:rPr dirty="0" spc="-135"/>
              <a:t> </a:t>
            </a:r>
            <a:r>
              <a:rPr dirty="0" spc="70"/>
              <a:t>Scheduler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2475" y="2109990"/>
            <a:ext cx="7541259" cy="8140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Esto</a:t>
            </a:r>
            <a:r>
              <a:rPr dirty="0" sz="1500" spc="2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quiere</a:t>
            </a:r>
            <a:r>
              <a:rPr dirty="0" sz="1500" spc="2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decir</a:t>
            </a:r>
            <a:r>
              <a:rPr dirty="0" sz="1500" spc="2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500" spc="2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desde</a:t>
            </a:r>
            <a:r>
              <a:rPr dirty="0" sz="1500" spc="2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2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punto</a:t>
            </a:r>
            <a:r>
              <a:rPr dirty="0" sz="1500" spc="2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2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vista</a:t>
            </a:r>
            <a:r>
              <a:rPr dirty="0" sz="1500" spc="2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500" spc="2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r>
              <a:rPr dirty="0" sz="1500" spc="2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500" spc="2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instrucción</a:t>
            </a:r>
            <a:r>
              <a:rPr dirty="0" sz="1500" spc="2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500" spc="2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ejecuta inmediatamente</a:t>
            </a:r>
            <a:r>
              <a:rPr dirty="0" sz="15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4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5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detrás</a:t>
            </a:r>
            <a:r>
              <a:rPr dirty="0" sz="15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3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otra.</a:t>
            </a:r>
            <a:r>
              <a:rPr dirty="0" sz="15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Pero</a:t>
            </a:r>
            <a:r>
              <a:rPr dirty="0" sz="15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5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decide</a:t>
            </a:r>
            <a:r>
              <a:rPr dirty="0" sz="15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cuando</a:t>
            </a:r>
            <a:r>
              <a:rPr dirty="0" sz="15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6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5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ejecuta</a:t>
            </a:r>
            <a:r>
              <a:rPr dirty="0" sz="15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60">
                <a:solidFill>
                  <a:srgbClr val="595959"/>
                </a:solidFill>
                <a:latin typeface="Tahoma"/>
                <a:cs typeface="Tahoma"/>
              </a:rPr>
              <a:t>es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planificador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threads</a:t>
            </a:r>
            <a:r>
              <a:rPr dirty="0" sz="15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r>
              <a:rPr dirty="0" sz="15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scheduler.</a:t>
            </a:r>
            <a:r>
              <a:rPr dirty="0" sz="15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5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ejemplo: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0325" y="3183552"/>
            <a:ext cx="7343925" cy="173812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258381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55"/>
              <a:t>Thread</a:t>
            </a:r>
            <a:r>
              <a:rPr dirty="0" spc="-135"/>
              <a:t> </a:t>
            </a:r>
            <a:r>
              <a:rPr dirty="0" spc="70"/>
              <a:t>Scheduler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9375" y="2448794"/>
            <a:ext cx="79692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7070" algn="l"/>
              </a:tabLst>
            </a:pP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base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500" spc="-5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375" y="2151614"/>
            <a:ext cx="1240790" cy="814069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370"/>
              </a:spcBef>
              <a:tabLst>
                <a:tab pos="1009015" algn="l"/>
              </a:tabLst>
            </a:pP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Entonces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endParaRPr sz="1500">
              <a:latin typeface="Tahoma"/>
              <a:cs typeface="Tahoma"/>
            </a:endParaRPr>
          </a:p>
          <a:p>
            <a:pPr algn="r" marL="1044575" marR="5080" indent="27305">
              <a:lnSpc>
                <a:spcPct val="114999"/>
              </a:lnSpc>
            </a:pP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lo </a:t>
            </a:r>
            <a:r>
              <a:rPr dirty="0" sz="1500" spc="-3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375" y="2677394"/>
            <a:ext cx="1236980" cy="1076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  <a:tabLst>
                <a:tab pos="986155" algn="l"/>
              </a:tabLst>
            </a:pP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antedicho, pueden encontrar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los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siguientes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375" y="3728954"/>
            <a:ext cx="1240790" cy="551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escenarios</a:t>
            </a:r>
            <a:r>
              <a:rPr dirty="0" sz="1500" spc="48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de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ejecución: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1161" y="1729075"/>
            <a:ext cx="7388474" cy="322857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258381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55"/>
              <a:t>Thread</a:t>
            </a:r>
            <a:r>
              <a:rPr dirty="0" spc="-135"/>
              <a:t> </a:t>
            </a:r>
            <a:r>
              <a:rPr dirty="0" spc="70"/>
              <a:t>Scheduler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9375" y="2151614"/>
            <a:ext cx="1240790" cy="212852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  <a:tabLst>
                <a:tab pos="989965" algn="l"/>
              </a:tabLst>
            </a:pPr>
            <a:r>
              <a:rPr dirty="0" sz="1500" spc="25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endParaRPr sz="1500">
              <a:latin typeface="Tahoma"/>
              <a:cs typeface="Tahoma"/>
            </a:endParaRPr>
          </a:p>
          <a:p>
            <a:pPr marL="12700" marR="5080">
              <a:lnSpc>
                <a:spcPct val="114999"/>
              </a:lnSpc>
              <a:tabLst>
                <a:tab pos="913765" algn="l"/>
                <a:tab pos="1115695" algn="l"/>
              </a:tabLst>
            </a:pP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siguientes interleaves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		</a:t>
            </a:r>
            <a:r>
              <a:rPr dirty="0" sz="1500" spc="-50">
                <a:solidFill>
                  <a:srgbClr val="595959"/>
                </a:solidFill>
                <a:latin typeface="Tahoma"/>
                <a:cs typeface="Tahoma"/>
              </a:rPr>
              <a:t>o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entrelazado pueden suceder,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	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con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estos</a:t>
            </a:r>
            <a:r>
              <a:rPr dirty="0" sz="15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distintos threads</a:t>
            </a:r>
            <a:endParaRPr sz="15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0260" y="1853850"/>
            <a:ext cx="4787177" cy="2870675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258381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55"/>
              <a:t>Thread</a:t>
            </a:r>
            <a:r>
              <a:rPr dirty="0" spc="-135"/>
              <a:t> </a:t>
            </a:r>
            <a:r>
              <a:rPr dirty="0" spc="70"/>
              <a:t>Scheduler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3250" y="2171039"/>
            <a:ext cx="7541259" cy="19265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actualidad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hay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dos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formas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threads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relacionan</a:t>
            </a:r>
            <a:r>
              <a:rPr dirty="0" sz="17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entre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sí:</a:t>
            </a:r>
            <a:endParaRPr sz="1700">
              <a:latin typeface="Tahoma"/>
              <a:cs typeface="Tahoma"/>
            </a:endParaRPr>
          </a:p>
          <a:p>
            <a:pPr algn="just" marL="469900" marR="12065" indent="-359410">
              <a:lnSpc>
                <a:spcPct val="114999"/>
              </a:lnSpc>
              <a:spcBef>
                <a:spcPts val="1200"/>
              </a:spcBef>
              <a:buFont typeface="Arial MT"/>
              <a:buChar char="●"/>
              <a:tabLst>
                <a:tab pos="469900" algn="l"/>
              </a:tabLst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Multi-threading</a:t>
            </a:r>
            <a:r>
              <a:rPr dirty="0" sz="1700" spc="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Cooperativo:</a:t>
            </a:r>
            <a:r>
              <a:rPr dirty="0" sz="17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7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hay</a:t>
            </a:r>
            <a:r>
              <a:rPr dirty="0" sz="17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interrupción</a:t>
            </a:r>
            <a:r>
              <a:rPr dirty="0" sz="17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7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menos</a:t>
            </a:r>
            <a:r>
              <a:rPr dirty="0" sz="17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1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solicite.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–</a:t>
            </a:r>
            <a:r>
              <a:rPr dirty="0" sz="1700" spc="-260">
                <a:solidFill>
                  <a:srgbClr val="595959"/>
                </a:solidFill>
                <a:latin typeface="Tahoma"/>
                <a:cs typeface="Tahoma"/>
              </a:rPr>
              <a:t>&gt;</a:t>
            </a:r>
            <a:r>
              <a:rPr dirty="0" sz="1700" spc="-1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¿Problemas?</a:t>
            </a:r>
            <a:endParaRPr sz="1700">
              <a:latin typeface="Tahoma"/>
              <a:cs typeface="Tahoma"/>
            </a:endParaRPr>
          </a:p>
          <a:p>
            <a:pPr algn="just" marL="469900" marR="5080" indent="-359410">
              <a:lnSpc>
                <a:spcPct val="114999"/>
              </a:lnSpc>
              <a:buFont typeface="Arial MT"/>
              <a:buChar char="●"/>
              <a:tabLst>
                <a:tab pos="469900" algn="l"/>
              </a:tabLst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Multi-threading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Preemptivo: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700" spc="-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usado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 actualidad.</a:t>
            </a:r>
            <a:r>
              <a:rPr dirty="0" sz="1700" spc="-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Consiste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en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3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3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threads</a:t>
            </a:r>
            <a:r>
              <a:rPr dirty="0" sz="1700" spc="3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3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estado</a:t>
            </a:r>
            <a:r>
              <a:rPr dirty="0" sz="1700" spc="3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3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running</a:t>
            </a:r>
            <a:r>
              <a:rPr dirty="0" sz="1700" spc="3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700" spc="3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ser</a:t>
            </a:r>
            <a:r>
              <a:rPr dirty="0" sz="1700" spc="3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movido</a:t>
            </a:r>
            <a:r>
              <a:rPr dirty="0" sz="1700" spc="3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700" spc="3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cualquier momento.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A99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30389" y="1191259"/>
            <a:ext cx="746125" cy="46355"/>
          </a:xfrm>
          <a:custGeom>
            <a:avLst/>
            <a:gdLst/>
            <a:ahLst/>
            <a:cxnLst/>
            <a:rect l="l" t="t" r="r" b="b"/>
            <a:pathLst>
              <a:path w="746125" h="46355">
                <a:moveTo>
                  <a:pt x="745756" y="0"/>
                </a:moveTo>
                <a:lnTo>
                  <a:pt x="376008" y="0"/>
                </a:lnTo>
                <a:lnTo>
                  <a:pt x="372897" y="0"/>
                </a:lnTo>
                <a:lnTo>
                  <a:pt x="0" y="0"/>
                </a:lnTo>
                <a:lnTo>
                  <a:pt x="0" y="45834"/>
                </a:lnTo>
                <a:lnTo>
                  <a:pt x="372897" y="45834"/>
                </a:lnTo>
                <a:lnTo>
                  <a:pt x="376008" y="45834"/>
                </a:lnTo>
                <a:lnTo>
                  <a:pt x="745756" y="45834"/>
                </a:lnTo>
                <a:lnTo>
                  <a:pt x="7457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02475" y="1377186"/>
            <a:ext cx="331406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85">
                <a:solidFill>
                  <a:srgbClr val="FFFFFF"/>
                </a:solidFill>
              </a:rPr>
              <a:t>API</a:t>
            </a:r>
            <a:r>
              <a:rPr dirty="0" sz="3600" spc="-220">
                <a:solidFill>
                  <a:srgbClr val="FFFFFF"/>
                </a:solidFill>
              </a:rPr>
              <a:t> </a:t>
            </a:r>
            <a:r>
              <a:rPr dirty="0" sz="3600" spc="145">
                <a:solidFill>
                  <a:srgbClr val="FFFFFF"/>
                </a:solidFill>
              </a:rPr>
              <a:t>de</a:t>
            </a:r>
            <a:r>
              <a:rPr dirty="0" sz="3600" spc="-315">
                <a:solidFill>
                  <a:srgbClr val="FFFFFF"/>
                </a:solidFill>
              </a:rPr>
              <a:t> </a:t>
            </a:r>
            <a:r>
              <a:rPr dirty="0" sz="3600" spc="65">
                <a:solidFill>
                  <a:srgbClr val="FFFFFF"/>
                </a:solidFill>
              </a:rPr>
              <a:t>Threads</a:t>
            </a:r>
            <a:endParaRPr sz="3600"/>
          </a:p>
        </p:txBody>
      </p:sp>
      <p:sp>
        <p:nvSpPr>
          <p:cNvPr id="5" name="object 5"/>
          <p:cNvSpPr txBox="1"/>
          <p:nvPr/>
        </p:nvSpPr>
        <p:spPr>
          <a:xfrm>
            <a:off x="913550" y="3201581"/>
            <a:ext cx="409067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60" b="1">
                <a:solidFill>
                  <a:srgbClr val="FFFFFF"/>
                </a:solidFill>
                <a:latin typeface="Trebuchet MS"/>
                <a:cs typeface="Trebuchet MS"/>
              </a:rPr>
              <a:t>Conceptos</a:t>
            </a:r>
            <a:r>
              <a:rPr dirty="0" sz="1800" spc="-11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Trebuchet MS"/>
                <a:cs typeface="Trebuchet MS"/>
              </a:rPr>
              <a:t>clave: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Biblioteca</a:t>
            </a:r>
            <a:r>
              <a:rPr dirty="0" sz="1800" spc="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pthreads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Creación</a:t>
            </a:r>
            <a:r>
              <a:rPr dirty="0" sz="1800" spc="-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75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dirty="0" sz="18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terminación</a:t>
            </a:r>
            <a:r>
              <a:rPr dirty="0" sz="18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85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dirty="0" sz="1800" spc="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threads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1294130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40"/>
              <a:t>Creacion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0675" y="1911172"/>
            <a:ext cx="7277734" cy="191770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207010">
              <a:lnSpc>
                <a:spcPts val="1600"/>
              </a:lnSpc>
              <a:spcBef>
                <a:spcPts val="225"/>
              </a:spcBef>
            </a:pP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thread:</a:t>
            </a:r>
            <a:r>
              <a:rPr dirty="0" sz="14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4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4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puntero</a:t>
            </a:r>
            <a:r>
              <a:rPr dirty="0" sz="14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4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4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estructura</a:t>
            </a:r>
            <a:r>
              <a:rPr dirty="0" sz="14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tipo</a:t>
            </a:r>
            <a:r>
              <a:rPr dirty="0" sz="14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595959"/>
                </a:solidFill>
                <a:latin typeface="Tahoma"/>
                <a:cs typeface="Tahoma"/>
              </a:rPr>
              <a:t>pthread_t,</a:t>
            </a:r>
            <a:r>
              <a:rPr dirty="0" sz="14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4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4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utiliza</a:t>
            </a:r>
            <a:r>
              <a:rPr dirty="0" sz="14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4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interactuar</a:t>
            </a:r>
            <a:r>
              <a:rPr dirty="0" sz="14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4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595959"/>
                </a:solidFill>
                <a:latin typeface="Tahoma"/>
                <a:cs typeface="Tahoma"/>
              </a:rPr>
              <a:t>el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threads.</a:t>
            </a:r>
            <a:endParaRPr sz="1400">
              <a:latin typeface="Tahoma"/>
              <a:cs typeface="Tahoma"/>
            </a:endParaRPr>
          </a:p>
          <a:p>
            <a:pPr marL="12700" marR="5080">
              <a:lnSpc>
                <a:spcPts val="1600"/>
              </a:lnSpc>
              <a:spcBef>
                <a:spcPts val="1200"/>
              </a:spcBef>
            </a:pP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attr:</a:t>
            </a:r>
            <a:r>
              <a:rPr dirty="0" sz="14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4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utiliza</a:t>
            </a:r>
            <a:r>
              <a:rPr dirty="0" sz="14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4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especificar</a:t>
            </a:r>
            <a:r>
              <a:rPr dirty="0" sz="14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4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ciertos</a:t>
            </a:r>
            <a:r>
              <a:rPr dirty="0" sz="14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atributos</a:t>
            </a:r>
            <a:r>
              <a:rPr dirty="0" sz="14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4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4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r>
              <a:rPr dirty="0" sz="14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deberia</a:t>
            </a:r>
            <a:r>
              <a:rPr dirty="0" sz="14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595959"/>
                </a:solidFill>
                <a:latin typeface="Tahoma"/>
                <a:cs typeface="Tahoma"/>
              </a:rPr>
              <a:t>tener,</a:t>
            </a:r>
            <a:r>
              <a:rPr dirty="0" sz="14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4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595959"/>
                </a:solidFill>
                <a:latin typeface="Tahoma"/>
                <a:cs typeface="Tahoma"/>
              </a:rPr>
              <a:t>ejemplo,</a:t>
            </a:r>
            <a:r>
              <a:rPr dirty="0" sz="14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595959"/>
                </a:solidFill>
                <a:latin typeface="Tahoma"/>
                <a:cs typeface="Tahoma"/>
              </a:rPr>
              <a:t>el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tamaño</a:t>
            </a:r>
            <a:r>
              <a:rPr dirty="0" sz="14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4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Tahoma"/>
                <a:cs typeface="Tahoma"/>
              </a:rPr>
              <a:t>stack,</a:t>
            </a:r>
            <a:r>
              <a:rPr dirty="0" sz="14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4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4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prioridad</a:t>
            </a:r>
            <a:r>
              <a:rPr dirty="0" sz="14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scheduling</a:t>
            </a:r>
            <a:r>
              <a:rPr dirty="0" sz="14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4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thread.</a:t>
            </a:r>
            <a:r>
              <a:rPr dirty="0" sz="14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4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4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mayoria</a:t>
            </a:r>
            <a:r>
              <a:rPr dirty="0" sz="14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4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casos</a:t>
            </a:r>
            <a:r>
              <a:rPr dirty="0" sz="14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4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NULL.</a:t>
            </a:r>
            <a:endParaRPr sz="1400">
              <a:latin typeface="Tahoma"/>
              <a:cs typeface="Tahoma"/>
            </a:endParaRPr>
          </a:p>
          <a:p>
            <a:pPr marL="12700" marR="290830">
              <a:lnSpc>
                <a:spcPts val="1600"/>
              </a:lnSpc>
              <a:spcBef>
                <a:spcPts val="1205"/>
              </a:spcBef>
            </a:pP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start_routine:</a:t>
            </a:r>
            <a:r>
              <a:rPr dirty="0" sz="14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595959"/>
                </a:solidFill>
                <a:latin typeface="Tahoma"/>
                <a:cs typeface="Tahoma"/>
              </a:rPr>
              <a:t>Sea</a:t>
            </a:r>
            <a:r>
              <a:rPr dirty="0" sz="14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tal</a:t>
            </a:r>
            <a:r>
              <a:rPr dirty="0" sz="14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vez</a:t>
            </a:r>
            <a:r>
              <a:rPr dirty="0" sz="14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4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argumento</a:t>
            </a:r>
            <a:r>
              <a:rPr dirty="0" sz="14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4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Tahoma"/>
                <a:cs typeface="Tahoma"/>
              </a:rPr>
              <a:t>complejo,</a:t>
            </a:r>
            <a:r>
              <a:rPr dirty="0" sz="14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pero</a:t>
            </a:r>
            <a:r>
              <a:rPr dirty="0" sz="14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4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4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4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4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4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puntero</a:t>
            </a:r>
            <a:r>
              <a:rPr dirty="0" sz="14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4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595959"/>
                </a:solidFill>
                <a:latin typeface="Tahoma"/>
                <a:cs typeface="Tahoma"/>
              </a:rPr>
              <a:t>una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función,</a:t>
            </a:r>
            <a:r>
              <a:rPr dirty="0" sz="14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4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4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caso</a:t>
            </a:r>
            <a:r>
              <a:rPr dirty="0" sz="14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4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devuelve</a:t>
            </a:r>
            <a:r>
              <a:rPr dirty="0" sz="14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void.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dirty="0" sz="1400" spc="-50">
                <a:solidFill>
                  <a:srgbClr val="595959"/>
                </a:solidFill>
                <a:latin typeface="Tahoma"/>
                <a:cs typeface="Tahoma"/>
              </a:rPr>
              <a:t>arg:</a:t>
            </a:r>
            <a:r>
              <a:rPr dirty="0" sz="14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4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4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puntero</a:t>
            </a:r>
            <a:r>
              <a:rPr dirty="0" sz="14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4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void</a:t>
            </a:r>
            <a:r>
              <a:rPr dirty="0" sz="14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4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debe</a:t>
            </a:r>
            <a:r>
              <a:rPr dirty="0" sz="14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apuntar</a:t>
            </a:r>
            <a:r>
              <a:rPr dirty="0" sz="14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4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4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argumentos</a:t>
            </a:r>
            <a:r>
              <a:rPr dirty="0" sz="14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4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función.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7650" y="3923350"/>
            <a:ext cx="7688700" cy="1048458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Terminación</a:t>
            </a:r>
            <a:r>
              <a:rPr dirty="0" spc="-70"/>
              <a:t> </a:t>
            </a:r>
            <a:r>
              <a:rPr dirty="0" spc="114"/>
              <a:t>de</a:t>
            </a:r>
            <a:r>
              <a:rPr dirty="0" spc="-70"/>
              <a:t> </a:t>
            </a:r>
            <a:r>
              <a:rPr dirty="0" spc="50"/>
              <a:t>un</a:t>
            </a:r>
            <a:r>
              <a:rPr dirty="0" spc="-65"/>
              <a:t> </a:t>
            </a:r>
            <a:r>
              <a:rPr dirty="0" spc="-10"/>
              <a:t>thread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2475" y="2115578"/>
            <a:ext cx="7450455" cy="1069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Muchas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veces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necesario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esperar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determinado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finalice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ejecución,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ello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utiliza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función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5">
                <a:solidFill>
                  <a:srgbClr val="595959"/>
                </a:solidFill>
                <a:latin typeface="Tahoma"/>
                <a:cs typeface="Tahoma"/>
              </a:rPr>
              <a:t>pthread_join(),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toma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dos</a:t>
            </a:r>
            <a:r>
              <a:rPr dirty="0" sz="13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argumento</a:t>
            </a:r>
            <a:endParaRPr sz="1300">
              <a:latin typeface="Tahoma"/>
              <a:cs typeface="Tahoma"/>
            </a:endParaRPr>
          </a:p>
          <a:p>
            <a:pPr marL="469265" indent="-358775">
              <a:lnSpc>
                <a:spcPct val="100000"/>
              </a:lnSpc>
              <a:spcBef>
                <a:spcPts val="1430"/>
              </a:spcBef>
              <a:buAutoNum type="arabicPeriod"/>
              <a:tabLst>
                <a:tab pos="469265" algn="l"/>
              </a:tabLst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hay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esperar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tipo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pthread_t.</a:t>
            </a:r>
            <a:endParaRPr sz="1300">
              <a:latin typeface="Tahoma"/>
              <a:cs typeface="Tahoma"/>
            </a:endParaRPr>
          </a:p>
          <a:p>
            <a:pPr marL="469265" indent="-358775">
              <a:lnSpc>
                <a:spcPct val="100000"/>
              </a:lnSpc>
              <a:spcBef>
                <a:spcPts val="80"/>
              </a:spcBef>
              <a:buAutoNum type="arabicPeriod"/>
              <a:tabLst>
                <a:tab pos="469265" algn="l"/>
              </a:tabLst>
            </a:pP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value_ptr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puntero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valor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esperado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retorno.</a:t>
            </a:r>
            <a:endParaRPr sz="13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5800" y="3619050"/>
            <a:ext cx="7928888" cy="535199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6499" y="0"/>
            <a:ext cx="4835649" cy="5143499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6804659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50"/>
              <a:t>Tabla</a:t>
            </a:r>
            <a:r>
              <a:rPr dirty="0" spc="-125"/>
              <a:t> </a:t>
            </a:r>
            <a:r>
              <a:rPr dirty="0" spc="114"/>
              <a:t>de</a:t>
            </a:r>
            <a:r>
              <a:rPr dirty="0" spc="-125"/>
              <a:t> </a:t>
            </a:r>
            <a:r>
              <a:rPr dirty="0" spc="55"/>
              <a:t>equivalencia</a:t>
            </a:r>
            <a:r>
              <a:rPr dirty="0" spc="-120"/>
              <a:t> </a:t>
            </a:r>
            <a:r>
              <a:rPr dirty="0"/>
              <a:t>entre</a:t>
            </a:r>
            <a:r>
              <a:rPr dirty="0" spc="-125"/>
              <a:t> </a:t>
            </a:r>
            <a:r>
              <a:rPr dirty="0" spc="95"/>
              <a:t>procesos</a:t>
            </a:r>
            <a:r>
              <a:rPr dirty="0" spc="-185"/>
              <a:t> </a:t>
            </a:r>
            <a:r>
              <a:rPr dirty="0" spc="60"/>
              <a:t>y</a:t>
            </a:r>
            <a:r>
              <a:rPr dirty="0" spc="-175"/>
              <a:t> </a:t>
            </a:r>
            <a:r>
              <a:rPr dirty="0" spc="-10"/>
              <a:t>threads: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725" y="1911102"/>
            <a:ext cx="8414550" cy="2955523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A99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30389" y="1191259"/>
            <a:ext cx="746125" cy="46355"/>
          </a:xfrm>
          <a:custGeom>
            <a:avLst/>
            <a:gdLst/>
            <a:ahLst/>
            <a:cxnLst/>
            <a:rect l="l" t="t" r="r" b="b"/>
            <a:pathLst>
              <a:path w="746125" h="46355">
                <a:moveTo>
                  <a:pt x="745756" y="0"/>
                </a:moveTo>
                <a:lnTo>
                  <a:pt x="376008" y="0"/>
                </a:lnTo>
                <a:lnTo>
                  <a:pt x="372897" y="0"/>
                </a:lnTo>
                <a:lnTo>
                  <a:pt x="0" y="0"/>
                </a:lnTo>
                <a:lnTo>
                  <a:pt x="0" y="45834"/>
                </a:lnTo>
                <a:lnTo>
                  <a:pt x="372897" y="45834"/>
                </a:lnTo>
                <a:lnTo>
                  <a:pt x="376008" y="45834"/>
                </a:lnTo>
                <a:lnTo>
                  <a:pt x="745756" y="45834"/>
                </a:lnTo>
                <a:lnTo>
                  <a:pt x="7457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02475" y="1377186"/>
            <a:ext cx="562991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FFFFFF"/>
                </a:solidFill>
              </a:rPr>
              <a:t>Threads:</a:t>
            </a:r>
            <a:r>
              <a:rPr dirty="0" sz="3600" spc="-190">
                <a:solidFill>
                  <a:srgbClr val="FFFFFF"/>
                </a:solidFill>
              </a:rPr>
              <a:t> </a:t>
            </a:r>
            <a:r>
              <a:rPr dirty="0" sz="3600" spc="55">
                <a:solidFill>
                  <a:srgbClr val="FFFFFF"/>
                </a:solidFill>
              </a:rPr>
              <a:t>implementación</a:t>
            </a:r>
            <a:endParaRPr sz="3600"/>
          </a:p>
        </p:txBody>
      </p:sp>
      <p:sp>
        <p:nvSpPr>
          <p:cNvPr id="5" name="object 5"/>
          <p:cNvSpPr txBox="1"/>
          <p:nvPr/>
        </p:nvSpPr>
        <p:spPr>
          <a:xfrm>
            <a:off x="913550" y="3201581"/>
            <a:ext cx="4758690" cy="167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60" b="1">
                <a:solidFill>
                  <a:srgbClr val="FFFFFF"/>
                </a:solidFill>
                <a:latin typeface="Trebuchet MS"/>
                <a:cs typeface="Trebuchet MS"/>
              </a:rPr>
              <a:t>Conceptos</a:t>
            </a:r>
            <a:r>
              <a:rPr dirty="0" sz="1800" spc="-11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Trebuchet MS"/>
                <a:cs typeface="Trebuchet MS"/>
              </a:rPr>
              <a:t>clave: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Estructuras</a:t>
            </a:r>
            <a:r>
              <a:rPr dirty="0" sz="1800" spc="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FFFFFF"/>
                </a:solidFill>
                <a:latin typeface="Trebuchet MS"/>
                <a:cs typeface="Trebuchet MS"/>
              </a:rPr>
              <a:t>del</a:t>
            </a:r>
            <a:r>
              <a:rPr dirty="0" sz="1800" spc="-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175">
                <a:solidFill>
                  <a:srgbClr val="FFFFFF"/>
                </a:solidFill>
                <a:latin typeface="Trebuchet MS"/>
                <a:cs typeface="Trebuchet MS"/>
              </a:rPr>
              <a:t>SO</a:t>
            </a:r>
            <a:r>
              <a:rPr dirty="0" sz="1800" spc="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para</a:t>
            </a:r>
            <a:r>
              <a:rPr dirty="0" sz="1800" spc="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soportar</a:t>
            </a:r>
            <a:r>
              <a:rPr dirty="0" sz="1800" spc="-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threads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65">
                <a:solidFill>
                  <a:srgbClr val="FFFFFF"/>
                </a:solidFill>
                <a:latin typeface="Trebuchet MS"/>
                <a:cs typeface="Trebuchet MS"/>
              </a:rPr>
              <a:t>Estados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10">
                <a:solidFill>
                  <a:srgbClr val="FFFFFF"/>
                </a:solidFill>
                <a:latin typeface="Trebuchet MS"/>
                <a:cs typeface="Trebuchet MS"/>
              </a:rPr>
              <a:t>Implementación</a:t>
            </a:r>
            <a:r>
              <a:rPr dirty="0" sz="1800" spc="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55">
                <a:solidFill>
                  <a:srgbClr val="FFFFFF"/>
                </a:solidFill>
                <a:latin typeface="Trebuchet MS"/>
                <a:cs typeface="Trebuchet MS"/>
              </a:rPr>
              <a:t>en</a:t>
            </a:r>
            <a:r>
              <a:rPr dirty="0" sz="1800" spc="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Linux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clone,</a:t>
            </a:r>
            <a:r>
              <a:rPr dirty="0" sz="1800" spc="-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fork</a:t>
            </a:r>
            <a:r>
              <a:rPr dirty="0" sz="1800" spc="-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75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dirty="0" sz="1800" spc="-1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vfork</a:t>
            </a:r>
            <a:endParaRPr sz="1800">
              <a:latin typeface="Trebuchet MS"/>
              <a:cs typeface="Trebuchet MS"/>
            </a:endParaRPr>
          </a:p>
          <a:p>
            <a:pPr marL="469265" indent="-36639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800" spc="100">
                <a:solidFill>
                  <a:srgbClr val="FFFFFF"/>
                </a:solidFill>
                <a:latin typeface="Trebuchet MS"/>
                <a:cs typeface="Trebuchet MS"/>
              </a:rPr>
              <a:t>Copy</a:t>
            </a:r>
            <a:r>
              <a:rPr dirty="0" sz="1800" spc="-13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75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dirty="0" sz="1800" spc="-1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Trebuchet MS"/>
                <a:cs typeface="Trebuchet MS"/>
              </a:rPr>
              <a:t>Write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2821940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Threads:</a:t>
            </a:r>
            <a:r>
              <a:rPr dirty="0" spc="75"/>
              <a:t> </a:t>
            </a:r>
            <a:r>
              <a:rPr dirty="0" spc="-10"/>
              <a:t>Estructura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2475" y="2135136"/>
            <a:ext cx="7488555" cy="286004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>
              <a:lnSpc>
                <a:spcPts val="1710"/>
              </a:lnSpc>
              <a:spcBef>
                <a:spcPts val="229"/>
              </a:spcBef>
            </a:pP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ha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visto,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representación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secuencia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ejecución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un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conjunto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instrucciones.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75">
                <a:solidFill>
                  <a:srgbClr val="595959"/>
                </a:solidFill>
                <a:latin typeface="Tahoma"/>
                <a:cs typeface="Tahoma"/>
              </a:rPr>
              <a:t>S.O.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provee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ilusión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uno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estos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threads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se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ejecutan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propio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procesador,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haciendo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forma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transparente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ejecuten</a:t>
            </a:r>
            <a:r>
              <a:rPr dirty="0" sz="15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5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paren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5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ejecución.</a:t>
            </a:r>
            <a:endParaRPr sz="1500">
              <a:latin typeface="Tahoma"/>
              <a:cs typeface="Tahoma"/>
            </a:endParaRPr>
          </a:p>
          <a:p>
            <a:pPr algn="just" marL="12700" marR="14604">
              <a:lnSpc>
                <a:spcPts val="1710"/>
              </a:lnSpc>
              <a:spcBef>
                <a:spcPts val="1710"/>
              </a:spcBef>
            </a:pPr>
            <a:r>
              <a:rPr dirty="0" sz="1500" spc="5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5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5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5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5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15">
                <a:solidFill>
                  <a:srgbClr val="595959"/>
                </a:solidFill>
                <a:latin typeface="Tahoma"/>
                <a:cs typeface="Tahoma"/>
              </a:rPr>
              <a:t>ilusión</a:t>
            </a:r>
            <a:r>
              <a:rPr dirty="0" sz="15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sea</a:t>
            </a:r>
            <a:r>
              <a:rPr dirty="0" sz="15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5">
                <a:solidFill>
                  <a:srgbClr val="595959"/>
                </a:solidFill>
                <a:latin typeface="Tahoma"/>
                <a:cs typeface="Tahoma"/>
              </a:rPr>
              <a:t>creíble,</a:t>
            </a:r>
            <a:r>
              <a:rPr dirty="0" sz="15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2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5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15">
                <a:solidFill>
                  <a:srgbClr val="595959"/>
                </a:solidFill>
                <a:latin typeface="Tahoma"/>
                <a:cs typeface="Tahoma"/>
              </a:rPr>
              <a:t>operativo</a:t>
            </a:r>
            <a:r>
              <a:rPr dirty="0" sz="15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debe</a:t>
            </a:r>
            <a:r>
              <a:rPr dirty="0" sz="15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guardar</a:t>
            </a:r>
            <a:r>
              <a:rPr dirty="0" sz="15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15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5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cargar</a:t>
            </a:r>
            <a:r>
              <a:rPr dirty="0" sz="15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2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estado</a:t>
            </a:r>
            <a:r>
              <a:rPr dirty="0" sz="15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5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4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500" spc="-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thread.</a:t>
            </a:r>
            <a:r>
              <a:rPr dirty="0" sz="15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25">
                <a:solidFill>
                  <a:srgbClr val="595959"/>
                </a:solidFill>
                <a:latin typeface="Tahoma"/>
                <a:cs typeface="Tahoma"/>
              </a:rPr>
              <a:t>Como</a:t>
            </a:r>
            <a:r>
              <a:rPr dirty="0" sz="15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10">
                <a:solidFill>
                  <a:srgbClr val="595959"/>
                </a:solidFill>
                <a:latin typeface="Tahoma"/>
                <a:cs typeface="Tahoma"/>
              </a:rPr>
              <a:t>cualquier</a:t>
            </a:r>
            <a:r>
              <a:rPr dirty="0" sz="15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10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r>
              <a:rPr dirty="0" sz="15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5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35">
                <a:solidFill>
                  <a:srgbClr val="595959"/>
                </a:solidFill>
                <a:latin typeface="Tahoma"/>
                <a:cs typeface="Tahoma"/>
              </a:rPr>
              <a:t>correr</a:t>
            </a:r>
            <a:r>
              <a:rPr dirty="0" sz="15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5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2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10">
                <a:solidFill>
                  <a:srgbClr val="595959"/>
                </a:solidFill>
                <a:latin typeface="Tahoma"/>
                <a:cs typeface="Tahoma"/>
              </a:rPr>
              <a:t>procesador</a:t>
            </a:r>
            <a:r>
              <a:rPr dirty="0" sz="15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15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5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5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2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kernel,</a:t>
            </a:r>
            <a:r>
              <a:rPr dirty="0" sz="15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5">
                <a:solidFill>
                  <a:srgbClr val="595959"/>
                </a:solidFill>
                <a:latin typeface="Tahoma"/>
                <a:cs typeface="Tahoma"/>
              </a:rPr>
              <a:t>también</a:t>
            </a:r>
            <a:r>
              <a:rPr dirty="0" sz="15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debe </a:t>
            </a:r>
            <a:r>
              <a:rPr dirty="0" sz="1500" spc="5">
                <a:solidFill>
                  <a:srgbClr val="595959"/>
                </a:solidFill>
                <a:latin typeface="Tahoma"/>
                <a:cs typeface="Tahoma"/>
              </a:rPr>
              <a:t>haber</a:t>
            </a:r>
            <a:r>
              <a:rPr dirty="0" sz="15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estados</a:t>
            </a:r>
            <a:r>
              <a:rPr dirty="0" sz="15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compartidos,</a:t>
            </a:r>
            <a:r>
              <a:rPr dirty="0" sz="15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5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5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5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5">
                <a:solidFill>
                  <a:srgbClr val="595959"/>
                </a:solidFill>
                <a:latin typeface="Tahoma"/>
                <a:cs typeface="Tahoma"/>
              </a:rPr>
              <a:t>deberían</a:t>
            </a:r>
            <a:r>
              <a:rPr dirty="0" sz="15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5">
                <a:solidFill>
                  <a:srgbClr val="595959"/>
                </a:solidFill>
                <a:latin typeface="Tahoma"/>
                <a:cs typeface="Tahoma"/>
              </a:rPr>
              <a:t>cambiar</a:t>
            </a:r>
            <a:r>
              <a:rPr dirty="0" sz="15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20">
                <a:solidFill>
                  <a:srgbClr val="595959"/>
                </a:solidFill>
                <a:latin typeface="Tahoma"/>
                <a:cs typeface="Tahoma"/>
              </a:rPr>
              <a:t>entre</a:t>
            </a:r>
            <a:r>
              <a:rPr dirty="0" sz="15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1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5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5">
                <a:solidFill>
                  <a:srgbClr val="595959"/>
                </a:solidFill>
                <a:latin typeface="Tahoma"/>
                <a:cs typeface="Tahoma"/>
              </a:rPr>
              <a:t>modos.</a:t>
            </a:r>
            <a:endParaRPr sz="1500">
              <a:latin typeface="Tahoma"/>
              <a:cs typeface="Tahoma"/>
            </a:endParaRPr>
          </a:p>
          <a:p>
            <a:pPr algn="just" marL="12700">
              <a:lnSpc>
                <a:spcPct val="100000"/>
              </a:lnSpc>
              <a:spcBef>
                <a:spcPts val="1580"/>
              </a:spcBef>
            </a:pP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poder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entender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abstracción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595959"/>
                </a:solidFill>
                <a:latin typeface="Tahoma"/>
                <a:cs typeface="Tahoma"/>
              </a:rPr>
              <a:t>hay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comprender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5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existen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dos</a:t>
            </a:r>
            <a:r>
              <a:rPr dirty="0" sz="15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estados:</a:t>
            </a:r>
            <a:endParaRPr sz="1500">
              <a:latin typeface="Tahoma"/>
              <a:cs typeface="Tahoma"/>
            </a:endParaRPr>
          </a:p>
          <a:p>
            <a:pPr marL="469900">
              <a:lnSpc>
                <a:spcPts val="1755"/>
              </a:lnSpc>
              <a:spcBef>
                <a:spcPts val="1620"/>
              </a:spcBef>
            </a:pP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estado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per</a:t>
            </a:r>
            <a:r>
              <a:rPr dirty="0" sz="15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thread.</a:t>
            </a:r>
            <a:endParaRPr sz="1500">
              <a:latin typeface="Tahoma"/>
              <a:cs typeface="Tahoma"/>
            </a:endParaRPr>
          </a:p>
          <a:p>
            <a:pPr marL="469900">
              <a:lnSpc>
                <a:spcPts val="1755"/>
              </a:lnSpc>
            </a:pP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5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estado</a:t>
            </a:r>
            <a:r>
              <a:rPr dirty="0" sz="15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compartido</a:t>
            </a:r>
            <a:r>
              <a:rPr dirty="0" sz="15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entre</a:t>
            </a:r>
            <a:r>
              <a:rPr dirty="0" sz="15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>
                <a:solidFill>
                  <a:srgbClr val="595959"/>
                </a:solidFill>
                <a:latin typeface="Tahoma"/>
                <a:cs typeface="Tahoma"/>
              </a:rPr>
              <a:t>varios</a:t>
            </a:r>
            <a:r>
              <a:rPr dirty="0" sz="15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595959"/>
                </a:solidFill>
                <a:latin typeface="Tahoma"/>
                <a:cs typeface="Tahoma"/>
              </a:rPr>
              <a:t>threads.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5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75"/>
              <a:t>El</a:t>
            </a:r>
            <a:r>
              <a:rPr dirty="0" spc="-185"/>
              <a:t> </a:t>
            </a:r>
            <a:r>
              <a:rPr dirty="0" spc="105"/>
              <a:t>Estado</a:t>
            </a:r>
            <a:r>
              <a:rPr dirty="0" spc="-125"/>
              <a:t> </a:t>
            </a:r>
            <a:r>
              <a:rPr dirty="0"/>
              <a:t>Per-</a:t>
            </a:r>
            <a:r>
              <a:rPr dirty="0" spc="65"/>
              <a:t>thread</a:t>
            </a:r>
            <a:r>
              <a:rPr dirty="0" spc="-180"/>
              <a:t> </a:t>
            </a:r>
            <a:r>
              <a:rPr dirty="0" spc="60"/>
              <a:t>y</a:t>
            </a:r>
            <a:r>
              <a:rPr dirty="0" spc="-245"/>
              <a:t> </a:t>
            </a:r>
            <a:r>
              <a:rPr dirty="0" spc="65"/>
              <a:t>Threads</a:t>
            </a:r>
            <a:r>
              <a:rPr dirty="0" spc="-125"/>
              <a:t> </a:t>
            </a:r>
            <a:r>
              <a:rPr dirty="0" spc="50"/>
              <a:t>Control</a:t>
            </a:r>
            <a:r>
              <a:rPr dirty="0" spc="-180"/>
              <a:t> </a:t>
            </a:r>
            <a:r>
              <a:rPr dirty="0" spc="114"/>
              <a:t>Block</a:t>
            </a:r>
            <a:r>
              <a:rPr dirty="0" spc="-125"/>
              <a:t> </a:t>
            </a:r>
            <a:r>
              <a:rPr dirty="0" spc="-10"/>
              <a:t>(TCB)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0675" y="1626013"/>
            <a:ext cx="7345680" cy="263906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1610"/>
              </a:lnSpc>
              <a:spcBef>
                <a:spcPts val="225"/>
              </a:spcBef>
            </a:pP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4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r>
              <a:rPr dirty="0" sz="14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debe</a:t>
            </a:r>
            <a:r>
              <a:rPr dirty="0" sz="14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tener</a:t>
            </a:r>
            <a:r>
              <a:rPr dirty="0" sz="14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4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estructura</a:t>
            </a:r>
            <a:r>
              <a:rPr dirty="0" sz="14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4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represente</a:t>
            </a:r>
            <a:r>
              <a:rPr dirty="0" sz="14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4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Tahoma"/>
                <a:cs typeface="Tahoma"/>
              </a:rPr>
              <a:t>estado.</a:t>
            </a:r>
            <a:r>
              <a:rPr dirty="0" sz="14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Esta</a:t>
            </a:r>
            <a:r>
              <a:rPr dirty="0" sz="1400" spc="-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estructura</a:t>
            </a:r>
            <a:r>
              <a:rPr dirty="0" sz="14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4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denomina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r>
              <a:rPr dirty="0" sz="14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50">
                <a:solidFill>
                  <a:srgbClr val="595959"/>
                </a:solidFill>
                <a:latin typeface="Tahoma"/>
                <a:cs typeface="Tahoma"/>
              </a:rPr>
              <a:t>Control</a:t>
            </a:r>
            <a:r>
              <a:rPr dirty="0" sz="14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Block</a:t>
            </a:r>
            <a:r>
              <a:rPr dirty="0" sz="14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595959"/>
                </a:solidFill>
                <a:latin typeface="Tahoma"/>
                <a:cs typeface="Tahoma"/>
              </a:rPr>
              <a:t>(TCB),</a:t>
            </a:r>
            <a:r>
              <a:rPr dirty="0" sz="14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4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crea</a:t>
            </a:r>
            <a:r>
              <a:rPr dirty="0" sz="14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4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entrada</a:t>
            </a:r>
            <a:r>
              <a:rPr dirty="0" sz="14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4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4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thread.</a:t>
            </a:r>
            <a:r>
              <a:rPr dirty="0" sz="14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4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50">
                <a:solidFill>
                  <a:srgbClr val="595959"/>
                </a:solidFill>
                <a:latin typeface="Tahoma"/>
                <a:cs typeface="Tahoma"/>
              </a:rPr>
              <a:t>TCB</a:t>
            </a:r>
            <a:r>
              <a:rPr dirty="0" sz="14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almacena</a:t>
            </a:r>
            <a:r>
              <a:rPr dirty="0" sz="14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4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estado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per-thread</a:t>
            </a:r>
            <a:r>
              <a:rPr dirty="0" sz="14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4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thread: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4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estado</a:t>
            </a:r>
            <a:r>
              <a:rPr dirty="0" sz="14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4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Cómputo</a:t>
            </a:r>
            <a:r>
              <a:rPr dirty="0" sz="14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4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debe</a:t>
            </a:r>
            <a:r>
              <a:rPr dirty="0" sz="14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ser</a:t>
            </a:r>
            <a:r>
              <a:rPr dirty="0" sz="14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realizado</a:t>
            </a:r>
            <a:r>
              <a:rPr dirty="0" sz="14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4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4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thread.</a:t>
            </a:r>
            <a:endParaRPr sz="1400">
              <a:latin typeface="Tahoma"/>
              <a:cs typeface="Tahoma"/>
            </a:endParaRPr>
          </a:p>
          <a:p>
            <a:pPr marL="12700" marR="40640">
              <a:lnSpc>
                <a:spcPts val="1610"/>
              </a:lnSpc>
              <a:spcBef>
                <a:spcPts val="1245"/>
              </a:spcBef>
            </a:pP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4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poder</a:t>
            </a:r>
            <a:r>
              <a:rPr dirty="0" sz="14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crear</a:t>
            </a:r>
            <a:r>
              <a:rPr dirty="0" sz="14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múltiples</a:t>
            </a:r>
            <a:r>
              <a:rPr dirty="0" sz="14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threads</a:t>
            </a:r>
            <a:r>
              <a:rPr dirty="0" sz="14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4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pararlos</a:t>
            </a:r>
            <a:r>
              <a:rPr dirty="0" sz="14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4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arrancarlos,</a:t>
            </a:r>
            <a:r>
              <a:rPr dirty="0" sz="14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4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65">
                <a:solidFill>
                  <a:srgbClr val="595959"/>
                </a:solidFill>
                <a:latin typeface="Tahoma"/>
                <a:cs typeface="Tahoma"/>
              </a:rPr>
              <a:t>S.O.</a:t>
            </a:r>
            <a:r>
              <a:rPr dirty="0" sz="14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debe</a:t>
            </a:r>
            <a:r>
              <a:rPr dirty="0" sz="14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poder</a:t>
            </a:r>
            <a:r>
              <a:rPr dirty="0" sz="14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almacenar</a:t>
            </a:r>
            <a:r>
              <a:rPr dirty="0" sz="14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4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595959"/>
                </a:solidFill>
                <a:latin typeface="Tahoma"/>
                <a:cs typeface="Tahoma"/>
              </a:rPr>
              <a:t>la </a:t>
            </a:r>
            <a:r>
              <a:rPr dirty="0" sz="1400" spc="50">
                <a:solidFill>
                  <a:srgbClr val="595959"/>
                </a:solidFill>
                <a:latin typeface="Tahoma"/>
                <a:cs typeface="Tahoma"/>
              </a:rPr>
              <a:t>TCB</a:t>
            </a:r>
            <a:r>
              <a:rPr dirty="0" sz="14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4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estado</a:t>
            </a:r>
            <a:r>
              <a:rPr dirty="0" sz="14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actual</a:t>
            </a:r>
            <a:r>
              <a:rPr dirty="0" sz="14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4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bloque</a:t>
            </a:r>
            <a:r>
              <a:rPr dirty="0" sz="14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ejecución: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14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4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puntero</a:t>
            </a:r>
            <a:r>
              <a:rPr dirty="0" sz="14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4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stack</a:t>
            </a:r>
            <a:r>
              <a:rPr dirty="0" sz="14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4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thread.</a:t>
            </a:r>
            <a:endParaRPr sz="14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1130"/>
              </a:spcBef>
            </a:pP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4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copia</a:t>
            </a:r>
            <a:r>
              <a:rPr dirty="0" sz="14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4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sus</a:t>
            </a:r>
            <a:r>
              <a:rPr dirty="0" sz="14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registros</a:t>
            </a:r>
            <a:r>
              <a:rPr dirty="0" sz="14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4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4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Tahoma"/>
                <a:cs typeface="Tahoma"/>
              </a:rPr>
              <a:t>procesador.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2932430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95"/>
              <a:t>Metadata</a:t>
            </a:r>
            <a:r>
              <a:rPr dirty="0" spc="-125"/>
              <a:t> </a:t>
            </a:r>
            <a:r>
              <a:rPr dirty="0" spc="100"/>
              <a:t>del</a:t>
            </a:r>
            <a:r>
              <a:rPr dirty="0" spc="-185"/>
              <a:t> </a:t>
            </a:r>
            <a:r>
              <a:rPr dirty="0" spc="-10"/>
              <a:t>thread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2475" y="1993437"/>
            <a:ext cx="7014209" cy="1317625"/>
          </a:xfrm>
          <a:prstGeom prst="rect">
            <a:avLst/>
          </a:prstGeom>
        </p:spPr>
        <p:txBody>
          <a:bodyPr wrap="square" lIns="0" tIns="1524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700" spc="55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cada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debe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guardar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determinada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información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sobre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mismo:</a:t>
            </a:r>
            <a:endParaRPr sz="1700">
              <a:latin typeface="Tahoma"/>
              <a:cs typeface="Tahoma"/>
            </a:endParaRPr>
          </a:p>
          <a:p>
            <a:pPr marL="469265" indent="-358775">
              <a:lnSpc>
                <a:spcPts val="1989"/>
              </a:lnSpc>
              <a:spcBef>
                <a:spcPts val="110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ID</a:t>
            </a:r>
            <a:endParaRPr sz="1700">
              <a:latin typeface="Tahoma"/>
              <a:cs typeface="Tahoma"/>
            </a:endParaRPr>
          </a:p>
          <a:p>
            <a:pPr marL="469265" indent="-358775">
              <a:lnSpc>
                <a:spcPts val="1945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Prioridad</a:t>
            </a:r>
            <a:r>
              <a:rPr dirty="0" sz="17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scheduling</a:t>
            </a:r>
            <a:endParaRPr sz="1700">
              <a:latin typeface="Tahoma"/>
              <a:cs typeface="Tahoma"/>
            </a:endParaRPr>
          </a:p>
          <a:p>
            <a:pPr marL="469265" indent="-358775">
              <a:lnSpc>
                <a:spcPts val="1989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Status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2932430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95"/>
              <a:t>Metadata</a:t>
            </a:r>
            <a:r>
              <a:rPr dirty="0" spc="-125"/>
              <a:t> </a:t>
            </a:r>
            <a:r>
              <a:rPr dirty="0" spc="100"/>
              <a:t>del</a:t>
            </a:r>
            <a:r>
              <a:rPr dirty="0" spc="-185"/>
              <a:t> </a:t>
            </a:r>
            <a:r>
              <a:rPr dirty="0" spc="-10"/>
              <a:t>thread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2475" y="2132845"/>
            <a:ext cx="3099435" cy="231838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2700" marR="5080">
              <a:lnSpc>
                <a:spcPts val="1939"/>
              </a:lnSpc>
              <a:spcBef>
                <a:spcPts val="250"/>
              </a:spcBef>
            </a:pPr>
            <a:r>
              <a:rPr dirty="0" sz="1700" spc="6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forma</a:t>
            </a:r>
            <a:r>
              <a:rPr dirty="0" sz="17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contraria</a:t>
            </a:r>
            <a:r>
              <a:rPr dirty="0" sz="17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7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per-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thread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state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debe</a:t>
            </a:r>
            <a:r>
              <a:rPr dirty="0" sz="1700" spc="-1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guardar</a:t>
            </a:r>
            <a:r>
              <a:rPr dirty="0" sz="17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cierta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información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7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compartida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7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varios</a:t>
            </a:r>
            <a:r>
              <a:rPr dirty="0" sz="17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Threads: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700">
              <a:latin typeface="Tahoma"/>
              <a:cs typeface="Tahoma"/>
            </a:endParaRPr>
          </a:p>
          <a:p>
            <a:pPr marL="469265" indent="-358775">
              <a:lnSpc>
                <a:spcPts val="1989"/>
              </a:lnSpc>
              <a:spcBef>
                <a:spcPts val="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Código</a:t>
            </a:r>
            <a:endParaRPr sz="1700">
              <a:latin typeface="Tahoma"/>
              <a:cs typeface="Tahoma"/>
            </a:endParaRPr>
          </a:p>
          <a:p>
            <a:pPr marL="469265" indent="-358775">
              <a:lnSpc>
                <a:spcPts val="1945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Variables</a:t>
            </a:r>
            <a:r>
              <a:rPr dirty="0" sz="17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Globales</a:t>
            </a:r>
            <a:endParaRPr sz="1700">
              <a:latin typeface="Tahoma"/>
              <a:cs typeface="Tahoma"/>
            </a:endParaRPr>
          </a:p>
          <a:p>
            <a:pPr marL="469265" indent="-358775">
              <a:lnSpc>
                <a:spcPts val="1989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Variables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Heap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1839" y="1912520"/>
            <a:ext cx="3848969" cy="2952012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3363595" cy="73914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90"/>
              </a:spcBef>
            </a:pPr>
            <a:r>
              <a:rPr dirty="0" spc="80"/>
              <a:t>Memoria</a:t>
            </a:r>
            <a:r>
              <a:rPr dirty="0" spc="-125"/>
              <a:t> </a:t>
            </a:r>
            <a:r>
              <a:rPr dirty="0" spc="50"/>
              <a:t>en</a:t>
            </a:r>
            <a:r>
              <a:rPr dirty="0" spc="-120"/>
              <a:t> </a:t>
            </a:r>
            <a:r>
              <a:rPr dirty="0" spc="50"/>
              <a:t>un</a:t>
            </a:r>
            <a:r>
              <a:rPr dirty="0" spc="-125"/>
              <a:t> </a:t>
            </a:r>
            <a:r>
              <a:rPr dirty="0" spc="75"/>
              <a:t>proceso </a:t>
            </a:r>
            <a:r>
              <a:rPr dirty="0" spc="-10"/>
              <a:t>multithread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1" y="628731"/>
            <a:ext cx="4533325" cy="4438568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115379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95"/>
              <a:t>Estados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9512" y="2130371"/>
            <a:ext cx="7391399" cy="2927311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115379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95"/>
              <a:t>Estados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2475" y="2143762"/>
            <a:ext cx="7502525" cy="247269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2700" marR="5080">
              <a:lnSpc>
                <a:spcPct val="105100"/>
              </a:lnSpc>
              <a:spcBef>
                <a:spcPts val="5"/>
              </a:spcBef>
            </a:pPr>
            <a:r>
              <a:rPr dirty="0" sz="1600" spc="-140" b="1">
                <a:solidFill>
                  <a:srgbClr val="595959"/>
                </a:solidFill>
                <a:latin typeface="Tahoma"/>
                <a:cs typeface="Tahoma"/>
              </a:rPr>
              <a:t>Init:</a:t>
            </a:r>
            <a:r>
              <a:rPr dirty="0" sz="160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5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encuentra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estado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INIT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mientras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inicializando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estado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per-thread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reservando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espacio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necesario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estas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estructuras.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vez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ha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realizado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estado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setea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READY.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Además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pone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lista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llamada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ready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list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cual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están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esperando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todos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los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listos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ser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ejecutados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procesador.</a:t>
            </a:r>
            <a:endParaRPr sz="1600">
              <a:latin typeface="Tahoma"/>
              <a:cs typeface="Tahoma"/>
            </a:endParaRPr>
          </a:p>
          <a:p>
            <a:pPr marL="12700" marR="292735">
              <a:lnSpc>
                <a:spcPct val="105100"/>
              </a:lnSpc>
              <a:spcBef>
                <a:spcPts val="1200"/>
              </a:spcBef>
            </a:pPr>
            <a:r>
              <a:rPr dirty="0" sz="1600" spc="-120" b="1">
                <a:solidFill>
                  <a:srgbClr val="595959"/>
                </a:solidFill>
                <a:latin typeface="Tahoma"/>
                <a:cs typeface="Tahoma"/>
              </a:rPr>
              <a:t>Ready</a:t>
            </a:r>
            <a:r>
              <a:rPr dirty="0" sz="1600" spc="-120">
                <a:solidFill>
                  <a:srgbClr val="595959"/>
                </a:solidFill>
                <a:latin typeface="Tahoma"/>
                <a:cs typeface="Tahoma"/>
              </a:rPr>
              <a:t>: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5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estado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listo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para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ser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ejecutado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pero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siendo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ejecutado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ese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instante.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TCB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esta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ready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list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valores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registros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TCB.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cualquier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momento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scheduler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transicionar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al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estado</a:t>
            </a:r>
            <a:r>
              <a:rPr dirty="0" sz="1600" spc="-1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RUNNING.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115379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95"/>
              <a:t>Estados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2475" y="2133997"/>
            <a:ext cx="7538084" cy="227774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85725">
              <a:lnSpc>
                <a:spcPts val="1830"/>
              </a:lnSpc>
              <a:spcBef>
                <a:spcPts val="235"/>
              </a:spcBef>
            </a:pP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Running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: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5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estado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siendo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ejecutado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mismo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instante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por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procesador.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mismo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instante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valores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registros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están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el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procesador.</a:t>
            </a:r>
            <a:r>
              <a:rPr dirty="0" sz="16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estado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75">
                <a:solidFill>
                  <a:srgbClr val="595959"/>
                </a:solidFill>
                <a:latin typeface="Tahoma"/>
                <a:cs typeface="Tahoma"/>
              </a:rPr>
              <a:t>RUNNING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65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pasar</a:t>
            </a:r>
            <a:r>
              <a:rPr dirty="0" sz="16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60">
                <a:solidFill>
                  <a:srgbClr val="595959"/>
                </a:solidFill>
                <a:latin typeface="Tahoma"/>
                <a:cs typeface="Tahoma"/>
              </a:rPr>
              <a:t>READY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dos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formas:</a:t>
            </a:r>
            <a:endParaRPr sz="1600">
              <a:latin typeface="Tahoma"/>
              <a:cs typeface="Tahoma"/>
            </a:endParaRPr>
          </a:p>
          <a:p>
            <a:pPr marL="469900" marR="5080" indent="-351790">
              <a:lnSpc>
                <a:spcPts val="1830"/>
              </a:lnSpc>
              <a:spcBef>
                <a:spcPts val="1185"/>
              </a:spcBef>
              <a:buChar char="●"/>
              <a:tabLst>
                <a:tab pos="469900" algn="l"/>
                <a:tab pos="508634" algn="l"/>
              </a:tabLst>
            </a:pPr>
            <a:r>
              <a:rPr dirty="0" sz="1600">
                <a:solidFill>
                  <a:srgbClr val="595959"/>
                </a:solidFill>
                <a:latin typeface="Arial MT"/>
                <a:cs typeface="Arial MT"/>
              </a:rPr>
              <a:t>	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scheduler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pasar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su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estado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75">
                <a:solidFill>
                  <a:srgbClr val="595959"/>
                </a:solidFill>
                <a:latin typeface="Tahoma"/>
                <a:cs typeface="Tahoma"/>
              </a:rPr>
              <a:t>RUNNING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60">
                <a:solidFill>
                  <a:srgbClr val="595959"/>
                </a:solidFill>
                <a:latin typeface="Tahoma"/>
                <a:cs typeface="Tahoma"/>
              </a:rPr>
              <a:t>READY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mediante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desalojo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preemption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mismo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mediante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guardado</a:t>
            </a:r>
            <a:r>
              <a:rPr dirty="0" sz="16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valores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los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registros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cambiando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ejecutando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próximo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lista.</a:t>
            </a:r>
            <a:endParaRPr sz="1600">
              <a:latin typeface="Tahoma"/>
              <a:cs typeface="Tahoma"/>
            </a:endParaRPr>
          </a:p>
          <a:p>
            <a:pPr marL="469265" indent="-351155">
              <a:lnSpc>
                <a:spcPts val="1725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Voluntariamente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solicitar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abandonar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ejecución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mediante</a:t>
            </a:r>
            <a:r>
              <a:rPr dirty="0" sz="16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endParaRPr sz="1600">
              <a:latin typeface="Tahoma"/>
              <a:cs typeface="Tahoma"/>
            </a:endParaRPr>
          </a:p>
          <a:p>
            <a:pPr marL="469900">
              <a:lnSpc>
                <a:spcPts val="1875"/>
              </a:lnSpc>
            </a:pP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utilización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thread_yield,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6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ejemplo.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115379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95"/>
              <a:t>Estados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2475" y="2133997"/>
            <a:ext cx="7472045" cy="243014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15875">
              <a:lnSpc>
                <a:spcPts val="1830"/>
              </a:lnSpc>
              <a:spcBef>
                <a:spcPts val="235"/>
              </a:spcBef>
            </a:pPr>
            <a:r>
              <a:rPr dirty="0" sz="1600" spc="-114" b="1">
                <a:solidFill>
                  <a:srgbClr val="595959"/>
                </a:solidFill>
                <a:latin typeface="Tahoma"/>
                <a:cs typeface="Tahoma"/>
              </a:rPr>
              <a:t>Waiting:</a:t>
            </a:r>
            <a:r>
              <a:rPr dirty="0" sz="1600" spc="-1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estado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esperando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algún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determinado</a:t>
            </a:r>
            <a:r>
              <a:rPr dirty="0" sz="16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evento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suceda.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Dado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WAITING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pasar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75">
                <a:solidFill>
                  <a:srgbClr val="595959"/>
                </a:solidFill>
                <a:latin typeface="Tahoma"/>
                <a:cs typeface="Tahoma"/>
              </a:rPr>
              <a:t>RUNNING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directamente,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estos</a:t>
            </a:r>
            <a:r>
              <a:rPr dirty="0" sz="1600" spc="-1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almacenan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lista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llamada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waiting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list.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vez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evento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ocurre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scheduler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encarga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pasar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estado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WAITING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RUNNING,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moviendo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TCB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desde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waiting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list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40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ready</a:t>
            </a:r>
            <a:r>
              <a:rPr dirty="0" sz="16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list.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600">
              <a:latin typeface="Tahoma"/>
              <a:cs typeface="Tahoma"/>
            </a:endParaRPr>
          </a:p>
          <a:p>
            <a:pPr marL="12700" marR="5080">
              <a:lnSpc>
                <a:spcPts val="1830"/>
              </a:lnSpc>
            </a:pPr>
            <a:r>
              <a:rPr dirty="0" sz="1600" spc="-105" b="1">
                <a:solidFill>
                  <a:srgbClr val="595959"/>
                </a:solidFill>
                <a:latin typeface="Tahoma"/>
                <a:cs typeface="Tahoma"/>
              </a:rPr>
              <a:t>Finished:</a:t>
            </a:r>
            <a:r>
              <a:rPr dirty="0" sz="1600" spc="-1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55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encuentra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estado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FINISHED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nunca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35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podrá</a:t>
            </a:r>
            <a:r>
              <a:rPr dirty="0" sz="16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volver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50">
                <a:solidFill>
                  <a:srgbClr val="595959"/>
                </a:solidFill>
                <a:latin typeface="Tahoma"/>
                <a:cs typeface="Tahoma"/>
              </a:rPr>
              <a:t>a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ser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0">
                <a:solidFill>
                  <a:srgbClr val="595959"/>
                </a:solidFill>
                <a:latin typeface="Tahoma"/>
                <a:cs typeface="Tahoma"/>
              </a:rPr>
              <a:t>ejecutado.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Existe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lista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llamada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finnished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list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encuentran</a:t>
            </a:r>
            <a:r>
              <a:rPr dirty="0" sz="16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600" spc="-1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Tahoma"/>
                <a:cs typeface="Tahoma"/>
              </a:rPr>
              <a:t>TCB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600" spc="-18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threads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han</a:t>
            </a:r>
            <a:r>
              <a:rPr dirty="0" sz="1600" spc="-1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Tahoma"/>
                <a:cs typeface="Tahoma"/>
              </a:rPr>
              <a:t>terminado.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4075429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Diferencias</a:t>
            </a:r>
            <a:r>
              <a:rPr dirty="0" spc="325"/>
              <a:t> </a:t>
            </a:r>
            <a:r>
              <a:rPr dirty="0" spc="105"/>
              <a:t>Proceso/Thread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2475" y="2132696"/>
            <a:ext cx="5634990" cy="277558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ts val="2000"/>
              </a:lnSpc>
              <a:spcBef>
                <a:spcPts val="114"/>
              </a:spcBef>
            </a:pPr>
            <a:r>
              <a:rPr dirty="0" sz="1700" spc="-120" b="1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700" spc="-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 b="1">
                <a:solidFill>
                  <a:srgbClr val="595959"/>
                </a:solidFill>
                <a:latin typeface="Tahoma"/>
                <a:cs typeface="Tahoma"/>
              </a:rPr>
              <a:t>threads</a:t>
            </a:r>
            <a:endParaRPr sz="1700">
              <a:latin typeface="Tahoma"/>
              <a:cs typeface="Tahoma"/>
            </a:endParaRPr>
          </a:p>
          <a:p>
            <a:pPr marL="469900">
              <a:lnSpc>
                <a:spcPts val="1960"/>
              </a:lnSpc>
            </a:pPr>
            <a:r>
              <a:rPr dirty="0" sz="1700" spc="6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7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defecto</a:t>
            </a:r>
            <a:r>
              <a:rPr dirty="0" sz="17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comparten</a:t>
            </a:r>
            <a:r>
              <a:rPr dirty="0" sz="17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endParaRPr sz="1700">
              <a:latin typeface="Tahoma"/>
              <a:cs typeface="Tahoma"/>
            </a:endParaRPr>
          </a:p>
          <a:p>
            <a:pPr marL="469900" marR="289560">
              <a:lnSpc>
                <a:spcPts val="1960"/>
              </a:lnSpc>
              <a:spcBef>
                <a:spcPts val="95"/>
              </a:spcBef>
            </a:pPr>
            <a:r>
              <a:rPr dirty="0" sz="1700" spc="6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7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defecto</a:t>
            </a:r>
            <a:r>
              <a:rPr dirty="0" sz="17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comparten</a:t>
            </a:r>
            <a:r>
              <a:rPr dirty="0" sz="17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7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descriptores</a:t>
            </a:r>
            <a:r>
              <a:rPr dirty="0" sz="17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archivos </a:t>
            </a:r>
            <a:r>
              <a:rPr dirty="0" sz="1700" spc="6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7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defecto</a:t>
            </a:r>
            <a:r>
              <a:rPr dirty="0" sz="17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comparten</a:t>
            </a:r>
            <a:r>
              <a:rPr dirty="0" sz="17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contexto</a:t>
            </a:r>
            <a:r>
              <a:rPr dirty="0" sz="1700" spc="-9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7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filesystem </a:t>
            </a:r>
            <a:r>
              <a:rPr dirty="0" sz="1700" spc="6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defecto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comparten</a:t>
            </a:r>
            <a:r>
              <a:rPr dirty="0" sz="17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manejo</a:t>
            </a:r>
            <a:r>
              <a:rPr dirty="0" sz="1700" spc="-13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señales</a:t>
            </a:r>
            <a:endParaRPr sz="1700">
              <a:latin typeface="Tahoma"/>
              <a:cs typeface="Tahoma"/>
            </a:endParaRPr>
          </a:p>
          <a:p>
            <a:pPr marL="12700">
              <a:lnSpc>
                <a:spcPts val="2000"/>
              </a:lnSpc>
              <a:spcBef>
                <a:spcPts val="1820"/>
              </a:spcBef>
            </a:pPr>
            <a:r>
              <a:rPr dirty="0" sz="1700" spc="-120" b="1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700" spc="-1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 b="1">
                <a:solidFill>
                  <a:srgbClr val="595959"/>
                </a:solidFill>
                <a:latin typeface="Tahoma"/>
                <a:cs typeface="Tahoma"/>
              </a:rPr>
              <a:t>Procesos</a:t>
            </a:r>
            <a:endParaRPr sz="1700">
              <a:latin typeface="Tahoma"/>
              <a:cs typeface="Tahoma"/>
            </a:endParaRPr>
          </a:p>
          <a:p>
            <a:pPr marL="469900">
              <a:lnSpc>
                <a:spcPts val="1960"/>
              </a:lnSpc>
            </a:pPr>
            <a:r>
              <a:rPr dirty="0" sz="1700" spc="6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7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defecto</a:t>
            </a:r>
            <a:r>
              <a:rPr dirty="0" sz="17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7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comparten</a:t>
            </a:r>
            <a:r>
              <a:rPr dirty="0" sz="17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memoria</a:t>
            </a:r>
            <a:endParaRPr sz="1700">
              <a:latin typeface="Tahoma"/>
              <a:cs typeface="Tahoma"/>
            </a:endParaRPr>
          </a:p>
          <a:p>
            <a:pPr marL="469900" marR="5080">
              <a:lnSpc>
                <a:spcPts val="1960"/>
              </a:lnSpc>
              <a:spcBef>
                <a:spcPts val="95"/>
              </a:spcBef>
            </a:pPr>
            <a:r>
              <a:rPr dirty="0" sz="1700" spc="6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7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defecto</a:t>
            </a:r>
            <a:r>
              <a:rPr dirty="0" sz="17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7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comparten</a:t>
            </a:r>
            <a:r>
              <a:rPr dirty="0" sz="17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7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descriptores</a:t>
            </a:r>
            <a:r>
              <a:rPr dirty="0" sz="17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archivos </a:t>
            </a:r>
            <a:r>
              <a:rPr dirty="0" sz="1700" spc="6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7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defecto</a:t>
            </a:r>
            <a:r>
              <a:rPr dirty="0" sz="17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7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comparten</a:t>
            </a:r>
            <a:r>
              <a:rPr dirty="0" sz="17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contexto</a:t>
            </a:r>
            <a:r>
              <a:rPr dirty="0" sz="17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7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filesystem </a:t>
            </a:r>
            <a:r>
              <a:rPr dirty="0" sz="1700" spc="6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700" spc="-1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defecto</a:t>
            </a:r>
            <a:r>
              <a:rPr dirty="0" sz="17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7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comparten</a:t>
            </a:r>
            <a:r>
              <a:rPr dirty="0" sz="17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7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manejo</a:t>
            </a:r>
            <a:r>
              <a:rPr dirty="0" sz="17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7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señales</a:t>
            </a:r>
            <a:endParaRPr sz="1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2475" y="2104402"/>
            <a:ext cx="2994025" cy="181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Linux</a:t>
            </a:r>
            <a:r>
              <a:rPr dirty="0" sz="17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utiliza</a:t>
            </a:r>
            <a:r>
              <a:rPr dirty="0" sz="17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modelo</a:t>
            </a:r>
            <a:r>
              <a:rPr dirty="0" sz="17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1-</a:t>
            </a:r>
            <a:r>
              <a:rPr dirty="0" sz="1700" spc="-50">
                <a:solidFill>
                  <a:srgbClr val="595959"/>
                </a:solidFill>
                <a:latin typeface="Tahoma"/>
                <a:cs typeface="Tahoma"/>
              </a:rPr>
              <a:t>1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(proceso-thread),</a:t>
            </a:r>
            <a:r>
              <a:rPr dirty="0" sz="17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7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lo</a:t>
            </a:r>
            <a:r>
              <a:rPr dirty="0" sz="17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0">
                <a:solidFill>
                  <a:srgbClr val="595959"/>
                </a:solidFill>
                <a:latin typeface="Tahoma"/>
                <a:cs typeface="Tahoma"/>
              </a:rPr>
              <a:t>cual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dentro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7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1700" spc="-14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no</a:t>
            </a:r>
            <a:r>
              <a:rPr dirty="0" sz="1700" spc="-14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existe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distinción</a:t>
            </a:r>
            <a:r>
              <a:rPr dirty="0" sz="1700" spc="-9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25">
                <a:solidFill>
                  <a:srgbClr val="595959"/>
                </a:solidFill>
                <a:latin typeface="Tahoma"/>
                <a:cs typeface="Tahoma"/>
              </a:rPr>
              <a:t>alguna</a:t>
            </a:r>
            <a:r>
              <a:rPr dirty="0" sz="17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entre</a:t>
            </a:r>
            <a:r>
              <a:rPr dirty="0" sz="17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thread</a:t>
            </a:r>
            <a:r>
              <a:rPr dirty="0" sz="1700" spc="-8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50">
                <a:solidFill>
                  <a:srgbClr val="595959"/>
                </a:solidFill>
                <a:latin typeface="Tahoma"/>
                <a:cs typeface="Tahoma"/>
              </a:rPr>
              <a:t>y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–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>
                <a:solidFill>
                  <a:srgbClr val="595959"/>
                </a:solidFill>
                <a:latin typeface="Tahoma"/>
                <a:cs typeface="Tahoma"/>
              </a:rPr>
              <a:t>todo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3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700" spc="-1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700" spc="-1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700" spc="-10">
                <a:solidFill>
                  <a:srgbClr val="595959"/>
                </a:solidFill>
                <a:latin typeface="Tahoma"/>
                <a:cs typeface="Tahoma"/>
              </a:rPr>
              <a:t>tarea ejecutable.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0" y="647575"/>
            <a:ext cx="4491999" cy="435427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3754754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135"/>
              <a:t>Modelo</a:t>
            </a:r>
            <a:r>
              <a:rPr dirty="0" spc="-65"/>
              <a:t> </a:t>
            </a:r>
            <a:r>
              <a:rPr dirty="0" spc="114"/>
              <a:t>de</a:t>
            </a:r>
            <a:r>
              <a:rPr dirty="0" spc="-60"/>
              <a:t> </a:t>
            </a:r>
            <a:r>
              <a:rPr dirty="0"/>
              <a:t>thread</a:t>
            </a:r>
            <a:r>
              <a:rPr dirty="0" spc="-60"/>
              <a:t> </a:t>
            </a:r>
            <a:r>
              <a:rPr dirty="0" spc="50"/>
              <a:t>en</a:t>
            </a:r>
            <a:r>
              <a:rPr dirty="0" spc="-65"/>
              <a:t> </a:t>
            </a:r>
            <a:r>
              <a:rPr dirty="0" spc="-10"/>
              <a:t>linux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dirty="0" spc="50"/>
              <a:t>Creación</a:t>
            </a:r>
            <a:r>
              <a:rPr dirty="0" spc="-125"/>
              <a:t> </a:t>
            </a:r>
            <a:r>
              <a:rPr dirty="0" spc="114"/>
              <a:t>de</a:t>
            </a:r>
            <a:r>
              <a:rPr dirty="0" spc="-120"/>
              <a:t> </a:t>
            </a:r>
            <a:r>
              <a:rPr dirty="0" spc="95"/>
              <a:t>procesos</a:t>
            </a:r>
            <a:r>
              <a:rPr dirty="0" spc="-180"/>
              <a:t> </a:t>
            </a:r>
            <a:r>
              <a:rPr dirty="0" spc="60"/>
              <a:t>y</a:t>
            </a:r>
            <a:r>
              <a:rPr dirty="0" spc="-175"/>
              <a:t> </a:t>
            </a:r>
            <a:r>
              <a:rPr dirty="0" spc="55"/>
              <a:t>threads</a:t>
            </a:r>
            <a:r>
              <a:rPr dirty="0" spc="-120"/>
              <a:t> </a:t>
            </a:r>
            <a:r>
              <a:rPr dirty="0" spc="50"/>
              <a:t>en</a:t>
            </a:r>
            <a:r>
              <a:rPr dirty="0" spc="-120"/>
              <a:t> </a:t>
            </a:r>
            <a:r>
              <a:rPr dirty="0" spc="-10"/>
              <a:t>Linux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0700" y="1478614"/>
            <a:ext cx="8255000" cy="2536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1700" spc="-90" b="1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Tahoma"/>
                <a:cs typeface="Tahoma"/>
              </a:rPr>
              <a:t>Creacion</a:t>
            </a:r>
            <a:r>
              <a:rPr dirty="0" u="heavy" sz="1700" spc="-140" b="1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1700" spc="-120" b="1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Tahoma"/>
                <a:cs typeface="Tahoma"/>
              </a:rPr>
              <a:t>de</a:t>
            </a:r>
            <a:r>
              <a:rPr dirty="0" u="heavy" sz="1700" spc="-135" b="1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1700" spc="-105" b="1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Tahoma"/>
                <a:cs typeface="Tahoma"/>
              </a:rPr>
              <a:t>Threads</a:t>
            </a:r>
            <a:r>
              <a:rPr dirty="0" u="heavy" sz="1700" spc="-125" b="1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Tahoma"/>
                <a:cs typeface="Tahoma"/>
              </a:rPr>
              <a:t> </a:t>
            </a:r>
            <a:r>
              <a:rPr dirty="0" u="heavy" sz="1700" spc="-55" b="1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Tahoma"/>
                <a:cs typeface="Tahoma"/>
              </a:rPr>
              <a:t>(LinuxThreads)</a:t>
            </a:r>
            <a:endParaRPr sz="17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1505"/>
              </a:spcBef>
            </a:pPr>
            <a:r>
              <a:rPr dirty="0" sz="1700" b="1">
                <a:solidFill>
                  <a:srgbClr val="595959"/>
                </a:solidFill>
                <a:latin typeface="Courier New"/>
                <a:cs typeface="Courier New"/>
              </a:rPr>
              <a:t>clone(CLONE_VM</a:t>
            </a:r>
            <a:r>
              <a:rPr dirty="0" sz="1700" spc="-11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595959"/>
                </a:solidFill>
                <a:latin typeface="Courier New"/>
                <a:cs typeface="Courier New"/>
              </a:rPr>
              <a:t>|</a:t>
            </a:r>
            <a:r>
              <a:rPr dirty="0" sz="1700" spc="-11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595959"/>
                </a:solidFill>
                <a:latin typeface="Courier New"/>
                <a:cs typeface="Courier New"/>
              </a:rPr>
              <a:t>CLONE_FS</a:t>
            </a:r>
            <a:r>
              <a:rPr dirty="0" sz="1700" spc="-11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595959"/>
                </a:solidFill>
                <a:latin typeface="Courier New"/>
                <a:cs typeface="Courier New"/>
              </a:rPr>
              <a:t>|</a:t>
            </a:r>
            <a:r>
              <a:rPr dirty="0" sz="1700" spc="-11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595959"/>
                </a:solidFill>
                <a:latin typeface="Courier New"/>
                <a:cs typeface="Courier New"/>
              </a:rPr>
              <a:t>CLONE_FILES</a:t>
            </a:r>
            <a:r>
              <a:rPr dirty="0" sz="1700" spc="-10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595959"/>
                </a:solidFill>
                <a:latin typeface="Courier New"/>
                <a:cs typeface="Courier New"/>
              </a:rPr>
              <a:t>|</a:t>
            </a:r>
            <a:r>
              <a:rPr dirty="0" sz="1700" spc="-11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595959"/>
                </a:solidFill>
                <a:latin typeface="Courier New"/>
                <a:cs typeface="Courier New"/>
              </a:rPr>
              <a:t>CLONE_SIGHAND,</a:t>
            </a:r>
            <a:r>
              <a:rPr dirty="0" sz="1700" spc="-11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700" spc="-25" b="1">
                <a:solidFill>
                  <a:srgbClr val="595959"/>
                </a:solidFill>
                <a:latin typeface="Courier New"/>
                <a:cs typeface="Courier New"/>
              </a:rPr>
              <a:t>0);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dirty="0" u="heavy" sz="1700" spc="-10" b="1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Tahoma"/>
                <a:cs typeface="Tahoma"/>
              </a:rPr>
              <a:t>fork()</a:t>
            </a:r>
            <a:endParaRPr sz="17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1505"/>
              </a:spcBef>
            </a:pPr>
            <a:r>
              <a:rPr dirty="0" sz="1700" b="1">
                <a:solidFill>
                  <a:srgbClr val="595959"/>
                </a:solidFill>
                <a:latin typeface="Courier New"/>
                <a:cs typeface="Courier New"/>
              </a:rPr>
              <a:t>clone(SIGCHLD,</a:t>
            </a:r>
            <a:r>
              <a:rPr dirty="0" sz="1700" spc="-21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700" spc="-25" b="1">
                <a:solidFill>
                  <a:srgbClr val="595959"/>
                </a:solidFill>
                <a:latin typeface="Courier New"/>
                <a:cs typeface="Courier New"/>
              </a:rPr>
              <a:t>0);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dirty="0" u="heavy" sz="1700" spc="-10" b="1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Tahoma"/>
                <a:cs typeface="Tahoma"/>
              </a:rPr>
              <a:t>vfork()</a:t>
            </a:r>
            <a:endParaRPr sz="17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1510"/>
              </a:spcBef>
            </a:pPr>
            <a:r>
              <a:rPr dirty="0" sz="1700" spc="-10" b="1">
                <a:solidFill>
                  <a:srgbClr val="595959"/>
                </a:solidFill>
                <a:latin typeface="Courier New"/>
                <a:cs typeface="Courier New"/>
              </a:rPr>
              <a:t>clone(CLONE_VFORK</a:t>
            </a:r>
            <a:r>
              <a:rPr dirty="0" sz="1700" spc="-7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595959"/>
                </a:solidFill>
                <a:latin typeface="Courier New"/>
                <a:cs typeface="Courier New"/>
              </a:rPr>
              <a:t>|</a:t>
            </a:r>
            <a:r>
              <a:rPr dirty="0" sz="1700" spc="-7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595959"/>
                </a:solidFill>
                <a:latin typeface="Courier New"/>
                <a:cs typeface="Courier New"/>
              </a:rPr>
              <a:t>CLONE_VM</a:t>
            </a:r>
            <a:r>
              <a:rPr dirty="0" sz="1700" spc="-7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595959"/>
                </a:solidFill>
                <a:latin typeface="Courier New"/>
                <a:cs typeface="Courier New"/>
              </a:rPr>
              <a:t>|</a:t>
            </a:r>
            <a:r>
              <a:rPr dirty="0" sz="1700" spc="-7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700" b="1">
                <a:solidFill>
                  <a:srgbClr val="595959"/>
                </a:solidFill>
                <a:latin typeface="Courier New"/>
                <a:cs typeface="Courier New"/>
              </a:rPr>
              <a:t>SIGCHLD,</a:t>
            </a:r>
            <a:r>
              <a:rPr dirty="0" sz="1700" spc="-70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700" spc="-25" b="1">
                <a:solidFill>
                  <a:srgbClr val="595959"/>
                </a:solidFill>
                <a:latin typeface="Courier New"/>
                <a:cs typeface="Courier New"/>
              </a:rPr>
              <a:t>0);</a:t>
            </a:r>
            <a:endParaRPr sz="1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75755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0"/>
              <a:t>vfork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2475" y="2115578"/>
            <a:ext cx="7526020" cy="1316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61670">
              <a:lnSpc>
                <a:spcPct val="114999"/>
              </a:lnSpc>
              <a:spcBef>
                <a:spcPts val="100"/>
              </a:spcBef>
            </a:pP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primeras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implementaciones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BSD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estuvieron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entre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aquellas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las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fork()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realizaba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una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duplicación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literal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los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datos,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heap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y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stack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del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proceso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padre.</a:t>
            </a:r>
            <a:endParaRPr sz="1300">
              <a:latin typeface="Tahoma"/>
              <a:cs typeface="Tahoma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Esto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ineficiente,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especialmente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fork()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es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seguido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un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60">
                <a:solidFill>
                  <a:srgbClr val="595959"/>
                </a:solidFill>
                <a:latin typeface="Tahoma"/>
                <a:cs typeface="Tahoma"/>
              </a:rPr>
              <a:t>exec()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inmediato.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Por</a:t>
            </a:r>
            <a:r>
              <a:rPr dirty="0" sz="1300" spc="-13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esta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razón,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versiones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posteriores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BSD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introdujeron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la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llamada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al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5">
                <a:solidFill>
                  <a:srgbClr val="595959"/>
                </a:solidFill>
                <a:latin typeface="Tahoma"/>
                <a:cs typeface="Tahoma"/>
              </a:rPr>
              <a:t>vfork(),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era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mucho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0">
                <a:solidFill>
                  <a:srgbClr val="595959"/>
                </a:solidFill>
                <a:latin typeface="Tahoma"/>
                <a:cs typeface="Tahoma"/>
              </a:rPr>
              <a:t>más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eficiente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que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300" spc="-11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fork()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BSD,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aunque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operaba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con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una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semántica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ligeramente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diferente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45">
                <a:solidFill>
                  <a:srgbClr val="595959"/>
                </a:solidFill>
                <a:latin typeface="Tahoma"/>
                <a:cs typeface="Tahoma"/>
              </a:rPr>
              <a:t>(de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hecho,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algo</a:t>
            </a:r>
            <a:r>
              <a:rPr dirty="0" sz="1300" spc="-1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extraña).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75755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0"/>
              <a:t>vfork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5474" y="1973178"/>
            <a:ext cx="8022590" cy="2153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7940">
              <a:lnSpc>
                <a:spcPct val="114999"/>
              </a:lnSpc>
              <a:spcBef>
                <a:spcPts val="100"/>
              </a:spcBef>
            </a:pPr>
            <a:r>
              <a:rPr dirty="0" sz="1300">
                <a:latin typeface="Arial MT"/>
                <a:cs typeface="Arial MT"/>
              </a:rPr>
              <a:t>Al</a:t>
            </a:r>
            <a:r>
              <a:rPr dirty="0" sz="1300" spc="-6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igual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que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88037"/>
                </a:solidFill>
                <a:latin typeface="Courier New"/>
                <a:cs typeface="Courier New"/>
              </a:rPr>
              <a:t>fork()</a:t>
            </a:r>
            <a:r>
              <a:rPr dirty="0" sz="1300">
                <a:latin typeface="Arial MT"/>
                <a:cs typeface="Arial MT"/>
              </a:rPr>
              <a:t>,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188037"/>
                </a:solidFill>
                <a:latin typeface="Courier New"/>
                <a:cs typeface="Courier New"/>
              </a:rPr>
              <a:t>vfork()</a:t>
            </a:r>
            <a:r>
              <a:rPr dirty="0" sz="1300" spc="-425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Arial MT"/>
                <a:cs typeface="Arial MT"/>
              </a:rPr>
              <a:t>es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utilizado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por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el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proceso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que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lo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llama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para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crear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un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nuevo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proceso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hijo.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 spc="-25">
                <a:latin typeface="Arial MT"/>
                <a:cs typeface="Arial MT"/>
              </a:rPr>
              <a:t>Sin </a:t>
            </a:r>
            <a:r>
              <a:rPr dirty="0" sz="1300">
                <a:latin typeface="Arial MT"/>
                <a:cs typeface="Arial MT"/>
              </a:rPr>
              <a:t>embargo,</a:t>
            </a:r>
            <a:r>
              <a:rPr dirty="0" sz="1300" spc="-65"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188037"/>
                </a:solidFill>
                <a:latin typeface="Courier New"/>
                <a:cs typeface="Courier New"/>
              </a:rPr>
              <a:t>vfork()</a:t>
            </a:r>
            <a:r>
              <a:rPr dirty="0" sz="1300" spc="-425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Arial MT"/>
                <a:cs typeface="Arial MT"/>
              </a:rPr>
              <a:t>está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diseñado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específicamente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para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ser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usado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en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programas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donde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el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hijo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realiza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 spc="-25">
                <a:latin typeface="Arial MT"/>
                <a:cs typeface="Arial MT"/>
              </a:rPr>
              <a:t>una </a:t>
            </a:r>
            <a:r>
              <a:rPr dirty="0" sz="1300">
                <a:latin typeface="Arial MT"/>
                <a:cs typeface="Arial MT"/>
              </a:rPr>
              <a:t>llamada</a:t>
            </a:r>
            <a:r>
              <a:rPr dirty="0" sz="1300" spc="-50"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188037"/>
                </a:solidFill>
                <a:latin typeface="Courier New"/>
                <a:cs typeface="Courier New"/>
              </a:rPr>
              <a:t>exec()</a:t>
            </a:r>
            <a:r>
              <a:rPr dirty="0" sz="1300" spc="-425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 sz="1300" spc="-10">
                <a:latin typeface="Arial MT"/>
                <a:cs typeface="Arial MT"/>
              </a:rPr>
              <a:t>inmediata.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z="1300">
                <a:latin typeface="Arial MT"/>
                <a:cs typeface="Arial MT"/>
              </a:rPr>
              <a:t>Dos</a:t>
            </a:r>
            <a:r>
              <a:rPr dirty="0" sz="1300" spc="-8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características</a:t>
            </a:r>
            <a:r>
              <a:rPr dirty="0" sz="1300" spc="-2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distinguen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la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llamada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al</a:t>
            </a:r>
            <a:r>
              <a:rPr dirty="0" sz="1300" spc="-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sistema</a:t>
            </a:r>
            <a:r>
              <a:rPr dirty="0" sz="1300" spc="-25"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188037"/>
                </a:solidFill>
                <a:latin typeface="Courier New"/>
                <a:cs typeface="Courier New"/>
              </a:rPr>
              <a:t>vfork()</a:t>
            </a:r>
            <a:r>
              <a:rPr dirty="0" sz="1300" spc="-425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Arial MT"/>
                <a:cs typeface="Arial MT"/>
              </a:rPr>
              <a:t>de</a:t>
            </a:r>
            <a:r>
              <a:rPr dirty="0" sz="1300" spc="-25"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188037"/>
                </a:solidFill>
                <a:latin typeface="Courier New"/>
                <a:cs typeface="Courier New"/>
              </a:rPr>
              <a:t>fork()</a:t>
            </a:r>
            <a:r>
              <a:rPr dirty="0" sz="1300" spc="-425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Arial MT"/>
                <a:cs typeface="Arial MT"/>
              </a:rPr>
              <a:t>y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la</a:t>
            </a:r>
            <a:r>
              <a:rPr dirty="0" sz="1300" spc="-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hacen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más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eficiente:</a:t>
            </a:r>
            <a:endParaRPr sz="1300">
              <a:latin typeface="Arial MT"/>
              <a:cs typeface="Arial MT"/>
            </a:endParaRPr>
          </a:p>
          <a:p>
            <a:pPr marL="469900" marR="5080" indent="-328295">
              <a:lnSpc>
                <a:spcPct val="114999"/>
              </a:lnSpc>
              <a:spcBef>
                <a:spcPts val="1200"/>
              </a:spcBef>
              <a:buChar char="●"/>
              <a:tabLst>
                <a:tab pos="469900" algn="l"/>
              </a:tabLst>
            </a:pPr>
            <a:r>
              <a:rPr dirty="0" sz="1300">
                <a:latin typeface="Arial MT"/>
                <a:cs typeface="Arial MT"/>
              </a:rPr>
              <a:t>No</a:t>
            </a:r>
            <a:r>
              <a:rPr dirty="0" sz="1300" spc="-5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se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duplica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ninguna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página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de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memoria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virtual</a:t>
            </a:r>
            <a:r>
              <a:rPr dirty="0" sz="1300" spc="-5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ni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tablas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de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páginas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para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el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proceso</a:t>
            </a:r>
            <a:r>
              <a:rPr dirty="0" sz="1300" spc="-5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hijo.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En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su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lugar, </a:t>
            </a:r>
            <a:r>
              <a:rPr dirty="0" sz="1300">
                <a:latin typeface="Arial MT"/>
                <a:cs typeface="Arial MT"/>
              </a:rPr>
              <a:t>el</a:t>
            </a:r>
            <a:r>
              <a:rPr dirty="0" sz="1300" spc="-9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hijo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comparte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la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memoria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del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padre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hasta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que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realiza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un</a:t>
            </a:r>
            <a:r>
              <a:rPr dirty="0" sz="1300" spc="-15"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188037"/>
                </a:solidFill>
                <a:latin typeface="Courier New"/>
                <a:cs typeface="Courier New"/>
              </a:rPr>
              <a:t>exec()</a:t>
            </a:r>
            <a:r>
              <a:rPr dirty="0" sz="1300" spc="-425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Arial MT"/>
                <a:cs typeface="Arial MT"/>
              </a:rPr>
              <a:t>exitoso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o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llama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a</a:t>
            </a:r>
            <a:r>
              <a:rPr dirty="0" sz="1300" spc="-25"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188037"/>
                </a:solidFill>
                <a:latin typeface="Courier New"/>
                <a:cs typeface="Courier New"/>
              </a:rPr>
              <a:t>_exit()</a:t>
            </a:r>
            <a:r>
              <a:rPr dirty="0" sz="1300" spc="-425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 sz="1300" spc="-20">
                <a:latin typeface="Arial MT"/>
                <a:cs typeface="Arial MT"/>
              </a:rPr>
              <a:t>para </a:t>
            </a:r>
            <a:r>
              <a:rPr dirty="0" sz="1300" spc="-10">
                <a:latin typeface="Arial MT"/>
                <a:cs typeface="Arial MT"/>
              </a:rPr>
              <a:t>terminar.</a:t>
            </a:r>
            <a:endParaRPr sz="1300">
              <a:latin typeface="Arial MT"/>
              <a:cs typeface="Arial MT"/>
            </a:endParaRPr>
          </a:p>
          <a:p>
            <a:pPr marL="469265" indent="-327660">
              <a:lnSpc>
                <a:spcPct val="100000"/>
              </a:lnSpc>
              <a:spcBef>
                <a:spcPts val="229"/>
              </a:spcBef>
              <a:buChar char="●"/>
              <a:tabLst>
                <a:tab pos="469265" algn="l"/>
              </a:tabLst>
            </a:pPr>
            <a:r>
              <a:rPr dirty="0" sz="1300">
                <a:latin typeface="Arial MT"/>
                <a:cs typeface="Arial MT"/>
              </a:rPr>
              <a:t>La</a:t>
            </a:r>
            <a:r>
              <a:rPr dirty="0" sz="1300" spc="-5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ejecución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del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proceso</a:t>
            </a:r>
            <a:r>
              <a:rPr dirty="0" sz="1300" spc="-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padre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se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suspende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hasta</a:t>
            </a:r>
            <a:r>
              <a:rPr dirty="0" sz="1300" spc="-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que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el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hijo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haya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realizado</a:t>
            </a:r>
            <a:r>
              <a:rPr dirty="0" sz="1300" spc="-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un</a:t>
            </a:r>
            <a:r>
              <a:rPr dirty="0" sz="1300" spc="-15"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188037"/>
                </a:solidFill>
                <a:latin typeface="Courier New"/>
                <a:cs typeface="Courier New"/>
              </a:rPr>
              <a:t>exec()</a:t>
            </a:r>
            <a:r>
              <a:rPr dirty="0" sz="1300" spc="-425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 sz="1300">
                <a:latin typeface="Arial MT"/>
                <a:cs typeface="Arial MT"/>
              </a:rPr>
              <a:t>o</a:t>
            </a:r>
            <a:r>
              <a:rPr dirty="0" sz="1300" spc="-25"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188037"/>
                </a:solidFill>
                <a:latin typeface="Courier New"/>
                <a:cs typeface="Courier New"/>
              </a:rPr>
              <a:t>_exit()</a:t>
            </a:r>
            <a:r>
              <a:rPr dirty="0" sz="1300" spc="-10">
                <a:latin typeface="Arial MT"/>
                <a:cs typeface="Arial MT"/>
              </a:rPr>
              <a:t>.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454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dirty="0" spc="75"/>
              <a:t>COW:</a:t>
            </a:r>
            <a:r>
              <a:rPr dirty="0" spc="-125"/>
              <a:t> </a:t>
            </a:r>
            <a:r>
              <a:rPr dirty="0" spc="114"/>
              <a:t>Copy</a:t>
            </a:r>
            <a:r>
              <a:rPr dirty="0" spc="-185"/>
              <a:t> </a:t>
            </a:r>
            <a:r>
              <a:rPr dirty="0" spc="75"/>
              <a:t>on</a:t>
            </a:r>
            <a:r>
              <a:rPr dirty="0" spc="-185"/>
              <a:t> </a:t>
            </a:r>
            <a:r>
              <a:rPr dirty="0" spc="-10"/>
              <a:t>write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89089" y="1610409"/>
            <a:ext cx="4340603" cy="321273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25925" y="2418703"/>
            <a:ext cx="3409950" cy="1620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300" spc="-10">
                <a:latin typeface="Arial MT"/>
                <a:cs typeface="Arial MT"/>
              </a:rPr>
              <a:t>Inicialmente,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el</a:t>
            </a:r>
            <a:r>
              <a:rPr dirty="0" sz="1300" spc="-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kernel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configura</a:t>
            </a:r>
            <a:r>
              <a:rPr dirty="0" sz="1300" spc="-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las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cosas</a:t>
            </a:r>
            <a:r>
              <a:rPr dirty="0" sz="1300" spc="-25">
                <a:latin typeface="Arial MT"/>
                <a:cs typeface="Arial MT"/>
              </a:rPr>
              <a:t> de </a:t>
            </a:r>
            <a:r>
              <a:rPr dirty="0" sz="1300">
                <a:latin typeface="Arial MT"/>
                <a:cs typeface="Arial MT"/>
              </a:rPr>
              <a:t>manera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que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las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entradas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de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la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tabla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 spc="-25">
                <a:latin typeface="Arial MT"/>
                <a:cs typeface="Arial MT"/>
              </a:rPr>
              <a:t>de </a:t>
            </a:r>
            <a:r>
              <a:rPr dirty="0" sz="1300">
                <a:latin typeface="Arial MT"/>
                <a:cs typeface="Arial MT"/>
              </a:rPr>
              <a:t>páginas</a:t>
            </a:r>
            <a:r>
              <a:rPr dirty="0" sz="1300" spc="-5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para</a:t>
            </a:r>
            <a:r>
              <a:rPr dirty="0" sz="1300" spc="-5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estos</a:t>
            </a:r>
            <a:r>
              <a:rPr dirty="0" sz="1300" spc="-5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segmentos</a:t>
            </a:r>
            <a:r>
              <a:rPr dirty="0" sz="1300" spc="-5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se</a:t>
            </a:r>
            <a:r>
              <a:rPr dirty="0" sz="1300" spc="-5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refieren</a:t>
            </a:r>
            <a:r>
              <a:rPr dirty="0" sz="1300" spc="-50">
                <a:latin typeface="Arial MT"/>
                <a:cs typeface="Arial MT"/>
              </a:rPr>
              <a:t> a </a:t>
            </a:r>
            <a:r>
              <a:rPr dirty="0" sz="1300">
                <a:latin typeface="Arial MT"/>
                <a:cs typeface="Arial MT"/>
              </a:rPr>
              <a:t>las</a:t>
            </a:r>
            <a:r>
              <a:rPr dirty="0" sz="1300" spc="-5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mismas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páginas</a:t>
            </a:r>
            <a:r>
              <a:rPr dirty="0" sz="1300" spc="-5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de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memoria</a:t>
            </a:r>
            <a:r>
              <a:rPr dirty="0" sz="1300" spc="-5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física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que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 spc="-25">
                <a:latin typeface="Arial MT"/>
                <a:cs typeface="Arial MT"/>
              </a:rPr>
              <a:t>las </a:t>
            </a:r>
            <a:r>
              <a:rPr dirty="0" sz="1300">
                <a:latin typeface="Arial MT"/>
                <a:cs typeface="Arial MT"/>
              </a:rPr>
              <a:t>entradas</a:t>
            </a:r>
            <a:r>
              <a:rPr dirty="0" sz="1300" spc="-2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correspondientes</a:t>
            </a:r>
            <a:r>
              <a:rPr dirty="0" sz="1300" spc="-2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de</a:t>
            </a:r>
            <a:r>
              <a:rPr dirty="0" sz="1300" spc="-2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la</a:t>
            </a:r>
            <a:r>
              <a:rPr dirty="0" sz="1300" spc="-2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tabla</a:t>
            </a:r>
            <a:r>
              <a:rPr dirty="0" sz="1300" spc="-20">
                <a:latin typeface="Arial MT"/>
                <a:cs typeface="Arial MT"/>
              </a:rPr>
              <a:t> </a:t>
            </a:r>
            <a:r>
              <a:rPr dirty="0" sz="1300" spc="-25">
                <a:latin typeface="Arial MT"/>
                <a:cs typeface="Arial MT"/>
              </a:rPr>
              <a:t>de </a:t>
            </a:r>
            <a:r>
              <a:rPr dirty="0" sz="1300">
                <a:latin typeface="Arial MT"/>
                <a:cs typeface="Arial MT"/>
              </a:rPr>
              <a:t>páginas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del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padre,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y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las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páginas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en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sí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mismas </a:t>
            </a:r>
            <a:r>
              <a:rPr dirty="0" sz="1300">
                <a:latin typeface="Arial MT"/>
                <a:cs typeface="Arial MT"/>
              </a:rPr>
              <a:t>se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marcan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como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de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solo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lectura.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454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40"/>
              </a:spcBef>
            </a:pPr>
            <a:r>
              <a:rPr dirty="0" spc="75"/>
              <a:t>COW:</a:t>
            </a:r>
            <a:r>
              <a:rPr dirty="0" spc="-125"/>
              <a:t> </a:t>
            </a:r>
            <a:r>
              <a:rPr dirty="0" spc="114"/>
              <a:t>Copy</a:t>
            </a:r>
            <a:r>
              <a:rPr dirty="0" spc="-185"/>
              <a:t> </a:t>
            </a:r>
            <a:r>
              <a:rPr dirty="0" spc="75"/>
              <a:t>on</a:t>
            </a:r>
            <a:r>
              <a:rPr dirty="0" spc="-185"/>
              <a:t> </a:t>
            </a:r>
            <a:r>
              <a:rPr dirty="0" spc="-10"/>
              <a:t>write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89089" y="1610409"/>
            <a:ext cx="4340603" cy="321273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4300" y="1795478"/>
            <a:ext cx="3465195" cy="2759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300">
                <a:latin typeface="Arial MT"/>
                <a:cs typeface="Arial MT"/>
              </a:rPr>
              <a:t>Después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del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88037"/>
                </a:solidFill>
                <a:latin typeface="Courier New"/>
                <a:cs typeface="Courier New"/>
              </a:rPr>
              <a:t>fork()</a:t>
            </a:r>
            <a:r>
              <a:rPr dirty="0" sz="1300">
                <a:latin typeface="Arial MT"/>
                <a:cs typeface="Arial MT"/>
              </a:rPr>
              <a:t>,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el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kernel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intercepta </a:t>
            </a:r>
            <a:r>
              <a:rPr dirty="0" sz="1300">
                <a:latin typeface="Arial MT"/>
                <a:cs typeface="Arial MT"/>
              </a:rPr>
              <a:t>cualquier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intento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del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padre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o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del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hijo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 spc="-25">
                <a:latin typeface="Arial MT"/>
                <a:cs typeface="Arial MT"/>
              </a:rPr>
              <a:t>de </a:t>
            </a:r>
            <a:r>
              <a:rPr dirty="0" sz="1300">
                <a:latin typeface="Arial MT"/>
                <a:cs typeface="Arial MT"/>
              </a:rPr>
              <a:t>modificar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una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de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estas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páginas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y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hace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 spc="-25">
                <a:latin typeface="Arial MT"/>
                <a:cs typeface="Arial MT"/>
              </a:rPr>
              <a:t>una </a:t>
            </a:r>
            <a:r>
              <a:rPr dirty="0" sz="1300">
                <a:latin typeface="Arial MT"/>
                <a:cs typeface="Arial MT"/>
              </a:rPr>
              <a:t>copia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duplicada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de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la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página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que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está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a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 spc="-20">
                <a:latin typeface="Arial MT"/>
                <a:cs typeface="Arial MT"/>
              </a:rPr>
              <a:t>punto </a:t>
            </a:r>
            <a:r>
              <a:rPr dirty="0" sz="1300">
                <a:latin typeface="Arial MT"/>
                <a:cs typeface="Arial MT"/>
              </a:rPr>
              <a:t>de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ser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modificada.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Esta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nueva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copia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de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 spc="-25">
                <a:latin typeface="Arial MT"/>
                <a:cs typeface="Arial MT"/>
              </a:rPr>
              <a:t>la </a:t>
            </a:r>
            <a:r>
              <a:rPr dirty="0" sz="1300">
                <a:latin typeface="Arial MT"/>
                <a:cs typeface="Arial MT"/>
              </a:rPr>
              <a:t>página</a:t>
            </a:r>
            <a:r>
              <a:rPr dirty="0" sz="1300" spc="-5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se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asigna</a:t>
            </a:r>
            <a:r>
              <a:rPr dirty="0" sz="1300" spc="-5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al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proceso</a:t>
            </a:r>
            <a:r>
              <a:rPr dirty="0" sz="1300" spc="-5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que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causó</a:t>
            </a:r>
            <a:r>
              <a:rPr dirty="0" sz="1300" spc="-5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el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fault, </a:t>
            </a:r>
            <a:r>
              <a:rPr dirty="0" sz="1300">
                <a:latin typeface="Arial MT"/>
                <a:cs typeface="Arial MT"/>
              </a:rPr>
              <a:t>y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la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entrada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correspondiente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de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la</a:t>
            </a:r>
            <a:r>
              <a:rPr dirty="0" sz="1300" spc="-3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tabla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 spc="-25">
                <a:latin typeface="Arial MT"/>
                <a:cs typeface="Arial MT"/>
              </a:rPr>
              <a:t>de </a:t>
            </a:r>
            <a:r>
              <a:rPr dirty="0" sz="1300">
                <a:latin typeface="Arial MT"/>
                <a:cs typeface="Arial MT"/>
              </a:rPr>
              <a:t>páginas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para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el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hijo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se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ajusta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de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manera </a:t>
            </a:r>
            <a:r>
              <a:rPr dirty="0" sz="1300" spc="-20">
                <a:latin typeface="Arial MT"/>
                <a:cs typeface="Arial MT"/>
              </a:rPr>
              <a:t>apropiada.</a:t>
            </a:r>
            <a:r>
              <a:rPr dirty="0" sz="1300" spc="-7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A</a:t>
            </a:r>
            <a:r>
              <a:rPr dirty="0" sz="1300" spc="-9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partir</a:t>
            </a:r>
            <a:r>
              <a:rPr dirty="0" sz="1300" spc="-2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de</a:t>
            </a:r>
            <a:r>
              <a:rPr dirty="0" sz="1300" spc="-2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este</a:t>
            </a:r>
            <a:r>
              <a:rPr dirty="0" sz="1300" spc="-2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punto,</a:t>
            </a:r>
            <a:r>
              <a:rPr dirty="0" sz="1300" spc="-2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el</a:t>
            </a:r>
            <a:r>
              <a:rPr dirty="0" sz="1300" spc="-2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padre</a:t>
            </a:r>
            <a:r>
              <a:rPr dirty="0" sz="1300" spc="-2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y</a:t>
            </a:r>
            <a:r>
              <a:rPr dirty="0" sz="1300" spc="-20">
                <a:latin typeface="Arial MT"/>
                <a:cs typeface="Arial MT"/>
              </a:rPr>
              <a:t> </a:t>
            </a:r>
            <a:r>
              <a:rPr dirty="0" sz="1300" spc="-25">
                <a:latin typeface="Arial MT"/>
                <a:cs typeface="Arial MT"/>
              </a:rPr>
              <a:t>el </a:t>
            </a:r>
            <a:r>
              <a:rPr dirty="0" sz="1300">
                <a:latin typeface="Arial MT"/>
                <a:cs typeface="Arial MT"/>
              </a:rPr>
              <a:t>hijo</a:t>
            </a:r>
            <a:r>
              <a:rPr dirty="0" sz="1300" spc="-5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pueden</a:t>
            </a:r>
            <a:r>
              <a:rPr dirty="0" sz="1300" spc="-5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modificar</a:t>
            </a:r>
            <a:r>
              <a:rPr dirty="0" sz="1300" spc="-5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sus</a:t>
            </a:r>
            <a:r>
              <a:rPr dirty="0" sz="1300" spc="-5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copias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privadas</a:t>
            </a:r>
            <a:r>
              <a:rPr dirty="0" sz="1300" spc="-50">
                <a:latin typeface="Arial MT"/>
                <a:cs typeface="Arial MT"/>
              </a:rPr>
              <a:t> </a:t>
            </a:r>
            <a:r>
              <a:rPr dirty="0" sz="1300" spc="-25">
                <a:latin typeface="Arial MT"/>
                <a:cs typeface="Arial MT"/>
              </a:rPr>
              <a:t>de</a:t>
            </a:r>
            <a:r>
              <a:rPr dirty="0" sz="1300" spc="50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la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página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sin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que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los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cambios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sean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visibles </a:t>
            </a:r>
            <a:r>
              <a:rPr dirty="0" sz="1300">
                <a:latin typeface="Arial MT"/>
                <a:cs typeface="Arial MT"/>
              </a:rPr>
              <a:t>para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el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otro</a:t>
            </a:r>
            <a:r>
              <a:rPr dirty="0" sz="1300" spc="-35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proceso.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2475" y="1379787"/>
            <a:ext cx="756285" cy="3822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2300" spc="190" b="1">
                <a:solidFill>
                  <a:srgbClr val="1A1A1A"/>
                </a:solidFill>
                <a:latin typeface="Trebuchet MS"/>
                <a:cs typeface="Trebuchet MS"/>
              </a:rPr>
              <a:t>COW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2475" y="2144280"/>
            <a:ext cx="228536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20" b="1">
                <a:solidFill>
                  <a:srgbClr val="595959"/>
                </a:solidFill>
                <a:latin typeface="Tahoma"/>
                <a:cs typeface="Tahoma"/>
              </a:rPr>
              <a:t>Implementacion</a:t>
            </a:r>
            <a:r>
              <a:rPr dirty="0" sz="1500" spc="-6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10" b="1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500" spc="-6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500" spc="-180" b="1">
                <a:solidFill>
                  <a:srgbClr val="595959"/>
                </a:solidFill>
                <a:latin typeface="Tahoma"/>
                <a:cs typeface="Tahoma"/>
              </a:rPr>
              <a:t>RISC-</a:t>
            </a:r>
            <a:r>
              <a:rPr dirty="0" sz="1500" b="1">
                <a:solidFill>
                  <a:srgbClr val="595959"/>
                </a:solidFill>
                <a:latin typeface="Tahoma"/>
                <a:cs typeface="Tahoma"/>
              </a:rPr>
              <a:t>V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02100" y="2471324"/>
            <a:ext cx="6343650" cy="2261870"/>
            <a:chOff x="1402100" y="2471324"/>
            <a:chExt cx="6343650" cy="22618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2100" y="2471324"/>
              <a:ext cx="6343401" cy="22618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193774" y="3308924"/>
              <a:ext cx="712470" cy="151130"/>
            </a:xfrm>
            <a:custGeom>
              <a:avLst/>
              <a:gdLst/>
              <a:ahLst/>
              <a:cxnLst/>
              <a:rect l="l" t="t" r="r" b="b"/>
              <a:pathLst>
                <a:path w="712470" h="151129">
                  <a:moveTo>
                    <a:pt x="0" y="0"/>
                  </a:moveTo>
                  <a:lnTo>
                    <a:pt x="712199" y="0"/>
                  </a:lnTo>
                  <a:lnTo>
                    <a:pt x="712199" y="150899"/>
                  </a:lnTo>
                  <a:lnTo>
                    <a:pt x="0" y="1508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5012690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80"/>
              <a:t>Velocidad</a:t>
            </a:r>
            <a:r>
              <a:rPr dirty="0" spc="-25"/>
              <a:t> </a:t>
            </a:r>
            <a:r>
              <a:rPr dirty="0" spc="114"/>
              <a:t>de</a:t>
            </a:r>
            <a:r>
              <a:rPr dirty="0" spc="-25"/>
              <a:t> </a:t>
            </a:r>
            <a:r>
              <a:rPr dirty="0"/>
              <a:t>creación</a:t>
            </a:r>
            <a:r>
              <a:rPr dirty="0" spc="-25"/>
              <a:t> </a:t>
            </a:r>
            <a:r>
              <a:rPr dirty="0" spc="114"/>
              <a:t>de</a:t>
            </a:r>
            <a:r>
              <a:rPr dirty="0" spc="-25"/>
              <a:t> </a:t>
            </a:r>
            <a:r>
              <a:rPr dirty="0" spc="85"/>
              <a:t>procesos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9498" y="1879821"/>
            <a:ext cx="5417138" cy="3027242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5200650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/>
              <a:t>Native</a:t>
            </a:r>
            <a:r>
              <a:rPr dirty="0" spc="-20"/>
              <a:t> </a:t>
            </a:r>
            <a:r>
              <a:rPr dirty="0" spc="120"/>
              <a:t>POSIX</a:t>
            </a:r>
            <a:r>
              <a:rPr dirty="0" spc="-130"/>
              <a:t> </a:t>
            </a:r>
            <a:r>
              <a:rPr dirty="0" spc="65"/>
              <a:t>Threads</a:t>
            </a:r>
            <a:r>
              <a:rPr dirty="0" spc="-15"/>
              <a:t> </a:t>
            </a:r>
            <a:r>
              <a:rPr dirty="0"/>
              <a:t>Library</a:t>
            </a:r>
            <a:r>
              <a:rPr dirty="0" spc="-85"/>
              <a:t> </a:t>
            </a:r>
            <a:r>
              <a:rPr dirty="0" spc="-10"/>
              <a:t>(NPTL)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2475" y="2355622"/>
            <a:ext cx="6975475" cy="2038985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5"/>
              </a:spcBef>
            </a:pPr>
            <a:r>
              <a:rPr dirty="0" sz="1600">
                <a:solidFill>
                  <a:srgbClr val="595959"/>
                </a:solidFill>
                <a:latin typeface="Courier New"/>
                <a:cs typeface="Courier New"/>
              </a:rPr>
              <a:t>clone(CLONE_VM</a:t>
            </a:r>
            <a:r>
              <a:rPr dirty="0" sz="1600" spc="-105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600">
                <a:solidFill>
                  <a:srgbClr val="595959"/>
                </a:solidFill>
                <a:latin typeface="Courier New"/>
                <a:cs typeface="Courier New"/>
              </a:rPr>
              <a:t>|</a:t>
            </a:r>
            <a:r>
              <a:rPr dirty="0" sz="1600" spc="-10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600">
                <a:solidFill>
                  <a:srgbClr val="595959"/>
                </a:solidFill>
                <a:latin typeface="Courier New"/>
                <a:cs typeface="Courier New"/>
              </a:rPr>
              <a:t>CLONE_FILES</a:t>
            </a:r>
            <a:r>
              <a:rPr dirty="0" sz="1600" spc="-105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600">
                <a:solidFill>
                  <a:srgbClr val="595959"/>
                </a:solidFill>
                <a:latin typeface="Courier New"/>
                <a:cs typeface="Courier New"/>
              </a:rPr>
              <a:t>|</a:t>
            </a:r>
            <a:r>
              <a:rPr dirty="0" sz="1600" spc="-10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600">
                <a:solidFill>
                  <a:srgbClr val="595959"/>
                </a:solidFill>
                <a:latin typeface="Courier New"/>
                <a:cs typeface="Courier New"/>
              </a:rPr>
              <a:t>CLONE_FS</a:t>
            </a:r>
            <a:r>
              <a:rPr dirty="0" sz="1600" spc="-105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600">
                <a:solidFill>
                  <a:srgbClr val="595959"/>
                </a:solidFill>
                <a:latin typeface="Courier New"/>
                <a:cs typeface="Courier New"/>
              </a:rPr>
              <a:t>|</a:t>
            </a:r>
            <a:r>
              <a:rPr dirty="0" sz="1600" spc="-10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600">
                <a:solidFill>
                  <a:srgbClr val="595959"/>
                </a:solidFill>
                <a:latin typeface="Courier New"/>
                <a:cs typeface="Courier New"/>
              </a:rPr>
              <a:t>CLONE_SIGHAND</a:t>
            </a:r>
            <a:r>
              <a:rPr dirty="0" sz="1600" spc="-105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600" spc="-50">
                <a:solidFill>
                  <a:srgbClr val="595959"/>
                </a:solidFill>
                <a:latin typeface="Courier New"/>
                <a:cs typeface="Courier New"/>
              </a:rPr>
              <a:t>| </a:t>
            </a:r>
            <a:r>
              <a:rPr dirty="0" sz="1600" b="1">
                <a:solidFill>
                  <a:srgbClr val="595959"/>
                </a:solidFill>
                <a:latin typeface="Courier New"/>
                <a:cs typeface="Courier New"/>
              </a:rPr>
              <a:t>CLONE_THREAD</a:t>
            </a:r>
            <a:r>
              <a:rPr dirty="0" sz="1600" spc="-95" b="1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600">
                <a:solidFill>
                  <a:srgbClr val="595959"/>
                </a:solidFill>
                <a:latin typeface="Courier New"/>
                <a:cs typeface="Courier New"/>
              </a:rPr>
              <a:t>|</a:t>
            </a:r>
            <a:r>
              <a:rPr dirty="0" sz="1600" spc="-95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600">
                <a:solidFill>
                  <a:srgbClr val="595959"/>
                </a:solidFill>
                <a:latin typeface="Courier New"/>
                <a:cs typeface="Courier New"/>
              </a:rPr>
              <a:t>CLONE_SETTLS</a:t>
            </a:r>
            <a:r>
              <a:rPr dirty="0" sz="1600" spc="-95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600">
                <a:solidFill>
                  <a:srgbClr val="595959"/>
                </a:solidFill>
                <a:latin typeface="Courier New"/>
                <a:cs typeface="Courier New"/>
              </a:rPr>
              <a:t>|</a:t>
            </a:r>
            <a:r>
              <a:rPr dirty="0" sz="1600" spc="-9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Courier New"/>
                <a:cs typeface="Courier New"/>
              </a:rPr>
              <a:t>CLONE_PARENT_SETTID</a:t>
            </a:r>
            <a:r>
              <a:rPr dirty="0" sz="1600" spc="-95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600" spc="-50">
                <a:solidFill>
                  <a:srgbClr val="595959"/>
                </a:solidFill>
                <a:latin typeface="Courier New"/>
                <a:cs typeface="Courier New"/>
              </a:rPr>
              <a:t>| </a:t>
            </a:r>
            <a:r>
              <a:rPr dirty="0" sz="1600" spc="-10">
                <a:solidFill>
                  <a:srgbClr val="595959"/>
                </a:solidFill>
                <a:latin typeface="Courier New"/>
                <a:cs typeface="Courier New"/>
              </a:rPr>
              <a:t>CLONE_CHILD_CLEARTID</a:t>
            </a:r>
            <a:r>
              <a:rPr dirty="0" sz="1600" spc="-105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600">
                <a:solidFill>
                  <a:srgbClr val="595959"/>
                </a:solidFill>
                <a:latin typeface="Courier New"/>
                <a:cs typeface="Courier New"/>
              </a:rPr>
              <a:t>|</a:t>
            </a:r>
            <a:r>
              <a:rPr dirty="0" sz="1600" spc="-105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600">
                <a:solidFill>
                  <a:srgbClr val="595959"/>
                </a:solidFill>
                <a:latin typeface="Courier New"/>
                <a:cs typeface="Courier New"/>
              </a:rPr>
              <a:t>CLONE_SYSVSEM,</a:t>
            </a:r>
            <a:r>
              <a:rPr dirty="0" sz="1600" spc="-105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600" spc="-25">
                <a:solidFill>
                  <a:srgbClr val="595959"/>
                </a:solidFill>
                <a:latin typeface="Courier New"/>
                <a:cs typeface="Courier New"/>
              </a:rPr>
              <a:t>0)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800" spc="-3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puede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comprobar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si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25">
                <a:solidFill>
                  <a:srgbClr val="595959"/>
                </a:solidFill>
                <a:latin typeface="Tahoma"/>
                <a:cs typeface="Tahoma"/>
              </a:rPr>
              <a:t>se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está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usando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en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el</a:t>
            </a:r>
            <a:r>
              <a:rPr dirty="0" sz="1800" spc="-204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595959"/>
                </a:solidFill>
                <a:latin typeface="Tahoma"/>
                <a:cs typeface="Tahoma"/>
              </a:rPr>
              <a:t>sistema</a:t>
            </a:r>
            <a:r>
              <a:rPr dirty="0" sz="1800" spc="-2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595959"/>
                </a:solidFill>
                <a:latin typeface="Tahoma"/>
                <a:cs typeface="Tahoma"/>
              </a:rPr>
              <a:t>ejecutando:</a:t>
            </a:r>
            <a:endParaRPr sz="18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1315"/>
              </a:spcBef>
            </a:pPr>
            <a:r>
              <a:rPr dirty="0" sz="1600">
                <a:solidFill>
                  <a:srgbClr val="595959"/>
                </a:solidFill>
                <a:latin typeface="Courier New"/>
                <a:cs typeface="Courier New"/>
              </a:rPr>
              <a:t>$</a:t>
            </a:r>
            <a:r>
              <a:rPr dirty="0" sz="1600" spc="-15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dirty="0" sz="1600" spc="-10">
                <a:solidFill>
                  <a:srgbClr val="595959"/>
                </a:solidFill>
                <a:latin typeface="Courier New"/>
                <a:cs typeface="Courier New"/>
              </a:rPr>
              <a:t>/lib/libc.so.6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4624070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55"/>
              <a:t>Thread</a:t>
            </a:r>
            <a:r>
              <a:rPr dirty="0"/>
              <a:t> Groups: </a:t>
            </a:r>
            <a:r>
              <a:rPr dirty="0" spc="90"/>
              <a:t>CLONE_THREAD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9280" y="1979758"/>
            <a:ext cx="5372079" cy="2656061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357822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70"/>
              <a:t>Viendo</a:t>
            </a:r>
            <a:r>
              <a:rPr dirty="0" spc="-70"/>
              <a:t> </a:t>
            </a:r>
            <a:r>
              <a:rPr dirty="0" spc="105"/>
              <a:t>los</a:t>
            </a:r>
            <a:r>
              <a:rPr dirty="0" spc="-145"/>
              <a:t> </a:t>
            </a:r>
            <a:r>
              <a:rPr dirty="0"/>
              <a:t>Threads:</a:t>
            </a:r>
            <a:r>
              <a:rPr dirty="0" spc="-70"/>
              <a:t> </a:t>
            </a:r>
            <a:r>
              <a:rPr dirty="0" spc="150"/>
              <a:t>ps</a:t>
            </a:r>
            <a:r>
              <a:rPr dirty="0" spc="-70"/>
              <a:t> </a:t>
            </a:r>
            <a:r>
              <a:rPr dirty="0" spc="145"/>
              <a:t>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9256" y="1888528"/>
            <a:ext cx="4681529" cy="3051672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2475" y="1379787"/>
            <a:ext cx="3593465" cy="38227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70"/>
              <a:t>Viendo</a:t>
            </a:r>
            <a:r>
              <a:rPr dirty="0" spc="-70"/>
              <a:t> </a:t>
            </a:r>
            <a:r>
              <a:rPr dirty="0" spc="105"/>
              <a:t>los</a:t>
            </a:r>
            <a:r>
              <a:rPr dirty="0" spc="-140"/>
              <a:t> </a:t>
            </a:r>
            <a:r>
              <a:rPr dirty="0"/>
              <a:t>Threads:</a:t>
            </a:r>
            <a:r>
              <a:rPr dirty="0" spc="-70"/>
              <a:t> </a:t>
            </a:r>
            <a:r>
              <a:rPr dirty="0" spc="150"/>
              <a:t>ps</a:t>
            </a:r>
            <a:r>
              <a:rPr dirty="0" spc="-65"/>
              <a:t> </a:t>
            </a:r>
            <a:r>
              <a:rPr dirty="0" spc="-10"/>
              <a:t>-</a:t>
            </a:r>
            <a:r>
              <a:rPr dirty="0" spc="-50"/>
              <a:t>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4437" y="2099750"/>
            <a:ext cx="7000874" cy="2219324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A99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30389" y="1191259"/>
            <a:ext cx="746125" cy="46355"/>
          </a:xfrm>
          <a:custGeom>
            <a:avLst/>
            <a:gdLst/>
            <a:ahLst/>
            <a:cxnLst/>
            <a:rect l="l" t="t" r="r" b="b"/>
            <a:pathLst>
              <a:path w="746125" h="46355">
                <a:moveTo>
                  <a:pt x="745756" y="0"/>
                </a:moveTo>
                <a:lnTo>
                  <a:pt x="376008" y="0"/>
                </a:lnTo>
                <a:lnTo>
                  <a:pt x="372897" y="0"/>
                </a:lnTo>
                <a:lnTo>
                  <a:pt x="0" y="0"/>
                </a:lnTo>
                <a:lnTo>
                  <a:pt x="0" y="45834"/>
                </a:lnTo>
                <a:lnTo>
                  <a:pt x="372897" y="45834"/>
                </a:lnTo>
                <a:lnTo>
                  <a:pt x="376008" y="45834"/>
                </a:lnTo>
                <a:lnTo>
                  <a:pt x="745756" y="45834"/>
                </a:lnTo>
                <a:lnTo>
                  <a:pt x="7457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02475" y="1377186"/>
            <a:ext cx="255778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50">
                <a:solidFill>
                  <a:srgbClr val="FFFFFF"/>
                </a:solidFill>
              </a:rPr>
              <a:t>Bibliografía</a:t>
            </a:r>
            <a:endParaRPr sz="360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51150" y="60223"/>
            <a:ext cx="1798320" cy="40957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00" spc="40"/>
              <a:t>Bibliografía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796324" y="841649"/>
            <a:ext cx="7230109" cy="3968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80" b="1">
                <a:solidFill>
                  <a:srgbClr val="595959"/>
                </a:solidFill>
                <a:latin typeface="Tahoma"/>
                <a:cs typeface="Tahoma"/>
              </a:rPr>
              <a:t>Completely</a:t>
            </a:r>
            <a:r>
              <a:rPr dirty="0" sz="1300" spc="-7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60" b="1">
                <a:solidFill>
                  <a:srgbClr val="595959"/>
                </a:solidFill>
                <a:latin typeface="Tahoma"/>
                <a:cs typeface="Tahoma"/>
              </a:rPr>
              <a:t>Fair</a:t>
            </a:r>
            <a:r>
              <a:rPr dirty="0" sz="1300" spc="-7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595959"/>
                </a:solidFill>
                <a:latin typeface="Tahoma"/>
                <a:cs typeface="Tahoma"/>
              </a:rPr>
              <a:t>Scheduler</a:t>
            </a:r>
            <a:endParaRPr sz="1300">
              <a:latin typeface="Tahoma"/>
              <a:cs typeface="Tahoma"/>
            </a:endParaRPr>
          </a:p>
          <a:p>
            <a:pPr marL="469265" indent="-327660">
              <a:lnSpc>
                <a:spcPct val="100000"/>
              </a:lnSpc>
              <a:spcBef>
                <a:spcPts val="124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300" spc="-85" b="1">
                <a:solidFill>
                  <a:srgbClr val="595959"/>
                </a:solidFill>
                <a:latin typeface="Tahoma"/>
                <a:cs typeface="Tahoma"/>
              </a:rPr>
              <a:t>Linux</a:t>
            </a:r>
            <a:r>
              <a:rPr dirty="0" sz="1300" spc="-7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80" b="1">
                <a:solidFill>
                  <a:srgbClr val="595959"/>
                </a:solidFill>
                <a:latin typeface="Tahoma"/>
                <a:cs typeface="Tahoma"/>
              </a:rPr>
              <a:t>kernel</a:t>
            </a:r>
            <a:r>
              <a:rPr dirty="0" sz="1300" spc="-7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90" b="1">
                <a:solidFill>
                  <a:srgbClr val="595959"/>
                </a:solidFill>
                <a:latin typeface="Tahoma"/>
                <a:cs typeface="Tahoma"/>
              </a:rPr>
              <a:t>development</a:t>
            </a:r>
            <a:r>
              <a:rPr dirty="0" sz="1300" spc="-7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/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Robert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35">
                <a:solidFill>
                  <a:srgbClr val="595959"/>
                </a:solidFill>
                <a:latin typeface="Tahoma"/>
                <a:cs typeface="Tahoma"/>
              </a:rPr>
              <a:t>Love.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40">
                <a:solidFill>
                  <a:srgbClr val="595959"/>
                </a:solidFill>
                <a:latin typeface="Tahoma"/>
                <a:cs typeface="Tahoma"/>
              </a:rPr>
              <a:t>—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3rd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ed.</a:t>
            </a:r>
            <a:endParaRPr sz="1300">
              <a:latin typeface="Tahoma"/>
              <a:cs typeface="Tahoma"/>
            </a:endParaRPr>
          </a:p>
          <a:p>
            <a:pPr lvl="1" marL="926465" indent="-327660">
              <a:lnSpc>
                <a:spcPct val="100000"/>
              </a:lnSpc>
              <a:spcBef>
                <a:spcPts val="45"/>
              </a:spcBef>
              <a:buSzPct val="118181"/>
              <a:buFont typeface="Arial MT"/>
              <a:buChar char="○"/>
              <a:tabLst>
                <a:tab pos="926465" algn="l"/>
              </a:tabLst>
            </a:pPr>
            <a:r>
              <a:rPr dirty="0" sz="1100">
                <a:solidFill>
                  <a:srgbClr val="595959"/>
                </a:solidFill>
                <a:latin typeface="Tahoma"/>
                <a:cs typeface="Tahoma"/>
              </a:rPr>
              <a:t>Capítulo</a:t>
            </a:r>
            <a:r>
              <a:rPr dirty="0" sz="11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595959"/>
                </a:solidFill>
                <a:latin typeface="Tahoma"/>
                <a:cs typeface="Tahoma"/>
              </a:rPr>
              <a:t>4</a:t>
            </a:r>
            <a:r>
              <a:rPr dirty="0" sz="11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11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595959"/>
                </a:solidFill>
                <a:latin typeface="Tahoma"/>
                <a:cs typeface="Tahoma"/>
              </a:rPr>
              <a:t>Process</a:t>
            </a:r>
            <a:r>
              <a:rPr dirty="0" sz="1100" spc="-6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Tahoma"/>
                <a:cs typeface="Tahoma"/>
              </a:rPr>
              <a:t>Scheduling</a:t>
            </a:r>
            <a:endParaRPr sz="1100">
              <a:latin typeface="Tahoma"/>
              <a:cs typeface="Tahoma"/>
            </a:endParaRPr>
          </a:p>
          <a:p>
            <a:pPr marL="469265" indent="-327660">
              <a:lnSpc>
                <a:spcPct val="100000"/>
              </a:lnSpc>
              <a:spcBef>
                <a:spcPts val="1290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300" spc="-75" b="1">
                <a:solidFill>
                  <a:srgbClr val="595959"/>
                </a:solidFill>
                <a:latin typeface="Tahoma"/>
                <a:cs typeface="Tahoma"/>
              </a:rPr>
              <a:t>Professional</a:t>
            </a:r>
            <a:r>
              <a:rPr dirty="0" sz="1300" spc="-8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85" b="1">
                <a:solidFill>
                  <a:srgbClr val="595959"/>
                </a:solidFill>
                <a:latin typeface="Tahoma"/>
                <a:cs typeface="Tahoma"/>
              </a:rPr>
              <a:t>Linux</a:t>
            </a:r>
            <a:r>
              <a:rPr dirty="0" sz="1300" spc="-80" b="1">
                <a:solidFill>
                  <a:srgbClr val="595959"/>
                </a:solidFill>
                <a:latin typeface="Tahoma"/>
                <a:cs typeface="Tahoma"/>
              </a:rPr>
              <a:t> kernel architecture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/</a:t>
            </a:r>
            <a:r>
              <a:rPr dirty="0" sz="1300" spc="-11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Wolfgang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Mauerer.</a:t>
            </a:r>
            <a:endParaRPr sz="1300">
              <a:latin typeface="Tahoma"/>
              <a:cs typeface="Tahoma"/>
            </a:endParaRPr>
          </a:p>
          <a:p>
            <a:pPr lvl="1" marL="926465" indent="-327660">
              <a:lnSpc>
                <a:spcPct val="100000"/>
              </a:lnSpc>
              <a:spcBef>
                <a:spcPts val="45"/>
              </a:spcBef>
              <a:buSzPct val="118181"/>
              <a:buFont typeface="Arial MT"/>
              <a:buChar char="○"/>
              <a:tabLst>
                <a:tab pos="926465" algn="l"/>
              </a:tabLst>
            </a:pPr>
            <a:r>
              <a:rPr dirty="0" sz="1100">
                <a:solidFill>
                  <a:srgbClr val="595959"/>
                </a:solidFill>
                <a:latin typeface="Tahoma"/>
                <a:cs typeface="Tahoma"/>
              </a:rPr>
              <a:t>Chapter</a:t>
            </a:r>
            <a:r>
              <a:rPr dirty="0" sz="11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595959"/>
                </a:solidFill>
                <a:latin typeface="Tahoma"/>
                <a:cs typeface="Tahoma"/>
              </a:rPr>
              <a:t>2:</a:t>
            </a:r>
            <a:r>
              <a:rPr dirty="0" sz="11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595959"/>
                </a:solidFill>
                <a:latin typeface="Tahoma"/>
                <a:cs typeface="Tahoma"/>
              </a:rPr>
              <a:t>Process</a:t>
            </a:r>
            <a:r>
              <a:rPr dirty="0" sz="11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595959"/>
                </a:solidFill>
                <a:latin typeface="Tahoma"/>
                <a:cs typeface="Tahoma"/>
              </a:rPr>
              <a:t>Management</a:t>
            </a:r>
            <a:r>
              <a:rPr dirty="0" sz="1100" spc="-7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Tahoma"/>
                <a:cs typeface="Tahoma"/>
              </a:rPr>
              <a:t>and</a:t>
            </a:r>
            <a:r>
              <a:rPr dirty="0" sz="1100" spc="-7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Tahoma"/>
                <a:cs typeface="Tahoma"/>
              </a:rPr>
              <a:t>Scheduling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dirty="0" sz="1300" spc="-10" b="1">
                <a:solidFill>
                  <a:srgbClr val="595959"/>
                </a:solidFill>
                <a:latin typeface="Tahoma"/>
                <a:cs typeface="Tahoma"/>
              </a:rPr>
              <a:t>Threads</a:t>
            </a:r>
            <a:endParaRPr sz="1300">
              <a:latin typeface="Tahoma"/>
              <a:cs typeface="Tahoma"/>
            </a:endParaRPr>
          </a:p>
          <a:p>
            <a:pPr marL="469900" marR="5080" indent="-328295">
              <a:lnSpc>
                <a:spcPts val="1400"/>
              </a:lnSpc>
              <a:spcBef>
                <a:spcPts val="1430"/>
              </a:spcBef>
              <a:buFont typeface="Arial MT"/>
              <a:buChar char="●"/>
              <a:tabLst>
                <a:tab pos="469900" algn="l"/>
              </a:tabLst>
            </a:pPr>
            <a:r>
              <a:rPr dirty="0" sz="1300" spc="-80" b="1">
                <a:solidFill>
                  <a:srgbClr val="595959"/>
                </a:solidFill>
                <a:latin typeface="Tahoma"/>
                <a:cs typeface="Tahoma"/>
              </a:rPr>
              <a:t>Operating </a:t>
            </a:r>
            <a:r>
              <a:rPr dirty="0" sz="1300" spc="-100" b="1">
                <a:solidFill>
                  <a:srgbClr val="595959"/>
                </a:solidFill>
                <a:latin typeface="Tahoma"/>
                <a:cs typeface="Tahoma"/>
              </a:rPr>
              <a:t>Systems</a:t>
            </a:r>
            <a:r>
              <a:rPr dirty="0" sz="1300" spc="-7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70" b="1">
                <a:solidFill>
                  <a:srgbClr val="595959"/>
                </a:solidFill>
                <a:latin typeface="Tahoma"/>
                <a:cs typeface="Tahoma"/>
              </a:rPr>
              <a:t>Principles</a:t>
            </a:r>
            <a:r>
              <a:rPr dirty="0" sz="1300" spc="-7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95" b="1">
                <a:solidFill>
                  <a:srgbClr val="595959"/>
                </a:solidFill>
                <a:latin typeface="Tahoma"/>
                <a:cs typeface="Tahoma"/>
              </a:rPr>
              <a:t>and</a:t>
            </a:r>
            <a:r>
              <a:rPr dirty="0" sz="1300" spc="-75" b="1">
                <a:solidFill>
                  <a:srgbClr val="595959"/>
                </a:solidFill>
                <a:latin typeface="Tahoma"/>
                <a:cs typeface="Tahoma"/>
              </a:rPr>
              <a:t> Practice,</a:t>
            </a:r>
            <a:r>
              <a:rPr dirty="0" sz="1300" spc="-7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90" b="1">
                <a:solidFill>
                  <a:srgbClr val="595959"/>
                </a:solidFill>
                <a:latin typeface="Tahoma"/>
                <a:cs typeface="Tahoma"/>
              </a:rPr>
              <a:t>Volume</a:t>
            </a:r>
            <a:r>
              <a:rPr dirty="0" sz="1300" spc="-8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10" b="1">
                <a:solidFill>
                  <a:srgbClr val="595959"/>
                </a:solidFill>
                <a:latin typeface="Tahoma"/>
                <a:cs typeface="Tahoma"/>
              </a:rPr>
              <a:t>2:</a:t>
            </a:r>
            <a:r>
              <a:rPr dirty="0" sz="1300" spc="-7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80" b="1">
                <a:solidFill>
                  <a:srgbClr val="595959"/>
                </a:solidFill>
                <a:latin typeface="Tahoma"/>
                <a:cs typeface="Tahoma"/>
              </a:rPr>
              <a:t>Concurrency</a:t>
            </a:r>
            <a:r>
              <a:rPr dirty="0" sz="1300" spc="-7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/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Michael</a:t>
            </a:r>
            <a:r>
              <a:rPr dirty="0" sz="1300" spc="-10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Dahlin,</a:t>
            </a:r>
            <a:r>
              <a:rPr dirty="0" sz="1300" spc="-10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Thomas Anderson</a:t>
            </a:r>
            <a:endParaRPr sz="1300">
              <a:latin typeface="Tahoma"/>
              <a:cs typeface="Tahoma"/>
            </a:endParaRPr>
          </a:p>
          <a:p>
            <a:pPr lvl="1" marL="926465" indent="-327660">
              <a:lnSpc>
                <a:spcPct val="100000"/>
              </a:lnSpc>
              <a:spcBef>
                <a:spcPts val="25"/>
              </a:spcBef>
              <a:buSzPct val="118181"/>
              <a:buFont typeface="Arial MT"/>
              <a:buChar char="○"/>
              <a:tabLst>
                <a:tab pos="926465" algn="l"/>
              </a:tabLst>
            </a:pPr>
            <a:r>
              <a:rPr dirty="0" sz="1100">
                <a:solidFill>
                  <a:srgbClr val="595959"/>
                </a:solidFill>
                <a:latin typeface="Tahoma"/>
                <a:cs typeface="Tahoma"/>
              </a:rPr>
              <a:t>Chapter</a:t>
            </a:r>
            <a:r>
              <a:rPr dirty="0" sz="11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595959"/>
                </a:solidFill>
                <a:latin typeface="Tahoma"/>
                <a:cs typeface="Tahoma"/>
              </a:rPr>
              <a:t>4</a:t>
            </a:r>
            <a:r>
              <a:rPr dirty="0" sz="11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595959"/>
                </a:solidFill>
                <a:latin typeface="Tahoma"/>
                <a:cs typeface="Tahoma"/>
              </a:rPr>
              <a:t>-</a:t>
            </a:r>
            <a:r>
              <a:rPr dirty="0" sz="11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595959"/>
                </a:solidFill>
                <a:latin typeface="Tahoma"/>
                <a:cs typeface="Tahoma"/>
              </a:rPr>
              <a:t>Concurrency</a:t>
            </a:r>
            <a:r>
              <a:rPr dirty="0" sz="11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Tahoma"/>
                <a:cs typeface="Tahoma"/>
              </a:rPr>
              <a:t>and</a:t>
            </a:r>
            <a:r>
              <a:rPr dirty="0" sz="1100" spc="-6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Tahoma"/>
                <a:cs typeface="Tahoma"/>
              </a:rPr>
              <a:t>Threads</a:t>
            </a:r>
            <a:endParaRPr sz="11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140"/>
              </a:spcBef>
              <a:buClr>
                <a:srgbClr val="595959"/>
              </a:buClr>
              <a:buFont typeface="Arial MT"/>
              <a:buChar char="○"/>
            </a:pPr>
            <a:endParaRPr sz="1100">
              <a:latin typeface="Tahoma"/>
              <a:cs typeface="Tahoma"/>
            </a:endParaRPr>
          </a:p>
          <a:p>
            <a:pPr marL="469900" marR="274955" indent="-328295">
              <a:lnSpc>
                <a:spcPts val="1400"/>
              </a:lnSpc>
              <a:buFont typeface="Arial MT"/>
              <a:buChar char="●"/>
              <a:tabLst>
                <a:tab pos="469900" algn="l"/>
              </a:tabLst>
            </a:pPr>
            <a:r>
              <a:rPr dirty="0" sz="1300" spc="-85" b="1">
                <a:solidFill>
                  <a:srgbClr val="595959"/>
                </a:solidFill>
                <a:latin typeface="Tahoma"/>
                <a:cs typeface="Tahoma"/>
              </a:rPr>
              <a:t>The</a:t>
            </a:r>
            <a:r>
              <a:rPr dirty="0" sz="1300" spc="-10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85" b="1">
                <a:solidFill>
                  <a:srgbClr val="595959"/>
                </a:solidFill>
                <a:latin typeface="Tahoma"/>
                <a:cs typeface="Tahoma"/>
              </a:rPr>
              <a:t>Linux</a:t>
            </a:r>
            <a:r>
              <a:rPr dirty="0" sz="1300" spc="-9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10" b="1">
                <a:solidFill>
                  <a:srgbClr val="595959"/>
                </a:solidFill>
                <a:latin typeface="Tahoma"/>
                <a:cs typeface="Tahoma"/>
              </a:rPr>
              <a:t>programming</a:t>
            </a:r>
            <a:r>
              <a:rPr dirty="0" sz="1300" spc="-9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75" b="1">
                <a:solidFill>
                  <a:srgbClr val="595959"/>
                </a:solidFill>
                <a:latin typeface="Tahoma"/>
                <a:cs typeface="Tahoma"/>
              </a:rPr>
              <a:t>interface</a:t>
            </a:r>
            <a:r>
              <a:rPr dirty="0" sz="1300" spc="-9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40" b="1">
                <a:solidFill>
                  <a:srgbClr val="595959"/>
                </a:solidFill>
                <a:latin typeface="Tahoma"/>
                <a:cs typeface="Tahoma"/>
              </a:rPr>
              <a:t>:</a:t>
            </a:r>
            <a:r>
              <a:rPr dirty="0" sz="1300" spc="-9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10" b="1">
                <a:solidFill>
                  <a:srgbClr val="595959"/>
                </a:solidFill>
                <a:latin typeface="Tahoma"/>
                <a:cs typeface="Tahoma"/>
              </a:rPr>
              <a:t>a</a:t>
            </a:r>
            <a:r>
              <a:rPr dirty="0" sz="1300" spc="-9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85" b="1">
                <a:solidFill>
                  <a:srgbClr val="595959"/>
                </a:solidFill>
                <a:latin typeface="Tahoma"/>
                <a:cs typeface="Tahoma"/>
              </a:rPr>
              <a:t>Linux</a:t>
            </a:r>
            <a:r>
              <a:rPr dirty="0" sz="1300" spc="-9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95" b="1">
                <a:solidFill>
                  <a:srgbClr val="595959"/>
                </a:solidFill>
                <a:latin typeface="Tahoma"/>
                <a:cs typeface="Tahoma"/>
              </a:rPr>
              <a:t>and</a:t>
            </a:r>
            <a:r>
              <a:rPr dirty="0" sz="1300" spc="-9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75" b="1">
                <a:solidFill>
                  <a:srgbClr val="595959"/>
                </a:solidFill>
                <a:latin typeface="Tahoma"/>
                <a:cs typeface="Tahoma"/>
              </a:rPr>
              <a:t>UNIX</a:t>
            </a:r>
            <a:r>
              <a:rPr dirty="0" sz="1300" spc="-9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0" b="1">
                <a:solidFill>
                  <a:srgbClr val="595959"/>
                </a:solidFill>
                <a:latin typeface="Tahoma"/>
                <a:cs typeface="Tahoma"/>
              </a:rPr>
              <a:t>system</a:t>
            </a:r>
            <a:r>
              <a:rPr dirty="0" sz="1300" spc="-9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10" b="1">
                <a:solidFill>
                  <a:srgbClr val="595959"/>
                </a:solidFill>
                <a:latin typeface="Tahoma"/>
                <a:cs typeface="Tahoma"/>
              </a:rPr>
              <a:t>programming</a:t>
            </a:r>
            <a:r>
              <a:rPr dirty="0" sz="1300" spc="-95" b="1">
                <a:solidFill>
                  <a:srgbClr val="595959"/>
                </a:solidFill>
                <a:latin typeface="Tahoma"/>
                <a:cs typeface="Tahoma"/>
              </a:rPr>
              <a:t> handbook</a:t>
            </a:r>
            <a:r>
              <a:rPr dirty="0" sz="1300" spc="-8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0">
                <a:solidFill>
                  <a:srgbClr val="595959"/>
                </a:solidFill>
                <a:latin typeface="Tahoma"/>
                <a:cs typeface="Tahoma"/>
              </a:rPr>
              <a:t>/</a:t>
            </a:r>
            <a:r>
              <a:rPr dirty="0" sz="1300" spc="-12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25">
                <a:solidFill>
                  <a:srgbClr val="595959"/>
                </a:solidFill>
                <a:latin typeface="Tahoma"/>
                <a:cs typeface="Tahoma"/>
              </a:rPr>
              <a:t>by </a:t>
            </a:r>
            <a:r>
              <a:rPr dirty="0" sz="1300">
                <a:solidFill>
                  <a:srgbClr val="595959"/>
                </a:solidFill>
                <a:latin typeface="Tahoma"/>
                <a:cs typeface="Tahoma"/>
              </a:rPr>
              <a:t>Michael</a:t>
            </a:r>
            <a:r>
              <a:rPr dirty="0" sz="1300" spc="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>
                <a:solidFill>
                  <a:srgbClr val="595959"/>
                </a:solidFill>
                <a:latin typeface="Tahoma"/>
                <a:cs typeface="Tahoma"/>
              </a:rPr>
              <a:t>Kerrisk.</a:t>
            </a:r>
            <a:endParaRPr sz="1300">
              <a:latin typeface="Tahoma"/>
              <a:cs typeface="Tahoma"/>
            </a:endParaRPr>
          </a:p>
          <a:p>
            <a:pPr lvl="1" marL="926465" indent="-327660">
              <a:lnSpc>
                <a:spcPct val="100000"/>
              </a:lnSpc>
              <a:spcBef>
                <a:spcPts val="30"/>
              </a:spcBef>
              <a:buSzPct val="118181"/>
              <a:buFont typeface="Arial MT"/>
              <a:buChar char="○"/>
              <a:tabLst>
                <a:tab pos="926465" algn="l"/>
              </a:tabLst>
            </a:pPr>
            <a:r>
              <a:rPr dirty="0" sz="1100">
                <a:solidFill>
                  <a:srgbClr val="595959"/>
                </a:solidFill>
                <a:latin typeface="Tahoma"/>
                <a:cs typeface="Tahoma"/>
              </a:rPr>
              <a:t>Chapter</a:t>
            </a:r>
            <a:r>
              <a:rPr dirty="0" sz="1100" spc="-5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595959"/>
                </a:solidFill>
                <a:latin typeface="Tahoma"/>
                <a:cs typeface="Tahoma"/>
              </a:rPr>
              <a:t>24:</a:t>
            </a:r>
            <a:r>
              <a:rPr dirty="0" sz="11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595959"/>
                </a:solidFill>
                <a:latin typeface="Tahoma"/>
                <a:cs typeface="Tahoma"/>
              </a:rPr>
              <a:t>Process</a:t>
            </a:r>
            <a:r>
              <a:rPr dirty="0" sz="1100" spc="-5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Tahoma"/>
                <a:cs typeface="Tahoma"/>
              </a:rPr>
              <a:t>Creation</a:t>
            </a:r>
            <a:endParaRPr sz="1100">
              <a:latin typeface="Tahoma"/>
              <a:cs typeface="Tahoma"/>
            </a:endParaRPr>
          </a:p>
          <a:p>
            <a:pPr lvl="1" marL="926465" indent="-327660">
              <a:lnSpc>
                <a:spcPct val="100000"/>
              </a:lnSpc>
              <a:spcBef>
                <a:spcPts val="85"/>
              </a:spcBef>
              <a:buSzPct val="118181"/>
              <a:buFont typeface="Arial MT"/>
              <a:buChar char="○"/>
              <a:tabLst>
                <a:tab pos="926465" algn="l"/>
              </a:tabLst>
            </a:pPr>
            <a:r>
              <a:rPr dirty="0" sz="1100">
                <a:solidFill>
                  <a:srgbClr val="595959"/>
                </a:solidFill>
                <a:latin typeface="Tahoma"/>
                <a:cs typeface="Tahoma"/>
              </a:rPr>
              <a:t>Chapter</a:t>
            </a:r>
            <a:r>
              <a:rPr dirty="0" sz="11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595959"/>
                </a:solidFill>
                <a:latin typeface="Tahoma"/>
                <a:cs typeface="Tahoma"/>
              </a:rPr>
              <a:t>29</a:t>
            </a:r>
            <a:r>
              <a:rPr dirty="0" sz="1100" spc="-25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595959"/>
                </a:solidFill>
                <a:latin typeface="Tahoma"/>
                <a:cs typeface="Tahoma"/>
              </a:rPr>
              <a:t>Threads:introduction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dirty="0" sz="1300" spc="-95" b="1">
                <a:solidFill>
                  <a:srgbClr val="595959"/>
                </a:solidFill>
                <a:latin typeface="Tahoma"/>
                <a:cs typeface="Tahoma"/>
              </a:rPr>
              <a:t>Simulador</a:t>
            </a:r>
            <a:r>
              <a:rPr dirty="0" sz="1300" spc="-8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90" b="1">
                <a:solidFill>
                  <a:srgbClr val="595959"/>
                </a:solidFill>
                <a:latin typeface="Tahoma"/>
                <a:cs typeface="Tahoma"/>
              </a:rPr>
              <a:t>de</a:t>
            </a:r>
            <a:r>
              <a:rPr dirty="0" sz="1300" spc="-8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300" spc="-10" b="1">
                <a:solidFill>
                  <a:srgbClr val="595959"/>
                </a:solidFill>
                <a:latin typeface="Tahoma"/>
                <a:cs typeface="Tahoma"/>
              </a:rPr>
              <a:t>scheduler</a:t>
            </a:r>
            <a:endParaRPr sz="13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1250"/>
              </a:spcBef>
            </a:pPr>
            <a:r>
              <a:rPr dirty="0" sz="1300" spc="-25">
                <a:solidFill>
                  <a:srgbClr val="595959"/>
                </a:solidFill>
                <a:latin typeface="Tahoma"/>
                <a:cs typeface="Tahoma"/>
                <a:hlinkClick r:id="rId2"/>
              </a:rPr>
              <a:t>https://github.com/fisop/sched-sim</a:t>
            </a:r>
            <a:endParaRPr sz="1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9595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5 - Scheduler II</dc:title>
  <dcterms:created xsi:type="dcterms:W3CDTF">2026-03-16T16:07:07Z</dcterms:created>
  <dcterms:modified xsi:type="dcterms:W3CDTF">2026-03-16T16:07:07Z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2026-03-16T00:00:00Z</vt:filetime>
  </property>
  <property fmtid="{D5CDD505-2E9C-101B-9397-08002B2CF9AE}" pid="3" name="Creator">
    <vt:lpwstr>Google</vt:lpwstr>
  </property>
  <property fmtid="{D5CDD505-2E9C-101B-9397-08002B2CF9AE}" pid="4" name="LastSaved">
    <vt:filetime>2026-03-16T00:00:00Z</vt:filetime>
  </property>
</Properties>
</file>