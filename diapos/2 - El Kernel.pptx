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0675" y="37437"/>
            <a:ext cx="4815205" cy="4059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67900" y="1181564"/>
            <a:ext cx="3647440" cy="2994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850" y="12937"/>
            <a:ext cx="6483779" cy="4697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899" y="901827"/>
            <a:ext cx="7799705" cy="307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hyperlink" Target="https://es.wikipedia.org/wiki/Fernando_Corbat%C3%B3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www.youtube.com/watch?v=Q07PhW5sCEk" TargetMode="External"/><Relationship Id="rId3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6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7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an7.org/linux/man-pages/man2/syscalls.2.html" TargetMode="External"/><Relationship Id="rId3" Type="http://schemas.openxmlformats.org/officeDocument/2006/relationships/image" Target="../media/image48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487800"/>
              <a:ext cx="9144000" cy="4655820"/>
            </a:xfrm>
            <a:custGeom>
              <a:avLst/>
              <a:gdLst/>
              <a:ahLst/>
              <a:cxnLst/>
              <a:rect l="l" t="t" r="r" b="b"/>
              <a:pathLst>
                <a:path w="9144000" h="4655820">
                  <a:moveTo>
                    <a:pt x="0" y="4655699"/>
                  </a:moveTo>
                  <a:lnTo>
                    <a:pt x="9143999" y="465569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46556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488315"/>
            </a:xfrm>
            <a:custGeom>
              <a:avLst/>
              <a:gdLst/>
              <a:ahLst/>
              <a:cxnLst/>
              <a:rect l="l" t="t" r="r" b="b"/>
              <a:pathLst>
                <a:path w="9144000" h="488315">
                  <a:moveTo>
                    <a:pt x="9143999" y="487799"/>
                  </a:moveTo>
                  <a:lnTo>
                    <a:pt x="0" y="487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8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802475" y="1374138"/>
            <a:ext cx="524637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145" b="1">
                <a:solidFill>
                  <a:srgbClr val="1A1A1A"/>
                </a:solidFill>
                <a:latin typeface="Trebuchet MS"/>
                <a:cs typeface="Trebuchet MS"/>
              </a:rPr>
              <a:t>Sistemas</a:t>
            </a:r>
            <a:r>
              <a:rPr dirty="0" sz="4200" spc="-2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4200" spc="50" b="1">
                <a:solidFill>
                  <a:srgbClr val="1A1A1A"/>
                </a:solidFill>
                <a:latin typeface="Trebuchet MS"/>
                <a:cs typeface="Trebuchet MS"/>
              </a:rPr>
              <a:t>Operativos </a:t>
            </a:r>
            <a:r>
              <a:rPr dirty="0" sz="4200" spc="80" b="1">
                <a:solidFill>
                  <a:srgbClr val="1A1A1A"/>
                </a:solidFill>
                <a:latin typeface="Trebuchet MS"/>
                <a:cs typeface="Trebuchet MS"/>
              </a:rPr>
              <a:t>Fisop</a:t>
            </a:r>
            <a:r>
              <a:rPr dirty="0" sz="4200" spc="-25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4200" spc="-20" b="1">
                <a:solidFill>
                  <a:srgbClr val="1A1A1A"/>
                </a:solidFill>
                <a:latin typeface="Trebuchet MS"/>
                <a:cs typeface="Trebuchet MS"/>
              </a:rPr>
              <a:t>2024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2652" y="3231192"/>
            <a:ext cx="148336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6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900" spc="-3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900" spc="45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endParaRPr sz="2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0953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14">
                <a:solidFill>
                  <a:srgbClr val="FFFFFF"/>
                </a:solidFill>
              </a:rPr>
              <a:t>La</a:t>
            </a:r>
            <a:r>
              <a:rPr dirty="0" sz="3600" spc="-210">
                <a:solidFill>
                  <a:srgbClr val="FFFFFF"/>
                </a:solidFill>
              </a:rPr>
              <a:t> </a:t>
            </a:r>
            <a:r>
              <a:rPr dirty="0" sz="3600" spc="75">
                <a:solidFill>
                  <a:srgbClr val="FFFFFF"/>
                </a:solidFill>
              </a:rPr>
              <a:t>abstracción</a:t>
            </a:r>
            <a:r>
              <a:rPr dirty="0" sz="3600" spc="-204">
                <a:solidFill>
                  <a:srgbClr val="FFFFFF"/>
                </a:solidFill>
              </a:rPr>
              <a:t> </a:t>
            </a:r>
            <a:r>
              <a:rPr dirty="0" sz="3600" spc="114">
                <a:solidFill>
                  <a:srgbClr val="FFFFFF"/>
                </a:solidFill>
              </a:rPr>
              <a:t>User/Kernel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42691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Ejecución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directa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vs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directa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limitada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Estructura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UNIX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calls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Ejecución</a:t>
            </a:r>
            <a:r>
              <a:rPr dirty="0" spc="180"/>
              <a:t> </a:t>
            </a:r>
            <a:r>
              <a:rPr dirty="0" spc="-10"/>
              <a:t>Directa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9199" y="1448749"/>
            <a:ext cx="7282180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2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2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22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2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22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directa,</a:t>
            </a:r>
            <a:r>
              <a:rPr dirty="0" sz="2200" spc="-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35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70" b="1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595959"/>
                </a:solidFill>
                <a:latin typeface="Tahoma"/>
                <a:cs typeface="Tahoma"/>
              </a:rPr>
              <a:t>tienen </a:t>
            </a:r>
            <a:r>
              <a:rPr dirty="0" sz="2200" spc="-150" b="1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22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40" b="1">
                <a:solidFill>
                  <a:srgbClr val="595959"/>
                </a:solidFill>
                <a:latin typeface="Tahoma"/>
                <a:cs typeface="Tahoma"/>
              </a:rPr>
              <a:t>completo</a:t>
            </a:r>
            <a:r>
              <a:rPr dirty="0" sz="2200" spc="-1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2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25" b="1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2200" spc="-1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14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60" b="1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22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30" b="1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60" b="1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2200" spc="-16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22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ningún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22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2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control.</a:t>
            </a:r>
            <a:endParaRPr sz="2200">
              <a:latin typeface="Tahoma"/>
              <a:cs typeface="Tahoma"/>
            </a:endParaRPr>
          </a:p>
          <a:p>
            <a:pPr marL="12700" marR="307975">
              <a:lnSpc>
                <a:spcPct val="100000"/>
              </a:lnSpc>
              <a:spcBef>
                <a:spcPts val="2640"/>
              </a:spcBef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operativo,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rutinas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5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biblioteca.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Actua</a:t>
            </a:r>
            <a:r>
              <a:rPr dirty="0" sz="22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principalmente</a:t>
            </a:r>
            <a:r>
              <a:rPr dirty="0" sz="22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22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2200" spc="-4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pegamento</a:t>
            </a:r>
            <a:r>
              <a:rPr dirty="0" sz="2200" spc="-4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22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22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2200" spc="-1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no</a:t>
            </a:r>
            <a:r>
              <a:rPr dirty="0" u="heavy" sz="2200" spc="-15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200" spc="-1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provee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2200" spc="-1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aislamiento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dirty="0" sz="2200" spc="-90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r>
              <a:rPr dirty="0" sz="22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7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604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Ejecución</a:t>
            </a:r>
            <a:r>
              <a:rPr dirty="0" spc="180"/>
              <a:t> </a:t>
            </a:r>
            <a:r>
              <a:rPr dirty="0" spc="-10"/>
              <a:t>Directa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023699" y="2636449"/>
          <a:ext cx="1753235" cy="1056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6875"/>
              </a:tblGrid>
              <a:tr h="398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Kernel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A4C1F4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Drivers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42544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Hardware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023699" y="1001862"/>
          <a:ext cx="2033905" cy="140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6875"/>
                <a:gridCol w="280669"/>
              </a:tblGrid>
              <a:tr h="273050">
                <a:tc rowSpan="2"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Consolas"/>
                          <a:cs typeface="Consolas"/>
                        </a:rPr>
                        <a:t>App</a:t>
                      </a:r>
                      <a:r>
                        <a:rPr dirty="0" sz="14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400" spc="-10">
                          <a:latin typeface="Consolas"/>
                          <a:cs typeface="Consolas"/>
                        </a:rPr>
                        <a:t>Usuario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19050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1250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19050">
                      <a:solidFill>
                        <a:srgbClr val="1A1A1A"/>
                      </a:solidFill>
                      <a:prstDash val="solid"/>
                    </a:lnT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>
                          <a:latin typeface="Consolas"/>
                          <a:cs typeface="Consolas"/>
                        </a:rPr>
                        <a:t>Entorno</a:t>
                      </a:r>
                      <a:r>
                        <a:rPr dirty="0" sz="1400" spc="-9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400" spc="-10">
                          <a:latin typeface="Consolas"/>
                          <a:cs typeface="Consolas"/>
                        </a:rPr>
                        <a:t>gráfico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5778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19050">
                      <a:solidFill>
                        <a:srgbClr val="1A1A1A"/>
                      </a:solidFill>
                      <a:prstDash val="solid"/>
                    </a:lnT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>
                          <a:latin typeface="Consolas"/>
                          <a:cs typeface="Consolas"/>
                        </a:rPr>
                        <a:t>Dist.</a:t>
                      </a:r>
                      <a:r>
                        <a:rPr dirty="0" sz="14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400" spc="-10">
                          <a:latin typeface="Consolas"/>
                          <a:cs typeface="Consolas"/>
                        </a:rPr>
                        <a:t>Pkgs.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4953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19050">
                      <a:solidFill>
                        <a:srgbClr val="1A1A1A"/>
                      </a:solidFill>
                      <a:prstDash val="solid"/>
                    </a:lnT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>
                          <a:latin typeface="Consolas"/>
                          <a:cs typeface="Consolas"/>
                        </a:rPr>
                        <a:t>System</a:t>
                      </a:r>
                      <a:r>
                        <a:rPr dirty="0" sz="10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latin typeface="Consolas"/>
                          <a:cs typeface="Consolas"/>
                        </a:rPr>
                        <a:t>Utilities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4254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19050">
                      <a:solidFill>
                        <a:srgbClr val="1A1A1A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6782575" y="1754475"/>
            <a:ext cx="173990" cy="1544955"/>
          </a:xfrm>
          <a:custGeom>
            <a:avLst/>
            <a:gdLst/>
            <a:ahLst/>
            <a:cxnLst/>
            <a:rect l="l" t="t" r="r" b="b"/>
            <a:pathLst>
              <a:path w="173990" h="1544954">
                <a:moveTo>
                  <a:pt x="173699" y="1544699"/>
                </a:moveTo>
                <a:lnTo>
                  <a:pt x="139894" y="1537874"/>
                </a:lnTo>
                <a:lnTo>
                  <a:pt x="112287" y="1519262"/>
                </a:lnTo>
                <a:lnTo>
                  <a:pt x="93675" y="1491655"/>
                </a:lnTo>
                <a:lnTo>
                  <a:pt x="86849" y="1457849"/>
                </a:lnTo>
                <a:lnTo>
                  <a:pt x="86849" y="859199"/>
                </a:lnTo>
                <a:lnTo>
                  <a:pt x="80024" y="825394"/>
                </a:lnTo>
                <a:lnTo>
                  <a:pt x="61412" y="797787"/>
                </a:lnTo>
                <a:lnTo>
                  <a:pt x="33805" y="779175"/>
                </a:lnTo>
                <a:lnTo>
                  <a:pt x="0" y="772349"/>
                </a:lnTo>
                <a:lnTo>
                  <a:pt x="33805" y="765524"/>
                </a:lnTo>
                <a:lnTo>
                  <a:pt x="61412" y="746912"/>
                </a:lnTo>
                <a:lnTo>
                  <a:pt x="80024" y="719305"/>
                </a:lnTo>
                <a:lnTo>
                  <a:pt x="86849" y="685499"/>
                </a:lnTo>
                <a:lnTo>
                  <a:pt x="86849" y="86849"/>
                </a:lnTo>
                <a:lnTo>
                  <a:pt x="93675" y="53044"/>
                </a:lnTo>
                <a:lnTo>
                  <a:pt x="112287" y="25437"/>
                </a:lnTo>
                <a:lnTo>
                  <a:pt x="139894" y="6825"/>
                </a:lnTo>
                <a:lnTo>
                  <a:pt x="173699" y="0"/>
                </a:lnTo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50" y="1704930"/>
            <a:ext cx="6289801" cy="2595768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8704723" y="1257365"/>
            <a:ext cx="345440" cy="2263140"/>
            <a:chOff x="8704723" y="1257365"/>
            <a:chExt cx="345440" cy="2263140"/>
          </a:xfrm>
        </p:grpSpPr>
        <p:sp>
          <p:nvSpPr>
            <p:cNvPr id="8" name="object 8" descr=""/>
            <p:cNvSpPr/>
            <p:nvPr/>
          </p:nvSpPr>
          <p:spPr>
            <a:xfrm>
              <a:off x="9029050" y="1277099"/>
              <a:ext cx="0" cy="2153920"/>
            </a:xfrm>
            <a:custGeom>
              <a:avLst/>
              <a:gdLst/>
              <a:ahLst/>
              <a:cxnLst/>
              <a:rect l="l" t="t" r="r" b="b"/>
              <a:pathLst>
                <a:path w="0" h="2153920">
                  <a:moveTo>
                    <a:pt x="0" y="0"/>
                  </a:moveTo>
                  <a:lnTo>
                    <a:pt x="0" y="21538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13317" y="34309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13317" y="34309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752707" y="3499483"/>
              <a:ext cx="276225" cy="3810"/>
            </a:xfrm>
            <a:custGeom>
              <a:avLst/>
              <a:gdLst/>
              <a:ahLst/>
              <a:cxnLst/>
              <a:rect l="l" t="t" r="r" b="b"/>
              <a:pathLst>
                <a:path w="276225" h="3810">
                  <a:moveTo>
                    <a:pt x="276155" y="372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709486" y="348375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08" y="31462"/>
                  </a:moveTo>
                  <a:lnTo>
                    <a:pt x="0" y="15147"/>
                  </a:lnTo>
                  <a:lnTo>
                    <a:pt x="43433" y="0"/>
                  </a:lnTo>
                  <a:lnTo>
                    <a:pt x="43008" y="3146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709486" y="348375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33" y="0"/>
                  </a:moveTo>
                  <a:lnTo>
                    <a:pt x="0" y="15147"/>
                  </a:lnTo>
                  <a:lnTo>
                    <a:pt x="43008" y="31462"/>
                  </a:lnTo>
                  <a:lnTo>
                    <a:pt x="43433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971555" y="126212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24" y="31462"/>
                  </a:moveTo>
                  <a:lnTo>
                    <a:pt x="0" y="0"/>
                  </a:lnTo>
                  <a:lnTo>
                    <a:pt x="43433" y="15147"/>
                  </a:lnTo>
                  <a:lnTo>
                    <a:pt x="424" y="3146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971555" y="126212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24" y="31462"/>
                  </a:moveTo>
                  <a:lnTo>
                    <a:pt x="43433" y="15147"/>
                  </a:lnTo>
                  <a:lnTo>
                    <a:pt x="0" y="0"/>
                  </a:lnTo>
                  <a:lnTo>
                    <a:pt x="424" y="31462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848687" y="2484413"/>
            <a:ext cx="81724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ahoma"/>
                <a:cs typeface="Tahoma"/>
              </a:rPr>
              <a:t>Sistema Operativo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Ejecución</a:t>
            </a:r>
            <a:r>
              <a:rPr dirty="0" spc="180"/>
              <a:t> </a:t>
            </a:r>
            <a:r>
              <a:rPr dirty="0" spc="-10"/>
              <a:t>Directa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86927" y="4697753"/>
            <a:ext cx="7708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1A1A1A"/>
                </a:solidFill>
                <a:latin typeface="Trebuchet MS"/>
                <a:cs typeface="Trebuchet MS"/>
              </a:rPr>
              <a:t>Ejecución</a:t>
            </a:r>
            <a:r>
              <a:rPr dirty="0" sz="700" spc="-1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700" spc="-10" b="1">
                <a:solidFill>
                  <a:srgbClr val="1A1A1A"/>
                </a:solidFill>
                <a:latin typeface="Trebuchet MS"/>
                <a:cs typeface="Trebuchet MS"/>
              </a:rPr>
              <a:t>Directa</a:t>
            </a:r>
            <a:endParaRPr sz="7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425" y="627350"/>
            <a:ext cx="7342866" cy="4005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Ejecución</a:t>
            </a:r>
            <a:r>
              <a:rPr dirty="0" spc="180"/>
              <a:t> </a:t>
            </a:r>
            <a:r>
              <a:rPr dirty="0" spc="-10"/>
              <a:t>Directa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330977" y="4759128"/>
            <a:ext cx="7708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1A1A1A"/>
                </a:solidFill>
                <a:latin typeface="Trebuchet MS"/>
                <a:cs typeface="Trebuchet MS"/>
              </a:rPr>
              <a:t>Ejecución</a:t>
            </a:r>
            <a:r>
              <a:rPr dirty="0" sz="700" spc="-1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700" spc="-10" b="1">
                <a:solidFill>
                  <a:srgbClr val="1A1A1A"/>
                </a:solidFill>
                <a:latin typeface="Trebuchet MS"/>
                <a:cs typeface="Trebuchet MS"/>
              </a:rPr>
              <a:t>Directa</a:t>
            </a:r>
            <a:endParaRPr sz="7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050" y="535200"/>
            <a:ext cx="7463050" cy="4025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Ejecución</a:t>
            </a:r>
            <a:r>
              <a:rPr dirty="0" spc="180"/>
              <a:t> </a:t>
            </a:r>
            <a:r>
              <a:rPr dirty="0" spc="-10"/>
              <a:t>Directa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825" y="686423"/>
            <a:ext cx="7493634" cy="438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35" b="1">
                <a:solidFill>
                  <a:srgbClr val="595959"/>
                </a:solidFill>
                <a:latin typeface="Tahoma"/>
                <a:cs typeface="Tahoma"/>
              </a:rPr>
              <a:t>Problema:</a:t>
            </a:r>
            <a:endParaRPr sz="2200">
              <a:latin typeface="Tahoma"/>
              <a:cs typeface="Tahoma"/>
            </a:endParaRPr>
          </a:p>
          <a:p>
            <a:pPr marL="488950">
              <a:lnSpc>
                <a:spcPct val="100000"/>
              </a:lnSpc>
              <a:spcBef>
                <a:spcPts val="2640"/>
              </a:spcBef>
            </a:pP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2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directa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aislamiento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protección.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20"/>
              </a:spcBef>
            </a:pP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spc="-50" i="1">
                <a:solidFill>
                  <a:srgbClr val="595959"/>
                </a:solidFill>
                <a:latin typeface="Trebuchet MS"/>
                <a:cs typeface="Trebuchet MS"/>
              </a:rPr>
              <a:t>Ejemplos: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200">
              <a:latin typeface="Trebuchet MS"/>
              <a:cs typeface="Trebuchet MS"/>
            </a:endParaRPr>
          </a:p>
          <a:p>
            <a:pPr marL="469900" marR="634365" indent="-397510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Nada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garantiza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modifique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5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otro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10">
                <a:solidFill>
                  <a:srgbClr val="595959"/>
                </a:solidFill>
                <a:latin typeface="Tahoma"/>
                <a:cs typeface="Tahoma"/>
              </a:rPr>
              <a:t>(o</a:t>
            </a:r>
            <a:r>
              <a:rPr dirty="0" sz="22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22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22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22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mismo)</a:t>
            </a:r>
            <a:endParaRPr sz="2200">
              <a:latin typeface="Tahoma"/>
              <a:cs typeface="Tahoma"/>
            </a:endParaRPr>
          </a:p>
          <a:p>
            <a:pPr marL="469900" marR="5080" indent="-397510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22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directo</a:t>
            </a:r>
            <a:r>
              <a:rPr dirty="0" sz="22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22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storage</a:t>
            </a:r>
            <a:r>
              <a:rPr dirty="0" sz="22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30">
                <a:solidFill>
                  <a:srgbClr val="595959"/>
                </a:solidFill>
                <a:latin typeface="Tahoma"/>
                <a:cs typeface="Tahoma"/>
              </a:rPr>
              <a:t>permanente:</a:t>
            </a:r>
            <a:r>
              <a:rPr dirty="0" sz="22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30">
                <a:solidFill>
                  <a:srgbClr val="595959"/>
                </a:solidFill>
                <a:latin typeface="Tahoma"/>
                <a:cs typeface="Tahoma"/>
              </a:rPr>
              <a:t>nada</a:t>
            </a:r>
            <a:r>
              <a:rPr dirty="0" sz="22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garantiza</a:t>
            </a:r>
            <a:r>
              <a:rPr dirty="0" sz="22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2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22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2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dañe</a:t>
            </a:r>
            <a:r>
              <a:rPr dirty="0" sz="22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2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filesystem.</a:t>
            </a:r>
            <a:endParaRPr sz="2200">
              <a:latin typeface="Tahoma"/>
              <a:cs typeface="Tahoma"/>
            </a:endParaRPr>
          </a:p>
          <a:p>
            <a:pPr marL="469900" marR="162560" indent="-397510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Nada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garantiza</a:t>
            </a:r>
            <a:r>
              <a:rPr dirty="0" sz="22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2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2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22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termine,</a:t>
            </a:r>
            <a:r>
              <a:rPr dirty="0" sz="22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2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interrumpa,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etc.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85312" y="602137"/>
            <a:ext cx="7807959" cy="1827530"/>
            <a:chOff x="1085312" y="602137"/>
            <a:chExt cx="7807959" cy="1827530"/>
          </a:xfrm>
        </p:grpSpPr>
        <p:sp>
          <p:nvSpPr>
            <p:cNvPr id="3" name="object 3" descr=""/>
            <p:cNvSpPr/>
            <p:nvPr/>
          </p:nvSpPr>
          <p:spPr>
            <a:xfrm>
              <a:off x="1486475" y="606900"/>
              <a:ext cx="7402195" cy="1642110"/>
            </a:xfrm>
            <a:custGeom>
              <a:avLst/>
              <a:gdLst/>
              <a:ahLst/>
              <a:cxnLst/>
              <a:rect l="l" t="t" r="r" b="b"/>
              <a:pathLst>
                <a:path w="7402195" h="1642110">
                  <a:moveTo>
                    <a:pt x="7127944" y="1641899"/>
                  </a:moveTo>
                  <a:lnTo>
                    <a:pt x="273655" y="1641899"/>
                  </a:lnTo>
                  <a:lnTo>
                    <a:pt x="224465" y="1637491"/>
                  </a:lnTo>
                  <a:lnTo>
                    <a:pt x="178168" y="1624779"/>
                  </a:lnTo>
                  <a:lnTo>
                    <a:pt x="135536" y="1604537"/>
                  </a:lnTo>
                  <a:lnTo>
                    <a:pt x="97342" y="1577539"/>
                  </a:lnTo>
                  <a:lnTo>
                    <a:pt x="64360" y="1544557"/>
                  </a:lnTo>
                  <a:lnTo>
                    <a:pt x="37361" y="1506363"/>
                  </a:lnTo>
                  <a:lnTo>
                    <a:pt x="17120" y="1463731"/>
                  </a:lnTo>
                  <a:lnTo>
                    <a:pt x="4408" y="1417434"/>
                  </a:lnTo>
                  <a:lnTo>
                    <a:pt x="0" y="1368244"/>
                  </a:lnTo>
                  <a:lnTo>
                    <a:pt x="0" y="273655"/>
                  </a:lnTo>
                  <a:lnTo>
                    <a:pt x="4408" y="224465"/>
                  </a:lnTo>
                  <a:lnTo>
                    <a:pt x="17120" y="178168"/>
                  </a:lnTo>
                  <a:lnTo>
                    <a:pt x="37361" y="135536"/>
                  </a:lnTo>
                  <a:lnTo>
                    <a:pt x="64360" y="97342"/>
                  </a:lnTo>
                  <a:lnTo>
                    <a:pt x="97342" y="64360"/>
                  </a:lnTo>
                  <a:lnTo>
                    <a:pt x="135536" y="37361"/>
                  </a:lnTo>
                  <a:lnTo>
                    <a:pt x="178168" y="17120"/>
                  </a:lnTo>
                  <a:lnTo>
                    <a:pt x="224465" y="4408"/>
                  </a:lnTo>
                  <a:lnTo>
                    <a:pt x="273655" y="0"/>
                  </a:lnTo>
                  <a:lnTo>
                    <a:pt x="7127944" y="0"/>
                  </a:lnTo>
                  <a:lnTo>
                    <a:pt x="7181581" y="5306"/>
                  </a:lnTo>
                  <a:lnTo>
                    <a:pt x="7232668" y="20830"/>
                  </a:lnTo>
                  <a:lnTo>
                    <a:pt x="7279768" y="45977"/>
                  </a:lnTo>
                  <a:lnTo>
                    <a:pt x="7321448" y="80151"/>
                  </a:lnTo>
                  <a:lnTo>
                    <a:pt x="7355622" y="121831"/>
                  </a:lnTo>
                  <a:lnTo>
                    <a:pt x="7380769" y="168932"/>
                  </a:lnTo>
                  <a:lnTo>
                    <a:pt x="7396293" y="220018"/>
                  </a:lnTo>
                  <a:lnTo>
                    <a:pt x="7401599" y="273655"/>
                  </a:lnTo>
                  <a:lnTo>
                    <a:pt x="7401599" y="1368244"/>
                  </a:lnTo>
                  <a:lnTo>
                    <a:pt x="7397190" y="1417434"/>
                  </a:lnTo>
                  <a:lnTo>
                    <a:pt x="7384479" y="1463731"/>
                  </a:lnTo>
                  <a:lnTo>
                    <a:pt x="7364238" y="1506363"/>
                  </a:lnTo>
                  <a:lnTo>
                    <a:pt x="7337239" y="1544557"/>
                  </a:lnTo>
                  <a:lnTo>
                    <a:pt x="7304257" y="1577539"/>
                  </a:lnTo>
                  <a:lnTo>
                    <a:pt x="7266063" y="1604537"/>
                  </a:lnTo>
                  <a:lnTo>
                    <a:pt x="7223431" y="1624779"/>
                  </a:lnTo>
                  <a:lnTo>
                    <a:pt x="7177134" y="1637491"/>
                  </a:lnTo>
                  <a:lnTo>
                    <a:pt x="7127944" y="16418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86475" y="606900"/>
              <a:ext cx="7402195" cy="1642110"/>
            </a:xfrm>
            <a:custGeom>
              <a:avLst/>
              <a:gdLst/>
              <a:ahLst/>
              <a:cxnLst/>
              <a:rect l="l" t="t" r="r" b="b"/>
              <a:pathLst>
                <a:path w="7402195" h="1642110">
                  <a:moveTo>
                    <a:pt x="0" y="273655"/>
                  </a:moveTo>
                  <a:lnTo>
                    <a:pt x="4408" y="224465"/>
                  </a:lnTo>
                  <a:lnTo>
                    <a:pt x="17120" y="178168"/>
                  </a:lnTo>
                  <a:lnTo>
                    <a:pt x="37361" y="135536"/>
                  </a:lnTo>
                  <a:lnTo>
                    <a:pt x="64360" y="97342"/>
                  </a:lnTo>
                  <a:lnTo>
                    <a:pt x="97342" y="64360"/>
                  </a:lnTo>
                  <a:lnTo>
                    <a:pt x="135536" y="37361"/>
                  </a:lnTo>
                  <a:lnTo>
                    <a:pt x="178168" y="17120"/>
                  </a:lnTo>
                  <a:lnTo>
                    <a:pt x="224465" y="4408"/>
                  </a:lnTo>
                  <a:lnTo>
                    <a:pt x="273655" y="0"/>
                  </a:lnTo>
                  <a:lnTo>
                    <a:pt x="7127944" y="0"/>
                  </a:lnTo>
                  <a:lnTo>
                    <a:pt x="7181581" y="5306"/>
                  </a:lnTo>
                  <a:lnTo>
                    <a:pt x="7232668" y="20830"/>
                  </a:lnTo>
                  <a:lnTo>
                    <a:pt x="7279768" y="45977"/>
                  </a:lnTo>
                  <a:lnTo>
                    <a:pt x="7321448" y="80151"/>
                  </a:lnTo>
                  <a:lnTo>
                    <a:pt x="7355622" y="121831"/>
                  </a:lnTo>
                  <a:lnTo>
                    <a:pt x="7380769" y="168932"/>
                  </a:lnTo>
                  <a:lnTo>
                    <a:pt x="7396293" y="220018"/>
                  </a:lnTo>
                  <a:lnTo>
                    <a:pt x="7401599" y="273655"/>
                  </a:lnTo>
                  <a:lnTo>
                    <a:pt x="7401599" y="1368244"/>
                  </a:lnTo>
                  <a:lnTo>
                    <a:pt x="7397191" y="1417434"/>
                  </a:lnTo>
                  <a:lnTo>
                    <a:pt x="7384479" y="1463731"/>
                  </a:lnTo>
                  <a:lnTo>
                    <a:pt x="7364238" y="1506363"/>
                  </a:lnTo>
                  <a:lnTo>
                    <a:pt x="7337239" y="1544557"/>
                  </a:lnTo>
                  <a:lnTo>
                    <a:pt x="7304257" y="1577539"/>
                  </a:lnTo>
                  <a:lnTo>
                    <a:pt x="7266063" y="1604537"/>
                  </a:lnTo>
                  <a:lnTo>
                    <a:pt x="7223431" y="1624779"/>
                  </a:lnTo>
                  <a:lnTo>
                    <a:pt x="7177134" y="1637491"/>
                  </a:lnTo>
                  <a:lnTo>
                    <a:pt x="7127944" y="1641899"/>
                  </a:lnTo>
                  <a:lnTo>
                    <a:pt x="273655" y="1641899"/>
                  </a:lnTo>
                  <a:lnTo>
                    <a:pt x="224465" y="1637491"/>
                  </a:lnTo>
                  <a:lnTo>
                    <a:pt x="178168" y="1624779"/>
                  </a:lnTo>
                  <a:lnTo>
                    <a:pt x="135536" y="1604537"/>
                  </a:lnTo>
                  <a:lnTo>
                    <a:pt x="97342" y="1577539"/>
                  </a:lnTo>
                  <a:lnTo>
                    <a:pt x="64360" y="1544557"/>
                  </a:lnTo>
                  <a:lnTo>
                    <a:pt x="37361" y="1506363"/>
                  </a:lnTo>
                  <a:lnTo>
                    <a:pt x="17120" y="1463731"/>
                  </a:lnTo>
                  <a:lnTo>
                    <a:pt x="4408" y="1417434"/>
                  </a:lnTo>
                  <a:lnTo>
                    <a:pt x="0" y="1368244"/>
                  </a:lnTo>
                  <a:lnTo>
                    <a:pt x="0" y="27365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312" y="1096525"/>
              <a:ext cx="1123417" cy="13327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096125" y="2990900"/>
            <a:ext cx="5304155" cy="7391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0"/>
              </a:spcBef>
            </a:pPr>
            <a:r>
              <a:rPr dirty="0" sz="2300" spc="75" b="1">
                <a:solidFill>
                  <a:srgbClr val="1A1A1A"/>
                </a:solidFill>
                <a:latin typeface="Trebuchet MS"/>
                <a:cs typeface="Trebuchet MS"/>
              </a:rPr>
              <a:t>El</a:t>
            </a:r>
            <a:r>
              <a:rPr dirty="0" sz="23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rebuchet MS"/>
                <a:cs typeface="Trebuchet MS"/>
              </a:rPr>
              <a:t>rol</a:t>
            </a:r>
            <a:r>
              <a:rPr dirty="0" sz="23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rebuchet MS"/>
                <a:cs typeface="Trebuchet MS"/>
              </a:rPr>
              <a:t>central</a:t>
            </a:r>
            <a:r>
              <a:rPr dirty="0" sz="23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114" b="1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dirty="0" sz="2300" spc="-7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50" b="1">
                <a:solidFill>
                  <a:srgbClr val="1A1A1A"/>
                </a:solidFill>
                <a:latin typeface="Trebuchet MS"/>
                <a:cs typeface="Trebuchet MS"/>
              </a:rPr>
              <a:t>un</a:t>
            </a:r>
            <a:r>
              <a:rPr dirty="0" sz="2300" spc="-6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80" b="1">
                <a:solidFill>
                  <a:srgbClr val="1A1A1A"/>
                </a:solidFill>
                <a:latin typeface="Trebuchet MS"/>
                <a:cs typeface="Trebuchet MS"/>
              </a:rPr>
              <a:t>sistema</a:t>
            </a:r>
            <a:r>
              <a:rPr dirty="0" sz="2300" spc="-6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1A1A1A"/>
                </a:solidFill>
                <a:latin typeface="Trebuchet MS"/>
                <a:cs typeface="Trebuchet MS"/>
              </a:rPr>
              <a:t>operativo </a:t>
            </a:r>
            <a:r>
              <a:rPr dirty="0" sz="2300" spc="114" b="1">
                <a:solidFill>
                  <a:srgbClr val="1A1A1A"/>
                </a:solidFill>
                <a:latin typeface="Trebuchet MS"/>
                <a:cs typeface="Trebuchet MS"/>
              </a:rPr>
              <a:t>es</a:t>
            </a:r>
            <a:r>
              <a:rPr dirty="0" sz="23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85" b="1">
                <a:solidFill>
                  <a:srgbClr val="1A1A1A"/>
                </a:solidFill>
                <a:latin typeface="Trebuchet MS"/>
                <a:cs typeface="Trebuchet MS"/>
              </a:rPr>
              <a:t>la</a:t>
            </a:r>
            <a:r>
              <a:rPr dirty="0" sz="23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1A1A1A"/>
                </a:solidFill>
                <a:latin typeface="Trebuchet MS"/>
                <a:cs typeface="Trebuchet MS"/>
              </a:rPr>
              <a:t>protección.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275" y="2538225"/>
            <a:ext cx="2085974" cy="19716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61555" y="4576321"/>
            <a:ext cx="22586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17195">
              <a:lnSpc>
                <a:spcPct val="100000"/>
              </a:lnSpc>
              <a:spcBef>
                <a:spcPts val="100"/>
              </a:spcBef>
            </a:pPr>
            <a:r>
              <a:rPr dirty="0" sz="1300" i="1">
                <a:solidFill>
                  <a:srgbClr val="595959"/>
                </a:solidFill>
                <a:latin typeface="Times New Roman"/>
                <a:cs typeface="Times New Roman"/>
              </a:rPr>
              <a:t>Fernando</a:t>
            </a:r>
            <a:r>
              <a:rPr dirty="0" sz="1300" spc="-10" i="1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300" i="1">
                <a:solidFill>
                  <a:srgbClr val="595959"/>
                </a:solidFill>
                <a:latin typeface="Times New Roman"/>
                <a:cs typeface="Times New Roman"/>
              </a:rPr>
              <a:t>J. </a:t>
            </a:r>
            <a:r>
              <a:rPr dirty="0" sz="1300" spc="-10" i="1">
                <a:solidFill>
                  <a:srgbClr val="595959"/>
                </a:solidFill>
                <a:latin typeface="Times New Roman"/>
                <a:cs typeface="Times New Roman"/>
              </a:rPr>
              <a:t>Corbató </a:t>
            </a:r>
            <a:r>
              <a:rPr dirty="0" sz="1300" i="1">
                <a:solidFill>
                  <a:srgbClr val="595959"/>
                </a:solidFill>
                <a:latin typeface="Times New Roman"/>
                <a:cs typeface="Times New Roman"/>
              </a:rPr>
              <a:t>Pionero</a:t>
            </a:r>
            <a:r>
              <a:rPr dirty="0" sz="1300" spc="-55" i="1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300" i="1">
                <a:solidFill>
                  <a:srgbClr val="595959"/>
                </a:solidFill>
                <a:latin typeface="Times New Roman"/>
                <a:cs typeface="Times New Roman"/>
              </a:rPr>
              <a:t>del</a:t>
            </a:r>
            <a:r>
              <a:rPr dirty="0" sz="1300" spc="-55" i="1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300" i="1">
                <a:solidFill>
                  <a:srgbClr val="595959"/>
                </a:solidFill>
                <a:latin typeface="Times New Roman"/>
                <a:cs typeface="Times New Roman"/>
              </a:rPr>
              <a:t>proyecto</a:t>
            </a:r>
            <a:r>
              <a:rPr dirty="0" sz="1300" spc="-55" i="1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300" i="1">
                <a:solidFill>
                  <a:srgbClr val="595959"/>
                </a:solidFill>
                <a:latin typeface="Times New Roman"/>
                <a:cs typeface="Times New Roman"/>
              </a:rPr>
              <a:t>Multics</a:t>
            </a:r>
            <a:r>
              <a:rPr dirty="0" sz="1300" spc="-50" i="1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u="heavy" sz="1300" spc="-20" i="1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imes New Roman"/>
                <a:cs typeface="Times New Roman"/>
                <a:hlinkClick r:id="rId4"/>
              </a:rPr>
              <a:t>wiki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48984" y="865790"/>
            <a:ext cx="6067425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72440" algn="l"/>
              </a:tabLst>
            </a:pPr>
            <a:r>
              <a:rPr dirty="0" sz="2300" spc="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3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230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hardware</a:t>
            </a:r>
            <a:r>
              <a:rPr dirty="0" sz="23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23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5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3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limitar</a:t>
            </a:r>
            <a:r>
              <a:rPr dirty="0" sz="23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ciertas</a:t>
            </a:r>
            <a:r>
              <a:rPr dirty="0" sz="23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operaciones.</a:t>
            </a:r>
            <a:endParaRPr sz="2300">
              <a:latin typeface="Tahoma"/>
              <a:cs typeface="Tahoma"/>
            </a:endParaRPr>
          </a:p>
          <a:p>
            <a:pPr marL="472440" marR="506730" indent="-460375">
              <a:lnSpc>
                <a:spcPct val="100000"/>
              </a:lnSpc>
              <a:buAutoNum type="arabicPeriod"/>
              <a:tabLst>
                <a:tab pos="472440" algn="l"/>
              </a:tabLst>
            </a:pPr>
            <a:r>
              <a:rPr dirty="0" sz="2300" spc="7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3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23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especial</a:t>
            </a:r>
            <a:r>
              <a:rPr dirty="0" sz="23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3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privilegiado</a:t>
            </a:r>
            <a:r>
              <a:rPr dirty="0" sz="23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23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arbitrar</a:t>
            </a:r>
            <a:r>
              <a:rPr dirty="0" sz="23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23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operaciones</a:t>
            </a:r>
            <a:r>
              <a:rPr dirty="0" sz="23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riesgosas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Ejecución</a:t>
            </a:r>
            <a:r>
              <a:rPr dirty="0" spc="175"/>
              <a:t> </a:t>
            </a:r>
            <a:r>
              <a:rPr dirty="0"/>
              <a:t>Directa</a:t>
            </a:r>
            <a:r>
              <a:rPr dirty="0" spc="180"/>
              <a:t> </a:t>
            </a:r>
            <a:r>
              <a:rPr dirty="0" spc="45"/>
              <a:t>Limitada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Documental:</a:t>
            </a:r>
            <a:r>
              <a:rPr dirty="0" spc="-114"/>
              <a:t> </a:t>
            </a:r>
            <a:r>
              <a:rPr dirty="0" spc="75"/>
              <a:t>Multics</a:t>
            </a:r>
          </a:p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9962" y="736850"/>
            <a:ext cx="6524074" cy="3669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Kernel</a:t>
            </a:r>
            <a:r>
              <a:rPr dirty="0" spc="-135"/>
              <a:t> </a:t>
            </a:r>
            <a:r>
              <a:rPr dirty="0" spc="100"/>
              <a:t>Land</a:t>
            </a:r>
            <a:r>
              <a:rPr dirty="0" spc="-135"/>
              <a:t> </a:t>
            </a:r>
            <a:r>
              <a:rPr dirty="0" spc="60"/>
              <a:t>y</a:t>
            </a:r>
            <a:r>
              <a:rPr dirty="0" spc="-130"/>
              <a:t> </a:t>
            </a:r>
            <a:r>
              <a:rPr dirty="0" spc="70"/>
              <a:t>User</a:t>
            </a:r>
            <a:r>
              <a:rPr dirty="0" spc="-120"/>
              <a:t> </a:t>
            </a:r>
            <a:r>
              <a:rPr dirty="0" spc="80"/>
              <a:t>Land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2397" y="1030025"/>
            <a:ext cx="6772367" cy="34608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295" y="0"/>
            <a:ext cx="4406708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13849" y="630236"/>
            <a:ext cx="3420110" cy="3365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000"/>
              <a:t>Limitar</a:t>
            </a:r>
            <a:r>
              <a:rPr dirty="0" sz="2000" spc="-35"/>
              <a:t> </a:t>
            </a:r>
            <a:r>
              <a:rPr dirty="0" sz="2000" spc="80"/>
              <a:t>la</a:t>
            </a:r>
            <a:r>
              <a:rPr dirty="0" sz="2000" spc="30"/>
              <a:t> </a:t>
            </a:r>
            <a:r>
              <a:rPr dirty="0" sz="2000"/>
              <a:t>Ejecución</a:t>
            </a:r>
            <a:r>
              <a:rPr dirty="0" sz="2000" spc="25"/>
              <a:t> </a:t>
            </a:r>
            <a:r>
              <a:rPr dirty="0" sz="2000" spc="-10"/>
              <a:t>Directa</a:t>
            </a:r>
            <a:endParaRPr sz="200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746275" y="3411075"/>
          <a:ext cx="1753235" cy="1055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165"/>
                <a:gridCol w="152400"/>
                <a:gridCol w="67309"/>
              </a:tblGrid>
              <a:tr h="264160">
                <a:tc gridSpan="3">
                  <a:txBody>
                    <a:bodyPr/>
                    <a:lstStyle/>
                    <a:p>
                      <a:pPr marL="540385">
                        <a:lnSpc>
                          <a:spcPts val="1365"/>
                        </a:lnSpc>
                        <a:spcBef>
                          <a:spcPts val="61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Kernel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solidFill>
                      <a:srgbClr val="A4C1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3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A4C1F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A4C1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3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solidFill>
                      <a:srgbClr val="C9DAF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solidFill>
                      <a:srgbClr val="C9DA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4465">
                <a:tc gridSpan="2">
                  <a:txBody>
                    <a:bodyPr/>
                    <a:lstStyle/>
                    <a:p>
                      <a:pPr marL="588645">
                        <a:lnSpc>
                          <a:spcPts val="790"/>
                        </a:lnSpc>
                      </a:pPr>
                      <a:r>
                        <a:rPr dirty="0" sz="1000" spc="-10">
                          <a:latin typeface="Consolas"/>
                          <a:cs typeface="Consolas"/>
                        </a:rPr>
                        <a:t>Drivers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398780">
                <a:tc gridSpan="3"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Hardware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746275" y="1776487"/>
          <a:ext cx="2034539" cy="140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6875"/>
                <a:gridCol w="281305"/>
              </a:tblGrid>
              <a:tr h="398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Usuario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12700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200">
                          <a:latin typeface="Consolas"/>
                          <a:cs typeface="Consolas"/>
                        </a:rPr>
                        <a:t>Entorno</a:t>
                      </a:r>
                      <a:r>
                        <a:rPr dirty="0" sz="1200" spc="-8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gráfico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59054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12700">
                      <a:solidFill>
                        <a:srgbClr val="1A1A1A"/>
                      </a:solidFill>
                      <a:prstDash val="solid"/>
                    </a:lnT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Consolas"/>
                          <a:cs typeface="Consolas"/>
                        </a:rPr>
                        <a:t>Dist.</a:t>
                      </a:r>
                      <a:r>
                        <a:rPr dirty="0" sz="12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>
                          <a:latin typeface="Consolas"/>
                          <a:cs typeface="Consolas"/>
                        </a:rPr>
                        <a:t>Pkgs.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5080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12700">
                      <a:solidFill>
                        <a:srgbClr val="1A1A1A"/>
                      </a:solidFill>
                      <a:prstDash val="solid"/>
                    </a:lnT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>
                          <a:latin typeface="Consolas"/>
                          <a:cs typeface="Consolas"/>
                        </a:rPr>
                        <a:t>System</a:t>
                      </a:r>
                      <a:r>
                        <a:rPr dirty="0" sz="10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latin typeface="Consolas"/>
                          <a:cs typeface="Consolas"/>
                        </a:rPr>
                        <a:t>Utilities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4254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FFE49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12700">
                      <a:solidFill>
                        <a:srgbClr val="1A1A1A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6505150" y="2529100"/>
            <a:ext cx="173990" cy="1544955"/>
          </a:xfrm>
          <a:custGeom>
            <a:avLst/>
            <a:gdLst/>
            <a:ahLst/>
            <a:cxnLst/>
            <a:rect l="l" t="t" r="r" b="b"/>
            <a:pathLst>
              <a:path w="173990" h="1544954">
                <a:moveTo>
                  <a:pt x="173699" y="1544699"/>
                </a:moveTo>
                <a:lnTo>
                  <a:pt x="139894" y="1537874"/>
                </a:lnTo>
                <a:lnTo>
                  <a:pt x="112287" y="1519262"/>
                </a:lnTo>
                <a:lnTo>
                  <a:pt x="93675" y="1491655"/>
                </a:lnTo>
                <a:lnTo>
                  <a:pt x="86849" y="1457849"/>
                </a:lnTo>
                <a:lnTo>
                  <a:pt x="86849" y="859199"/>
                </a:lnTo>
                <a:lnTo>
                  <a:pt x="80024" y="825394"/>
                </a:lnTo>
                <a:lnTo>
                  <a:pt x="61412" y="797787"/>
                </a:lnTo>
                <a:lnTo>
                  <a:pt x="33805" y="779175"/>
                </a:lnTo>
                <a:lnTo>
                  <a:pt x="0" y="772349"/>
                </a:lnTo>
                <a:lnTo>
                  <a:pt x="33805" y="765524"/>
                </a:lnTo>
                <a:lnTo>
                  <a:pt x="61412" y="746912"/>
                </a:lnTo>
                <a:lnTo>
                  <a:pt x="80024" y="719305"/>
                </a:lnTo>
                <a:lnTo>
                  <a:pt x="86849" y="685499"/>
                </a:lnTo>
                <a:lnTo>
                  <a:pt x="86849" y="86849"/>
                </a:lnTo>
                <a:lnTo>
                  <a:pt x="93675" y="53044"/>
                </a:lnTo>
                <a:lnTo>
                  <a:pt x="112287" y="25437"/>
                </a:lnTo>
                <a:lnTo>
                  <a:pt x="139894" y="6825"/>
                </a:lnTo>
                <a:lnTo>
                  <a:pt x="173699" y="0"/>
                </a:lnTo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71162" y="3259037"/>
            <a:ext cx="81724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ahoma"/>
                <a:cs typeface="Tahoma"/>
              </a:rPr>
              <a:t>Sistema Operativo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427627" y="2114105"/>
            <a:ext cx="345440" cy="1452245"/>
            <a:chOff x="8427627" y="2114105"/>
            <a:chExt cx="345440" cy="1452245"/>
          </a:xfrm>
        </p:grpSpPr>
        <p:sp>
          <p:nvSpPr>
            <p:cNvPr id="9" name="object 9" descr=""/>
            <p:cNvSpPr/>
            <p:nvPr/>
          </p:nvSpPr>
          <p:spPr>
            <a:xfrm>
              <a:off x="8751952" y="2134235"/>
              <a:ext cx="0" cy="1347470"/>
            </a:xfrm>
            <a:custGeom>
              <a:avLst/>
              <a:gdLst/>
              <a:ahLst/>
              <a:cxnLst/>
              <a:rect l="l" t="t" r="r" b="b"/>
              <a:pathLst>
                <a:path w="0" h="1347470">
                  <a:moveTo>
                    <a:pt x="0" y="0"/>
                  </a:moveTo>
                  <a:lnTo>
                    <a:pt x="0" y="13471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736219" y="348138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736219" y="348138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475613" y="3545776"/>
              <a:ext cx="276225" cy="2540"/>
            </a:xfrm>
            <a:custGeom>
              <a:avLst/>
              <a:gdLst/>
              <a:ahLst/>
              <a:cxnLst/>
              <a:rect l="l" t="t" r="r" b="b"/>
              <a:pathLst>
                <a:path w="276225" h="2539">
                  <a:moveTo>
                    <a:pt x="276152" y="248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432389" y="35300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81" y="31463"/>
                  </a:moveTo>
                  <a:lnTo>
                    <a:pt x="0" y="15342"/>
                  </a:lnTo>
                  <a:lnTo>
                    <a:pt x="43364" y="0"/>
                  </a:lnTo>
                  <a:lnTo>
                    <a:pt x="43081" y="314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32389" y="35300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64" y="0"/>
                  </a:moveTo>
                  <a:lnTo>
                    <a:pt x="0" y="15342"/>
                  </a:lnTo>
                  <a:lnTo>
                    <a:pt x="43081" y="31463"/>
                  </a:lnTo>
                  <a:lnTo>
                    <a:pt x="43364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694526" y="21188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82" y="31464"/>
                  </a:moveTo>
                  <a:lnTo>
                    <a:pt x="0" y="0"/>
                  </a:lnTo>
                  <a:lnTo>
                    <a:pt x="43364" y="15343"/>
                  </a:lnTo>
                  <a:lnTo>
                    <a:pt x="282" y="3146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694526" y="21188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82" y="31464"/>
                  </a:moveTo>
                  <a:lnTo>
                    <a:pt x="43364" y="15343"/>
                  </a:lnTo>
                  <a:lnTo>
                    <a:pt x="0" y="0"/>
                  </a:lnTo>
                  <a:lnTo>
                    <a:pt x="282" y="3146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8178109" y="3899348"/>
            <a:ext cx="41275" cy="53340"/>
            <a:chOff x="8178109" y="3899348"/>
            <a:chExt cx="41275" cy="53340"/>
          </a:xfrm>
        </p:grpSpPr>
        <p:sp>
          <p:nvSpPr>
            <p:cNvPr id="18" name="object 18" descr=""/>
            <p:cNvSpPr/>
            <p:nvPr/>
          </p:nvSpPr>
          <p:spPr>
            <a:xfrm>
              <a:off x="8182871" y="39041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872" y="43276"/>
                  </a:moveTo>
                  <a:lnTo>
                    <a:pt x="0" y="102"/>
                  </a:lnTo>
                  <a:lnTo>
                    <a:pt x="31464" y="0"/>
                  </a:lnTo>
                  <a:lnTo>
                    <a:pt x="15872" y="4327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182871" y="39041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02"/>
                  </a:moveTo>
                  <a:lnTo>
                    <a:pt x="15872" y="43276"/>
                  </a:lnTo>
                  <a:lnTo>
                    <a:pt x="31464" y="0"/>
                  </a:lnTo>
                  <a:lnTo>
                    <a:pt x="0" y="102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8330509" y="4149148"/>
            <a:ext cx="41275" cy="53340"/>
            <a:chOff x="8330509" y="4149148"/>
            <a:chExt cx="41275" cy="53340"/>
          </a:xfrm>
        </p:grpSpPr>
        <p:sp>
          <p:nvSpPr>
            <p:cNvPr id="21" name="object 21" descr=""/>
            <p:cNvSpPr/>
            <p:nvPr/>
          </p:nvSpPr>
          <p:spPr>
            <a:xfrm>
              <a:off x="8335271" y="41539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872" y="43276"/>
                  </a:moveTo>
                  <a:lnTo>
                    <a:pt x="0" y="102"/>
                  </a:lnTo>
                  <a:lnTo>
                    <a:pt x="31464" y="0"/>
                  </a:lnTo>
                  <a:lnTo>
                    <a:pt x="15872" y="4327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335271" y="41539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02"/>
                  </a:moveTo>
                  <a:lnTo>
                    <a:pt x="15872" y="43276"/>
                  </a:lnTo>
                  <a:lnTo>
                    <a:pt x="31464" y="0"/>
                  </a:lnTo>
                  <a:lnTo>
                    <a:pt x="0" y="102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417830">
              <a:lnSpc>
                <a:spcPct val="100000"/>
              </a:lnSpc>
              <a:spcBef>
                <a:spcPts val="140"/>
              </a:spcBef>
            </a:pPr>
            <a:r>
              <a:rPr dirty="0"/>
              <a:t>Estructura</a:t>
            </a:r>
            <a:r>
              <a:rPr dirty="0" spc="75"/>
              <a:t> </a:t>
            </a:r>
            <a:r>
              <a:rPr dirty="0" spc="100"/>
              <a:t>del</a:t>
            </a:r>
            <a:r>
              <a:rPr dirty="0" spc="-5"/>
              <a:t> </a:t>
            </a:r>
            <a:r>
              <a:rPr dirty="0" spc="75"/>
              <a:t>sistema </a:t>
            </a:r>
            <a:r>
              <a:rPr dirty="0"/>
              <a:t>operativo</a:t>
            </a:r>
            <a:r>
              <a:rPr dirty="0" spc="75"/>
              <a:t> </a:t>
            </a:r>
            <a:r>
              <a:rPr dirty="0" spc="120"/>
              <a:t>UNIX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425" y="640975"/>
            <a:ext cx="4227999" cy="422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61137"/>
            <a:ext cx="394144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User-</a:t>
            </a:r>
            <a:r>
              <a:rPr dirty="0" spc="120"/>
              <a:t>space</a:t>
            </a:r>
            <a:r>
              <a:rPr dirty="0" spc="-114"/>
              <a:t> </a:t>
            </a:r>
            <a:r>
              <a:rPr dirty="0" spc="105"/>
              <a:t>vs</a:t>
            </a:r>
            <a:r>
              <a:rPr dirty="0" spc="-40"/>
              <a:t> </a:t>
            </a:r>
            <a:r>
              <a:rPr dirty="0"/>
              <a:t>Kernel</a:t>
            </a:r>
            <a:r>
              <a:rPr dirty="0" spc="-114"/>
              <a:t> </a:t>
            </a:r>
            <a:r>
              <a:rPr dirty="0" spc="100"/>
              <a:t>space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0575" y="478412"/>
            <a:ext cx="7950200" cy="3860165"/>
          </a:xfrm>
          <a:prstGeom prst="rect">
            <a:avLst/>
          </a:prstGeom>
        </p:spPr>
        <p:txBody>
          <a:bodyPr wrap="square" lIns="0" tIns="217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15"/>
              </a:spcBef>
            </a:pPr>
            <a:r>
              <a:rPr dirty="0" sz="2300" spc="-114" b="1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2300" spc="-2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endParaRPr sz="2300">
              <a:latin typeface="Tahoma"/>
              <a:cs typeface="Tahoma"/>
            </a:endParaRPr>
          </a:p>
          <a:p>
            <a:pPr marL="926465" indent="-404495">
              <a:lnSpc>
                <a:spcPct val="100000"/>
              </a:lnSpc>
              <a:spcBef>
                <a:spcPts val="1610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40" b="1">
                <a:solidFill>
                  <a:srgbClr val="595959"/>
                </a:solidFill>
                <a:latin typeface="Tahoma"/>
                <a:cs typeface="Tahoma"/>
              </a:rPr>
              <a:t>aplicación</a:t>
            </a:r>
            <a:r>
              <a:rPr dirty="0" sz="2300" spc="-1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23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ejecutarse</a:t>
            </a:r>
            <a:r>
              <a:rPr dirty="0" sz="2300" spc="-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40" b="1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23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65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300" spc="-2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75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23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10" b="1">
                <a:solidFill>
                  <a:srgbClr val="595959"/>
                </a:solidFill>
                <a:latin typeface="Tahoma"/>
                <a:cs typeface="Tahoma"/>
              </a:rPr>
              <a:t>usuario.</a:t>
            </a:r>
            <a:endParaRPr sz="2300">
              <a:latin typeface="Tahoma"/>
              <a:cs typeface="Tahoma"/>
            </a:endParaRPr>
          </a:p>
          <a:p>
            <a:pPr marL="982980" indent="-461009">
              <a:lnSpc>
                <a:spcPct val="100000"/>
              </a:lnSpc>
              <a:spcBef>
                <a:spcPts val="415"/>
              </a:spcBef>
              <a:buFont typeface="Arial MT"/>
              <a:buChar char="●"/>
              <a:tabLst>
                <a:tab pos="982980" algn="l"/>
              </a:tabLst>
            </a:pPr>
            <a:r>
              <a:rPr dirty="0" sz="2300" spc="11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3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23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23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23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privilegiadas.</a:t>
            </a:r>
            <a:endParaRPr sz="2300">
              <a:latin typeface="Tahoma"/>
              <a:cs typeface="Tahoma"/>
            </a:endParaRPr>
          </a:p>
          <a:p>
            <a:pPr marL="982980" indent="-461009">
              <a:lnSpc>
                <a:spcPct val="100000"/>
              </a:lnSpc>
              <a:spcBef>
                <a:spcPts val="415"/>
              </a:spcBef>
              <a:buFont typeface="Arial MT"/>
              <a:buChar char="●"/>
              <a:tabLst>
                <a:tab pos="982980" algn="l"/>
              </a:tabLst>
            </a:pPr>
            <a:r>
              <a:rPr dirty="0" sz="2300" spc="-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300" spc="-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dice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300" spc="-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2300" spc="-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300" spc="-2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50" b="1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2300" spc="-20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2300" spc="-114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23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endParaRPr sz="2300">
              <a:latin typeface="Tahoma"/>
              <a:cs typeface="Tahoma"/>
            </a:endParaRPr>
          </a:p>
          <a:p>
            <a:pPr marL="926465" indent="-404495">
              <a:lnSpc>
                <a:spcPct val="100000"/>
              </a:lnSpc>
              <a:spcBef>
                <a:spcPts val="1615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2300" spc="-150" b="1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2300" spc="-2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20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300" spc="-2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4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2300" spc="-2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300" spc="-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supervisor.</a:t>
            </a:r>
            <a:endParaRPr sz="2300">
              <a:latin typeface="Tahoma"/>
              <a:cs typeface="Tahoma"/>
            </a:endParaRPr>
          </a:p>
          <a:p>
            <a:pPr marL="926465" indent="-404495">
              <a:lnSpc>
                <a:spcPct val="100000"/>
              </a:lnSpc>
              <a:spcBef>
                <a:spcPts val="409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2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2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2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privilegiadas.</a:t>
            </a:r>
            <a:endParaRPr sz="2300">
              <a:latin typeface="Tahoma"/>
              <a:cs typeface="Tahoma"/>
            </a:endParaRPr>
          </a:p>
          <a:p>
            <a:pPr marL="926465" indent="-404495">
              <a:lnSpc>
                <a:spcPct val="100000"/>
              </a:lnSpc>
              <a:spcBef>
                <a:spcPts val="415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2300" spc="-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dice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2300" spc="-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300" spc="-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4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2300" spc="-2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r>
              <a:rPr dirty="0" sz="23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41783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User</a:t>
            </a:r>
            <a:r>
              <a:rPr dirty="0" spc="-180"/>
              <a:t> </a:t>
            </a:r>
            <a:r>
              <a:rPr dirty="0" spc="125"/>
              <a:t>Space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5475" y="1344745"/>
            <a:ext cx="4425315" cy="2280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2265">
              <a:lnSpc>
                <a:spcPct val="114999"/>
              </a:lnSpc>
              <a:spcBef>
                <a:spcPts val="100"/>
              </a:spcBef>
            </a:pP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User-land:</a:t>
            </a:r>
            <a:r>
              <a:rPr dirty="0" sz="20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espacio</a:t>
            </a:r>
            <a:r>
              <a:rPr dirty="0" sz="20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donde</a:t>
            </a:r>
            <a:r>
              <a:rPr dirty="0" sz="20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viven</a:t>
            </a:r>
            <a:r>
              <a:rPr dirty="0" sz="2000" spc="-21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ahoma"/>
                <a:cs typeface="Tahoma"/>
              </a:rPr>
              <a:t>las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aplicaciones</a:t>
            </a:r>
            <a:r>
              <a:rPr dirty="0" sz="2000" spc="-229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2000" spc="-2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ahoma"/>
                <a:cs typeface="Tahoma"/>
              </a:rPr>
              <a:t>usuario,</a:t>
            </a:r>
            <a:r>
              <a:rPr dirty="0" sz="2000" spc="-2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1A1A1A"/>
                </a:solidFill>
                <a:latin typeface="Tahoma"/>
                <a:cs typeface="Tahoma"/>
              </a:rPr>
              <a:t>a</a:t>
            </a:r>
            <a:r>
              <a:rPr dirty="0" sz="2000" spc="-2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estas</a:t>
            </a:r>
            <a:r>
              <a:rPr dirty="0" sz="2000" spc="-229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ahoma"/>
                <a:cs typeface="Tahoma"/>
              </a:rPr>
              <a:t>se</a:t>
            </a:r>
            <a:r>
              <a:rPr dirty="0" sz="2000" spc="-2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ahoma"/>
                <a:cs typeface="Tahoma"/>
              </a:rPr>
              <a:t>las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denominan</a:t>
            </a:r>
            <a:r>
              <a:rPr dirty="0" sz="2000" spc="-24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0" b="1">
                <a:solidFill>
                  <a:srgbClr val="1A1A1A"/>
                </a:solidFill>
                <a:latin typeface="Tahoma"/>
                <a:cs typeface="Tahoma"/>
              </a:rPr>
              <a:t>procesos</a:t>
            </a:r>
            <a:r>
              <a:rPr dirty="0" sz="2000" spc="-20">
                <a:solidFill>
                  <a:srgbClr val="1A1A1A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Cada</a:t>
            </a:r>
            <a:r>
              <a:rPr dirty="0" sz="2000" spc="-2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proceso</a:t>
            </a:r>
            <a:r>
              <a:rPr dirty="0" sz="2000" spc="-1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o</a:t>
            </a:r>
            <a:r>
              <a:rPr dirty="0" sz="2000" spc="-1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programa</a:t>
            </a:r>
            <a:r>
              <a:rPr dirty="0" sz="2000" spc="-2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2000" spc="-1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ejecución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posee</a:t>
            </a:r>
            <a:r>
              <a:rPr dirty="0" sz="2000" spc="-2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memoria</a:t>
            </a:r>
            <a:r>
              <a:rPr dirty="0" sz="2000" spc="-229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con</a:t>
            </a:r>
            <a:r>
              <a:rPr dirty="0" sz="2000" spc="-229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las</a:t>
            </a:r>
            <a:r>
              <a:rPr dirty="0" sz="2000" spc="-229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instrucciones,los </a:t>
            </a:r>
            <a:r>
              <a:rPr dirty="0" sz="2000" spc="-35">
                <a:solidFill>
                  <a:srgbClr val="1A1A1A"/>
                </a:solidFill>
                <a:latin typeface="Tahoma"/>
                <a:cs typeface="Tahoma"/>
              </a:rPr>
              <a:t>datos,</a:t>
            </a:r>
            <a:r>
              <a:rPr dirty="0" sz="2000" spc="-2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000" spc="-2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stack</a:t>
            </a:r>
            <a:r>
              <a:rPr dirty="0" sz="2000" spc="-2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y</a:t>
            </a:r>
            <a:r>
              <a:rPr dirty="0" sz="2000" spc="-2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000" spc="-2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heap.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6425" y="940750"/>
            <a:ext cx="3729849" cy="3729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User</a:t>
            </a:r>
            <a:r>
              <a:rPr dirty="0" spc="-180"/>
              <a:t> </a:t>
            </a:r>
            <a:r>
              <a:rPr dirty="0" spc="125"/>
              <a:t>Space</a:t>
            </a:r>
          </a:p>
        </p:txBody>
      </p:sp>
      <p:sp>
        <p:nvSpPr>
          <p:cNvPr id="3" name="object 3" descr=""/>
          <p:cNvSpPr txBox="1"/>
          <p:nvPr/>
        </p:nvSpPr>
        <p:spPr>
          <a:xfrm rot="19200000">
            <a:off x="3336551" y="3675436"/>
            <a:ext cx="427541" cy="180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20"/>
              </a:lnSpc>
            </a:pPr>
            <a:r>
              <a:rPr dirty="0" sz="1400" spc="-10">
                <a:latin typeface="Tahoma"/>
                <a:cs typeface="Tahoma"/>
              </a:rPr>
              <a:t>stdin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 rot="19200000">
            <a:off x="3650382" y="3713454"/>
            <a:ext cx="538675" cy="180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20"/>
              </a:lnSpc>
            </a:pPr>
            <a:r>
              <a:rPr dirty="0" sz="1400" spc="-10">
                <a:latin typeface="Tahoma"/>
                <a:cs typeface="Tahoma"/>
              </a:rPr>
              <a:t>stdout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 rot="19200000">
            <a:off x="4088054" y="3704938"/>
            <a:ext cx="512445" cy="180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20"/>
              </a:lnSpc>
            </a:pPr>
            <a:r>
              <a:rPr dirty="0" sz="1400" spc="-10">
                <a:latin typeface="Tahoma"/>
                <a:cs typeface="Tahoma"/>
              </a:rPr>
              <a:t>stderr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 rot="19200000">
            <a:off x="4524055" y="3711227"/>
            <a:ext cx="532101" cy="180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20"/>
              </a:lnSpc>
            </a:pPr>
            <a:r>
              <a:rPr dirty="0" sz="1400" spc="-10">
                <a:latin typeface="Tahoma"/>
                <a:cs typeface="Tahoma"/>
              </a:rPr>
              <a:t>file.txt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3482032" y="1550121"/>
          <a:ext cx="2697480" cy="185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/>
                <a:gridCol w="432434"/>
                <a:gridCol w="432434"/>
                <a:gridCol w="432434"/>
                <a:gridCol w="883285"/>
              </a:tblGrid>
              <a:tr h="328295">
                <a:tc gridSpan="4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850">
                          <a:latin typeface="Arial MT"/>
                          <a:cs typeface="Arial MT"/>
                        </a:rPr>
                        <a:t>PID: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12391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20">
                          <a:latin typeface="Arial MT"/>
                          <a:cs typeface="Arial MT"/>
                        </a:rPr>
                        <a:t>Heap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136525">
                <a:tc gridSpan="4" rowSpan="3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grep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9050">
                      <a:solidFill>
                        <a:srgbClr val="1A1A1A"/>
                      </a:solidFill>
                      <a:prstDash val="solid"/>
                    </a:lnB>
                    <a:solidFill>
                      <a:srgbClr val="A4C1F4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001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464820"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9050">
                      <a:solidFill>
                        <a:srgbClr val="1A1A1A"/>
                      </a:solidFill>
                      <a:prstDash val="solid"/>
                    </a:lnB>
                    <a:solidFill>
                      <a:srgbClr val="A4C1F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Stack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281940"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19050">
                      <a:solidFill>
                        <a:srgbClr val="1A1A1A"/>
                      </a:solidFill>
                      <a:prstDash val="solid"/>
                    </a:lnB>
                    <a:solidFill>
                      <a:srgbClr val="A4C1F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20">
                          <a:latin typeface="Arial MT"/>
                          <a:cs typeface="Arial MT"/>
                        </a:rPr>
                        <a:t>Data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182880">
                <a:tc gridSpan="4"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050">
                          <a:latin typeface="Arial MT"/>
                          <a:cs typeface="Arial MT"/>
                        </a:rPr>
                        <a:t>File</a:t>
                      </a:r>
                      <a:r>
                        <a:rPr dirty="0" sz="10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50" spc="-10">
                          <a:latin typeface="Arial MT"/>
                          <a:cs typeface="Arial MT"/>
                        </a:rPr>
                        <a:t>Descriptors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82550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1905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001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12700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147320">
                <a:tc gridSpan="4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0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1905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20">
                          <a:latin typeface="Arial MT"/>
                          <a:cs typeface="Arial MT"/>
                        </a:rPr>
                        <a:t>Code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692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692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692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6921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001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12700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687125" y="748062"/>
            <a:ext cx="5172075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65">
                <a:solidFill>
                  <a:srgbClr val="1A1A1A"/>
                </a:solidFill>
                <a:latin typeface="Trebuchet MS"/>
                <a:cs typeface="Trebuchet MS"/>
              </a:rPr>
              <a:t>El</a:t>
            </a:r>
            <a:r>
              <a:rPr dirty="0" sz="2300" spc="-13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A1A1A"/>
                </a:solidFill>
                <a:latin typeface="Trebuchet MS"/>
                <a:cs typeface="Trebuchet MS"/>
              </a:rPr>
              <a:t>habitante</a:t>
            </a:r>
            <a:r>
              <a:rPr dirty="0" sz="2300" spc="-6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135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dirty="0" sz="2300" spc="-6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120">
                <a:solidFill>
                  <a:srgbClr val="1A1A1A"/>
                </a:solidFill>
                <a:latin typeface="Trebuchet MS"/>
                <a:cs typeface="Trebuchet MS"/>
              </a:rPr>
              <a:t>User</a:t>
            </a:r>
            <a:r>
              <a:rPr dirty="0" sz="2300" spc="-114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A1A1A"/>
                </a:solidFill>
                <a:latin typeface="Trebuchet MS"/>
                <a:cs typeface="Trebuchet MS"/>
              </a:rPr>
              <a:t>Land:</a:t>
            </a:r>
            <a:r>
              <a:rPr dirty="0" sz="2300" spc="-10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70" b="1">
                <a:solidFill>
                  <a:srgbClr val="1A1A1A"/>
                </a:solidFill>
                <a:latin typeface="Trebuchet MS"/>
                <a:cs typeface="Trebuchet MS"/>
              </a:rPr>
              <a:t>el</a:t>
            </a:r>
            <a:r>
              <a:rPr dirty="0" sz="2300" spc="-16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75" b="1">
                <a:solidFill>
                  <a:srgbClr val="1A1A1A"/>
                </a:solidFill>
                <a:latin typeface="Trebuchet MS"/>
                <a:cs typeface="Trebuchet MS"/>
              </a:rPr>
              <a:t>proceso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61315">
              <a:lnSpc>
                <a:spcPct val="100000"/>
              </a:lnSpc>
              <a:spcBef>
                <a:spcPts val="140"/>
              </a:spcBef>
            </a:pPr>
            <a:r>
              <a:rPr dirty="0"/>
              <a:t>¿Y</a:t>
            </a:r>
            <a:r>
              <a:rPr dirty="0" spc="-200"/>
              <a:t> </a:t>
            </a:r>
            <a:r>
              <a:rPr dirty="0" spc="90"/>
              <a:t>qué</a:t>
            </a:r>
            <a:r>
              <a:rPr dirty="0" spc="-110"/>
              <a:t> </a:t>
            </a:r>
            <a:r>
              <a:rPr dirty="0" spc="130"/>
              <a:t>pasa</a:t>
            </a:r>
            <a:r>
              <a:rPr dirty="0" spc="-110"/>
              <a:t> </a:t>
            </a:r>
            <a:r>
              <a:rPr dirty="0" spc="50"/>
              <a:t>en</a:t>
            </a:r>
            <a:r>
              <a:rPr dirty="0" spc="-110"/>
              <a:t> </a:t>
            </a:r>
            <a:r>
              <a:rPr dirty="0" spc="70"/>
              <a:t>User</a:t>
            </a:r>
            <a:r>
              <a:rPr dirty="0" spc="-160"/>
              <a:t> </a:t>
            </a:r>
            <a:r>
              <a:rPr dirty="0" spc="110"/>
              <a:t>space?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5475" y="725365"/>
            <a:ext cx="7772400" cy="3241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Es</a:t>
            </a:r>
            <a:r>
              <a:rPr dirty="0" sz="2000" spc="-2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donde</a:t>
            </a:r>
            <a:r>
              <a:rPr dirty="0" sz="2000" spc="-2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ahoma"/>
                <a:cs typeface="Tahoma"/>
              </a:rPr>
              <a:t>se</a:t>
            </a:r>
            <a:r>
              <a:rPr dirty="0" sz="2000" spc="-2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ejecutan</a:t>
            </a:r>
            <a:r>
              <a:rPr dirty="0" sz="2000" spc="-204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todos</a:t>
            </a:r>
            <a:r>
              <a:rPr dirty="0" sz="2000" spc="-2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los</a:t>
            </a:r>
            <a:r>
              <a:rPr dirty="0" sz="2000" spc="-2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programas</a:t>
            </a:r>
            <a:r>
              <a:rPr dirty="0" sz="2000" spc="-204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(procesos)!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Los</a:t>
            </a:r>
            <a:r>
              <a:rPr dirty="0" sz="20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procesos</a:t>
            </a:r>
            <a:r>
              <a:rPr dirty="0" sz="2000" spc="-21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ahoma"/>
                <a:cs typeface="Tahoma"/>
              </a:rPr>
              <a:t>se</a:t>
            </a:r>
            <a:r>
              <a:rPr dirty="0" sz="2000" spc="-21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ejecutan</a:t>
            </a:r>
            <a:r>
              <a:rPr dirty="0" sz="2000" spc="-21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2000" spc="-21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2000" spc="-2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1A1A1A"/>
                </a:solidFill>
                <a:latin typeface="Tahoma"/>
                <a:cs typeface="Tahoma"/>
              </a:rPr>
              <a:t>contexto: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spcBef>
                <a:spcPts val="156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2000" spc="-10" b="1">
                <a:solidFill>
                  <a:srgbClr val="1A1A1A"/>
                </a:solidFill>
                <a:latin typeface="Tahoma"/>
                <a:cs typeface="Tahoma"/>
              </a:rPr>
              <a:t>Aislado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2000" spc="-10" b="1">
                <a:solidFill>
                  <a:srgbClr val="1A1A1A"/>
                </a:solidFill>
                <a:latin typeface="Tahoma"/>
                <a:cs typeface="Tahoma"/>
              </a:rPr>
              <a:t>Protegido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2000" spc="-35" b="1">
                <a:solidFill>
                  <a:srgbClr val="1A1A1A"/>
                </a:solidFill>
                <a:latin typeface="Tahoma"/>
                <a:cs typeface="Tahoma"/>
              </a:rPr>
              <a:t>Restringido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Mediante</a:t>
            </a:r>
            <a:r>
              <a:rPr dirty="0" sz="20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0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uso</a:t>
            </a:r>
            <a:r>
              <a:rPr dirty="0" sz="20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20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funciones</a:t>
            </a:r>
            <a:r>
              <a:rPr dirty="0" sz="20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20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1A1A1A"/>
                </a:solidFill>
                <a:latin typeface="Tahoma"/>
                <a:cs typeface="Tahoma"/>
              </a:rPr>
              <a:t>se</a:t>
            </a:r>
            <a:r>
              <a:rPr dirty="0" sz="20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encuentran</a:t>
            </a:r>
            <a:r>
              <a:rPr dirty="0" sz="20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20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bibliotecas</a:t>
            </a:r>
            <a:r>
              <a:rPr dirty="0" sz="20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pueden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utilizar</a:t>
            </a:r>
            <a:r>
              <a:rPr dirty="0" sz="20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los</a:t>
            </a:r>
            <a:r>
              <a:rPr dirty="0" sz="20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servicios</a:t>
            </a:r>
            <a:r>
              <a:rPr dirty="0" sz="20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20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1A1A1A"/>
                </a:solidFill>
                <a:latin typeface="Tahoma"/>
                <a:cs typeface="Tahoma"/>
              </a:rPr>
              <a:t>acceso</a:t>
            </a:r>
            <a:r>
              <a:rPr dirty="0" sz="20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20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hardware</a:t>
            </a:r>
            <a:r>
              <a:rPr dirty="0" sz="20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1A1A1A"/>
                </a:solidFill>
                <a:latin typeface="Tahoma"/>
                <a:cs typeface="Tahoma"/>
              </a:rPr>
              <a:t>o</a:t>
            </a:r>
            <a:r>
              <a:rPr dirty="0" sz="2000" spc="-1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14" b="1">
                <a:solidFill>
                  <a:srgbClr val="1A1A1A"/>
                </a:solidFill>
                <a:latin typeface="Tahoma"/>
                <a:cs typeface="Tahoma"/>
              </a:rPr>
              <a:t>recursos</a:t>
            </a:r>
            <a:r>
              <a:rPr dirty="0" sz="2000" spc="-1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45" b="1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2000" spc="-1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95" b="1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000" spc="-1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1A1A1A"/>
                </a:solidFill>
                <a:latin typeface="Tahoma"/>
                <a:cs typeface="Tahoma"/>
              </a:rPr>
              <a:t>kernel </a:t>
            </a:r>
            <a:r>
              <a:rPr dirty="0" sz="2000" spc="-35" b="1">
                <a:solidFill>
                  <a:srgbClr val="1A1A1A"/>
                </a:solidFill>
                <a:latin typeface="Tahoma"/>
                <a:cs typeface="Tahoma"/>
              </a:rPr>
              <a:t>proporciona.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6100" y="57800"/>
            <a:ext cx="1150774" cy="1150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94800" y="913775"/>
            <a:ext cx="4046220" cy="3836035"/>
            <a:chOff x="294800" y="913775"/>
            <a:chExt cx="4046220" cy="38360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7325" y="913775"/>
              <a:ext cx="2143124" cy="214312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800" y="1751449"/>
              <a:ext cx="2998299" cy="29982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User-</a:t>
            </a:r>
            <a:r>
              <a:rPr dirty="0" spc="120"/>
              <a:t>space</a:t>
            </a:r>
            <a:r>
              <a:rPr dirty="0" spc="-114"/>
              <a:t> </a:t>
            </a:r>
            <a:r>
              <a:rPr dirty="0" spc="105"/>
              <a:t>vs</a:t>
            </a:r>
            <a:r>
              <a:rPr dirty="0" spc="-40"/>
              <a:t> </a:t>
            </a:r>
            <a:r>
              <a:rPr dirty="0"/>
              <a:t>Kernel</a:t>
            </a:r>
            <a:r>
              <a:rPr dirty="0" spc="-114"/>
              <a:t> </a:t>
            </a:r>
            <a:r>
              <a:rPr dirty="0" spc="100"/>
              <a:t>space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709700" y="955849"/>
            <a:ext cx="33807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20" b="1">
                <a:solidFill>
                  <a:srgbClr val="595959"/>
                </a:solidFill>
                <a:latin typeface="Tahoma"/>
                <a:cs typeface="Tahoma"/>
              </a:rPr>
              <a:t>Policía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6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50" b="1">
                <a:solidFill>
                  <a:srgbClr val="595959"/>
                </a:solidFill>
                <a:latin typeface="Tahoma"/>
                <a:cs typeface="Tahoma"/>
              </a:rPr>
              <a:t>execution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25" b="1">
                <a:solidFill>
                  <a:srgbClr val="595959"/>
                </a:solidFill>
                <a:latin typeface="Tahoma"/>
                <a:cs typeface="Tahoma"/>
              </a:rPr>
              <a:t>modes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09700" y="2267505"/>
            <a:ext cx="4017010" cy="1593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¿Quien,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2000" spc="-2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en</a:t>
            </a:r>
            <a:r>
              <a:rPr dirty="0" u="heavy" sz="2000" spc="-18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00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ultima</a:t>
            </a:r>
            <a:r>
              <a:rPr dirty="0" u="heavy" sz="2000" spc="-18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000" spc="-2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instancia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controla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(user-</a:t>
            </a:r>
            <a:r>
              <a:rPr dirty="0" sz="2000" spc="-65">
                <a:solidFill>
                  <a:srgbClr val="595959"/>
                </a:solidFill>
                <a:latin typeface="Tahoma"/>
                <a:cs typeface="Tahoma"/>
              </a:rPr>
              <a:t>mode)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comporten</a:t>
            </a:r>
            <a:r>
              <a:rPr dirty="0" sz="20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correctamente?</a:t>
            </a:r>
            <a:endParaRPr sz="2000">
              <a:latin typeface="Tahoma"/>
              <a:cs typeface="Tahoma"/>
            </a:endParaRPr>
          </a:p>
          <a:p>
            <a:pPr algn="ctr" marL="158750">
              <a:lnSpc>
                <a:spcPct val="100000"/>
              </a:lnSpc>
              <a:spcBef>
                <a:spcPts val="2385"/>
              </a:spcBef>
            </a:pPr>
            <a:r>
              <a:rPr dirty="0" sz="2300" spc="-10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300" spc="-21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35" b="1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94800" y="913775"/>
            <a:ext cx="4046220" cy="3836035"/>
            <a:chOff x="294800" y="913775"/>
            <a:chExt cx="4046220" cy="38360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7325" y="913775"/>
              <a:ext cx="2143124" cy="214312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800" y="1751449"/>
              <a:ext cx="2998299" cy="29982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User-</a:t>
            </a:r>
            <a:r>
              <a:rPr dirty="0" spc="120"/>
              <a:t>space</a:t>
            </a:r>
            <a:r>
              <a:rPr dirty="0" spc="-114"/>
              <a:t> </a:t>
            </a:r>
            <a:r>
              <a:rPr dirty="0" spc="105"/>
              <a:t>vs</a:t>
            </a:r>
            <a:r>
              <a:rPr dirty="0" spc="-40"/>
              <a:t> </a:t>
            </a:r>
            <a:r>
              <a:rPr dirty="0"/>
              <a:t>Kernel</a:t>
            </a:r>
            <a:r>
              <a:rPr dirty="0" spc="-114"/>
              <a:t> </a:t>
            </a:r>
            <a:r>
              <a:rPr dirty="0" spc="100"/>
              <a:t>space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720268" y="1565290"/>
            <a:ext cx="4145279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335" marR="5080" indent="-38227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595959"/>
                </a:solidFill>
                <a:latin typeface="Tahoma"/>
                <a:cs typeface="Tahoma"/>
              </a:rPr>
              <a:t>mecanismo </a:t>
            </a:r>
            <a:r>
              <a:rPr dirty="0" sz="20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0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595959"/>
                </a:solidFill>
                <a:latin typeface="Tahoma"/>
                <a:cs typeface="Tahoma"/>
              </a:rPr>
              <a:t>protección</a:t>
            </a:r>
            <a:endParaRPr sz="2000">
              <a:latin typeface="Tahoma"/>
              <a:cs typeface="Tahoma"/>
            </a:endParaRPr>
          </a:p>
          <a:p>
            <a:pPr marL="394335" marR="21590" indent="-382270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software</a:t>
            </a:r>
            <a:r>
              <a:rPr dirty="0" sz="20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(kernel)</a:t>
            </a:r>
            <a:r>
              <a:rPr dirty="0" sz="20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determina</a:t>
            </a:r>
            <a:r>
              <a:rPr dirty="0" sz="20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2000" spc="-105" b="1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5" b="1">
                <a:solidFill>
                  <a:srgbClr val="595959"/>
                </a:solidFill>
                <a:latin typeface="Tahoma"/>
                <a:cs typeface="Tahoma"/>
              </a:rPr>
              <a:t>protección</a:t>
            </a:r>
            <a:r>
              <a:rPr dirty="0" sz="20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configura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hardware.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42175" y="4079021"/>
            <a:ext cx="51390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instancia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principio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separación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mecanismo/politica.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Ver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https://en.wikipedia.org/wiki/Separation_of_mechanism_and_policy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User-</a:t>
            </a:r>
            <a:r>
              <a:rPr dirty="0" spc="120"/>
              <a:t>space</a:t>
            </a:r>
            <a:r>
              <a:rPr dirty="0" spc="-114"/>
              <a:t> </a:t>
            </a:r>
            <a:r>
              <a:rPr dirty="0" spc="105"/>
              <a:t>vs</a:t>
            </a:r>
            <a:r>
              <a:rPr dirty="0" spc="-40"/>
              <a:t> </a:t>
            </a:r>
            <a:r>
              <a:rPr dirty="0"/>
              <a:t>Kernel</a:t>
            </a:r>
            <a:r>
              <a:rPr dirty="0" spc="-114"/>
              <a:t> </a:t>
            </a:r>
            <a:r>
              <a:rPr dirty="0" spc="100"/>
              <a:t>space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336900" y="589225"/>
            <a:ext cx="4093210" cy="418782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232410">
              <a:lnSpc>
                <a:spcPts val="1939"/>
              </a:lnSpc>
              <a:spcBef>
                <a:spcPts val="245"/>
              </a:spcBef>
            </a:pP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75">
                <a:solidFill>
                  <a:srgbClr val="595959"/>
                </a:solidFill>
                <a:latin typeface="Tahoma"/>
                <a:cs typeface="Tahoma"/>
              </a:rPr>
              <a:t>CPUs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proporcionan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soporte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aislamiento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fuerte.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Por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endParaRPr sz="1700">
              <a:latin typeface="Tahoma"/>
              <a:cs typeface="Tahoma"/>
            </a:endParaRPr>
          </a:p>
          <a:p>
            <a:pPr marL="12700" marR="130810">
              <a:lnSpc>
                <a:spcPts val="1939"/>
              </a:lnSpc>
              <a:spcBef>
                <a:spcPts val="1195"/>
              </a:spcBef>
            </a:pPr>
            <a:r>
              <a:rPr dirty="0" sz="1700" spc="-55">
                <a:solidFill>
                  <a:srgbClr val="595959"/>
                </a:solidFill>
                <a:latin typeface="Tahoma"/>
                <a:cs typeface="Tahoma"/>
              </a:rPr>
              <a:t>RISC-</a:t>
            </a:r>
            <a:r>
              <a:rPr dirty="0" sz="1700" spc="140">
                <a:solidFill>
                  <a:srgbClr val="595959"/>
                </a:solidFill>
                <a:latin typeface="Tahoma"/>
                <a:cs typeface="Tahoma"/>
              </a:rPr>
              <a:t>V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modos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595959"/>
                </a:solidFill>
                <a:latin typeface="Tahoma"/>
                <a:cs typeface="Tahoma"/>
              </a:rPr>
              <a:t>CPU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instrucciones:</a:t>
            </a:r>
            <a:r>
              <a:rPr dirty="0" sz="17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 b="1">
                <a:solidFill>
                  <a:srgbClr val="595959"/>
                </a:solidFill>
                <a:latin typeface="Tahoma"/>
                <a:cs typeface="Tahoma"/>
              </a:rPr>
              <a:t>modo 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máquina,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supervisor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 b="1">
                <a:solidFill>
                  <a:srgbClr val="595959"/>
                </a:solidFill>
                <a:latin typeface="Tahoma"/>
                <a:cs typeface="Tahoma"/>
              </a:rPr>
              <a:t>modo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marL="12700" marR="159385">
              <a:lnSpc>
                <a:spcPts val="1939"/>
              </a:lnSpc>
              <a:spcBef>
                <a:spcPts val="1190"/>
              </a:spcBef>
            </a:pPr>
            <a:r>
              <a:rPr dirty="0" sz="1700" spc="75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cuatro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modos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595959"/>
                </a:solidFill>
                <a:latin typeface="Tahoma"/>
                <a:cs typeface="Tahoma"/>
              </a:rPr>
              <a:t>CPU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instrucciones,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2: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supervisor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ts val="1939"/>
              </a:lnSpc>
              <a:spcBef>
                <a:spcPts val="119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supervisor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ejecutar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privilegiadas: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ejemplo,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habilitar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deshabilitar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interrupciones,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leer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escribir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páginas,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etc.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99" y="973600"/>
            <a:ext cx="3667449" cy="36674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User-</a:t>
            </a:r>
            <a:r>
              <a:rPr dirty="0" spc="120"/>
              <a:t>space</a:t>
            </a:r>
            <a:r>
              <a:rPr dirty="0" spc="-114"/>
              <a:t> </a:t>
            </a:r>
            <a:r>
              <a:rPr dirty="0" spc="105"/>
              <a:t>vs</a:t>
            </a:r>
            <a:r>
              <a:rPr dirty="0" spc="-40"/>
              <a:t> </a:t>
            </a:r>
            <a:r>
              <a:rPr dirty="0"/>
              <a:t>Kernel</a:t>
            </a:r>
            <a:r>
              <a:rPr dirty="0" spc="-114"/>
              <a:t> </a:t>
            </a:r>
            <a:r>
              <a:rPr dirty="0" spc="100"/>
              <a:t>space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696605"/>
            <a:ext cx="8101330" cy="383159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"/>
              </a:spcBef>
            </a:pP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aplicación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quiere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invocar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función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del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(por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1A1A1A"/>
                </a:solidFill>
                <a:latin typeface="Tahoma"/>
                <a:cs typeface="Tahoma"/>
              </a:rPr>
              <a:t>ejemplo,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syscall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read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xv6)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debe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realizar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transición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Kernel;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aplicación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no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puede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invocar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directamente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función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del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Kernel.</a:t>
            </a:r>
            <a:endParaRPr sz="1500">
              <a:latin typeface="Tahoma"/>
              <a:cs typeface="Tahoma"/>
            </a:endParaRPr>
          </a:p>
          <a:p>
            <a:pPr marL="12700" marR="337185" indent="36195">
              <a:lnSpc>
                <a:spcPct val="105000"/>
              </a:lnSpc>
              <a:spcBef>
                <a:spcPts val="1200"/>
              </a:spcBef>
            </a:pP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Las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65">
                <a:solidFill>
                  <a:srgbClr val="1A1A1A"/>
                </a:solidFill>
                <a:latin typeface="Tahoma"/>
                <a:cs typeface="Tahoma"/>
              </a:rPr>
              <a:t>CPUs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proporcionan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instrucción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especial</a:t>
            </a:r>
            <a:r>
              <a:rPr dirty="0" sz="1500" spc="-13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cambia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1A1A1A"/>
                </a:solidFill>
                <a:latin typeface="Tahoma"/>
                <a:cs typeface="Tahoma"/>
              </a:rPr>
              <a:t>CPU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del</a:t>
            </a:r>
            <a:r>
              <a:rPr dirty="0" sz="1500" spc="-13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modo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usuario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modo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supervisor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y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entra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500" spc="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punto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entrada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especificado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por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Kernel.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65">
                <a:solidFill>
                  <a:srgbClr val="1A1A1A"/>
                </a:solidFill>
                <a:latin typeface="Tahoma"/>
                <a:cs typeface="Tahoma"/>
              </a:rPr>
              <a:t>(RISC-</a:t>
            </a:r>
            <a:r>
              <a:rPr dirty="0" sz="1500" spc="65">
                <a:solidFill>
                  <a:srgbClr val="1A1A1A"/>
                </a:solidFill>
                <a:latin typeface="Tahoma"/>
                <a:cs typeface="Tahoma"/>
              </a:rPr>
              <a:t>V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proporciona</a:t>
            </a:r>
            <a:r>
              <a:rPr dirty="0" sz="1500" spc="-1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instrucción</a:t>
            </a:r>
            <a:r>
              <a:rPr dirty="0" sz="1500" spc="-1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ecall</a:t>
            </a:r>
            <a:r>
              <a:rPr dirty="0" sz="1500" spc="-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para</a:t>
            </a:r>
            <a:r>
              <a:rPr dirty="0" sz="1500" spc="-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este</a:t>
            </a:r>
            <a:r>
              <a:rPr dirty="0" sz="1500" spc="-1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propósito,</a:t>
            </a:r>
            <a:r>
              <a:rPr dirty="0" sz="1500" spc="-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x86</a:t>
            </a:r>
            <a:r>
              <a:rPr dirty="0" sz="1500" spc="-9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int</a:t>
            </a:r>
            <a:r>
              <a:rPr dirty="0" sz="1500" spc="-1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0x80.)</a:t>
            </a:r>
            <a:endParaRPr sz="1500">
              <a:latin typeface="Tahoma"/>
              <a:cs typeface="Tahoma"/>
            </a:endParaRPr>
          </a:p>
          <a:p>
            <a:pPr marL="12700" marR="100330" indent="36195">
              <a:lnSpc>
                <a:spcPct val="105000"/>
              </a:lnSpc>
              <a:spcBef>
                <a:spcPts val="1200"/>
              </a:spcBef>
            </a:pP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4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vez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1A1A1A"/>
                </a:solidFill>
                <a:latin typeface="Tahoma"/>
                <a:cs typeface="Tahoma"/>
              </a:rPr>
              <a:t>CPU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cambio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modo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supervisor,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puede</a:t>
            </a:r>
            <a:r>
              <a:rPr dirty="0" sz="1500" spc="-14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entonces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validar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los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argumentos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llamada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sistema</a:t>
            </a:r>
            <a:r>
              <a:rPr dirty="0" sz="1500" spc="-14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(por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1A1A1A"/>
                </a:solidFill>
                <a:latin typeface="Tahoma"/>
                <a:cs typeface="Tahoma"/>
              </a:rPr>
              <a:t>ejemplo,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verificar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si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4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dirección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pasada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1A1A1A"/>
                </a:solidFill>
                <a:latin typeface="Tahoma"/>
                <a:cs typeface="Tahoma"/>
              </a:rPr>
              <a:t>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llamada</a:t>
            </a:r>
            <a:r>
              <a:rPr dirty="0" sz="1500" spc="-14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sistema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es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parte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memoria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aplicación),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decidir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si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aplicación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tiene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permisos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para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realizar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la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operación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solicitada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(por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1A1A1A"/>
                </a:solidFill>
                <a:latin typeface="Tahoma"/>
                <a:cs typeface="Tahoma"/>
              </a:rPr>
              <a:t>ejemplo,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verificar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si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aplicación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tiene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permisos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para</a:t>
            </a:r>
            <a:r>
              <a:rPr dirty="0" sz="1500" spc="-11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escribir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1500" spc="-10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el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archivo</a:t>
            </a:r>
            <a:r>
              <a:rPr dirty="0" sz="15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especificado)</a:t>
            </a:r>
            <a:r>
              <a:rPr dirty="0" sz="1500" spc="-15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y</a:t>
            </a:r>
            <a:r>
              <a:rPr dirty="0" sz="15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luego</a:t>
            </a:r>
            <a:r>
              <a:rPr dirty="0" sz="1500" spc="-15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denegarla</a:t>
            </a:r>
            <a:r>
              <a:rPr dirty="0" sz="15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o</a:t>
            </a:r>
            <a:r>
              <a:rPr dirty="0" sz="1500" spc="-15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ejecutarla.</a:t>
            </a:r>
            <a:endParaRPr sz="1500">
              <a:latin typeface="Tahoma"/>
              <a:cs typeface="Tahoma"/>
            </a:endParaRPr>
          </a:p>
          <a:p>
            <a:pPr marL="12700" marR="18415">
              <a:lnSpc>
                <a:spcPct val="105000"/>
              </a:lnSpc>
              <a:spcBef>
                <a:spcPts val="1200"/>
              </a:spcBef>
            </a:pP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Es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importante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controle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punto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entrada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para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las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transiciones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modo</a:t>
            </a:r>
            <a:r>
              <a:rPr dirty="0" sz="15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supervisor;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Si</a:t>
            </a:r>
            <a:r>
              <a:rPr dirty="0" sz="1500" spc="-13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aplicación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pudiera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decidir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punto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entrada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núcleo,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aplicación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maliciosa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podría,</a:t>
            </a:r>
            <a:r>
              <a:rPr dirty="0" sz="1500" spc="-12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1A1A1A"/>
                </a:solidFill>
                <a:latin typeface="Tahoma"/>
                <a:cs typeface="Tahoma"/>
              </a:rPr>
              <a:t>por </a:t>
            </a:r>
            <a:r>
              <a:rPr dirty="0" sz="1500" spc="-30">
                <a:solidFill>
                  <a:srgbClr val="1A1A1A"/>
                </a:solidFill>
                <a:latin typeface="Tahoma"/>
                <a:cs typeface="Tahoma"/>
              </a:rPr>
              <a:t>ejemplo,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ingresar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núcleo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punto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donde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Tahoma"/>
                <a:cs typeface="Tahoma"/>
              </a:rPr>
              <a:t>se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omite</a:t>
            </a:r>
            <a:r>
              <a:rPr dirty="0" sz="1500" spc="-13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validación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Tahoma"/>
                <a:cs typeface="Tahoma"/>
              </a:rPr>
              <a:t>argumentos.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</a:t>
            </a:r>
            <a:r>
              <a:rPr dirty="0" spc="-125"/>
              <a:t> </a:t>
            </a:r>
            <a:r>
              <a:rPr dirty="0" spc="105"/>
              <a:t>Dual</a:t>
            </a:r>
            <a:r>
              <a:rPr dirty="0" spc="-18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60"/>
              <a:t>Operaciones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832" y="1227297"/>
            <a:ext cx="7980091" cy="30139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User-</a:t>
            </a:r>
            <a:r>
              <a:rPr dirty="0" spc="120"/>
              <a:t>space</a:t>
            </a:r>
            <a:r>
              <a:rPr dirty="0" spc="-114"/>
              <a:t> </a:t>
            </a:r>
            <a:r>
              <a:rPr dirty="0" spc="105"/>
              <a:t>vs</a:t>
            </a:r>
            <a:r>
              <a:rPr dirty="0" spc="-40"/>
              <a:t> </a:t>
            </a:r>
            <a:r>
              <a:rPr dirty="0"/>
              <a:t>Kernel</a:t>
            </a:r>
            <a:r>
              <a:rPr dirty="0" spc="-114"/>
              <a:t> </a:t>
            </a:r>
            <a:r>
              <a:rPr dirty="0" spc="100"/>
              <a:t>space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7300" y="808585"/>
            <a:ext cx="5929021" cy="42455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582520"/>
            <a:ext cx="7529195" cy="3497579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just" marL="12700" marR="5080">
              <a:lnSpc>
                <a:spcPts val="2620"/>
              </a:lnSpc>
              <a:spcBef>
                <a:spcPts val="305"/>
              </a:spcBef>
            </a:pP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2300" spc="9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60" b="1">
                <a:solidFill>
                  <a:srgbClr val="1A1A1A"/>
                </a:solidFill>
                <a:latin typeface="Tahoma"/>
                <a:cs typeface="Tahoma"/>
              </a:rPr>
              <a:t>system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ahoma"/>
                <a:cs typeface="Tahoma"/>
              </a:rPr>
              <a:t>call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10" b="1">
                <a:solidFill>
                  <a:srgbClr val="1A1A1A"/>
                </a:solidFill>
                <a:latin typeface="Tahoma"/>
                <a:cs typeface="Tahoma"/>
              </a:rPr>
              <a:t>(llamada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14" b="1">
                <a:solidFill>
                  <a:srgbClr val="1A1A1A"/>
                </a:solidFill>
                <a:latin typeface="Tahoma"/>
                <a:cs typeface="Tahoma"/>
              </a:rPr>
              <a:t>sistema)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ahoma"/>
                <a:cs typeface="Tahoma"/>
              </a:rPr>
              <a:t>es</a:t>
            </a:r>
            <a:r>
              <a:rPr dirty="0" sz="2300" spc="1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ahoma"/>
                <a:cs typeface="Tahoma"/>
              </a:rPr>
              <a:t>punto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25" b="1">
                <a:solidFill>
                  <a:srgbClr val="1A1A1A"/>
                </a:solidFill>
                <a:latin typeface="Tahoma"/>
                <a:cs typeface="Tahoma"/>
              </a:rPr>
              <a:t>de </a:t>
            </a:r>
            <a:r>
              <a:rPr dirty="0" sz="2300" spc="-100" b="1">
                <a:solidFill>
                  <a:srgbClr val="1A1A1A"/>
                </a:solidFill>
                <a:latin typeface="Tahoma"/>
                <a:cs typeface="Tahoma"/>
              </a:rPr>
              <a:t>entrada</a:t>
            </a:r>
            <a:r>
              <a:rPr dirty="0" sz="2300" spc="13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05" b="1">
                <a:solidFill>
                  <a:srgbClr val="1A1A1A"/>
                </a:solidFill>
                <a:latin typeface="Tahoma"/>
                <a:cs typeface="Tahoma"/>
              </a:rPr>
              <a:t>controlado</a:t>
            </a:r>
            <a:r>
              <a:rPr dirty="0" sz="2300" spc="13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2300" spc="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05" b="1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2300" spc="-105">
                <a:solidFill>
                  <a:srgbClr val="1A1A1A"/>
                </a:solidFill>
                <a:latin typeface="Tahoma"/>
                <a:cs typeface="Tahoma"/>
              </a:rPr>
              <a:t>,</a:t>
            </a:r>
            <a:r>
              <a:rPr dirty="0" sz="2300" spc="9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permitiendo</a:t>
            </a:r>
            <a:r>
              <a:rPr dirty="0" sz="2300" spc="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a</a:t>
            </a:r>
            <a:r>
              <a:rPr dirty="0" sz="2300" spc="9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2300" spc="9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1A1A1A"/>
                </a:solidFill>
                <a:latin typeface="Tahoma"/>
                <a:cs typeface="Tahoma"/>
              </a:rPr>
              <a:t>proceso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solicitar</a:t>
            </a:r>
            <a:r>
              <a:rPr dirty="0" sz="2300" spc="-20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2300" spc="-15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300" spc="-15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2300" spc="-15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realice</a:t>
            </a:r>
            <a:r>
              <a:rPr dirty="0" sz="2300" spc="-15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alguna</a:t>
            </a:r>
            <a:r>
              <a:rPr dirty="0" sz="2300" spc="-15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operación</a:t>
            </a:r>
            <a:r>
              <a:rPr dirty="0" sz="2300" spc="-15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en</a:t>
            </a:r>
            <a:r>
              <a:rPr dirty="0" sz="2300" spc="-20">
                <a:solidFill>
                  <a:srgbClr val="1A1A1A"/>
                </a:solidFill>
                <a:latin typeface="Tahoma"/>
                <a:cs typeface="Tahoma"/>
              </a:rPr>
              <a:t>  </a:t>
            </a:r>
            <a:r>
              <a:rPr dirty="0" sz="2300" spc="-25">
                <a:solidFill>
                  <a:srgbClr val="1A1A1A"/>
                </a:solidFill>
                <a:latin typeface="Tahoma"/>
                <a:cs typeface="Tahoma"/>
              </a:rPr>
              <a:t>su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nombre</a:t>
            </a:r>
            <a:r>
              <a:rPr dirty="0" sz="2300" spc="-229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65">
                <a:solidFill>
                  <a:srgbClr val="1A1A1A"/>
                </a:solidFill>
                <a:latin typeface="Tahoma"/>
                <a:cs typeface="Tahoma"/>
              </a:rPr>
              <a:t>[KER](cap.</a:t>
            </a:r>
            <a:r>
              <a:rPr dirty="0" sz="2300" spc="-229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25">
                <a:solidFill>
                  <a:srgbClr val="1A1A1A"/>
                </a:solidFill>
                <a:latin typeface="Tahoma"/>
                <a:cs typeface="Tahoma"/>
              </a:rPr>
              <a:t>3).</a:t>
            </a:r>
            <a:endParaRPr sz="2300">
              <a:latin typeface="Tahoma"/>
              <a:cs typeface="Tahoma"/>
            </a:endParaRPr>
          </a:p>
          <a:p>
            <a:pPr algn="just" marL="12700" marR="5715">
              <a:lnSpc>
                <a:spcPts val="2620"/>
              </a:lnSpc>
              <a:spcBef>
                <a:spcPts val="1205"/>
              </a:spcBef>
            </a:pPr>
            <a:r>
              <a:rPr dirty="0" sz="2300" spc="5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1A1A1A"/>
                </a:solidFill>
                <a:latin typeface="Tahoma"/>
                <a:cs typeface="Tahoma"/>
              </a:rPr>
              <a:t>expone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1A1A1A"/>
                </a:solidFill>
                <a:latin typeface="Tahoma"/>
                <a:cs typeface="Tahoma"/>
              </a:rPr>
              <a:t>gran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cantidad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servicios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1A1A1A"/>
                </a:solidFill>
                <a:latin typeface="Tahoma"/>
                <a:cs typeface="Tahoma"/>
              </a:rPr>
              <a:t>accesibles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por</a:t>
            </a:r>
            <a:r>
              <a:rPr dirty="0" sz="2300" spc="-1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95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2300" spc="-8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30">
                <a:solidFill>
                  <a:srgbClr val="1A1A1A"/>
                </a:solidFill>
                <a:latin typeface="Tahoma"/>
                <a:cs typeface="Tahoma"/>
              </a:rPr>
              <a:t>programa</a:t>
            </a:r>
            <a:r>
              <a:rPr dirty="0" sz="2300" spc="-1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1A1A1A"/>
                </a:solidFill>
                <a:latin typeface="Tahoma"/>
                <a:cs typeface="Tahoma"/>
              </a:rPr>
              <a:t>vía</a:t>
            </a:r>
            <a:r>
              <a:rPr dirty="0" sz="2300" spc="-1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3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300" spc="-10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30" b="1">
                <a:solidFill>
                  <a:srgbClr val="1A1A1A"/>
                </a:solidFill>
                <a:latin typeface="Tahoma"/>
                <a:cs typeface="Tahoma"/>
              </a:rPr>
              <a:t>Application</a:t>
            </a:r>
            <a:r>
              <a:rPr dirty="0" sz="2300" spc="-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95" b="1">
                <a:solidFill>
                  <a:srgbClr val="1A1A1A"/>
                </a:solidFill>
                <a:latin typeface="Tahoma"/>
                <a:cs typeface="Tahoma"/>
              </a:rPr>
              <a:t>Programming</a:t>
            </a:r>
            <a:r>
              <a:rPr dirty="0" sz="2300" spc="3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25" b="1">
                <a:solidFill>
                  <a:srgbClr val="1A1A1A"/>
                </a:solidFill>
                <a:latin typeface="Tahoma"/>
                <a:cs typeface="Tahoma"/>
              </a:rPr>
              <a:t>Interface </a:t>
            </a:r>
            <a:r>
              <a:rPr dirty="0" sz="2300" spc="-235" b="1">
                <a:solidFill>
                  <a:srgbClr val="1A1A1A"/>
                </a:solidFill>
                <a:latin typeface="Tahoma"/>
                <a:cs typeface="Tahoma"/>
              </a:rPr>
              <a:t>(API)</a:t>
            </a:r>
            <a:r>
              <a:rPr dirty="0" sz="2300" spc="-20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50" b="1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2300" spc="-204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70" b="1">
                <a:solidFill>
                  <a:srgbClr val="1A1A1A"/>
                </a:solidFill>
                <a:latin typeface="Tahoma"/>
                <a:cs typeface="Tahoma"/>
              </a:rPr>
              <a:t>system</a:t>
            </a:r>
            <a:r>
              <a:rPr dirty="0" sz="2300" spc="-20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0" b="1">
                <a:solidFill>
                  <a:srgbClr val="1A1A1A"/>
                </a:solidFill>
                <a:latin typeface="Tahoma"/>
                <a:cs typeface="Tahoma"/>
              </a:rPr>
              <a:t>calls</a:t>
            </a:r>
            <a:r>
              <a:rPr dirty="0" sz="2300" spc="-10">
                <a:solidFill>
                  <a:srgbClr val="1A1A1A"/>
                </a:solidFill>
                <a:latin typeface="Tahoma"/>
                <a:cs typeface="Tahoma"/>
              </a:rPr>
              <a:t>.</a:t>
            </a:r>
            <a:endParaRPr sz="2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3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23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Syscall</a:t>
            </a:r>
            <a:r>
              <a:rPr dirty="0" sz="23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30">
                <a:solidFill>
                  <a:srgbClr val="1A1A1A"/>
                </a:solidFill>
                <a:latin typeface="Tahoma"/>
                <a:cs typeface="Tahoma"/>
              </a:rPr>
              <a:t>es</a:t>
            </a:r>
            <a:r>
              <a:rPr dirty="0" sz="23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2300" spc="-21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servicio</a:t>
            </a:r>
            <a:r>
              <a:rPr dirty="0" sz="23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23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provee</a:t>
            </a:r>
            <a:r>
              <a:rPr dirty="0" sz="2300" spc="-22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2300" spc="-21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697837"/>
            <a:ext cx="18573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261129"/>
            <a:ext cx="7527290" cy="260413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Algunas</a:t>
            </a:r>
            <a:r>
              <a:rPr dirty="0" sz="17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características</a:t>
            </a:r>
            <a:r>
              <a:rPr dirty="0" sz="17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1A1A1A"/>
                </a:solidFill>
                <a:latin typeface="Tahoma"/>
                <a:cs typeface="Tahoma"/>
              </a:rPr>
              <a:t>generales</a:t>
            </a:r>
            <a:r>
              <a:rPr dirty="0" sz="17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las</a:t>
            </a:r>
            <a:r>
              <a:rPr dirty="0" sz="17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system</a:t>
            </a:r>
            <a:r>
              <a:rPr dirty="0" sz="1700" spc="-1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calls</a:t>
            </a:r>
            <a:r>
              <a:rPr dirty="0" sz="1700" spc="-16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1A1A1A"/>
                </a:solidFill>
                <a:latin typeface="Tahoma"/>
                <a:cs typeface="Tahoma"/>
              </a:rPr>
              <a:t>son:</a:t>
            </a:r>
            <a:endParaRPr sz="1700">
              <a:latin typeface="Tahoma"/>
              <a:cs typeface="Tahoma"/>
            </a:endParaRPr>
          </a:p>
          <a:p>
            <a:pPr marL="12700" marR="513080" indent="457200">
              <a:lnSpc>
                <a:spcPts val="1939"/>
              </a:lnSpc>
              <a:spcBef>
                <a:spcPts val="1245"/>
              </a:spcBef>
            </a:pP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Una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90" i="1">
                <a:solidFill>
                  <a:srgbClr val="1A1A1A"/>
                </a:solidFill>
                <a:latin typeface="Trebuchet MS"/>
                <a:cs typeface="Trebuchet MS"/>
              </a:rPr>
              <a:t>system</a:t>
            </a:r>
            <a:r>
              <a:rPr dirty="0" sz="1700" spc="-155" i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700" spc="-110" i="1">
                <a:solidFill>
                  <a:srgbClr val="1A1A1A"/>
                </a:solidFill>
                <a:latin typeface="Trebuchet MS"/>
                <a:cs typeface="Trebuchet MS"/>
              </a:rPr>
              <a:t>call</a:t>
            </a:r>
            <a:r>
              <a:rPr dirty="0" sz="1700" spc="-140" i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700" spc="-135" b="1">
                <a:solidFill>
                  <a:srgbClr val="1A1A1A"/>
                </a:solidFill>
                <a:latin typeface="Tahoma"/>
                <a:cs typeface="Tahoma"/>
              </a:rPr>
              <a:t>cambia</a:t>
            </a:r>
            <a:r>
              <a:rPr dirty="0" sz="1700" spc="-14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90" b="1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700" spc="-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1A1A1A"/>
                </a:solidFill>
                <a:latin typeface="Tahoma"/>
                <a:cs typeface="Tahoma"/>
              </a:rPr>
              <a:t>modo</a:t>
            </a:r>
            <a:r>
              <a:rPr dirty="0" sz="1700" spc="-1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1A1A1A"/>
                </a:solidFill>
                <a:latin typeface="Tahoma"/>
                <a:cs typeface="Tahoma"/>
              </a:rPr>
              <a:t>del</a:t>
            </a:r>
            <a:r>
              <a:rPr dirty="0" sz="1700" spc="-135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1A1A1A"/>
                </a:solidFill>
                <a:latin typeface="Tahoma"/>
                <a:cs typeface="Tahoma"/>
              </a:rPr>
              <a:t>procesador</a:t>
            </a:r>
            <a:r>
              <a:rPr dirty="0" sz="1700" spc="-1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700" spc="-14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1A1A1A"/>
                </a:solidFill>
                <a:latin typeface="Tahoma"/>
                <a:cs typeface="Tahoma"/>
              </a:rPr>
              <a:t>user</a:t>
            </a:r>
            <a:r>
              <a:rPr dirty="0" sz="1700" spc="-140" b="1">
                <a:solidFill>
                  <a:srgbClr val="1A1A1A"/>
                </a:solidFill>
                <a:latin typeface="Tahoma"/>
                <a:cs typeface="Tahoma"/>
              </a:rPr>
              <a:t> mode a </a:t>
            </a:r>
            <a:r>
              <a:rPr dirty="0" sz="1700" spc="-35" b="1">
                <a:solidFill>
                  <a:srgbClr val="1A1A1A"/>
                </a:solidFill>
                <a:latin typeface="Tahoma"/>
                <a:cs typeface="Tahoma"/>
              </a:rPr>
              <a:t>kernel </a:t>
            </a:r>
            <a:r>
              <a:rPr dirty="0" sz="1700" spc="-145" b="1">
                <a:solidFill>
                  <a:srgbClr val="1A1A1A"/>
                </a:solidFill>
                <a:latin typeface="Tahoma"/>
                <a:cs typeface="Tahoma"/>
              </a:rPr>
              <a:t>mode</a:t>
            </a:r>
            <a:r>
              <a:rPr dirty="0" sz="1700" spc="-145">
                <a:solidFill>
                  <a:srgbClr val="1A1A1A"/>
                </a:solidFill>
                <a:latin typeface="Tahoma"/>
                <a:cs typeface="Tahoma"/>
              </a:rPr>
              <a:t>,</a:t>
            </a:r>
            <a:r>
              <a:rPr dirty="0" sz="17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por</a:t>
            </a:r>
            <a:r>
              <a:rPr dirty="0" sz="17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ende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la</a:t>
            </a:r>
            <a:r>
              <a:rPr dirty="0" sz="17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1A1A1A"/>
                </a:solidFill>
                <a:latin typeface="Tahoma"/>
                <a:cs typeface="Tahoma"/>
              </a:rPr>
              <a:t>CPU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podrá</a:t>
            </a:r>
            <a:r>
              <a:rPr dirty="0" sz="17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acceder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7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área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protegida</a:t>
            </a:r>
            <a:r>
              <a:rPr dirty="0" sz="1700" spc="-18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del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kernel.</a:t>
            </a:r>
            <a:endParaRPr sz="1700">
              <a:latin typeface="Tahoma"/>
              <a:cs typeface="Tahoma"/>
            </a:endParaRPr>
          </a:p>
          <a:p>
            <a:pPr marL="12700" marR="5080" indent="457200">
              <a:lnSpc>
                <a:spcPts val="1939"/>
              </a:lnSpc>
              <a:spcBef>
                <a:spcPts val="1200"/>
              </a:spcBef>
            </a:pP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1A1A1A"/>
                </a:solidFill>
                <a:latin typeface="Tahoma"/>
                <a:cs typeface="Tahoma"/>
              </a:rPr>
              <a:t>conjunto</a:t>
            </a:r>
            <a:r>
              <a:rPr dirty="0" sz="1700" spc="-125" b="1">
                <a:solidFill>
                  <a:srgbClr val="1A1A1A"/>
                </a:solidFill>
                <a:latin typeface="Tahoma"/>
                <a:cs typeface="Tahoma"/>
              </a:rPr>
              <a:t> de </a:t>
            </a:r>
            <a:r>
              <a:rPr dirty="0" sz="1700" spc="-130" b="1">
                <a:solidFill>
                  <a:srgbClr val="1A1A1A"/>
                </a:solidFill>
                <a:latin typeface="Tahoma"/>
                <a:cs typeface="Tahoma"/>
              </a:rPr>
              <a:t>system</a:t>
            </a:r>
            <a:r>
              <a:rPr dirty="0" sz="1700" spc="-114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1A1A1A"/>
                </a:solidFill>
                <a:latin typeface="Tahoma"/>
                <a:cs typeface="Tahoma"/>
              </a:rPr>
              <a:t>calls</a:t>
            </a:r>
            <a:r>
              <a:rPr dirty="0" sz="1700" spc="-120" b="1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1A1A1A"/>
                </a:solidFill>
                <a:latin typeface="Tahoma"/>
                <a:cs typeface="Tahoma"/>
              </a:rPr>
              <a:t>es</a:t>
            </a:r>
            <a:r>
              <a:rPr dirty="0" sz="1700" spc="-120" b="1">
                <a:solidFill>
                  <a:srgbClr val="1A1A1A"/>
                </a:solidFill>
                <a:latin typeface="Tahoma"/>
                <a:cs typeface="Tahoma"/>
              </a:rPr>
              <a:t> fijo</a:t>
            </a:r>
            <a:r>
              <a:rPr dirty="0" sz="1700" spc="-120">
                <a:solidFill>
                  <a:srgbClr val="1A1A1A"/>
                </a:solidFill>
                <a:latin typeface="Tahoma"/>
                <a:cs typeface="Tahoma"/>
              </a:rPr>
              <a:t>.</a:t>
            </a:r>
            <a:r>
              <a:rPr dirty="0" sz="1700" spc="-15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Cada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system</a:t>
            </a:r>
            <a:r>
              <a:rPr dirty="0" sz="1700" spc="-15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call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está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identificada</a:t>
            </a:r>
            <a:r>
              <a:rPr dirty="0" sz="1700" spc="-15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por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1A1A1A"/>
                </a:solidFill>
                <a:latin typeface="Tahoma"/>
                <a:cs typeface="Tahoma"/>
              </a:rPr>
              <a:t>un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único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1A1A1A"/>
                </a:solidFill>
                <a:latin typeface="Tahoma"/>
                <a:cs typeface="Tahoma"/>
              </a:rPr>
              <a:t>número,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por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supuesto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no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1A1A1A"/>
                </a:solidFill>
                <a:latin typeface="Tahoma"/>
                <a:cs typeface="Tahoma"/>
              </a:rPr>
              <a:t>es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visible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1A1A1A"/>
                </a:solidFill>
                <a:latin typeface="Tahoma"/>
                <a:cs typeface="Tahoma"/>
              </a:rPr>
              <a:t>programa,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éste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sólo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conoce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1A1A1A"/>
                </a:solidFill>
                <a:latin typeface="Tahoma"/>
                <a:cs typeface="Tahoma"/>
              </a:rPr>
              <a:t>su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nombre.</a:t>
            </a:r>
            <a:endParaRPr sz="1700">
              <a:latin typeface="Tahoma"/>
              <a:cs typeface="Tahoma"/>
            </a:endParaRPr>
          </a:p>
          <a:p>
            <a:pPr marL="12700" marR="368300" indent="457200">
              <a:lnSpc>
                <a:spcPts val="1939"/>
              </a:lnSpc>
              <a:spcBef>
                <a:spcPts val="1190"/>
              </a:spcBef>
            </a:pP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Cada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system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call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debe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tener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conjunto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parámetros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1700" spc="-17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especifican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información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que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debe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ser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transferida</a:t>
            </a:r>
            <a:r>
              <a:rPr dirty="0" sz="1700" spc="-16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desde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user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1A1A1A"/>
                </a:solidFill>
                <a:latin typeface="Tahoma"/>
                <a:cs typeface="Tahoma"/>
              </a:rPr>
              <a:t>space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al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A1A1A"/>
                </a:solidFill>
                <a:latin typeface="Tahoma"/>
                <a:cs typeface="Tahoma"/>
              </a:rPr>
              <a:t>kernel</a:t>
            </a:r>
            <a:r>
              <a:rPr dirty="0" sz="1700" spc="-15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A1A1A"/>
                </a:solidFill>
                <a:latin typeface="Tahoma"/>
                <a:cs typeface="Tahoma"/>
              </a:rPr>
              <a:t>space.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737984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spc="140">
                <a:solidFill>
                  <a:srgbClr val="FFFFFF"/>
                </a:solidFill>
              </a:rPr>
              <a:t>Mecanismos</a:t>
            </a:r>
            <a:r>
              <a:rPr dirty="0" sz="3600" spc="-215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215">
                <a:solidFill>
                  <a:srgbClr val="FFFFFF"/>
                </a:solidFill>
              </a:rPr>
              <a:t> </a:t>
            </a:r>
            <a:r>
              <a:rPr dirty="0" sz="3600" spc="50">
                <a:solidFill>
                  <a:srgbClr val="FFFFFF"/>
                </a:solidFill>
              </a:rPr>
              <a:t>protección</a:t>
            </a:r>
            <a:r>
              <a:rPr dirty="0" sz="3600" spc="-215">
                <a:solidFill>
                  <a:srgbClr val="FFFFFF"/>
                </a:solidFill>
              </a:rPr>
              <a:t> </a:t>
            </a:r>
            <a:r>
              <a:rPr dirty="0" sz="3600" spc="95">
                <a:solidFill>
                  <a:srgbClr val="FFFFFF"/>
                </a:solidFill>
              </a:rPr>
              <a:t>del </a:t>
            </a:r>
            <a:r>
              <a:rPr dirty="0" sz="3600" spc="35">
                <a:solidFill>
                  <a:srgbClr val="FFFFFF"/>
                </a:solidFill>
              </a:rPr>
              <a:t>hardware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327977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10">
                <a:solidFill>
                  <a:srgbClr val="FFFFFF"/>
                </a:solidFill>
                <a:latin typeface="Trebuchet MS"/>
                <a:cs typeface="Trebuchet MS"/>
              </a:rPr>
              <a:t>Instrucciones</a:t>
            </a:r>
            <a:r>
              <a:rPr dirty="0" sz="1800" spc="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privilegiadas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Protección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Timer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interrupts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8000">
              <a:lnSpc>
                <a:spcPct val="100000"/>
              </a:lnSpc>
              <a:spcBef>
                <a:spcPts val="140"/>
              </a:spcBef>
            </a:pPr>
            <a:r>
              <a:rPr dirty="0"/>
              <a:t>Ejecución</a:t>
            </a:r>
            <a:r>
              <a:rPr dirty="0" spc="180"/>
              <a:t> </a:t>
            </a:r>
            <a:r>
              <a:rPr dirty="0" spc="-10"/>
              <a:t>Directa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582" y="1192870"/>
            <a:ext cx="6939714" cy="30340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2321" y="1214885"/>
            <a:ext cx="4927273" cy="33938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</a:t>
            </a:r>
            <a:r>
              <a:rPr dirty="0" spc="-125"/>
              <a:t> </a:t>
            </a:r>
            <a:r>
              <a:rPr dirty="0" spc="105"/>
              <a:t>Dual</a:t>
            </a:r>
            <a:r>
              <a:rPr dirty="0" spc="-18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60"/>
              <a:t>Operaciones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23675" y="597544"/>
            <a:ext cx="771144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Existen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ciertos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estados</a:t>
            </a:r>
            <a:r>
              <a:rPr dirty="0" sz="21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1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1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21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encontrarse.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350" y="655143"/>
            <a:ext cx="6360795" cy="27559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110"/>
              <a:t>Cómo</a:t>
            </a:r>
            <a:r>
              <a:rPr dirty="0" sz="1600" spc="-55"/>
              <a:t> </a:t>
            </a:r>
            <a:r>
              <a:rPr dirty="0" sz="1600" spc="60"/>
              <a:t>protege</a:t>
            </a:r>
            <a:r>
              <a:rPr dirty="0" sz="1600" spc="-55"/>
              <a:t> </a:t>
            </a:r>
            <a:r>
              <a:rPr dirty="0" sz="1600"/>
              <a:t>el</a:t>
            </a:r>
            <a:r>
              <a:rPr dirty="0" sz="1600" spc="-100"/>
              <a:t> </a:t>
            </a:r>
            <a:r>
              <a:rPr dirty="0" sz="1600"/>
              <a:t>kernel</a:t>
            </a:r>
            <a:r>
              <a:rPr dirty="0" sz="1600" spc="-100"/>
              <a:t> </a:t>
            </a:r>
            <a:r>
              <a:rPr dirty="0" sz="1600" spc="90"/>
              <a:t>de</a:t>
            </a:r>
            <a:r>
              <a:rPr dirty="0" sz="1600" spc="-55"/>
              <a:t> </a:t>
            </a:r>
            <a:r>
              <a:rPr dirty="0" sz="1600"/>
              <a:t>un</a:t>
            </a:r>
            <a:r>
              <a:rPr dirty="0" sz="1600" spc="-50"/>
              <a:t> </a:t>
            </a:r>
            <a:r>
              <a:rPr dirty="0" sz="1600" spc="145"/>
              <a:t>SO</a:t>
            </a:r>
            <a:r>
              <a:rPr dirty="0" sz="1600" spc="-55"/>
              <a:t> </a:t>
            </a:r>
            <a:r>
              <a:rPr dirty="0" sz="1600" spc="80"/>
              <a:t>las</a:t>
            </a:r>
            <a:r>
              <a:rPr dirty="0" sz="1600" spc="-50"/>
              <a:t> </a:t>
            </a:r>
            <a:r>
              <a:rPr dirty="0" sz="1600" spc="50"/>
              <a:t>aplicaciones</a:t>
            </a:r>
            <a:r>
              <a:rPr dirty="0" sz="1600" spc="-105"/>
              <a:t> </a:t>
            </a:r>
            <a:r>
              <a:rPr dirty="0" sz="1600" spc="50"/>
              <a:t>y</a:t>
            </a:r>
            <a:r>
              <a:rPr dirty="0" sz="1600" spc="-95"/>
              <a:t> </a:t>
            </a:r>
            <a:r>
              <a:rPr dirty="0" sz="1600" spc="80"/>
              <a:t>los</a:t>
            </a:r>
            <a:r>
              <a:rPr dirty="0" sz="1600" spc="-55"/>
              <a:t> </a:t>
            </a:r>
            <a:r>
              <a:rPr dirty="0" sz="1600" spc="40"/>
              <a:t>usuarios</a:t>
            </a:r>
            <a:endParaRPr sz="1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595" y="1535650"/>
            <a:ext cx="3363774" cy="28574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77593" y="1598515"/>
            <a:ext cx="3447415" cy="2341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94335" algn="l"/>
              </a:tabLst>
            </a:pPr>
            <a:r>
              <a:rPr dirty="0" sz="2000" spc="-135" b="1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20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5" b="1">
                <a:solidFill>
                  <a:srgbClr val="595959"/>
                </a:solidFill>
                <a:latin typeface="Tahoma"/>
                <a:cs typeface="Tahoma"/>
              </a:rPr>
              <a:t>Privilegiadas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595959"/>
              </a:buClr>
              <a:buFont typeface="Arial"/>
              <a:buChar char="●"/>
            </a:pP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buFont typeface="Arial"/>
              <a:buChar char="●"/>
              <a:tabLst>
                <a:tab pos="394335" algn="l"/>
              </a:tabLst>
            </a:pPr>
            <a:r>
              <a:rPr dirty="0" sz="2000" spc="-110" b="1">
                <a:solidFill>
                  <a:srgbClr val="595959"/>
                </a:solidFill>
                <a:latin typeface="Tahoma"/>
                <a:cs typeface="Tahoma"/>
              </a:rPr>
              <a:t>Protección</a:t>
            </a:r>
            <a:r>
              <a:rPr dirty="0" sz="20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595959"/>
              </a:buClr>
              <a:buFont typeface="Arial"/>
              <a:buChar char="●"/>
            </a:pP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buFont typeface="Arial"/>
              <a:buChar char="●"/>
              <a:tabLst>
                <a:tab pos="394335" algn="l"/>
              </a:tabLst>
            </a:pPr>
            <a:r>
              <a:rPr dirty="0" sz="2000" spc="-114" b="1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 b="1">
                <a:solidFill>
                  <a:srgbClr val="595959"/>
                </a:solidFill>
                <a:latin typeface="Tahoma"/>
                <a:cs typeface="Tahoma"/>
              </a:rPr>
              <a:t>Interrupts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450215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Modos</a:t>
            </a:r>
            <a:r>
              <a:rPr dirty="0" spc="-125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75"/>
              <a:t>Risc-</a:t>
            </a:r>
            <a:r>
              <a:rPr dirty="0" spc="105"/>
              <a:t>V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1449" y="691374"/>
            <a:ext cx="2697480" cy="302514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Risc-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V:</a:t>
            </a:r>
            <a:endParaRPr sz="1800">
              <a:latin typeface="Tahoma"/>
              <a:cs typeface="Tahoma"/>
            </a:endParaRPr>
          </a:p>
          <a:p>
            <a:pPr marL="12700" marR="285750">
              <a:lnSpc>
                <a:spcPts val="2050"/>
              </a:lnSpc>
              <a:spcBef>
                <a:spcPts val="125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privilegio puede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distintas instrucciones: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50600"/>
              </a:lnSpc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Machine:wfi Supervisor:crrr,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crrw,csrrw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User: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65">
                <a:solidFill>
                  <a:srgbClr val="595959"/>
                </a:solidFill>
                <a:latin typeface="Tahoma"/>
                <a:cs typeface="Tahoma"/>
              </a:rPr>
              <a:t>la,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li,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etc.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3450" y="815375"/>
            <a:ext cx="3667124" cy="21907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0659" y="3557328"/>
            <a:ext cx="4121540" cy="11063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4748" y="1311248"/>
            <a:ext cx="5029871" cy="37008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450215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Modos</a:t>
            </a:r>
            <a:r>
              <a:rPr dirty="0" spc="-135"/>
              <a:t> </a:t>
            </a:r>
            <a:r>
              <a:rPr dirty="0" spc="50"/>
              <a:t>en</a:t>
            </a:r>
            <a:r>
              <a:rPr dirty="0" spc="-130"/>
              <a:t> </a:t>
            </a:r>
            <a:r>
              <a:rPr dirty="0" spc="-25"/>
              <a:t>x86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02475" y="686856"/>
            <a:ext cx="2696210" cy="2345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ring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ejecutar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determinada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cantidad 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instrucciones.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detecta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cada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ejecuta.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823" y="748351"/>
            <a:ext cx="6721210" cy="41525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Modos</a:t>
            </a:r>
            <a:r>
              <a:rPr dirty="0" spc="-135"/>
              <a:t> </a:t>
            </a:r>
            <a:r>
              <a:rPr dirty="0" spc="50"/>
              <a:t>en</a:t>
            </a:r>
            <a:r>
              <a:rPr dirty="0" spc="-13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Instrucciones</a:t>
            </a:r>
            <a:r>
              <a:rPr dirty="0" spc="-135"/>
              <a:t> </a:t>
            </a:r>
            <a:r>
              <a:rPr dirty="0" spc="50"/>
              <a:t>Privilegiadas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8501" y="1471250"/>
            <a:ext cx="3297425" cy="19717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49900" y="1102107"/>
            <a:ext cx="4831080" cy="249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20" b="1">
                <a:solidFill>
                  <a:srgbClr val="595959"/>
                </a:solidFill>
                <a:latin typeface="Tahoma"/>
                <a:cs typeface="Tahoma"/>
              </a:rPr>
              <a:t>Definición </a:t>
            </a:r>
            <a:r>
              <a:rPr dirty="0" sz="2100" spc="-10" b="1">
                <a:solidFill>
                  <a:srgbClr val="595959"/>
                </a:solidFill>
                <a:latin typeface="Tahoma"/>
                <a:cs typeface="Tahoma"/>
              </a:rPr>
              <a:t>informal</a:t>
            </a:r>
            <a:endParaRPr sz="2100">
              <a:latin typeface="Tahoma"/>
              <a:cs typeface="Tahoma"/>
            </a:endParaRPr>
          </a:p>
          <a:p>
            <a:pPr marL="12700" marR="160655">
              <a:lnSpc>
                <a:spcPct val="114999"/>
              </a:lnSpc>
              <a:spcBef>
                <a:spcPts val="1200"/>
              </a:spcBef>
            </a:pPr>
            <a:r>
              <a:rPr dirty="0" sz="2100" spc="-65">
                <a:solidFill>
                  <a:srgbClr val="595959"/>
                </a:solidFill>
                <a:latin typeface="Tahoma"/>
                <a:cs typeface="Tahoma"/>
              </a:rPr>
              <a:t>Toda</a:t>
            </a:r>
            <a:r>
              <a:rPr dirty="0" sz="21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21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21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595959"/>
                </a:solidFill>
                <a:latin typeface="Tahoma"/>
                <a:cs typeface="Tahoma"/>
              </a:rPr>
              <a:t>no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2100" spc="-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ejecutar.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2100" spc="-50">
                <a:solidFill>
                  <a:srgbClr val="595959"/>
                </a:solidFill>
                <a:latin typeface="Tahoma"/>
                <a:cs typeface="Tahoma"/>
              </a:rPr>
              <a:t>(Y</a:t>
            </a:r>
            <a:r>
              <a:rPr dirty="0" sz="21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1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21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insiste</a:t>
            </a:r>
            <a:r>
              <a:rPr dirty="0" sz="21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1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45">
                <a:solidFill>
                  <a:srgbClr val="595959"/>
                </a:solidFill>
                <a:latin typeface="Tahoma"/>
                <a:cs typeface="Tahoma"/>
              </a:rPr>
              <a:t>ejecutar,</a:t>
            </a:r>
            <a:r>
              <a:rPr dirty="0" sz="21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1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procesador </a:t>
            </a:r>
            <a:r>
              <a:rPr dirty="0" sz="2100" spc="-30">
                <a:solidFill>
                  <a:srgbClr val="595959"/>
                </a:solidFill>
                <a:latin typeface="Tahoma"/>
                <a:cs typeface="Tahoma"/>
              </a:rPr>
              <a:t>genera</a:t>
            </a:r>
            <a:r>
              <a:rPr dirty="0" sz="21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60" b="1">
                <a:solidFill>
                  <a:srgbClr val="595959"/>
                </a:solidFill>
                <a:latin typeface="Tahoma"/>
                <a:cs typeface="Tahoma"/>
              </a:rPr>
              <a:t>excepción</a:t>
            </a:r>
            <a:r>
              <a:rPr dirty="0" sz="2100" spc="-16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21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falla</a:t>
            </a:r>
            <a:r>
              <a:rPr dirty="0" sz="21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alguna manera)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357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20"/>
              </a:spcBef>
            </a:pPr>
            <a:r>
              <a:rPr dirty="0" sz="2100"/>
              <a:t>Ejemplo.</a:t>
            </a:r>
            <a:r>
              <a:rPr dirty="0" sz="2100" spc="-65"/>
              <a:t> </a:t>
            </a:r>
            <a:r>
              <a:rPr dirty="0" sz="2100"/>
              <a:t>Leer</a:t>
            </a:r>
            <a:r>
              <a:rPr dirty="0" sz="2100" spc="-120"/>
              <a:t> </a:t>
            </a:r>
            <a:r>
              <a:rPr dirty="0" sz="2100"/>
              <a:t>el</a:t>
            </a:r>
            <a:r>
              <a:rPr dirty="0" sz="2100" spc="-125"/>
              <a:t> </a:t>
            </a:r>
            <a:r>
              <a:rPr dirty="0" sz="2100" spc="75"/>
              <a:t>disco</a:t>
            </a:r>
            <a:r>
              <a:rPr dirty="0" sz="2100" spc="-65"/>
              <a:t> </a:t>
            </a:r>
            <a:r>
              <a:rPr dirty="0" sz="2100"/>
              <a:t>en</a:t>
            </a:r>
            <a:r>
              <a:rPr dirty="0" sz="2100" spc="-65"/>
              <a:t> </a:t>
            </a:r>
            <a:r>
              <a:rPr dirty="0" sz="2100" spc="-25"/>
              <a:t>x86</a:t>
            </a:r>
            <a:endParaRPr sz="21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850" y="519076"/>
            <a:ext cx="4611999" cy="45503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420074"/>
            <a:ext cx="8255000" cy="382016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000" spc="-25" b="1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000" spc="-135" b="1">
                <a:solidFill>
                  <a:srgbClr val="595959"/>
                </a:solidFill>
                <a:latin typeface="Tahoma"/>
                <a:cs typeface="Tahoma"/>
              </a:rPr>
              <a:t>Instruccion</a:t>
            </a:r>
            <a:r>
              <a:rPr dirty="0" sz="20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 b="1">
                <a:solidFill>
                  <a:srgbClr val="595959"/>
                </a:solidFill>
                <a:latin typeface="Tahoma"/>
                <a:cs typeface="Tahoma"/>
              </a:rPr>
              <a:t>OUT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5000"/>
              </a:lnSpc>
            </a:pP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OUT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──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Output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to</a:t>
            </a:r>
            <a:r>
              <a:rPr dirty="0" sz="2000" spc="-1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Port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: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Transfiere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un</a:t>
            </a:r>
            <a:r>
              <a:rPr dirty="0" sz="2000" spc="-1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byte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de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datos</a:t>
            </a:r>
            <a:r>
              <a:rPr dirty="0" sz="2000" spc="-1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Courier New"/>
                <a:cs typeface="Courier New"/>
              </a:rPr>
              <a:t>o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una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palabra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de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datos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desde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el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registro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(AL,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AX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o</a:t>
            </a:r>
            <a:r>
              <a:rPr dirty="0" sz="2000" spc="-1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Courier New"/>
                <a:cs typeface="Courier New"/>
              </a:rPr>
              <a:t>EAX),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dado</a:t>
            </a:r>
            <a:r>
              <a:rPr dirty="0" sz="20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como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el</a:t>
            </a:r>
            <a:r>
              <a:rPr dirty="0" sz="20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segundo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operando,</a:t>
            </a:r>
            <a:r>
              <a:rPr dirty="0" sz="20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al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puerto</a:t>
            </a:r>
            <a:r>
              <a:rPr dirty="0" sz="20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de</a:t>
            </a:r>
            <a:r>
              <a:rPr dirty="0" sz="20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Courier New"/>
                <a:cs typeface="Courier New"/>
              </a:rPr>
              <a:t>salida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direccionado</a:t>
            </a:r>
            <a:r>
              <a:rPr dirty="0" sz="2000" spc="-3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por</a:t>
            </a:r>
            <a:r>
              <a:rPr dirty="0" sz="2000" spc="-3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el</a:t>
            </a:r>
            <a:r>
              <a:rPr dirty="0" sz="2000" spc="-3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primer</a:t>
            </a:r>
            <a:r>
              <a:rPr dirty="0" sz="20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Courier New"/>
                <a:cs typeface="Courier New"/>
              </a:rPr>
              <a:t>operando.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000" spc="-25">
                <a:solidFill>
                  <a:srgbClr val="595959"/>
                </a:solidFill>
                <a:latin typeface="Courier New"/>
                <a:cs typeface="Courier New"/>
              </a:rPr>
              <a:t>Eg.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000">
                <a:solidFill>
                  <a:srgbClr val="595959"/>
                </a:solidFill>
                <a:latin typeface="Courier New"/>
                <a:cs typeface="Courier New"/>
              </a:rPr>
              <a:t>OUT</a:t>
            </a:r>
            <a:r>
              <a:rPr dirty="0" sz="2000" spc="-1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Courier New"/>
                <a:cs typeface="Courier New"/>
              </a:rPr>
              <a:t>imm8,AL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134055"/>
            <a:ext cx="3768725" cy="3486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/>
              <a:t>Ejemplo.</a:t>
            </a:r>
            <a:r>
              <a:rPr dirty="0" sz="2100" spc="-65"/>
              <a:t> </a:t>
            </a:r>
            <a:r>
              <a:rPr dirty="0" sz="2100"/>
              <a:t>Leer</a:t>
            </a:r>
            <a:r>
              <a:rPr dirty="0" sz="2100" spc="-120"/>
              <a:t> </a:t>
            </a:r>
            <a:r>
              <a:rPr dirty="0" sz="2100"/>
              <a:t>el</a:t>
            </a:r>
            <a:r>
              <a:rPr dirty="0" sz="2100" spc="-125"/>
              <a:t> </a:t>
            </a:r>
            <a:r>
              <a:rPr dirty="0" sz="2100" spc="75"/>
              <a:t>disco</a:t>
            </a:r>
            <a:r>
              <a:rPr dirty="0" sz="2100" spc="-65"/>
              <a:t> </a:t>
            </a:r>
            <a:r>
              <a:rPr dirty="0" sz="2100"/>
              <a:t>en</a:t>
            </a:r>
            <a:r>
              <a:rPr dirty="0" sz="2100" spc="-65"/>
              <a:t> </a:t>
            </a:r>
            <a:r>
              <a:rPr dirty="0" sz="2100" spc="-25"/>
              <a:t>x86</a:t>
            </a:r>
            <a:endParaRPr sz="2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IOPL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1725" y="2720756"/>
            <a:ext cx="2498725" cy="1083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8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Privilege</a:t>
            </a:r>
            <a:r>
              <a:rPr dirty="0" sz="18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level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Ocupa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12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13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8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FLAGS.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672000" y="630725"/>
            <a:ext cx="5243830" cy="4321810"/>
            <a:chOff x="3672000" y="630725"/>
            <a:chExt cx="5243830" cy="43218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000" y="630725"/>
              <a:ext cx="5243224" cy="432154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877550" y="988499"/>
              <a:ext cx="234950" cy="444500"/>
            </a:xfrm>
            <a:custGeom>
              <a:avLst/>
              <a:gdLst/>
              <a:ahLst/>
              <a:cxnLst/>
              <a:rect l="l" t="t" r="r" b="b"/>
              <a:pathLst>
                <a:path w="234950" h="444500">
                  <a:moveTo>
                    <a:pt x="0" y="0"/>
                  </a:moveTo>
                  <a:lnTo>
                    <a:pt x="234599" y="0"/>
                  </a:lnTo>
                  <a:lnTo>
                    <a:pt x="234599" y="443999"/>
                  </a:lnTo>
                  <a:lnTo>
                    <a:pt x="0" y="4439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51725" y="653458"/>
            <a:ext cx="2542540" cy="97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Controla</a:t>
            </a:r>
            <a:r>
              <a:rPr dirty="0" sz="18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mínimo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necesario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escribir puertos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357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20"/>
              </a:spcBef>
            </a:pPr>
            <a:r>
              <a:rPr dirty="0" sz="2100" spc="140"/>
              <a:t>Modo</a:t>
            </a:r>
            <a:r>
              <a:rPr dirty="0" sz="2100" spc="-75"/>
              <a:t> </a:t>
            </a:r>
            <a:r>
              <a:rPr dirty="0" sz="2100" spc="55"/>
              <a:t>protegido</a:t>
            </a:r>
            <a:r>
              <a:rPr dirty="0" sz="2100" spc="-75"/>
              <a:t> </a:t>
            </a:r>
            <a:r>
              <a:rPr dirty="0" sz="2100"/>
              <a:t>en</a:t>
            </a:r>
            <a:r>
              <a:rPr dirty="0" sz="2100" spc="-75"/>
              <a:t> </a:t>
            </a:r>
            <a:r>
              <a:rPr dirty="0" sz="2100"/>
              <a:t>x86</a:t>
            </a:r>
            <a:r>
              <a:rPr dirty="0" sz="2100" spc="-75"/>
              <a:t> </a:t>
            </a:r>
            <a:r>
              <a:rPr dirty="0" sz="2100" spc="-10"/>
              <a:t>(simplificado)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591270"/>
            <a:ext cx="267716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Pseudocódigo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595959"/>
                </a:solidFill>
                <a:latin typeface="Tahoma"/>
                <a:cs typeface="Tahoma"/>
              </a:rPr>
              <a:t>OUT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1699" y="1000125"/>
            <a:ext cx="8521065" cy="2278380"/>
          </a:xfrm>
          <a:prstGeom prst="rect">
            <a:avLst/>
          </a:prstGeom>
          <a:ln w="9524">
            <a:solidFill>
              <a:srgbClr val="1A9988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IF</a:t>
            </a:r>
            <a:r>
              <a:rPr dirty="0" sz="1700" spc="-4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(PE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1)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AND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((VM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1)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OR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dirty="0" sz="1700" b="1">
                <a:solidFill>
                  <a:srgbClr val="FF0000"/>
                </a:solidFill>
                <a:latin typeface="Courier New"/>
                <a:cs typeface="Courier New"/>
              </a:rPr>
              <a:t>CPL</a:t>
            </a:r>
            <a:r>
              <a:rPr dirty="0" sz="1700" spc="-3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dirty="0" sz="1700" spc="-3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FF0000"/>
                </a:solidFill>
                <a:latin typeface="Courier New"/>
                <a:cs typeface="Courier New"/>
              </a:rPr>
              <a:t>IOPL</a:t>
            </a:r>
            <a:r>
              <a:rPr dirty="0" sz="1700" spc="-10">
                <a:solidFill>
                  <a:srgbClr val="FF0000"/>
                </a:solidFill>
                <a:latin typeface="Courier New"/>
                <a:cs typeface="Courier New"/>
              </a:rPr>
              <a:t>))</a:t>
            </a:r>
            <a:endParaRPr sz="1700">
              <a:latin typeface="Courier New"/>
              <a:cs typeface="Courier New"/>
            </a:endParaRPr>
          </a:p>
          <a:p>
            <a:pPr marL="215265" marR="266065" indent="-129539">
              <a:lnSpc>
                <a:spcPct val="100000"/>
              </a:lnSpc>
            </a:pP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THEN</a:t>
            </a:r>
            <a:r>
              <a:rPr dirty="0" sz="1700" spc="-6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(*</a:t>
            </a:r>
            <a:r>
              <a:rPr dirty="0" sz="1700" spc="-6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Virtual</a:t>
            </a:r>
            <a:r>
              <a:rPr dirty="0" sz="1700" spc="-6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8086</a:t>
            </a:r>
            <a:r>
              <a:rPr dirty="0" sz="1700" spc="-6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mode,</a:t>
            </a:r>
            <a:r>
              <a:rPr dirty="0" sz="1700" spc="-6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or</a:t>
            </a:r>
            <a:r>
              <a:rPr dirty="0" sz="1700" spc="-6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protected</a:t>
            </a:r>
            <a:r>
              <a:rPr dirty="0" sz="1700" spc="-6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mode</a:t>
            </a:r>
            <a:r>
              <a:rPr dirty="0" sz="1700" spc="-6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with</a:t>
            </a:r>
            <a:r>
              <a:rPr dirty="0" sz="1700" spc="-6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CPL</a:t>
            </a:r>
            <a:r>
              <a:rPr dirty="0" sz="1700" spc="-6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dirty="0" sz="1700" spc="-6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IOPL</a:t>
            </a:r>
            <a:r>
              <a:rPr dirty="0" sz="1700" spc="-6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FF0000"/>
                </a:solidFill>
                <a:latin typeface="Courier New"/>
                <a:cs typeface="Courier New"/>
              </a:rPr>
              <a:t>*)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IF</a:t>
            </a:r>
            <a:r>
              <a:rPr dirty="0" sz="1700" spc="-7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NOT</a:t>
            </a:r>
            <a:r>
              <a:rPr dirty="0" sz="1700" spc="-7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FF0000"/>
                </a:solidFill>
                <a:latin typeface="Courier New"/>
                <a:cs typeface="Courier New"/>
              </a:rPr>
              <a:t>I-O-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Permission</a:t>
            </a:r>
            <a:r>
              <a:rPr dirty="0" sz="1700" spc="-7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(DEST,</a:t>
            </a:r>
            <a:r>
              <a:rPr dirty="0" sz="1700" spc="-7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ourier New"/>
                <a:cs typeface="Courier New"/>
              </a:rPr>
              <a:t>width(DEST))</a:t>
            </a:r>
            <a:endParaRPr sz="1700">
              <a:latin typeface="Courier New"/>
              <a:cs typeface="Courier New"/>
            </a:endParaRPr>
          </a:p>
          <a:p>
            <a:pPr marL="215265" marR="6743065">
              <a:lnSpc>
                <a:spcPct val="100000"/>
              </a:lnSpc>
            </a:pP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THEN</a:t>
            </a:r>
            <a:r>
              <a:rPr dirty="0" sz="1700" spc="-6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ourier New"/>
                <a:cs typeface="Courier New"/>
              </a:rPr>
              <a:t>#GP(0); </a:t>
            </a:r>
            <a:r>
              <a:rPr dirty="0" sz="1700" spc="-25">
                <a:solidFill>
                  <a:srgbClr val="FF0000"/>
                </a:solidFill>
                <a:latin typeface="Courier New"/>
                <a:cs typeface="Courier New"/>
              </a:rPr>
              <a:t>FI;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25">
                <a:solidFill>
                  <a:srgbClr val="FF0000"/>
                </a:solidFill>
                <a:latin typeface="Courier New"/>
                <a:cs typeface="Courier New"/>
              </a:rPr>
              <a:t>FI;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b="1">
                <a:solidFill>
                  <a:srgbClr val="0000FF"/>
                </a:solidFill>
                <a:latin typeface="Courier New"/>
                <a:cs typeface="Courier New"/>
              </a:rPr>
              <a:t>[DEST]</a:t>
            </a:r>
            <a:r>
              <a:rPr dirty="0" sz="1700" spc="-6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0000FF"/>
                </a:solidFill>
                <a:latin typeface="Courier New"/>
                <a:cs typeface="Courier New"/>
              </a:rPr>
              <a:t>←</a:t>
            </a:r>
            <a:r>
              <a:rPr dirty="0" sz="1700" spc="-60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0000FF"/>
                </a:solidFill>
                <a:latin typeface="Courier New"/>
                <a:cs typeface="Courier New"/>
              </a:rPr>
              <a:t>SRC;</a:t>
            </a:r>
            <a:r>
              <a:rPr dirty="0" sz="1700" spc="-60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0000FF"/>
                </a:solidFill>
                <a:latin typeface="Courier New"/>
                <a:cs typeface="Courier New"/>
              </a:rPr>
              <a:t>(*</a:t>
            </a:r>
            <a:r>
              <a:rPr dirty="0" sz="1700" spc="-6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0000FF"/>
                </a:solidFill>
                <a:latin typeface="Courier New"/>
                <a:cs typeface="Courier New"/>
              </a:rPr>
              <a:t>I/O</a:t>
            </a:r>
            <a:r>
              <a:rPr dirty="0" sz="1700" spc="-6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0000FF"/>
                </a:solidFill>
                <a:latin typeface="Courier New"/>
                <a:cs typeface="Courier New"/>
              </a:rPr>
              <a:t>address</a:t>
            </a:r>
            <a:r>
              <a:rPr dirty="0" sz="1700" spc="-65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0000FF"/>
                </a:solidFill>
                <a:latin typeface="Courier New"/>
                <a:cs typeface="Courier New"/>
              </a:rPr>
              <a:t>space</a:t>
            </a:r>
            <a:r>
              <a:rPr dirty="0" sz="1700" spc="-6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0000FF"/>
                </a:solidFill>
                <a:latin typeface="Courier New"/>
                <a:cs typeface="Courier New"/>
              </a:rPr>
              <a:t>used</a:t>
            </a:r>
            <a:r>
              <a:rPr dirty="0" sz="1700" spc="-6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0000FF"/>
                </a:solidFill>
                <a:latin typeface="Courier New"/>
                <a:cs typeface="Courier New"/>
              </a:rPr>
              <a:t>*)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91399" y="3888438"/>
            <a:ext cx="56375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ROJO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validacion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permisos,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AZUL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operación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sí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misma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357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20"/>
              </a:spcBef>
            </a:pPr>
            <a:r>
              <a:rPr dirty="0" sz="2100" spc="140"/>
              <a:t>Modo</a:t>
            </a:r>
            <a:r>
              <a:rPr dirty="0" sz="2100" spc="-85"/>
              <a:t> </a:t>
            </a:r>
            <a:r>
              <a:rPr dirty="0" sz="2100" spc="55"/>
              <a:t>protegido</a:t>
            </a:r>
            <a:r>
              <a:rPr dirty="0" sz="2100" spc="-80"/>
              <a:t> </a:t>
            </a:r>
            <a:r>
              <a:rPr dirty="0" sz="2100"/>
              <a:t>en</a:t>
            </a:r>
            <a:r>
              <a:rPr dirty="0" sz="2100" spc="-80"/>
              <a:t> </a:t>
            </a:r>
            <a:r>
              <a:rPr dirty="0" sz="2100"/>
              <a:t>x86</a:t>
            </a:r>
            <a:r>
              <a:rPr dirty="0" sz="2100" spc="-85"/>
              <a:t> </a:t>
            </a:r>
            <a:r>
              <a:rPr dirty="0" sz="2100" spc="65"/>
              <a:t>(más</a:t>
            </a:r>
            <a:r>
              <a:rPr dirty="0" sz="2100" spc="-80"/>
              <a:t> </a:t>
            </a:r>
            <a:r>
              <a:rPr dirty="0" sz="2100" spc="-10"/>
              <a:t>simplificado)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589746"/>
            <a:ext cx="70135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Asumiendo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IOPL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suele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0,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5" b="1">
                <a:solidFill>
                  <a:srgbClr val="595959"/>
                </a:solidFill>
                <a:latin typeface="Tahoma"/>
                <a:cs typeface="Tahoma"/>
              </a:rPr>
              <a:t>ejecutarlo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1699" y="1948175"/>
            <a:ext cx="2848610" cy="2016760"/>
          </a:xfrm>
          <a:prstGeom prst="rect">
            <a:avLst/>
          </a:prstGeom>
          <a:ln w="9524">
            <a:solidFill>
              <a:srgbClr val="1A9988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IF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0000"/>
                </a:solidFill>
                <a:latin typeface="Courier New"/>
                <a:cs typeface="Courier New"/>
              </a:rPr>
              <a:t>CPL</a:t>
            </a:r>
            <a:r>
              <a:rPr dirty="0" sz="1700" spc="-3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dirty="0" sz="1700" spc="-3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20">
                <a:solidFill>
                  <a:srgbClr val="FF0000"/>
                </a:solidFill>
                <a:latin typeface="Courier New"/>
                <a:cs typeface="Courier New"/>
              </a:rPr>
              <a:t>THEN</a:t>
            </a:r>
            <a:endParaRPr sz="170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</a:pPr>
            <a:r>
              <a:rPr dirty="0" sz="1700" spc="-10">
                <a:solidFill>
                  <a:srgbClr val="FF0000"/>
                </a:solidFill>
                <a:latin typeface="Courier New"/>
                <a:cs typeface="Courier New"/>
              </a:rPr>
              <a:t>EXCEPTION!!!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20">
                <a:solidFill>
                  <a:srgbClr val="FF0000"/>
                </a:solidFill>
                <a:latin typeface="Courier New"/>
                <a:cs typeface="Courier New"/>
              </a:rPr>
              <a:t>ELSE</a:t>
            </a:r>
            <a:endParaRPr sz="170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</a:pPr>
            <a:r>
              <a:rPr dirty="0" sz="1700" b="1">
                <a:solidFill>
                  <a:srgbClr val="0000FF"/>
                </a:solidFill>
                <a:latin typeface="Courier New"/>
                <a:cs typeface="Courier New"/>
              </a:rPr>
              <a:t>[DEST]</a:t>
            </a:r>
            <a:r>
              <a:rPr dirty="0" sz="1700" spc="-5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0000FF"/>
                </a:solidFill>
                <a:latin typeface="Courier New"/>
                <a:cs typeface="Courier New"/>
              </a:rPr>
              <a:t>←</a:t>
            </a:r>
            <a:r>
              <a:rPr dirty="0" sz="1700" spc="-5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 spc="-20" b="1">
                <a:solidFill>
                  <a:srgbClr val="0000FF"/>
                </a:solidFill>
                <a:latin typeface="Courier New"/>
                <a:cs typeface="Courier New"/>
              </a:rPr>
              <a:t>SRC;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25">
                <a:solidFill>
                  <a:srgbClr val="0000FF"/>
                </a:solidFill>
                <a:latin typeface="Courier New"/>
                <a:cs typeface="Courier New"/>
              </a:rPr>
              <a:t>FI</a:t>
            </a:r>
            <a:endParaRPr sz="17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308305" y="1000125"/>
            <a:ext cx="5375910" cy="3955415"/>
            <a:chOff x="3308305" y="1000125"/>
            <a:chExt cx="5375910" cy="395541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8305" y="1000125"/>
              <a:ext cx="5375454" cy="395505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286300" y="1845749"/>
              <a:ext cx="317500" cy="217804"/>
            </a:xfrm>
            <a:custGeom>
              <a:avLst/>
              <a:gdLst/>
              <a:ahLst/>
              <a:cxnLst/>
              <a:rect l="l" t="t" r="r" b="b"/>
              <a:pathLst>
                <a:path w="317500" h="217805">
                  <a:moveTo>
                    <a:pt x="108899" y="217799"/>
                  </a:moveTo>
                  <a:lnTo>
                    <a:pt x="0" y="108899"/>
                  </a:lnTo>
                  <a:lnTo>
                    <a:pt x="108899" y="0"/>
                  </a:lnTo>
                  <a:lnTo>
                    <a:pt x="108899" y="54449"/>
                  </a:lnTo>
                  <a:lnTo>
                    <a:pt x="317399" y="54449"/>
                  </a:lnTo>
                  <a:lnTo>
                    <a:pt x="317399" y="163349"/>
                  </a:lnTo>
                  <a:lnTo>
                    <a:pt x="108899" y="163349"/>
                  </a:lnTo>
                  <a:lnTo>
                    <a:pt x="108899" y="2177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286300" y="1845749"/>
              <a:ext cx="317500" cy="217804"/>
            </a:xfrm>
            <a:custGeom>
              <a:avLst/>
              <a:gdLst/>
              <a:ahLst/>
              <a:cxnLst/>
              <a:rect l="l" t="t" r="r" b="b"/>
              <a:pathLst>
                <a:path w="317500" h="217805">
                  <a:moveTo>
                    <a:pt x="0" y="108899"/>
                  </a:moveTo>
                  <a:lnTo>
                    <a:pt x="108899" y="0"/>
                  </a:lnTo>
                  <a:lnTo>
                    <a:pt x="108899" y="54449"/>
                  </a:lnTo>
                  <a:lnTo>
                    <a:pt x="317399" y="54449"/>
                  </a:lnTo>
                  <a:lnTo>
                    <a:pt x="317399" y="163349"/>
                  </a:lnTo>
                  <a:lnTo>
                    <a:pt x="108899" y="163349"/>
                  </a:lnTo>
                  <a:lnTo>
                    <a:pt x="108899" y="217799"/>
                  </a:lnTo>
                  <a:lnTo>
                    <a:pt x="0" y="10889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7700" y="2390287"/>
              <a:ext cx="1132074" cy="1132074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2432612" y="2470987"/>
            <a:ext cx="578485" cy="423545"/>
            <a:chOff x="2432612" y="2470987"/>
            <a:chExt cx="578485" cy="423545"/>
          </a:xfrm>
        </p:grpSpPr>
        <p:sp>
          <p:nvSpPr>
            <p:cNvPr id="11" name="object 11" descr=""/>
            <p:cNvSpPr/>
            <p:nvPr/>
          </p:nvSpPr>
          <p:spPr>
            <a:xfrm>
              <a:off x="2437375" y="2475750"/>
              <a:ext cx="568960" cy="414020"/>
            </a:xfrm>
            <a:custGeom>
              <a:avLst/>
              <a:gdLst/>
              <a:ahLst/>
              <a:cxnLst/>
              <a:rect l="l" t="t" r="r" b="b"/>
              <a:pathLst>
                <a:path w="568960" h="414019">
                  <a:moveTo>
                    <a:pt x="206849" y="413699"/>
                  </a:moveTo>
                  <a:lnTo>
                    <a:pt x="0" y="206849"/>
                  </a:lnTo>
                  <a:lnTo>
                    <a:pt x="206849" y="0"/>
                  </a:lnTo>
                  <a:lnTo>
                    <a:pt x="206849" y="103424"/>
                  </a:lnTo>
                  <a:lnTo>
                    <a:pt x="568799" y="103424"/>
                  </a:lnTo>
                  <a:lnTo>
                    <a:pt x="568799" y="310274"/>
                  </a:lnTo>
                  <a:lnTo>
                    <a:pt x="206849" y="310274"/>
                  </a:lnTo>
                  <a:lnTo>
                    <a:pt x="206849" y="4136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437375" y="2475750"/>
              <a:ext cx="568960" cy="414020"/>
            </a:xfrm>
            <a:custGeom>
              <a:avLst/>
              <a:gdLst/>
              <a:ahLst/>
              <a:cxnLst/>
              <a:rect l="l" t="t" r="r" b="b"/>
              <a:pathLst>
                <a:path w="568960" h="414019">
                  <a:moveTo>
                    <a:pt x="0" y="206849"/>
                  </a:moveTo>
                  <a:lnTo>
                    <a:pt x="206849" y="0"/>
                  </a:lnTo>
                  <a:lnTo>
                    <a:pt x="206849" y="103424"/>
                  </a:lnTo>
                  <a:lnTo>
                    <a:pt x="568799" y="103424"/>
                  </a:lnTo>
                  <a:lnTo>
                    <a:pt x="568799" y="310274"/>
                  </a:lnTo>
                  <a:lnTo>
                    <a:pt x="206849" y="310274"/>
                  </a:lnTo>
                  <a:lnTo>
                    <a:pt x="206849" y="413699"/>
                  </a:lnTo>
                  <a:lnTo>
                    <a:pt x="0" y="20684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357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20"/>
              </a:spcBef>
            </a:pPr>
            <a:r>
              <a:rPr dirty="0" sz="2100" spc="140"/>
              <a:t>Modo</a:t>
            </a:r>
            <a:r>
              <a:rPr dirty="0" sz="2100" spc="-85"/>
              <a:t> </a:t>
            </a:r>
            <a:r>
              <a:rPr dirty="0" sz="2100" spc="55"/>
              <a:t>protegido</a:t>
            </a:r>
            <a:r>
              <a:rPr dirty="0" sz="2100" spc="-80"/>
              <a:t> </a:t>
            </a:r>
            <a:r>
              <a:rPr dirty="0" sz="2100"/>
              <a:t>en</a:t>
            </a:r>
            <a:r>
              <a:rPr dirty="0" sz="2100" spc="-80"/>
              <a:t> </a:t>
            </a:r>
            <a:r>
              <a:rPr dirty="0" sz="2100"/>
              <a:t>x86</a:t>
            </a:r>
            <a:r>
              <a:rPr dirty="0" sz="2100" spc="-85"/>
              <a:t> </a:t>
            </a:r>
            <a:r>
              <a:rPr dirty="0" sz="2100" spc="65"/>
              <a:t>(más</a:t>
            </a:r>
            <a:r>
              <a:rPr dirty="0" sz="2100" spc="-80"/>
              <a:t> </a:t>
            </a:r>
            <a:r>
              <a:rPr dirty="0" sz="2100" spc="-10"/>
              <a:t>simplificado)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589746"/>
            <a:ext cx="70135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Asumiendo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IOPL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suele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0,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5" b="1">
                <a:solidFill>
                  <a:srgbClr val="595959"/>
                </a:solidFill>
                <a:latin typeface="Tahoma"/>
                <a:cs typeface="Tahoma"/>
              </a:rPr>
              <a:t>ejecutarlo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1699" y="1948175"/>
            <a:ext cx="2848610" cy="2016760"/>
          </a:xfrm>
          <a:prstGeom prst="rect">
            <a:avLst/>
          </a:prstGeom>
          <a:ln w="9524">
            <a:solidFill>
              <a:srgbClr val="1A9988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dirty="0" sz="1700">
                <a:solidFill>
                  <a:srgbClr val="FF0000"/>
                </a:solidFill>
                <a:latin typeface="Courier New"/>
                <a:cs typeface="Courier New"/>
              </a:rPr>
              <a:t>IF</a:t>
            </a:r>
            <a:r>
              <a:rPr dirty="0" sz="1700" spc="-3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0000"/>
                </a:solidFill>
                <a:latin typeface="Courier New"/>
                <a:cs typeface="Courier New"/>
              </a:rPr>
              <a:t>CPL</a:t>
            </a:r>
            <a:r>
              <a:rPr dirty="0" sz="1700" spc="-3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dirty="0" sz="1700" spc="-3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20">
                <a:solidFill>
                  <a:srgbClr val="FF0000"/>
                </a:solidFill>
                <a:latin typeface="Courier New"/>
                <a:cs typeface="Courier New"/>
              </a:rPr>
              <a:t>THEN</a:t>
            </a:r>
            <a:endParaRPr sz="170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</a:pPr>
            <a:r>
              <a:rPr dirty="0" sz="1700" spc="-10">
                <a:solidFill>
                  <a:srgbClr val="FF0000"/>
                </a:solidFill>
                <a:latin typeface="Courier New"/>
                <a:cs typeface="Courier New"/>
              </a:rPr>
              <a:t>EXCEPTION!!!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20">
                <a:solidFill>
                  <a:srgbClr val="FF0000"/>
                </a:solidFill>
                <a:latin typeface="Courier New"/>
                <a:cs typeface="Courier New"/>
              </a:rPr>
              <a:t>ELSE</a:t>
            </a:r>
            <a:endParaRPr sz="170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</a:pPr>
            <a:r>
              <a:rPr dirty="0" sz="1700" b="1">
                <a:solidFill>
                  <a:srgbClr val="0000FF"/>
                </a:solidFill>
                <a:latin typeface="Courier New"/>
                <a:cs typeface="Courier New"/>
              </a:rPr>
              <a:t>[DEST]</a:t>
            </a:r>
            <a:r>
              <a:rPr dirty="0" sz="1700" spc="-5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0000FF"/>
                </a:solidFill>
                <a:latin typeface="Courier New"/>
                <a:cs typeface="Courier New"/>
              </a:rPr>
              <a:t>←</a:t>
            </a:r>
            <a:r>
              <a:rPr dirty="0" sz="1700" spc="-5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700" spc="-20" b="1">
                <a:solidFill>
                  <a:srgbClr val="0000FF"/>
                </a:solidFill>
                <a:latin typeface="Courier New"/>
                <a:cs typeface="Courier New"/>
              </a:rPr>
              <a:t>SRC;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25">
                <a:solidFill>
                  <a:srgbClr val="0000FF"/>
                </a:solidFill>
                <a:latin typeface="Courier New"/>
                <a:cs typeface="Courier New"/>
              </a:rPr>
              <a:t>FI</a:t>
            </a:r>
            <a:endParaRPr sz="17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308305" y="1000125"/>
            <a:ext cx="5375910" cy="3955415"/>
            <a:chOff x="3308305" y="1000125"/>
            <a:chExt cx="5375910" cy="395541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8305" y="1000125"/>
              <a:ext cx="5375454" cy="395505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275400" y="3120725"/>
              <a:ext cx="317500" cy="217804"/>
            </a:xfrm>
            <a:custGeom>
              <a:avLst/>
              <a:gdLst/>
              <a:ahLst/>
              <a:cxnLst/>
              <a:rect l="l" t="t" r="r" b="b"/>
              <a:pathLst>
                <a:path w="317500" h="217804">
                  <a:moveTo>
                    <a:pt x="108899" y="217799"/>
                  </a:moveTo>
                  <a:lnTo>
                    <a:pt x="0" y="108899"/>
                  </a:lnTo>
                  <a:lnTo>
                    <a:pt x="108899" y="0"/>
                  </a:lnTo>
                  <a:lnTo>
                    <a:pt x="108899" y="54449"/>
                  </a:lnTo>
                  <a:lnTo>
                    <a:pt x="317399" y="54449"/>
                  </a:lnTo>
                  <a:lnTo>
                    <a:pt x="317399" y="163349"/>
                  </a:lnTo>
                  <a:lnTo>
                    <a:pt x="108899" y="163349"/>
                  </a:lnTo>
                  <a:lnTo>
                    <a:pt x="108899" y="2177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275400" y="3120725"/>
              <a:ext cx="317500" cy="217804"/>
            </a:xfrm>
            <a:custGeom>
              <a:avLst/>
              <a:gdLst/>
              <a:ahLst/>
              <a:cxnLst/>
              <a:rect l="l" t="t" r="r" b="b"/>
              <a:pathLst>
                <a:path w="317500" h="217804">
                  <a:moveTo>
                    <a:pt x="0" y="108899"/>
                  </a:moveTo>
                  <a:lnTo>
                    <a:pt x="108899" y="0"/>
                  </a:lnTo>
                  <a:lnTo>
                    <a:pt x="108899" y="54449"/>
                  </a:lnTo>
                  <a:lnTo>
                    <a:pt x="317399" y="54449"/>
                  </a:lnTo>
                  <a:lnTo>
                    <a:pt x="317399" y="163349"/>
                  </a:lnTo>
                  <a:lnTo>
                    <a:pt x="108899" y="163349"/>
                  </a:lnTo>
                  <a:lnTo>
                    <a:pt x="108899" y="217799"/>
                  </a:lnTo>
                  <a:lnTo>
                    <a:pt x="0" y="10889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2325" y="2390275"/>
              <a:ext cx="1132074" cy="1132074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2586637" y="3018012"/>
            <a:ext cx="578485" cy="423545"/>
            <a:chOff x="2586637" y="3018012"/>
            <a:chExt cx="578485" cy="423545"/>
          </a:xfrm>
        </p:grpSpPr>
        <p:sp>
          <p:nvSpPr>
            <p:cNvPr id="11" name="object 11" descr=""/>
            <p:cNvSpPr/>
            <p:nvPr/>
          </p:nvSpPr>
          <p:spPr>
            <a:xfrm>
              <a:off x="2591399" y="3022774"/>
              <a:ext cx="568960" cy="414020"/>
            </a:xfrm>
            <a:custGeom>
              <a:avLst/>
              <a:gdLst/>
              <a:ahLst/>
              <a:cxnLst/>
              <a:rect l="l" t="t" r="r" b="b"/>
              <a:pathLst>
                <a:path w="568960" h="414020">
                  <a:moveTo>
                    <a:pt x="206849" y="413699"/>
                  </a:moveTo>
                  <a:lnTo>
                    <a:pt x="0" y="206849"/>
                  </a:lnTo>
                  <a:lnTo>
                    <a:pt x="206849" y="0"/>
                  </a:lnTo>
                  <a:lnTo>
                    <a:pt x="206849" y="103424"/>
                  </a:lnTo>
                  <a:lnTo>
                    <a:pt x="568799" y="103424"/>
                  </a:lnTo>
                  <a:lnTo>
                    <a:pt x="568799" y="310274"/>
                  </a:lnTo>
                  <a:lnTo>
                    <a:pt x="206849" y="310274"/>
                  </a:lnTo>
                  <a:lnTo>
                    <a:pt x="206849" y="41369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591399" y="3022774"/>
              <a:ext cx="568960" cy="414020"/>
            </a:xfrm>
            <a:custGeom>
              <a:avLst/>
              <a:gdLst/>
              <a:ahLst/>
              <a:cxnLst/>
              <a:rect l="l" t="t" r="r" b="b"/>
              <a:pathLst>
                <a:path w="568960" h="414020">
                  <a:moveTo>
                    <a:pt x="0" y="206849"/>
                  </a:moveTo>
                  <a:lnTo>
                    <a:pt x="206849" y="0"/>
                  </a:lnTo>
                  <a:lnTo>
                    <a:pt x="206849" y="103424"/>
                  </a:lnTo>
                  <a:lnTo>
                    <a:pt x="568799" y="103424"/>
                  </a:lnTo>
                  <a:lnTo>
                    <a:pt x="568799" y="310274"/>
                  </a:lnTo>
                  <a:lnTo>
                    <a:pt x="206849" y="310274"/>
                  </a:lnTo>
                  <a:lnTo>
                    <a:pt x="206849" y="413699"/>
                  </a:lnTo>
                  <a:lnTo>
                    <a:pt x="0" y="20684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spc="140"/>
              <a:t>Modo</a:t>
            </a:r>
            <a:r>
              <a:rPr dirty="0" sz="2100" spc="-75"/>
              <a:t> </a:t>
            </a:r>
            <a:r>
              <a:rPr dirty="0" sz="2100" spc="55"/>
              <a:t>protegido</a:t>
            </a:r>
            <a:r>
              <a:rPr dirty="0" sz="2100" spc="-75"/>
              <a:t> </a:t>
            </a:r>
            <a:r>
              <a:rPr dirty="0" sz="2100"/>
              <a:t>en</a:t>
            </a:r>
            <a:r>
              <a:rPr dirty="0" sz="2100" spc="-75"/>
              <a:t> </a:t>
            </a:r>
            <a:r>
              <a:rPr dirty="0" sz="2100"/>
              <a:t>x86</a:t>
            </a:r>
            <a:r>
              <a:rPr dirty="0" sz="2100" spc="-75"/>
              <a:t> </a:t>
            </a:r>
            <a:r>
              <a:rPr dirty="0" sz="2100" spc="-10"/>
              <a:t>(simplificado)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755850" y="2136433"/>
            <a:ext cx="7684770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Para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pasar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de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Modo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Usuario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(CPL</a:t>
            </a:r>
            <a:r>
              <a:rPr dirty="0" sz="1800" spc="-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3)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Modo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Supervisor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(CPL</a:t>
            </a:r>
            <a:r>
              <a:rPr dirty="0" sz="1800" spc="-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0)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 mediante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una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System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Call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hay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protocolo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bien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definido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que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los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programas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ejecutan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Instrucciones</a:t>
            </a:r>
            <a:r>
              <a:rPr dirty="0" spc="-135"/>
              <a:t> </a:t>
            </a:r>
            <a:r>
              <a:rPr dirty="0" spc="50"/>
              <a:t>Privilegiadas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587125" y="607625"/>
            <a:ext cx="3218180" cy="4475480"/>
            <a:chOff x="5587125" y="607625"/>
            <a:chExt cx="3218180" cy="44754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7125" y="607625"/>
              <a:ext cx="3218072" cy="447494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2850" y="645725"/>
              <a:ext cx="3046621" cy="430349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49900" y="1674001"/>
            <a:ext cx="3776345" cy="1129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100" spc="-11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1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65" b="1">
                <a:solidFill>
                  <a:srgbClr val="595959"/>
                </a:solidFill>
                <a:latin typeface="Tahoma"/>
                <a:cs typeface="Tahoma"/>
              </a:rPr>
              <a:t>manual</a:t>
            </a:r>
            <a:r>
              <a:rPr dirty="0" sz="21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25" b="1">
                <a:solidFill>
                  <a:srgbClr val="595959"/>
                </a:solidFill>
                <a:latin typeface="Tahoma"/>
                <a:cs typeface="Tahoma"/>
              </a:rPr>
              <a:t>entero</a:t>
            </a:r>
            <a:r>
              <a:rPr dirty="0" sz="21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2100" spc="-125" b="1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21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30" b="1">
                <a:solidFill>
                  <a:srgbClr val="595959"/>
                </a:solidFill>
                <a:latin typeface="Tahoma"/>
                <a:cs typeface="Tahoma"/>
              </a:rPr>
              <a:t>privilegiadas</a:t>
            </a:r>
            <a:r>
              <a:rPr dirty="0" sz="21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2100" spc="-245" b="1">
                <a:solidFill>
                  <a:srgbClr val="595959"/>
                </a:solidFill>
                <a:latin typeface="Tahoma"/>
                <a:cs typeface="Tahoma"/>
              </a:rPr>
              <a:t>RISC-</a:t>
            </a:r>
            <a:r>
              <a:rPr dirty="0" sz="2100" spc="20" b="1">
                <a:solidFill>
                  <a:srgbClr val="595959"/>
                </a:solidFill>
                <a:latin typeface="Tahoma"/>
                <a:cs typeface="Tahoma"/>
              </a:rPr>
              <a:t>V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Instrucciones</a:t>
            </a:r>
            <a:r>
              <a:rPr dirty="0" spc="-135"/>
              <a:t> </a:t>
            </a:r>
            <a:r>
              <a:rPr dirty="0" spc="50"/>
              <a:t>Privilegiadas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49900" y="1674001"/>
            <a:ext cx="3783965" cy="1129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100" spc="-275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100" spc="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10" b="1">
                <a:solidFill>
                  <a:srgbClr val="595959"/>
                </a:solidFill>
                <a:latin typeface="Tahoma"/>
                <a:cs typeface="Tahoma"/>
              </a:rPr>
              <a:t>manual</a:t>
            </a:r>
            <a:r>
              <a:rPr dirty="0" sz="2100" spc="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60" b="1">
                <a:solidFill>
                  <a:srgbClr val="595959"/>
                </a:solidFill>
                <a:latin typeface="Tahoma"/>
                <a:cs typeface="Tahoma"/>
              </a:rPr>
              <a:t>entero</a:t>
            </a:r>
            <a:r>
              <a:rPr dirty="0" sz="21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505" b="1">
                <a:solidFill>
                  <a:srgbClr val="595959"/>
                </a:solidFill>
                <a:latin typeface="Tahoma"/>
                <a:cs typeface="Tahoma"/>
              </a:rPr>
              <a:t>(y</a:t>
            </a:r>
            <a:r>
              <a:rPr dirty="0" sz="2100" spc="3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29" b="1">
                <a:solidFill>
                  <a:srgbClr val="595959"/>
                </a:solidFill>
                <a:latin typeface="Tahoma"/>
                <a:cs typeface="Tahoma"/>
              </a:rPr>
              <a:t>gigante)</a:t>
            </a:r>
            <a:r>
              <a:rPr dirty="0" sz="2100" spc="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2100" spc="-140" b="1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2100" spc="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45" b="1">
                <a:solidFill>
                  <a:srgbClr val="595959"/>
                </a:solidFill>
                <a:latin typeface="Tahoma"/>
                <a:cs typeface="Tahoma"/>
              </a:rPr>
              <a:t>privilegiadas</a:t>
            </a:r>
            <a:r>
              <a:rPr dirty="0" sz="2100" spc="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5" b="1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2100" spc="-25" b="1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185074" y="681849"/>
            <a:ext cx="3485515" cy="4462145"/>
            <a:chOff x="5185074" y="681849"/>
            <a:chExt cx="3485515" cy="446214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5074" y="681849"/>
              <a:ext cx="3485198" cy="446164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0799" y="729475"/>
              <a:ext cx="3313748" cy="43034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5" y="605362"/>
            <a:ext cx="574675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55"/>
              <a:t>x86:</a:t>
            </a:r>
            <a:r>
              <a:rPr dirty="0" spc="-114"/>
              <a:t> </a:t>
            </a:r>
            <a:r>
              <a:rPr dirty="0" spc="60"/>
              <a:t>Ejemplo</a:t>
            </a:r>
            <a:r>
              <a:rPr dirty="0" spc="-114"/>
              <a:t> </a:t>
            </a:r>
            <a:r>
              <a:rPr dirty="0" spc="45"/>
              <a:t>instrucciones</a:t>
            </a:r>
            <a:r>
              <a:rPr dirty="0" spc="-114"/>
              <a:t> </a:t>
            </a:r>
            <a:r>
              <a:rPr dirty="0" spc="50"/>
              <a:t>privilegiadas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281" y="1079425"/>
            <a:ext cx="4665628" cy="390679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Ejemplos:</a:t>
            </a:r>
            <a:r>
              <a:rPr dirty="0" spc="25"/>
              <a:t> </a:t>
            </a:r>
            <a:r>
              <a:rPr dirty="0" spc="55"/>
              <a:t>Instrucciones</a:t>
            </a:r>
            <a:r>
              <a:rPr dirty="0" spc="15"/>
              <a:t> </a:t>
            </a:r>
            <a:r>
              <a:rPr dirty="0" spc="50">
                <a:solidFill>
                  <a:srgbClr val="FF0000"/>
                </a:solidFill>
              </a:rPr>
              <a:t>Privilegiadas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47605" y="1061263"/>
            <a:ext cx="8023859" cy="3393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1475" marR="77470" indent="-35941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 b="1">
                <a:latin typeface="Arial"/>
                <a:cs typeface="Arial"/>
              </a:rPr>
              <a:t>MOV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a/desde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CR0-</a:t>
            </a:r>
            <a:r>
              <a:rPr dirty="0" sz="1700" b="1">
                <a:latin typeface="Arial"/>
                <a:cs typeface="Arial"/>
              </a:rPr>
              <a:t>CR4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(Control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Registers):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>
                <a:latin typeface="Arial MT"/>
                <a:cs typeface="Arial MT"/>
              </a:rPr>
              <a:t>Movimientos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datos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hacia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50">
                <a:latin typeface="Arial MT"/>
                <a:cs typeface="Arial MT"/>
              </a:rPr>
              <a:t>o </a:t>
            </a:r>
            <a:r>
              <a:rPr dirty="0" sz="1700">
                <a:latin typeface="Arial MT"/>
                <a:cs typeface="Arial MT"/>
              </a:rPr>
              <a:t>desde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los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registros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control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CR0,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CR2,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CR3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y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CR4.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Estos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registros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controlan </a:t>
            </a:r>
            <a:r>
              <a:rPr dirty="0" sz="1700">
                <a:latin typeface="Arial MT"/>
                <a:cs typeface="Arial MT"/>
              </a:rPr>
              <a:t>aspectos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críticos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del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procesador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como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el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modo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protección,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paginación,</a:t>
            </a:r>
            <a:r>
              <a:rPr dirty="0" sz="1700" spc="-50">
                <a:latin typeface="Arial MT"/>
                <a:cs typeface="Arial MT"/>
              </a:rPr>
              <a:t> y </a:t>
            </a:r>
            <a:r>
              <a:rPr dirty="0" sz="1700" spc="-10">
                <a:latin typeface="Arial MT"/>
                <a:cs typeface="Arial MT"/>
              </a:rPr>
              <a:t>depuración.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●"/>
            </a:pPr>
            <a:endParaRPr sz="1700">
              <a:latin typeface="Arial MT"/>
              <a:cs typeface="Arial MT"/>
            </a:endParaRPr>
          </a:p>
          <a:p>
            <a:pPr marL="371475" marR="5080" indent="-359410">
              <a:lnSpc>
                <a:spcPct val="100000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 spc="-20" b="1">
                <a:latin typeface="Arial"/>
                <a:cs typeface="Arial"/>
              </a:rPr>
              <a:t>HLT</a:t>
            </a:r>
            <a:r>
              <a:rPr dirty="0" sz="1700" spc="-6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(Halt):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>
                <a:latin typeface="Arial MT"/>
                <a:cs typeface="Arial MT"/>
              </a:rPr>
              <a:t>Detiene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ejecución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del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procesador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hasta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que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ocurra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una </a:t>
            </a:r>
            <a:r>
              <a:rPr dirty="0" sz="1700" spc="-10">
                <a:latin typeface="Arial MT"/>
                <a:cs typeface="Arial MT"/>
              </a:rPr>
              <a:t>interrupción.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Esta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instrucción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es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usada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típicamente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en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sistemas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operativos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para </a:t>
            </a:r>
            <a:r>
              <a:rPr dirty="0" sz="1700">
                <a:latin typeface="Arial MT"/>
                <a:cs typeface="Arial MT"/>
              </a:rPr>
              <a:t>poner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al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procesador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en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un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estado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espera.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●"/>
            </a:pPr>
            <a:endParaRPr sz="1700">
              <a:latin typeface="Arial MT"/>
              <a:cs typeface="Arial MT"/>
            </a:endParaRPr>
          </a:p>
          <a:p>
            <a:pPr marL="371475" marR="429259" indent="-359410">
              <a:lnSpc>
                <a:spcPct val="100000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 b="1">
                <a:latin typeface="Arial"/>
                <a:cs typeface="Arial"/>
              </a:rPr>
              <a:t>LGDT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(Load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Global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Descriptor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Table):</a:t>
            </a:r>
            <a:r>
              <a:rPr dirty="0" sz="1700" spc="-30" b="1">
                <a:latin typeface="Arial"/>
                <a:cs typeface="Arial"/>
              </a:rPr>
              <a:t> </a:t>
            </a:r>
            <a:r>
              <a:rPr dirty="0" sz="1700">
                <a:latin typeface="Arial MT"/>
                <a:cs typeface="Arial MT"/>
              </a:rPr>
              <a:t>Carga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dirección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Global </a:t>
            </a:r>
            <a:r>
              <a:rPr dirty="0" sz="1700">
                <a:latin typeface="Arial MT"/>
                <a:cs typeface="Arial MT"/>
              </a:rPr>
              <a:t>Descriptor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40">
                <a:latin typeface="Arial MT"/>
                <a:cs typeface="Arial MT"/>
              </a:rPr>
              <a:t>Table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(GDT)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en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el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registro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GDTR.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Este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registro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crucial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para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la </a:t>
            </a:r>
            <a:r>
              <a:rPr dirty="0" sz="1700" spc="-10">
                <a:latin typeface="Arial MT"/>
                <a:cs typeface="Arial MT"/>
              </a:rPr>
              <a:t>administración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memoria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y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protección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segmentos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en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sistemas </a:t>
            </a:r>
            <a:r>
              <a:rPr dirty="0" sz="1700">
                <a:latin typeface="Arial MT"/>
                <a:cs typeface="Arial MT"/>
              </a:rPr>
              <a:t>operativos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que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utilizan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memoria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segmentada.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Ejemplos:</a:t>
            </a:r>
            <a:r>
              <a:rPr dirty="0" spc="-25"/>
              <a:t> </a:t>
            </a:r>
            <a:r>
              <a:rPr dirty="0" spc="55"/>
              <a:t>Instrucciones</a:t>
            </a:r>
            <a:r>
              <a:rPr dirty="0" spc="-40"/>
              <a:t> </a:t>
            </a:r>
            <a:r>
              <a:rPr dirty="0" spc="165">
                <a:solidFill>
                  <a:srgbClr val="0000FF"/>
                </a:solidFill>
              </a:rPr>
              <a:t>No</a:t>
            </a:r>
            <a:r>
              <a:rPr dirty="0" spc="-25">
                <a:solidFill>
                  <a:srgbClr val="0000FF"/>
                </a:solidFill>
              </a:rPr>
              <a:t> </a:t>
            </a:r>
            <a:r>
              <a:rPr dirty="0" spc="50">
                <a:solidFill>
                  <a:srgbClr val="0000FF"/>
                </a:solidFill>
              </a:rPr>
              <a:t>Privilegiadas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6583" y="766309"/>
            <a:ext cx="8324215" cy="378079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86715" marR="51435" indent="-374650">
              <a:lnSpc>
                <a:spcPct val="104600"/>
              </a:lnSpc>
              <a:spcBef>
                <a:spcPts val="170"/>
              </a:spcBef>
              <a:buSzPct val="146153"/>
              <a:buFont typeface="Arial MT"/>
              <a:buChar char="●"/>
              <a:tabLst>
                <a:tab pos="386715" algn="l"/>
              </a:tabLst>
            </a:pPr>
            <a:r>
              <a:rPr dirty="0" sz="1300" b="1">
                <a:latin typeface="Arial"/>
                <a:cs typeface="Arial"/>
              </a:rPr>
              <a:t>MOV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(Move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Data):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Esta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instrucción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utiliza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mover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datos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una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ubicación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otra.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una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las </a:t>
            </a:r>
            <a:r>
              <a:rPr dirty="0" sz="1300">
                <a:latin typeface="Arial MT"/>
                <a:cs typeface="Arial MT"/>
              </a:rPr>
              <a:t>instrucciones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más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básicas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puede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utilizar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mover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datos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entre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registros,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entre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registros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memoria,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o </a:t>
            </a:r>
            <a:r>
              <a:rPr dirty="0" sz="1300">
                <a:latin typeface="Arial MT"/>
                <a:cs typeface="Arial MT"/>
              </a:rPr>
              <a:t>entre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puertos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20">
                <a:latin typeface="Arial MT"/>
                <a:cs typeface="Arial MT"/>
              </a:rPr>
              <a:t>E/S.</a:t>
            </a:r>
            <a:endParaRPr sz="1300">
              <a:latin typeface="Arial MT"/>
              <a:cs typeface="Arial MT"/>
            </a:endParaRPr>
          </a:p>
          <a:p>
            <a:pPr marL="386715" marR="251460" indent="-374650">
              <a:lnSpc>
                <a:spcPct val="109200"/>
              </a:lnSpc>
              <a:spcBef>
                <a:spcPts val="434"/>
              </a:spcBef>
              <a:buSzPct val="146153"/>
              <a:buFont typeface="Arial MT"/>
              <a:buChar char="●"/>
              <a:tabLst>
                <a:tab pos="386715" algn="l"/>
              </a:tabLst>
            </a:pPr>
            <a:r>
              <a:rPr dirty="0" sz="1300" b="1">
                <a:latin typeface="Arial"/>
                <a:cs typeface="Arial"/>
              </a:rPr>
              <a:t>ADD,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SUB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(Arithmetic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Operations):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Estas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instrucciones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realizan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operaciones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aritméticas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básicas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 spc="-20">
                <a:latin typeface="Arial MT"/>
                <a:cs typeface="Arial MT"/>
              </a:rPr>
              <a:t>como </a:t>
            </a:r>
            <a:r>
              <a:rPr dirty="0" sz="1300">
                <a:latin typeface="Arial MT"/>
                <a:cs typeface="Arial MT"/>
              </a:rPr>
              <a:t>suma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resta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registros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entre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registros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memoria.</a:t>
            </a:r>
            <a:endParaRPr sz="1300">
              <a:latin typeface="Arial MT"/>
              <a:cs typeface="Arial MT"/>
            </a:endParaRPr>
          </a:p>
          <a:p>
            <a:pPr marL="386715" marR="5080" indent="-374650">
              <a:lnSpc>
                <a:spcPct val="109200"/>
              </a:lnSpc>
              <a:spcBef>
                <a:spcPts val="430"/>
              </a:spcBef>
              <a:buSzPct val="146153"/>
              <a:buFont typeface="Arial MT"/>
              <a:buChar char="●"/>
              <a:tabLst>
                <a:tab pos="386715" algn="l"/>
              </a:tabLst>
            </a:pPr>
            <a:r>
              <a:rPr dirty="0" sz="1300" b="1">
                <a:latin typeface="Arial"/>
                <a:cs typeface="Arial"/>
              </a:rPr>
              <a:t>AND,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OR,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XOR,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NOT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(Logical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Operations):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Estas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instrucciones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realizan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operaciones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lógicas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bit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bit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sobre </a:t>
            </a:r>
            <a:r>
              <a:rPr dirty="0" sz="1300">
                <a:latin typeface="Arial MT"/>
                <a:cs typeface="Arial MT"/>
              </a:rPr>
              <a:t>registros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entre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registros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memoria.</a:t>
            </a:r>
            <a:endParaRPr sz="1300">
              <a:latin typeface="Arial MT"/>
              <a:cs typeface="Arial MT"/>
            </a:endParaRPr>
          </a:p>
          <a:p>
            <a:pPr marL="386715" marR="10160" indent="-374650">
              <a:lnSpc>
                <a:spcPct val="104600"/>
              </a:lnSpc>
              <a:spcBef>
                <a:spcPts val="505"/>
              </a:spcBef>
              <a:buSzPct val="146153"/>
              <a:buFont typeface="Arial MT"/>
              <a:buChar char="●"/>
              <a:tabLst>
                <a:tab pos="386715" algn="l"/>
              </a:tabLst>
            </a:pPr>
            <a:r>
              <a:rPr dirty="0" sz="1300" spc="-45" b="1">
                <a:latin typeface="Arial"/>
                <a:cs typeface="Arial"/>
              </a:rPr>
              <a:t>JMP,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JE,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JNE,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JG,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JL</a:t>
            </a:r>
            <a:r>
              <a:rPr dirty="0" sz="1300" spc="-6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(Jump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Instructions):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Instrucciones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salto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permiten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alterar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flujo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ejecución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programa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basado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condiciones.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Estas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instrucciones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son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privilegiadas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porque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solo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afectan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flujo</a:t>
            </a:r>
            <a:r>
              <a:rPr dirty="0" sz="1300" spc="50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control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dentro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programa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usuario.</a:t>
            </a:r>
            <a:endParaRPr sz="1300">
              <a:latin typeface="Arial MT"/>
              <a:cs typeface="Arial MT"/>
            </a:endParaRPr>
          </a:p>
          <a:p>
            <a:pPr marL="386715" marR="120650" indent="-374650">
              <a:lnSpc>
                <a:spcPct val="109200"/>
              </a:lnSpc>
              <a:spcBef>
                <a:spcPts val="430"/>
              </a:spcBef>
              <a:buSzPct val="146153"/>
              <a:buFont typeface="Arial MT"/>
              <a:buChar char="●"/>
              <a:tabLst>
                <a:tab pos="386715" algn="l"/>
              </a:tabLst>
            </a:pPr>
            <a:r>
              <a:rPr dirty="0" sz="1300" b="1">
                <a:latin typeface="Arial"/>
                <a:cs typeface="Arial"/>
              </a:rPr>
              <a:t>PUSH,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POP</a:t>
            </a:r>
            <a:r>
              <a:rPr dirty="0" sz="1300" spc="-6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(Stack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Operations):</a:t>
            </a:r>
            <a:r>
              <a:rPr dirty="0" sz="1300" spc="-30" b="1">
                <a:latin typeface="Arial"/>
                <a:cs typeface="Arial"/>
              </a:rPr>
              <a:t> </a:t>
            </a:r>
            <a:r>
              <a:rPr dirty="0" sz="1300" spc="-10">
                <a:latin typeface="Arial MT"/>
                <a:cs typeface="Arial MT"/>
              </a:rPr>
              <a:t>Manipulan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pila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guardar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(</a:t>
            </a:r>
            <a:r>
              <a:rPr dirty="0" sz="1300">
                <a:solidFill>
                  <a:srgbClr val="188037"/>
                </a:solidFill>
                <a:latin typeface="Courier New"/>
                <a:cs typeface="Courier New"/>
              </a:rPr>
              <a:t>PUSH</a:t>
            </a:r>
            <a:r>
              <a:rPr dirty="0" sz="1300">
                <a:latin typeface="Arial MT"/>
                <a:cs typeface="Arial MT"/>
              </a:rPr>
              <a:t>)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restaurar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(</a:t>
            </a:r>
            <a:r>
              <a:rPr dirty="0" sz="1300">
                <a:solidFill>
                  <a:srgbClr val="188037"/>
                </a:solidFill>
                <a:latin typeface="Courier New"/>
                <a:cs typeface="Courier New"/>
              </a:rPr>
              <a:t>POP</a:t>
            </a:r>
            <a:r>
              <a:rPr dirty="0" sz="1300">
                <a:latin typeface="Arial MT"/>
                <a:cs typeface="Arial MT"/>
              </a:rPr>
              <a:t>)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valores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desde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ella. </a:t>
            </a:r>
            <a:r>
              <a:rPr dirty="0" sz="1300">
                <a:latin typeface="Arial MT"/>
                <a:cs typeface="Arial MT"/>
              </a:rPr>
              <a:t>Estas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instrucciones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son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esenciales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gestión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contexto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flujo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control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los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programas.</a:t>
            </a:r>
            <a:endParaRPr sz="1300">
              <a:latin typeface="Arial MT"/>
              <a:cs typeface="Arial MT"/>
            </a:endParaRPr>
          </a:p>
          <a:p>
            <a:pPr marL="386715" marR="128905" indent="-374650">
              <a:lnSpc>
                <a:spcPct val="109200"/>
              </a:lnSpc>
              <a:spcBef>
                <a:spcPts val="434"/>
              </a:spcBef>
              <a:buSzPct val="146153"/>
              <a:buFont typeface="Arial MT"/>
              <a:buChar char="●"/>
              <a:tabLst>
                <a:tab pos="386715" algn="l"/>
              </a:tabLst>
            </a:pPr>
            <a:r>
              <a:rPr dirty="0" sz="1300" b="1">
                <a:latin typeface="Arial"/>
                <a:cs typeface="Arial"/>
              </a:rPr>
              <a:t>NOP</a:t>
            </a:r>
            <a:r>
              <a:rPr dirty="0" sz="1300" spc="-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(No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Operation):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spc="-10">
                <a:latin typeface="Arial MT"/>
                <a:cs typeface="Arial MT"/>
              </a:rPr>
              <a:t>Instrucción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realiza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ninguna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operación,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solo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avanza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puntero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instrucción. </a:t>
            </a:r>
            <a:r>
              <a:rPr dirty="0" sz="1300">
                <a:latin typeface="Arial MT"/>
                <a:cs typeface="Arial MT"/>
              </a:rPr>
              <a:t>Puede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usada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alineación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código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crear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retrasos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intencionales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ejecución.</a:t>
            </a:r>
            <a:endParaRPr sz="1300">
              <a:latin typeface="Arial MT"/>
              <a:cs typeface="Arial MT"/>
            </a:endParaRPr>
          </a:p>
          <a:p>
            <a:pPr marL="386715" marR="546735" indent="-374650">
              <a:lnSpc>
                <a:spcPct val="109200"/>
              </a:lnSpc>
              <a:spcBef>
                <a:spcPts val="430"/>
              </a:spcBef>
              <a:buSzPct val="146153"/>
              <a:buFont typeface="Arial MT"/>
              <a:buChar char="●"/>
              <a:tabLst>
                <a:tab pos="386715" algn="l"/>
              </a:tabLst>
            </a:pPr>
            <a:r>
              <a:rPr dirty="0" sz="1300" b="1">
                <a:latin typeface="Arial"/>
                <a:cs typeface="Arial"/>
              </a:rPr>
              <a:t>INT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n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(Software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Interrupt):</a:t>
            </a:r>
            <a:r>
              <a:rPr dirty="0" sz="1300" spc="-30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Genera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una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interrupción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software.</a:t>
            </a:r>
            <a:r>
              <a:rPr dirty="0" sz="1300" spc="-8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Aunque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propia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instrucción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no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es </a:t>
            </a:r>
            <a:r>
              <a:rPr dirty="0" sz="1300" spc="-10">
                <a:latin typeface="Arial MT"/>
                <a:cs typeface="Arial MT"/>
              </a:rPr>
              <a:t>privilegiada,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su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manejo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depende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vector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interrupción,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puede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implicar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código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privilegiado.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4674" y="1805832"/>
            <a:ext cx="8184515" cy="21570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424815" marR="5080" indent="-412750">
              <a:lnSpc>
                <a:spcPct val="103299"/>
              </a:lnSpc>
              <a:spcBef>
                <a:spcPts val="170"/>
              </a:spcBef>
              <a:buSzPct val="133333"/>
              <a:buFont typeface="Arial MT"/>
              <a:buChar char="●"/>
              <a:tabLst>
                <a:tab pos="424815" algn="l"/>
              </a:tabLst>
            </a:pPr>
            <a:r>
              <a:rPr dirty="0" sz="1800" b="1">
                <a:latin typeface="Arial"/>
                <a:cs typeface="Arial"/>
              </a:rPr>
              <a:t>INT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(Software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Interrupt):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Genera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interrupción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software.</a:t>
            </a:r>
            <a:r>
              <a:rPr dirty="0" sz="1800" spc="-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Aunque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la </a:t>
            </a:r>
            <a:r>
              <a:rPr dirty="0" sz="1800">
                <a:latin typeface="Arial MT"/>
                <a:cs typeface="Arial MT"/>
              </a:rPr>
              <a:t>propia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instrucción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privilegiada,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manejo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depende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vector</a:t>
            </a:r>
            <a:r>
              <a:rPr dirty="0" sz="1800" spc="-25">
                <a:latin typeface="Arial MT"/>
                <a:cs typeface="Arial MT"/>
              </a:rPr>
              <a:t> de </a:t>
            </a:r>
            <a:r>
              <a:rPr dirty="0" sz="1800">
                <a:latin typeface="Arial MT"/>
                <a:cs typeface="Arial MT"/>
              </a:rPr>
              <a:t>interrupción,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puede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implicar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código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privilegiado.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800">
              <a:latin typeface="Arial MT"/>
              <a:cs typeface="Arial MT"/>
            </a:endParaRPr>
          </a:p>
          <a:p>
            <a:pPr marL="3954145" marR="793750" indent="-2927985">
              <a:lnSpc>
                <a:spcPct val="100000"/>
              </a:lnSpc>
            </a:pPr>
            <a:r>
              <a:rPr dirty="0" sz="2000" spc="-170" b="1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0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65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595959"/>
                </a:solidFill>
                <a:latin typeface="Tahoma"/>
                <a:cs typeface="Tahoma"/>
              </a:rPr>
              <a:t>usar</a:t>
            </a:r>
            <a:r>
              <a:rPr dirty="0" sz="20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595959"/>
                </a:solidFill>
                <a:latin typeface="Tahoma"/>
                <a:cs typeface="Tahoma"/>
              </a:rPr>
              <a:t>implementar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20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14" b="1">
                <a:solidFill>
                  <a:srgbClr val="595959"/>
                </a:solidFill>
                <a:latin typeface="Tahoma"/>
                <a:cs typeface="Tahoma"/>
              </a:rPr>
              <a:t>transición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30" b="1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595959"/>
                </a:solidFill>
                <a:latin typeface="Tahoma"/>
                <a:cs typeface="Tahoma"/>
              </a:rPr>
              <a:t>system </a:t>
            </a:r>
            <a:r>
              <a:rPr dirty="0" sz="2000" spc="-10" b="1">
                <a:solidFill>
                  <a:srgbClr val="595959"/>
                </a:solidFill>
                <a:latin typeface="Tahoma"/>
                <a:cs typeface="Tahoma"/>
              </a:rPr>
              <a:t>calls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787815"/>
            <a:ext cx="46348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5" b="1">
                <a:solidFill>
                  <a:srgbClr val="595959"/>
                </a:solidFill>
                <a:latin typeface="Tahoma"/>
                <a:cs typeface="Tahoma"/>
              </a:rPr>
              <a:t>Mención</a:t>
            </a:r>
            <a:r>
              <a:rPr dirty="0" sz="20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35" b="1">
                <a:solidFill>
                  <a:srgbClr val="595959"/>
                </a:solidFill>
                <a:latin typeface="Tahoma"/>
                <a:cs typeface="Tahoma"/>
              </a:rPr>
              <a:t>especial:</a:t>
            </a:r>
            <a:r>
              <a:rPr dirty="0" sz="20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5" b="1">
                <a:solidFill>
                  <a:srgbClr val="595959"/>
                </a:solidFill>
                <a:latin typeface="Tahoma"/>
                <a:cs typeface="Tahoma"/>
              </a:rPr>
              <a:t>INT</a:t>
            </a:r>
            <a:r>
              <a:rPr dirty="0" sz="20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35" b="1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0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50" b="1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20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595959"/>
                </a:solidFill>
                <a:latin typeface="Tahoma"/>
                <a:cs typeface="Tahoma"/>
              </a:rPr>
              <a:t>privilegiada!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Ejemplos:</a:t>
            </a:r>
            <a:r>
              <a:rPr dirty="0" spc="-25"/>
              <a:t> </a:t>
            </a:r>
            <a:r>
              <a:rPr dirty="0" spc="55"/>
              <a:t>Instrucciones</a:t>
            </a:r>
            <a:r>
              <a:rPr dirty="0" spc="-40"/>
              <a:t> </a:t>
            </a:r>
            <a:r>
              <a:rPr dirty="0" spc="165">
                <a:solidFill>
                  <a:srgbClr val="0000FF"/>
                </a:solidFill>
              </a:rPr>
              <a:t>No</a:t>
            </a:r>
            <a:r>
              <a:rPr dirty="0" spc="-25">
                <a:solidFill>
                  <a:srgbClr val="0000FF"/>
                </a:solidFill>
              </a:rPr>
              <a:t> </a:t>
            </a:r>
            <a:r>
              <a:rPr dirty="0" spc="50">
                <a:solidFill>
                  <a:srgbClr val="0000FF"/>
                </a:solidFill>
              </a:rPr>
              <a:t>Privilegiadas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Protección</a:t>
            </a:r>
            <a:r>
              <a:rPr dirty="0" spc="85"/>
              <a:t> </a:t>
            </a:r>
            <a:r>
              <a:rPr dirty="0" spc="114"/>
              <a:t>de</a:t>
            </a:r>
            <a:r>
              <a:rPr dirty="0" spc="90"/>
              <a:t> </a:t>
            </a:r>
            <a:r>
              <a:rPr dirty="0" spc="70"/>
              <a:t>Memoria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2574" y="595450"/>
            <a:ext cx="4213952" cy="430349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Protección</a:t>
            </a:r>
            <a:r>
              <a:rPr dirty="0" spc="85"/>
              <a:t> </a:t>
            </a:r>
            <a:r>
              <a:rPr dirty="0" spc="114"/>
              <a:t>de</a:t>
            </a:r>
            <a:r>
              <a:rPr dirty="0" spc="90"/>
              <a:t> </a:t>
            </a:r>
            <a:r>
              <a:rPr dirty="0" spc="70"/>
              <a:t>Memoria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815326" y="578710"/>
            <a:ext cx="2980690" cy="2649220"/>
            <a:chOff x="5815326" y="578710"/>
            <a:chExt cx="2980690" cy="26492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5326" y="578710"/>
              <a:ext cx="2980660" cy="264432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922217" y="849345"/>
              <a:ext cx="811530" cy="2374265"/>
            </a:xfrm>
            <a:custGeom>
              <a:avLst/>
              <a:gdLst/>
              <a:ahLst/>
              <a:cxnLst/>
              <a:rect l="l" t="t" r="r" b="b"/>
              <a:pathLst>
                <a:path w="811529" h="2374265">
                  <a:moveTo>
                    <a:pt x="0" y="0"/>
                  </a:moveTo>
                  <a:lnTo>
                    <a:pt x="811274" y="0"/>
                  </a:lnTo>
                  <a:lnTo>
                    <a:pt x="811274" y="2373721"/>
                  </a:lnTo>
                  <a:lnTo>
                    <a:pt x="0" y="237372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3939" y="3721153"/>
            <a:ext cx="1235405" cy="858344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6922200" y="3384826"/>
            <a:ext cx="879475" cy="252729"/>
          </a:xfrm>
          <a:custGeom>
            <a:avLst/>
            <a:gdLst/>
            <a:ahLst/>
            <a:cxnLst/>
            <a:rect l="l" t="t" r="r" b="b"/>
            <a:pathLst>
              <a:path w="879475" h="252729">
                <a:moveTo>
                  <a:pt x="878847" y="0"/>
                </a:moveTo>
                <a:lnTo>
                  <a:pt x="876402" y="24712"/>
                </a:lnTo>
                <a:lnTo>
                  <a:pt x="869250" y="48250"/>
                </a:lnTo>
                <a:lnTo>
                  <a:pt x="841918" y="89155"/>
                </a:lnTo>
                <a:lnTo>
                  <a:pt x="801014" y="116486"/>
                </a:lnTo>
                <a:lnTo>
                  <a:pt x="752763" y="126084"/>
                </a:lnTo>
                <a:lnTo>
                  <a:pt x="565508" y="126084"/>
                </a:lnTo>
                <a:lnTo>
                  <a:pt x="516430" y="135992"/>
                </a:lnTo>
                <a:lnTo>
                  <a:pt x="476353" y="163013"/>
                </a:lnTo>
                <a:lnTo>
                  <a:pt x="449332" y="203091"/>
                </a:lnTo>
                <a:lnTo>
                  <a:pt x="439424" y="252168"/>
                </a:lnTo>
                <a:lnTo>
                  <a:pt x="429515" y="203091"/>
                </a:lnTo>
                <a:lnTo>
                  <a:pt x="402494" y="163013"/>
                </a:lnTo>
                <a:lnTo>
                  <a:pt x="362417" y="135992"/>
                </a:lnTo>
                <a:lnTo>
                  <a:pt x="313339" y="126084"/>
                </a:lnTo>
                <a:lnTo>
                  <a:pt x="126084" y="126084"/>
                </a:lnTo>
                <a:lnTo>
                  <a:pt x="77006" y="116176"/>
                </a:lnTo>
                <a:lnTo>
                  <a:pt x="36929" y="89155"/>
                </a:lnTo>
                <a:lnTo>
                  <a:pt x="9908" y="49077"/>
                </a:lnTo>
                <a:lnTo>
                  <a:pt x="0" y="0"/>
                </a:lnTo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930882" y="4696555"/>
            <a:ext cx="8623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Tables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2399" y="758190"/>
            <a:ext cx="4608830" cy="215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mapeo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páginas.</a:t>
            </a:r>
            <a:endParaRPr sz="2000">
              <a:latin typeface="Tahoma"/>
              <a:cs typeface="Tahoma"/>
            </a:endParaRPr>
          </a:p>
          <a:p>
            <a:pPr marL="12700" marR="808990">
              <a:lnSpc>
                <a:spcPct val="100000"/>
              </a:lnSpc>
            </a:pP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página mapeada: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correspondencia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14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2000" spc="-225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Flags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configuración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Protección</a:t>
            </a:r>
            <a:r>
              <a:rPr dirty="0" spc="85"/>
              <a:t> </a:t>
            </a:r>
            <a:r>
              <a:rPr dirty="0" spc="114"/>
              <a:t>de</a:t>
            </a:r>
            <a:r>
              <a:rPr dirty="0" spc="90"/>
              <a:t> </a:t>
            </a:r>
            <a:r>
              <a:rPr dirty="0" spc="70"/>
              <a:t>Memoria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20958" y="1365301"/>
            <a:ext cx="7152640" cy="3286760"/>
            <a:chOff x="920958" y="1365301"/>
            <a:chExt cx="7152640" cy="32867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958" y="1365301"/>
              <a:ext cx="7152402" cy="328622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780149" y="2127774"/>
              <a:ext cx="1407795" cy="1005205"/>
            </a:xfrm>
            <a:custGeom>
              <a:avLst/>
              <a:gdLst/>
              <a:ahLst/>
              <a:cxnLst/>
              <a:rect l="l" t="t" r="r" b="b"/>
              <a:pathLst>
                <a:path w="1407795" h="1005205">
                  <a:moveTo>
                    <a:pt x="0" y="0"/>
                  </a:moveTo>
                  <a:lnTo>
                    <a:pt x="1407299" y="0"/>
                  </a:lnTo>
                  <a:lnTo>
                    <a:pt x="1407299" y="1004999"/>
                  </a:lnTo>
                  <a:lnTo>
                    <a:pt x="0" y="1004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02475" y="827089"/>
            <a:ext cx="40347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páginas </a:t>
            </a:r>
            <a:r>
              <a:rPr dirty="0" sz="1700" spc="-215" b="1">
                <a:solidFill>
                  <a:srgbClr val="595959"/>
                </a:solidFill>
                <a:latin typeface="Tahoma"/>
                <a:cs typeface="Tahoma"/>
              </a:rPr>
              <a:t>(RISC-</a:t>
            </a:r>
            <a:r>
              <a:rPr dirty="0" sz="1700" spc="-25" b="1">
                <a:solidFill>
                  <a:srgbClr val="595959"/>
                </a:solidFill>
                <a:latin typeface="Tahoma"/>
                <a:cs typeface="Tahoma"/>
              </a:rPr>
              <a:t>V)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Protección</a:t>
            </a:r>
            <a:r>
              <a:rPr dirty="0" spc="85"/>
              <a:t> </a:t>
            </a:r>
            <a:r>
              <a:rPr dirty="0" spc="114"/>
              <a:t>de</a:t>
            </a:r>
            <a:r>
              <a:rPr dirty="0" spc="90"/>
              <a:t> </a:t>
            </a:r>
            <a:r>
              <a:rPr dirty="0" spc="70"/>
              <a:t>Memoria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46887" y="1474532"/>
            <a:ext cx="6890384" cy="226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1955" indent="-389255">
              <a:lnSpc>
                <a:spcPct val="100000"/>
              </a:lnSpc>
              <a:spcBef>
                <a:spcPts val="100"/>
              </a:spcBef>
              <a:buChar char="●"/>
              <a:tabLst>
                <a:tab pos="401955" algn="l"/>
              </a:tabLst>
            </a:pPr>
            <a:r>
              <a:rPr dirty="0" sz="2100">
                <a:latin typeface="Arial MT"/>
                <a:cs typeface="Arial MT"/>
              </a:rPr>
              <a:t>Acceder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una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página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usuario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→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Hay</a:t>
            </a:r>
            <a:r>
              <a:rPr dirty="0" sz="2100" spc="-10">
                <a:latin typeface="Arial MT"/>
                <a:cs typeface="Arial MT"/>
              </a:rPr>
              <a:t> excepción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●"/>
            </a:pPr>
            <a:endParaRPr sz="2100">
              <a:latin typeface="Arial MT"/>
              <a:cs typeface="Arial MT"/>
            </a:endParaRPr>
          </a:p>
          <a:p>
            <a:pPr marL="401955" indent="-389255">
              <a:lnSpc>
                <a:spcPct val="100000"/>
              </a:lnSpc>
              <a:buChar char="●"/>
              <a:tabLst>
                <a:tab pos="401955" algn="l"/>
              </a:tabLst>
            </a:pPr>
            <a:r>
              <a:rPr dirty="0" sz="2100">
                <a:latin typeface="Arial MT"/>
                <a:cs typeface="Arial MT"/>
              </a:rPr>
              <a:t>Escribir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página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solo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lectura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→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Hay</a:t>
            </a:r>
            <a:r>
              <a:rPr dirty="0" sz="2100" spc="-10">
                <a:latin typeface="Arial MT"/>
                <a:cs typeface="Arial MT"/>
              </a:rPr>
              <a:t> excepción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●"/>
            </a:pPr>
            <a:endParaRPr sz="2100">
              <a:latin typeface="Arial MT"/>
              <a:cs typeface="Arial MT"/>
            </a:endParaRPr>
          </a:p>
          <a:p>
            <a:pPr marL="401955" indent="-389255">
              <a:lnSpc>
                <a:spcPct val="100000"/>
              </a:lnSpc>
              <a:buChar char="●"/>
              <a:tabLst>
                <a:tab pos="401955" algn="l"/>
              </a:tabLst>
            </a:pPr>
            <a:r>
              <a:rPr dirty="0" sz="2100">
                <a:latin typeface="Arial MT"/>
                <a:cs typeface="Arial MT"/>
              </a:rPr>
              <a:t>Acceder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página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mapeada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→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Hay</a:t>
            </a:r>
            <a:r>
              <a:rPr dirty="0" sz="2100" spc="-10">
                <a:latin typeface="Arial MT"/>
                <a:cs typeface="Arial MT"/>
              </a:rPr>
              <a:t> excepción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●"/>
            </a:pPr>
            <a:endParaRPr sz="2100">
              <a:latin typeface="Arial MT"/>
              <a:cs typeface="Arial MT"/>
            </a:endParaRPr>
          </a:p>
          <a:p>
            <a:pPr marL="401955" indent="-389255">
              <a:lnSpc>
                <a:spcPct val="100000"/>
              </a:lnSpc>
              <a:buChar char="●"/>
              <a:tabLst>
                <a:tab pos="401955" algn="l"/>
              </a:tabLst>
            </a:pPr>
            <a:r>
              <a:rPr dirty="0" sz="2100">
                <a:latin typeface="Arial MT"/>
                <a:cs typeface="Arial MT"/>
              </a:rPr>
              <a:t>Ejecutar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página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ejecutable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→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Hay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excepción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Protección</a:t>
            </a:r>
            <a:r>
              <a:rPr dirty="0" spc="85"/>
              <a:t> </a:t>
            </a:r>
            <a:r>
              <a:rPr dirty="0" spc="114"/>
              <a:t>de</a:t>
            </a:r>
            <a:r>
              <a:rPr dirty="0" spc="90"/>
              <a:t> </a:t>
            </a:r>
            <a:r>
              <a:rPr dirty="0" spc="70"/>
              <a:t>Memoria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0699" y="1616932"/>
            <a:ext cx="4661535" cy="226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Arial"/>
                <a:cs typeface="Arial"/>
              </a:rPr>
              <a:t>En</a:t>
            </a:r>
            <a:r>
              <a:rPr dirty="0" sz="2100" spc="-40" b="1">
                <a:latin typeface="Arial"/>
                <a:cs typeface="Arial"/>
              </a:rPr>
              <a:t> </a:t>
            </a:r>
            <a:r>
              <a:rPr dirty="0" sz="2100" spc="-10" b="1">
                <a:latin typeface="Arial"/>
                <a:cs typeface="Arial"/>
              </a:rPr>
              <a:t>general: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100">
              <a:latin typeface="Arial"/>
              <a:cs typeface="Arial"/>
            </a:endParaRPr>
          </a:p>
          <a:p>
            <a:pPr marL="469900" marR="5080">
              <a:lnSpc>
                <a:spcPct val="100000"/>
              </a:lnSpc>
            </a:pPr>
            <a:r>
              <a:rPr dirty="0" sz="2100">
                <a:latin typeface="Arial MT"/>
                <a:cs typeface="Arial MT"/>
              </a:rPr>
              <a:t>Hacer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cualquier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cosa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como</a:t>
            </a:r>
            <a:r>
              <a:rPr dirty="0" sz="2100" spc="-10">
                <a:latin typeface="Arial MT"/>
                <a:cs typeface="Arial MT"/>
              </a:rPr>
              <a:t> usuario </a:t>
            </a:r>
            <a:r>
              <a:rPr dirty="0" sz="2100">
                <a:latin typeface="Arial MT"/>
                <a:cs typeface="Arial MT"/>
              </a:rPr>
              <a:t>que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está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permitida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la </a:t>
            </a:r>
            <a:r>
              <a:rPr dirty="0" sz="2100">
                <a:latin typeface="Arial MT"/>
                <a:cs typeface="Arial MT"/>
              </a:rPr>
              <a:t>memoria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→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100">
              <a:latin typeface="Arial MT"/>
              <a:cs typeface="Arial MT"/>
            </a:endParaRPr>
          </a:p>
          <a:p>
            <a:pPr marL="1714500">
              <a:lnSpc>
                <a:spcPct val="100000"/>
              </a:lnSpc>
            </a:pPr>
            <a:r>
              <a:rPr dirty="0" sz="2100">
                <a:latin typeface="Arial MT"/>
                <a:cs typeface="Arial MT"/>
              </a:rPr>
              <a:t>Hay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excepción!!!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8598" y="745550"/>
            <a:ext cx="2609050" cy="42492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011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z="1900" spc="10"/>
              <a:t>Timer</a:t>
            </a:r>
            <a:r>
              <a:rPr dirty="0" sz="1900" spc="-25"/>
              <a:t> </a:t>
            </a:r>
            <a:r>
              <a:rPr dirty="0" sz="1900" spc="10"/>
              <a:t>Interrupts</a:t>
            </a:r>
            <a:r>
              <a:rPr dirty="0" sz="1900" spc="30"/>
              <a:t> </a:t>
            </a:r>
            <a:r>
              <a:rPr dirty="0" sz="1900" spc="10"/>
              <a:t>(Interrupciones</a:t>
            </a:r>
            <a:r>
              <a:rPr dirty="0" sz="1900" spc="30"/>
              <a:t> </a:t>
            </a:r>
            <a:r>
              <a:rPr dirty="0" sz="1900" spc="50"/>
              <a:t>por</a:t>
            </a:r>
            <a:r>
              <a:rPr dirty="0" sz="1900" spc="-20"/>
              <a:t> </a:t>
            </a:r>
            <a:r>
              <a:rPr dirty="0" sz="1900" spc="-10"/>
              <a:t>temporizador)</a:t>
            </a:r>
            <a:endParaRPr sz="1900"/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577333"/>
            <a:ext cx="6197600" cy="2538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6545">
              <a:lnSpc>
                <a:spcPct val="114999"/>
              </a:lnSpc>
              <a:spcBef>
                <a:spcPts val="100"/>
              </a:spcBef>
            </a:pP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¿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Cómo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volver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proceso tiene?</a:t>
            </a:r>
            <a:endParaRPr sz="1800">
              <a:latin typeface="Tahoma"/>
              <a:cs typeface="Tahoma"/>
            </a:endParaRPr>
          </a:p>
          <a:p>
            <a:pPr marL="12700" marR="107314">
              <a:lnSpc>
                <a:spcPct val="114999"/>
              </a:lnSpc>
              <a:spcBef>
                <a:spcPts val="12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Casi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procesadores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contienen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llamado </a:t>
            </a:r>
            <a:r>
              <a:rPr dirty="0" sz="1800" spc="-110" b="1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r>
              <a:rPr dirty="0" sz="1800" spc="-114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interrumpe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determinado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hardware.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dispara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transfiere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processo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8750" y="2164800"/>
            <a:ext cx="2089249" cy="208924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90"/>
              </a:spcBef>
            </a:pPr>
            <a:r>
              <a:rPr dirty="0" sz="1850"/>
              <a:t>Timer</a:t>
            </a:r>
            <a:r>
              <a:rPr dirty="0" sz="1850" spc="-120"/>
              <a:t> </a:t>
            </a:r>
            <a:r>
              <a:rPr dirty="0" sz="1850"/>
              <a:t>Interrupts</a:t>
            </a:r>
            <a:r>
              <a:rPr dirty="0" sz="1850" spc="-75"/>
              <a:t> </a:t>
            </a:r>
            <a:r>
              <a:rPr dirty="0" sz="1850"/>
              <a:t>(Interrupciones</a:t>
            </a:r>
            <a:r>
              <a:rPr dirty="0" sz="1850" spc="-75"/>
              <a:t> </a:t>
            </a:r>
            <a:r>
              <a:rPr dirty="0" sz="1850"/>
              <a:t>por</a:t>
            </a:r>
            <a:r>
              <a:rPr dirty="0" sz="1850" spc="-114"/>
              <a:t> </a:t>
            </a:r>
            <a:r>
              <a:rPr dirty="0" sz="1850" spc="-10"/>
              <a:t>temporizador)</a:t>
            </a:r>
            <a:endParaRPr sz="1850"/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5296"/>
            <a:ext cx="820419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Veamoslo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!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2475" y="2854031"/>
            <a:ext cx="2446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sudo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cat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/proc/timer_list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6850" y="2078875"/>
            <a:ext cx="2089249" cy="205582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52685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10">
                <a:solidFill>
                  <a:srgbClr val="FFFFFF"/>
                </a:solidFill>
              </a:rPr>
              <a:t>Modos</a:t>
            </a:r>
            <a:r>
              <a:rPr dirty="0" sz="3600" spc="-220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320">
                <a:solidFill>
                  <a:srgbClr val="FFFFFF"/>
                </a:solidFill>
              </a:rPr>
              <a:t> </a:t>
            </a:r>
            <a:r>
              <a:rPr dirty="0" sz="3600" spc="-10">
                <a:solidFill>
                  <a:srgbClr val="FFFFFF"/>
                </a:solidFill>
              </a:rPr>
              <a:t>Transferencia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3561079" cy="9220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ts val="2280"/>
              </a:lnSpc>
              <a:buSzPct val="94736"/>
              <a:buFont typeface="Arial MT"/>
              <a:buChar char="●"/>
              <a:tabLst>
                <a:tab pos="469265" algn="l"/>
              </a:tabLst>
            </a:pPr>
            <a:r>
              <a:rPr dirty="0" sz="1900">
                <a:solidFill>
                  <a:srgbClr val="FFFFFF"/>
                </a:solidFill>
                <a:latin typeface="Tahoma"/>
                <a:cs typeface="Tahoma"/>
              </a:rPr>
              <a:t>Interrupciones</a:t>
            </a:r>
            <a:r>
              <a:rPr dirty="0" sz="19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9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Tahoma"/>
                <a:cs typeface="Tahoma"/>
              </a:rPr>
              <a:t>Excepciones</a:t>
            </a:r>
            <a:endParaRPr sz="19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40"/>
              </a:spcBef>
              <a:buSzPct val="94736"/>
              <a:buFont typeface="Arial MT"/>
              <a:buChar char="●"/>
              <a:tabLst>
                <a:tab pos="469265" algn="l"/>
              </a:tabLst>
            </a:pPr>
            <a:r>
              <a:rPr dirty="0" sz="1900" spc="-2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dirty="0" sz="19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Tahoma"/>
                <a:cs typeface="Tahoma"/>
              </a:rPr>
              <a:t>Calls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85"/>
              <a:t> </a:t>
            </a:r>
            <a:r>
              <a:rPr dirty="0" spc="-10"/>
              <a:t>Transferencia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47413"/>
            <a:ext cx="3124200" cy="2023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pone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entorno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aislado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65">
                <a:solidFill>
                  <a:srgbClr val="595959"/>
                </a:solidFill>
                <a:latin typeface="Tahoma"/>
                <a:cs typeface="Tahoma"/>
              </a:rPr>
              <a:t>(sandbox),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próxima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pregunta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85">
                <a:solidFill>
                  <a:srgbClr val="595959"/>
                </a:solidFill>
                <a:latin typeface="Tahoma"/>
                <a:cs typeface="Tahoma"/>
              </a:rPr>
              <a:t>es: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¿</a:t>
            </a:r>
            <a:r>
              <a:rPr dirty="0" sz="1900" spc="-10" b="1">
                <a:solidFill>
                  <a:srgbClr val="595959"/>
                </a:solidFill>
                <a:latin typeface="Tahoma"/>
                <a:cs typeface="Tahoma"/>
              </a:rPr>
              <a:t>cómo 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transiciona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5" b="1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900" spc="-105" b="1">
                <a:solidFill>
                  <a:srgbClr val="595959"/>
                </a:solidFill>
                <a:latin typeface="Tahoma"/>
                <a:cs typeface="Tahoma"/>
              </a:rPr>
              <a:t>modo </a:t>
            </a:r>
            <a:r>
              <a:rPr dirty="0" sz="1900" spc="-95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 b="1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?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8825" y="1649675"/>
            <a:ext cx="4762499" cy="285749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85"/>
              <a:t> </a:t>
            </a:r>
            <a:r>
              <a:rPr dirty="0" spc="-10"/>
              <a:t>Transferencia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2248"/>
            <a:ext cx="2882265" cy="1285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9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to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19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to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User</a:t>
            </a:r>
            <a:r>
              <a:rPr dirty="0" spc="-114"/>
              <a:t> </a:t>
            </a:r>
            <a:r>
              <a:rPr dirty="0" spc="160"/>
              <a:t>Mode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Kernel</a:t>
            </a:r>
            <a:r>
              <a:rPr dirty="0" spc="-120"/>
              <a:t> </a:t>
            </a:r>
            <a:r>
              <a:rPr dirty="0" spc="140"/>
              <a:t>Mode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899548"/>
            <a:ext cx="7319645" cy="2329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35" b="1">
                <a:solidFill>
                  <a:srgbClr val="595959"/>
                </a:solidFill>
                <a:latin typeface="Tahoma"/>
                <a:cs typeface="Tahoma"/>
              </a:rPr>
              <a:t>Cosas</a:t>
            </a:r>
            <a:r>
              <a:rPr dirty="0" sz="22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60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50" b="1">
                <a:solidFill>
                  <a:srgbClr val="595959"/>
                </a:solidFill>
                <a:latin typeface="Tahoma"/>
                <a:cs typeface="Tahoma"/>
              </a:rPr>
              <a:t>inducen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2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60" b="1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6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10" b="1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85" b="1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r>
              <a:rPr dirty="0" sz="22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80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2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14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2200" spc="-1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 b="1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200">
              <a:latin typeface="Tahoma"/>
              <a:cs typeface="Tahoma"/>
            </a:endParaRPr>
          </a:p>
          <a:p>
            <a:pPr marL="469265" indent="-419734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Interrupciones</a:t>
            </a:r>
            <a:r>
              <a:rPr dirty="0" sz="25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595959"/>
                </a:solidFill>
                <a:latin typeface="Tahoma"/>
                <a:cs typeface="Tahoma"/>
              </a:rPr>
              <a:t>(dispositivos</a:t>
            </a:r>
            <a:r>
              <a:rPr dirty="0" sz="25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25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5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5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595959"/>
                </a:solidFill>
                <a:latin typeface="Tahoma"/>
                <a:cs typeface="Tahoma"/>
              </a:rPr>
              <a:t>timer)</a:t>
            </a:r>
            <a:endParaRPr sz="2500">
              <a:latin typeface="Tahoma"/>
              <a:cs typeface="Tahoma"/>
            </a:endParaRPr>
          </a:p>
          <a:p>
            <a:pPr marL="469265" indent="-419734">
              <a:lnSpc>
                <a:spcPct val="100000"/>
              </a:lnSpc>
              <a:spcBef>
                <a:spcPts val="45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500" spc="-10">
                <a:solidFill>
                  <a:srgbClr val="595959"/>
                </a:solidFill>
                <a:latin typeface="Tahoma"/>
                <a:cs typeface="Tahoma"/>
              </a:rPr>
              <a:t>Excepciones</a:t>
            </a:r>
            <a:r>
              <a:rPr dirty="0" sz="25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25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endParaRPr sz="2500">
              <a:latin typeface="Tahoma"/>
              <a:cs typeface="Tahoma"/>
            </a:endParaRPr>
          </a:p>
          <a:p>
            <a:pPr marL="469265" indent="-419734">
              <a:lnSpc>
                <a:spcPct val="100000"/>
              </a:lnSpc>
              <a:spcBef>
                <a:spcPts val="45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500" spc="-2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2500" spc="-2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40">
                <a:solidFill>
                  <a:srgbClr val="595959"/>
                </a:solidFill>
                <a:latin typeface="Tahoma"/>
                <a:cs typeface="Tahoma"/>
              </a:rPr>
              <a:t>Calls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Interrupciones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979301"/>
            <a:ext cx="3285490" cy="110109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8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señal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asincrónica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hacia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procesador avisando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algún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evento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externo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requiere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atención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2625" y="1265462"/>
            <a:ext cx="4640552" cy="261257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Interrupciones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08550"/>
            <a:ext cx="7172324" cy="336232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Interrupciones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214" y="927571"/>
            <a:ext cx="4830233" cy="34899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13173" y="4603663"/>
            <a:ext cx="7880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transición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a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general,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causa un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 b="1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90" b="1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700" spc="-350" b="1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Interrupciones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450" y="1853850"/>
            <a:ext cx="4682118" cy="29848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52825" y="1918239"/>
            <a:ext cx="2672715" cy="2329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Sudo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cat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/proc/interrupts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50" spc="-75" b="1">
                <a:solidFill>
                  <a:srgbClr val="595959"/>
                </a:solidFill>
                <a:latin typeface="Tahoma"/>
                <a:cs typeface="Tahoma"/>
              </a:rPr>
              <a:t>Orden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595959"/>
                </a:solidFill>
                <a:latin typeface="Tahoma"/>
                <a:cs typeface="Tahoma"/>
              </a:rPr>
              <a:t>importancia</a:t>
            </a:r>
            <a:endParaRPr sz="1450">
              <a:latin typeface="Tahoma"/>
              <a:cs typeface="Tahoma"/>
            </a:endParaRPr>
          </a:p>
          <a:p>
            <a:pPr marL="469900" marR="434340">
              <a:lnSpc>
                <a:spcPct val="79700"/>
              </a:lnSpc>
              <a:spcBef>
                <a:spcPts val="1255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Errores</a:t>
            </a:r>
            <a:r>
              <a:rPr dirty="0" sz="14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Máquina Timers</a:t>
            </a:r>
            <a:endParaRPr sz="1450">
              <a:latin typeface="Tahoma"/>
              <a:cs typeface="Tahoma"/>
            </a:endParaRPr>
          </a:p>
          <a:p>
            <a:pPr marL="469900">
              <a:lnSpc>
                <a:spcPts val="1210"/>
              </a:lnSpc>
            </a:pP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Discos</a:t>
            </a:r>
            <a:endParaRPr sz="1450">
              <a:latin typeface="Tahoma"/>
              <a:cs typeface="Tahoma"/>
            </a:endParaRPr>
          </a:p>
          <a:p>
            <a:pPr marL="469900" marR="843915">
              <a:lnSpc>
                <a:spcPct val="79700"/>
              </a:lnSpc>
              <a:spcBef>
                <a:spcPts val="175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Network</a:t>
            </a:r>
            <a:r>
              <a:rPr dirty="0" sz="145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devices Terminales</a:t>
            </a:r>
            <a:endParaRPr sz="1450">
              <a:latin typeface="Tahoma"/>
              <a:cs typeface="Tahoma"/>
            </a:endParaRPr>
          </a:p>
          <a:p>
            <a:pPr marL="469900">
              <a:lnSpc>
                <a:spcPts val="1385"/>
              </a:lnSpc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Interrupciones</a:t>
            </a:r>
            <a:r>
              <a:rPr dirty="0" sz="145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Software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2200" y="968097"/>
            <a:ext cx="47777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20" b="1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0" b="1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0" b="1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 un </a:t>
            </a:r>
            <a:r>
              <a:rPr dirty="0" sz="1900" spc="-135" b="1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85" b="1">
                <a:solidFill>
                  <a:srgbClr val="595959"/>
                </a:solidFill>
                <a:latin typeface="Tahoma"/>
                <a:cs typeface="Tahoma"/>
              </a:rPr>
              <a:t>asociado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Interrupciones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23109" y="747226"/>
            <a:ext cx="69780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0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mantiene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5" b="1">
                <a:solidFill>
                  <a:srgbClr val="595959"/>
                </a:solidFill>
                <a:latin typeface="Tahoma"/>
                <a:cs typeface="Tahoma"/>
              </a:rPr>
              <a:t>interrupciones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handlers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 b="1">
                <a:solidFill>
                  <a:srgbClr val="595959"/>
                </a:solidFill>
                <a:latin typeface="Tahoma"/>
                <a:cs typeface="Tahoma"/>
              </a:rPr>
              <a:t>específicos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5490" y="1191675"/>
            <a:ext cx="3880868" cy="37229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Interrupciones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699" y="1004498"/>
            <a:ext cx="5727679" cy="363487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Vector</a:t>
            </a:r>
            <a:r>
              <a:rPr dirty="0" spc="-90"/>
              <a:t> </a:t>
            </a:r>
            <a:r>
              <a:rPr dirty="0" spc="114"/>
              <a:t>de</a:t>
            </a:r>
            <a:r>
              <a:rPr dirty="0" spc="-25"/>
              <a:t> </a:t>
            </a:r>
            <a:r>
              <a:rPr dirty="0" spc="-10"/>
              <a:t>Interrupciones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5525" y="599588"/>
            <a:ext cx="3491865" cy="391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imaginar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array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vive</a:t>
            </a:r>
            <a:r>
              <a:rPr dirty="0" sz="17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array</a:t>
            </a:r>
            <a:r>
              <a:rPr dirty="0" sz="1700" spc="5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5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asigna</a:t>
            </a:r>
            <a:r>
              <a:rPr dirty="0" sz="1700" spc="5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5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5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700" spc="5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interrupción.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contiene la</a:t>
            </a:r>
            <a:r>
              <a:rPr dirty="0" sz="1700" spc="2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700" spc="2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2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2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700" spc="2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2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comenzará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7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reciba</a:t>
            </a:r>
            <a:r>
              <a:rPr dirty="0" sz="1700" spc="5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700" spc="5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700" spc="5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junto</a:t>
            </a:r>
            <a:r>
              <a:rPr dirty="0" sz="1700" spc="5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algunas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opciones,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6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privilegio</a:t>
            </a:r>
            <a:r>
              <a:rPr dirty="0" sz="1700" spc="6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6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700" spc="6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700" spc="6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 función</a:t>
            </a:r>
            <a:r>
              <a:rPr dirty="0" sz="1700" spc="24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24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controlador</a:t>
            </a:r>
            <a:r>
              <a:rPr dirty="0" sz="1700" spc="24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interrupciones.</a:t>
            </a:r>
            <a:endParaRPr sz="1700">
              <a:latin typeface="Tahoma"/>
              <a:cs typeface="Tahoma"/>
            </a:endParaRPr>
          </a:p>
          <a:p>
            <a:pPr algn="just" marL="12700" marR="8890">
              <a:lnSpc>
                <a:spcPct val="100000"/>
              </a:lnSpc>
              <a:spcBef>
                <a:spcPts val="2039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Aquí</a:t>
            </a:r>
            <a:r>
              <a:rPr dirty="0" sz="1700" spc="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foto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manual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Intel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muestra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diseño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vector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x86: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8950" y="687600"/>
            <a:ext cx="5105399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Excepciones</a:t>
            </a:r>
            <a:r>
              <a:rPr dirty="0" spc="-130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60"/>
              <a:t>Procesador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7650" y="1491099"/>
            <a:ext cx="3990440" cy="29848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67900" y="1181564"/>
            <a:ext cx="3647440" cy="299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excepción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evento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causado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aplicación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causa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transferencia</a:t>
            </a:r>
            <a:r>
              <a:rPr dirty="0" sz="19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9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9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9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Kernel.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900">
              <a:latin typeface="Tahoma"/>
              <a:cs typeface="Tahoma"/>
            </a:endParaRPr>
          </a:p>
          <a:p>
            <a:pPr marL="12700" marR="290195">
              <a:lnSpc>
                <a:spcPct val="114999"/>
              </a:lnSpc>
            </a:pPr>
            <a:r>
              <a:rPr dirty="0" sz="1900" spc="-160" b="1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suele</a:t>
            </a:r>
            <a:r>
              <a:rPr dirty="0" sz="19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60" b="1">
                <a:solidFill>
                  <a:srgbClr val="595959"/>
                </a:solidFill>
                <a:latin typeface="Tahoma"/>
                <a:cs typeface="Tahoma"/>
              </a:rPr>
              <a:t>manejar</a:t>
            </a:r>
            <a:r>
              <a:rPr dirty="0" sz="19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9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 b="1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900" spc="-155" b="1">
                <a:solidFill>
                  <a:srgbClr val="595959"/>
                </a:solidFill>
                <a:latin typeface="Tahoma"/>
                <a:cs typeface="Tahoma"/>
              </a:rPr>
              <a:t>mecanismo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similar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25" b="1">
                <a:solidFill>
                  <a:srgbClr val="595959"/>
                </a:solidFill>
                <a:latin typeface="Tahoma"/>
                <a:cs typeface="Tahoma"/>
              </a:rPr>
              <a:t>(o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65" b="1">
                <a:solidFill>
                  <a:srgbClr val="595959"/>
                </a:solidFill>
                <a:latin typeface="Tahoma"/>
                <a:cs typeface="Tahoma"/>
              </a:rPr>
              <a:t>igual)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60" b="1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9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 b="1">
                <a:solidFill>
                  <a:srgbClr val="595959"/>
                </a:solidFill>
                <a:latin typeface="Tahoma"/>
                <a:cs typeface="Tahoma"/>
              </a:rPr>
              <a:t>interrupciones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Excepciones</a:t>
            </a:r>
            <a:r>
              <a:rPr dirty="0" spc="-130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60"/>
              <a:t>Procesador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67212" y="1156862"/>
            <a:ext cx="4688205" cy="3809365"/>
            <a:chOff x="4367212" y="1156862"/>
            <a:chExt cx="4688205" cy="3809365"/>
          </a:xfrm>
        </p:grpSpPr>
        <p:sp>
          <p:nvSpPr>
            <p:cNvPr id="4" name="object 4" descr=""/>
            <p:cNvSpPr/>
            <p:nvPr/>
          </p:nvSpPr>
          <p:spPr>
            <a:xfrm>
              <a:off x="4371975" y="1161625"/>
              <a:ext cx="4678680" cy="3799840"/>
            </a:xfrm>
            <a:custGeom>
              <a:avLst/>
              <a:gdLst/>
              <a:ahLst/>
              <a:cxnLst/>
              <a:rect l="l" t="t" r="r" b="b"/>
              <a:pathLst>
                <a:path w="4678680" h="3799840">
                  <a:moveTo>
                    <a:pt x="4678199" y="3799799"/>
                  </a:moveTo>
                  <a:lnTo>
                    <a:pt x="0" y="3799799"/>
                  </a:lnTo>
                  <a:lnTo>
                    <a:pt x="0" y="0"/>
                  </a:lnTo>
                  <a:lnTo>
                    <a:pt x="4678199" y="0"/>
                  </a:lnTo>
                  <a:lnTo>
                    <a:pt x="4678199" y="37997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71975" y="1161625"/>
              <a:ext cx="4678680" cy="3799840"/>
            </a:xfrm>
            <a:custGeom>
              <a:avLst/>
              <a:gdLst/>
              <a:ahLst/>
              <a:cxnLst/>
              <a:rect l="l" t="t" r="r" b="b"/>
              <a:pathLst>
                <a:path w="4678680" h="3799840">
                  <a:moveTo>
                    <a:pt x="0" y="0"/>
                  </a:moveTo>
                  <a:lnTo>
                    <a:pt x="4678199" y="0"/>
                  </a:lnTo>
                  <a:lnTo>
                    <a:pt x="4678199" y="3799799"/>
                  </a:lnTo>
                  <a:lnTo>
                    <a:pt x="0" y="3799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445000" y="1414462"/>
            <a:ext cx="4048760" cy="32791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1430020">
              <a:lnSpc>
                <a:spcPct val="102299"/>
              </a:lnSpc>
              <a:spcBef>
                <a:spcPts val="70"/>
              </a:spcBef>
            </a:pPr>
            <a:r>
              <a:rPr dirty="0" sz="1100" spc="-10">
                <a:latin typeface="Courier New"/>
                <a:cs typeface="Courier New"/>
              </a:rPr>
              <a:t>set_trap_gate(0,&amp;divide_error); set_intr_gate(1,&amp;debug); set_intr_gate(2,&amp;nmi);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02299"/>
              </a:lnSpc>
            </a:pPr>
            <a:r>
              <a:rPr dirty="0" sz="1100" spc="-10">
                <a:latin typeface="Courier New"/>
                <a:cs typeface="Courier New"/>
              </a:rPr>
              <a:t>set_system_intr_gate(3,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&amp;int3);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/*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int3/4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can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be </a:t>
            </a:r>
            <a:r>
              <a:rPr dirty="0" sz="1100">
                <a:latin typeface="Courier New"/>
                <a:cs typeface="Courier New"/>
              </a:rPr>
              <a:t>called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from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all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*/</a:t>
            </a:r>
            <a:endParaRPr sz="1100">
              <a:latin typeface="Courier New"/>
              <a:cs typeface="Courier New"/>
            </a:endParaRPr>
          </a:p>
          <a:p>
            <a:pPr marL="12700" marR="172720">
              <a:lnSpc>
                <a:spcPct val="102299"/>
              </a:lnSpc>
            </a:pPr>
            <a:r>
              <a:rPr dirty="0" sz="1100" spc="-10">
                <a:latin typeface="Courier New"/>
                <a:cs typeface="Courier New"/>
              </a:rPr>
              <a:t>set_system_gate(4,&amp;overflow); set_trap_gate(5,&amp;bounds); set_trap_gate(6,&amp;invalid_op); set_trap_gate(7,&amp;device_not_available); set_task_gate(8,GDT_ENTRY_DOUBLEFAULT_TSS); set_trap_gate(9,&amp;coprocessor_segment_overrun); set_trap_gate(10,&amp;invalid_TSS); set_trap_gate(11,&amp;segment_not_present); set_trap_gate(12,&amp;stack_segment); set_trap_gate(13,&amp;general_protection); set_intr_gate(14,&amp;page_fault); set_trap_gate(15,&amp;spurious_interrupt_bug); set_trap_gate(16,&amp;coprocessor_error); set_trap_gate(17,&amp;alignment_check);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Una</a:t>
            </a:r>
            <a:r>
              <a:rPr dirty="0" spc="-200"/>
              <a:t> </a:t>
            </a:r>
            <a:r>
              <a:rPr dirty="0" spc="-10"/>
              <a:t>excepción</a:t>
            </a:r>
            <a:r>
              <a:rPr dirty="0" spc="-195"/>
              <a:t> </a:t>
            </a:r>
            <a:r>
              <a:rPr dirty="0" spc="-25"/>
              <a:t>es</a:t>
            </a:r>
            <a:r>
              <a:rPr dirty="0" spc="-195"/>
              <a:t> </a:t>
            </a:r>
            <a:r>
              <a:rPr dirty="0" spc="-20"/>
              <a:t>un</a:t>
            </a:r>
            <a:r>
              <a:rPr dirty="0" spc="-195"/>
              <a:t> </a:t>
            </a:r>
            <a:r>
              <a:rPr dirty="0"/>
              <a:t>evento</a:t>
            </a:r>
            <a:r>
              <a:rPr dirty="0" spc="-195"/>
              <a:t> </a:t>
            </a:r>
            <a:r>
              <a:rPr dirty="0" spc="-25"/>
              <a:t>de </a:t>
            </a:r>
            <a:r>
              <a:rPr dirty="0"/>
              <a:t>hardware</a:t>
            </a:r>
            <a:r>
              <a:rPr dirty="0" spc="-180"/>
              <a:t> </a:t>
            </a:r>
            <a:r>
              <a:rPr dirty="0" spc="-10"/>
              <a:t>causado</a:t>
            </a:r>
            <a:r>
              <a:rPr dirty="0" spc="-175"/>
              <a:t> </a:t>
            </a:r>
            <a:r>
              <a:rPr dirty="0"/>
              <a:t>por</a:t>
            </a:r>
            <a:r>
              <a:rPr dirty="0" spc="-175"/>
              <a:t> </a:t>
            </a:r>
            <a:r>
              <a:rPr dirty="0" spc="-25"/>
              <a:t>una </a:t>
            </a:r>
            <a:r>
              <a:rPr dirty="0"/>
              <a:t>aplicación</a:t>
            </a:r>
            <a:r>
              <a:rPr dirty="0" spc="-200"/>
              <a:t> </a:t>
            </a:r>
            <a:r>
              <a:rPr dirty="0"/>
              <a:t>de</a:t>
            </a:r>
            <a:r>
              <a:rPr dirty="0" spc="-195"/>
              <a:t> </a:t>
            </a:r>
            <a:r>
              <a:rPr dirty="0"/>
              <a:t>usuario</a:t>
            </a:r>
            <a:r>
              <a:rPr dirty="0" spc="-195"/>
              <a:t> </a:t>
            </a:r>
            <a:r>
              <a:rPr dirty="0"/>
              <a:t>que</a:t>
            </a:r>
            <a:r>
              <a:rPr dirty="0" spc="-195"/>
              <a:t> </a:t>
            </a:r>
            <a:r>
              <a:rPr dirty="0" spc="-25"/>
              <a:t>causa</a:t>
            </a:r>
            <a:r>
              <a:rPr dirty="0" spc="-195"/>
              <a:t> </a:t>
            </a:r>
            <a:r>
              <a:rPr dirty="0" spc="-25"/>
              <a:t>la </a:t>
            </a:r>
            <a:r>
              <a:rPr dirty="0"/>
              <a:t>transferencia</a:t>
            </a:r>
            <a:r>
              <a:rPr dirty="0" spc="-135"/>
              <a:t> </a:t>
            </a:r>
            <a:r>
              <a:rPr dirty="0"/>
              <a:t>del</a:t>
            </a:r>
            <a:r>
              <a:rPr dirty="0" spc="-135"/>
              <a:t> </a:t>
            </a:r>
            <a:r>
              <a:rPr dirty="0"/>
              <a:t>control</a:t>
            </a:r>
            <a:r>
              <a:rPr dirty="0" spc="-135"/>
              <a:t> </a:t>
            </a:r>
            <a:r>
              <a:rPr dirty="0"/>
              <a:t>al</a:t>
            </a:r>
            <a:r>
              <a:rPr dirty="0" spc="-130"/>
              <a:t> </a:t>
            </a:r>
            <a:r>
              <a:rPr dirty="0" spc="-10"/>
              <a:t>Kernel.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34"/>
              </a:spcBef>
            </a:pPr>
          </a:p>
          <a:p>
            <a:pPr marL="12700" marR="290195">
              <a:lnSpc>
                <a:spcPct val="114999"/>
              </a:lnSpc>
            </a:pPr>
            <a:r>
              <a:rPr dirty="0" spc="-160" b="1">
                <a:latin typeface="Tahoma"/>
                <a:cs typeface="Tahoma"/>
              </a:rPr>
              <a:t>Se</a:t>
            </a:r>
            <a:r>
              <a:rPr dirty="0" spc="-165" b="1">
                <a:latin typeface="Tahoma"/>
                <a:cs typeface="Tahoma"/>
              </a:rPr>
              <a:t> </a:t>
            </a:r>
            <a:r>
              <a:rPr dirty="0" spc="-130" b="1">
                <a:latin typeface="Tahoma"/>
                <a:cs typeface="Tahoma"/>
              </a:rPr>
              <a:t>suele</a:t>
            </a:r>
            <a:r>
              <a:rPr dirty="0" spc="-165" b="1">
                <a:latin typeface="Tahoma"/>
                <a:cs typeface="Tahoma"/>
              </a:rPr>
              <a:t> </a:t>
            </a:r>
            <a:r>
              <a:rPr dirty="0" spc="-160" b="1">
                <a:latin typeface="Tahoma"/>
                <a:cs typeface="Tahoma"/>
              </a:rPr>
              <a:t>manejar</a:t>
            </a:r>
            <a:r>
              <a:rPr dirty="0" spc="-165" b="1">
                <a:latin typeface="Tahoma"/>
                <a:cs typeface="Tahoma"/>
              </a:rPr>
              <a:t> </a:t>
            </a:r>
            <a:r>
              <a:rPr dirty="0" spc="-125" b="1">
                <a:latin typeface="Tahoma"/>
                <a:cs typeface="Tahoma"/>
              </a:rPr>
              <a:t>con</a:t>
            </a:r>
            <a:r>
              <a:rPr dirty="0" spc="-160" b="1">
                <a:latin typeface="Tahoma"/>
                <a:cs typeface="Tahoma"/>
              </a:rPr>
              <a:t> </a:t>
            </a:r>
            <a:r>
              <a:rPr dirty="0" spc="-25" b="1">
                <a:latin typeface="Tahoma"/>
                <a:cs typeface="Tahoma"/>
              </a:rPr>
              <a:t>un </a:t>
            </a:r>
            <a:r>
              <a:rPr dirty="0" spc="-155" b="1">
                <a:latin typeface="Tahoma"/>
                <a:cs typeface="Tahoma"/>
              </a:rPr>
              <a:t>mecanismo</a:t>
            </a:r>
            <a:r>
              <a:rPr dirty="0" spc="-150" b="1">
                <a:latin typeface="Tahoma"/>
                <a:cs typeface="Tahoma"/>
              </a:rPr>
              <a:t> </a:t>
            </a:r>
            <a:r>
              <a:rPr dirty="0" spc="-125" b="1">
                <a:latin typeface="Tahoma"/>
                <a:cs typeface="Tahoma"/>
              </a:rPr>
              <a:t>similar</a:t>
            </a:r>
            <a:r>
              <a:rPr dirty="0" spc="-150" b="1">
                <a:latin typeface="Tahoma"/>
                <a:cs typeface="Tahoma"/>
              </a:rPr>
              <a:t> </a:t>
            </a:r>
            <a:r>
              <a:rPr dirty="0" spc="-225" b="1">
                <a:latin typeface="Tahoma"/>
                <a:cs typeface="Tahoma"/>
              </a:rPr>
              <a:t>(o</a:t>
            </a:r>
            <a:r>
              <a:rPr dirty="0" spc="-150" b="1">
                <a:latin typeface="Tahoma"/>
                <a:cs typeface="Tahoma"/>
              </a:rPr>
              <a:t> </a:t>
            </a:r>
            <a:r>
              <a:rPr dirty="0" spc="-165" b="1">
                <a:latin typeface="Tahoma"/>
                <a:cs typeface="Tahoma"/>
              </a:rPr>
              <a:t>igual)</a:t>
            </a:r>
            <a:r>
              <a:rPr dirty="0" spc="-145" b="1">
                <a:latin typeface="Tahoma"/>
                <a:cs typeface="Tahoma"/>
              </a:rPr>
              <a:t> </a:t>
            </a:r>
            <a:r>
              <a:rPr dirty="0" spc="-60" b="1">
                <a:latin typeface="Tahoma"/>
                <a:cs typeface="Tahoma"/>
              </a:rPr>
              <a:t>que </a:t>
            </a:r>
            <a:r>
              <a:rPr dirty="0" spc="-125" b="1">
                <a:latin typeface="Tahoma"/>
                <a:cs typeface="Tahoma"/>
              </a:rPr>
              <a:t>las</a:t>
            </a:r>
            <a:r>
              <a:rPr dirty="0" spc="-165" b="1">
                <a:latin typeface="Tahoma"/>
                <a:cs typeface="Tahoma"/>
              </a:rPr>
              <a:t> </a:t>
            </a:r>
            <a:r>
              <a:rPr dirty="0" spc="-35" b="1">
                <a:latin typeface="Tahoma"/>
                <a:cs typeface="Tahoma"/>
              </a:rPr>
              <a:t>interrupciones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0825" y="661758"/>
            <a:ext cx="4224655" cy="2282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</a:pP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transición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hecha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voluntariamente.</a:t>
            </a:r>
            <a:endParaRPr sz="1600">
              <a:latin typeface="Tahoma"/>
              <a:cs typeface="Tahoma"/>
            </a:endParaRPr>
          </a:p>
          <a:p>
            <a:pPr algn="just" marL="12700" marR="396875">
              <a:lnSpc>
                <a:spcPct val="106100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6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6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servicio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provisto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user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level.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Básicamente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función.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6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600" spc="60">
                <a:solidFill>
                  <a:srgbClr val="595959"/>
                </a:solidFill>
                <a:latin typeface="Tahoma"/>
                <a:cs typeface="Tahoma"/>
              </a:rPr>
              <a:t>$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1600" spc="-2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man</a:t>
            </a:r>
            <a:r>
              <a:rPr dirty="0" u="heavy" sz="1600" spc="-18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heavy" sz="1600" spc="6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2</a:t>
            </a:r>
            <a:r>
              <a:rPr dirty="0" u="heavy" sz="1600" spc="-18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heavy" sz="1600" spc="-1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syscalls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826450"/>
            <a:ext cx="4463150" cy="335452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8450" y="934175"/>
            <a:ext cx="4575900" cy="394152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60833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95"/>
              </a:spcBef>
            </a:pPr>
            <a:r>
              <a:rPr dirty="0" sz="2000" spc="-150" b="1">
                <a:latin typeface="Tahoma"/>
                <a:cs typeface="Tahoma"/>
              </a:rPr>
              <a:t>¿Como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20" b="1">
                <a:latin typeface="Tahoma"/>
                <a:cs typeface="Tahoma"/>
              </a:rPr>
              <a:t>inducimos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50" b="1">
                <a:latin typeface="Tahoma"/>
                <a:cs typeface="Tahoma"/>
              </a:rPr>
              <a:t>una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14" b="1">
                <a:latin typeface="Tahoma"/>
                <a:cs typeface="Tahoma"/>
              </a:rPr>
              <a:t>transición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50" b="1">
                <a:latin typeface="Tahoma"/>
                <a:cs typeface="Tahoma"/>
              </a:rPr>
              <a:t>a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50" b="1">
                <a:latin typeface="Tahoma"/>
                <a:cs typeface="Tahoma"/>
              </a:rPr>
              <a:t>una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10" b="1">
                <a:latin typeface="Tahoma"/>
                <a:cs typeface="Tahoma"/>
              </a:rPr>
              <a:t>función</a:t>
            </a:r>
            <a:r>
              <a:rPr dirty="0" sz="2000" spc="-155" b="1">
                <a:latin typeface="Tahoma"/>
                <a:cs typeface="Tahoma"/>
              </a:rPr>
              <a:t> (system </a:t>
            </a:r>
            <a:r>
              <a:rPr dirty="0" sz="2000" spc="-150" b="1">
                <a:latin typeface="Tahoma"/>
                <a:cs typeface="Tahoma"/>
              </a:rPr>
              <a:t>call),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00" b="1">
                <a:latin typeface="Tahoma"/>
                <a:cs typeface="Tahoma"/>
              </a:rPr>
              <a:t>pasando </a:t>
            </a:r>
            <a:r>
              <a:rPr dirty="0" sz="2000" spc="-125" b="1">
                <a:latin typeface="Tahoma"/>
                <a:cs typeface="Tahoma"/>
              </a:rPr>
              <a:t>de</a:t>
            </a:r>
            <a:r>
              <a:rPr dirty="0" sz="2000" spc="-185" b="1">
                <a:latin typeface="Tahoma"/>
                <a:cs typeface="Tahoma"/>
              </a:rPr>
              <a:t> </a:t>
            </a:r>
            <a:r>
              <a:rPr dirty="0" sz="2000" spc="-140" b="1">
                <a:latin typeface="Tahoma"/>
                <a:cs typeface="Tahoma"/>
              </a:rPr>
              <a:t>modo</a:t>
            </a:r>
            <a:r>
              <a:rPr dirty="0" sz="2000" spc="-175" b="1">
                <a:latin typeface="Tahoma"/>
                <a:cs typeface="Tahoma"/>
              </a:rPr>
              <a:t> </a:t>
            </a:r>
            <a:r>
              <a:rPr dirty="0" sz="2000" spc="-100" b="1">
                <a:latin typeface="Tahoma"/>
                <a:cs typeface="Tahoma"/>
              </a:rPr>
              <a:t>Usuario</a:t>
            </a:r>
            <a:r>
              <a:rPr dirty="0" sz="2000" spc="-170" b="1">
                <a:latin typeface="Tahoma"/>
                <a:cs typeface="Tahoma"/>
              </a:rPr>
              <a:t> </a:t>
            </a:r>
            <a:r>
              <a:rPr dirty="0" sz="2000" spc="-150" b="1">
                <a:latin typeface="Tahoma"/>
                <a:cs typeface="Tahoma"/>
              </a:rPr>
              <a:t>a</a:t>
            </a:r>
            <a:r>
              <a:rPr dirty="0" sz="2000" spc="-175" b="1">
                <a:latin typeface="Tahoma"/>
                <a:cs typeface="Tahoma"/>
              </a:rPr>
              <a:t> </a:t>
            </a:r>
            <a:r>
              <a:rPr dirty="0" sz="2000" spc="-140" b="1">
                <a:latin typeface="Tahoma"/>
                <a:cs typeface="Tahoma"/>
              </a:rPr>
              <a:t>modo</a:t>
            </a:r>
            <a:r>
              <a:rPr dirty="0" sz="2000" spc="-170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Kernel?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2000">
              <a:latin typeface="Tahoma"/>
              <a:cs typeface="Tahoma"/>
            </a:endParaRPr>
          </a:p>
          <a:p>
            <a:pPr marL="12700" marR="3609340">
              <a:lnSpc>
                <a:spcPct val="105900"/>
              </a:lnSpc>
            </a:pPr>
            <a:r>
              <a:rPr dirty="0" sz="2000"/>
              <a:t>Es</a:t>
            </a:r>
            <a:r>
              <a:rPr dirty="0" sz="2000" spc="-200"/>
              <a:t> </a:t>
            </a:r>
            <a:r>
              <a:rPr dirty="0" sz="2000"/>
              <a:t>lo</a:t>
            </a:r>
            <a:r>
              <a:rPr dirty="0" sz="2000" spc="-200"/>
              <a:t> </a:t>
            </a:r>
            <a:r>
              <a:rPr dirty="0" sz="2000"/>
              <a:t>mismo</a:t>
            </a:r>
            <a:r>
              <a:rPr dirty="0" sz="2000" spc="-200"/>
              <a:t> </a:t>
            </a:r>
            <a:r>
              <a:rPr dirty="0" sz="2000"/>
              <a:t>que</a:t>
            </a:r>
            <a:r>
              <a:rPr dirty="0" sz="2000" spc="-200"/>
              <a:t> </a:t>
            </a:r>
            <a:r>
              <a:rPr dirty="0" sz="2000"/>
              <a:t>induce</a:t>
            </a:r>
            <a:r>
              <a:rPr dirty="0" sz="2000" spc="-200"/>
              <a:t> </a:t>
            </a:r>
            <a:r>
              <a:rPr dirty="0" sz="2000"/>
              <a:t>un</a:t>
            </a:r>
            <a:r>
              <a:rPr dirty="0" sz="2000" spc="-195"/>
              <a:t> </a:t>
            </a:r>
            <a:r>
              <a:rPr dirty="0" sz="2000" spc="-10"/>
              <a:t>dispositivo </a:t>
            </a:r>
            <a:r>
              <a:rPr dirty="0" sz="2000"/>
              <a:t>de</a:t>
            </a:r>
            <a:r>
              <a:rPr dirty="0" sz="2000" spc="-160"/>
              <a:t> </a:t>
            </a:r>
            <a:r>
              <a:rPr dirty="0" sz="2000" spc="-10"/>
              <a:t>I/O</a:t>
            </a:r>
            <a:r>
              <a:rPr dirty="0" sz="2000" spc="-160"/>
              <a:t> </a:t>
            </a:r>
            <a:r>
              <a:rPr dirty="0" sz="2000"/>
              <a:t>al</a:t>
            </a:r>
            <a:r>
              <a:rPr dirty="0" sz="2000" spc="-160"/>
              <a:t> </a:t>
            </a:r>
            <a:r>
              <a:rPr dirty="0" sz="2000"/>
              <a:t>solicitar</a:t>
            </a:r>
            <a:r>
              <a:rPr dirty="0" sz="2000" spc="-155"/>
              <a:t> </a:t>
            </a:r>
            <a:r>
              <a:rPr dirty="0" sz="2000" spc="-20"/>
              <a:t>una</a:t>
            </a:r>
            <a:r>
              <a:rPr dirty="0" sz="2000" spc="-160"/>
              <a:t> </a:t>
            </a:r>
            <a:r>
              <a:rPr dirty="0" sz="2000" spc="-10"/>
              <a:t>interrupción.</a:t>
            </a:r>
            <a:endParaRPr sz="2000"/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000"/>
          </a:p>
          <a:p>
            <a:pPr marL="12700" marR="3368675">
              <a:lnSpc>
                <a:spcPct val="105900"/>
              </a:lnSpc>
            </a:pPr>
            <a:r>
              <a:rPr dirty="0" sz="2000" spc="-125" b="1">
                <a:latin typeface="Tahoma"/>
                <a:cs typeface="Tahoma"/>
              </a:rPr>
              <a:t>Usemos</a:t>
            </a:r>
            <a:r>
              <a:rPr dirty="0" sz="2000" spc="-165" b="1">
                <a:latin typeface="Tahoma"/>
                <a:cs typeface="Tahoma"/>
              </a:rPr>
              <a:t> </a:t>
            </a:r>
            <a:r>
              <a:rPr dirty="0" sz="2000" spc="-95" b="1">
                <a:latin typeface="Tahoma"/>
                <a:cs typeface="Tahoma"/>
              </a:rPr>
              <a:t>el</a:t>
            </a:r>
            <a:r>
              <a:rPr dirty="0" sz="2000" spc="-165" b="1">
                <a:latin typeface="Tahoma"/>
                <a:cs typeface="Tahoma"/>
              </a:rPr>
              <a:t> </a:t>
            </a:r>
            <a:r>
              <a:rPr dirty="0" sz="2000" spc="-150" b="1">
                <a:latin typeface="Tahoma"/>
                <a:cs typeface="Tahoma"/>
              </a:rPr>
              <a:t>mecanismo</a:t>
            </a:r>
            <a:r>
              <a:rPr dirty="0" sz="2000" spc="-165" b="1">
                <a:latin typeface="Tahoma"/>
                <a:cs typeface="Tahoma"/>
              </a:rPr>
              <a:t> </a:t>
            </a:r>
            <a:r>
              <a:rPr dirty="0" sz="2000" spc="-25" b="1">
                <a:latin typeface="Tahoma"/>
                <a:cs typeface="Tahoma"/>
              </a:rPr>
              <a:t>de </a:t>
            </a:r>
            <a:r>
              <a:rPr dirty="0" sz="2000" spc="-135" b="1">
                <a:latin typeface="Tahoma"/>
                <a:cs typeface="Tahoma"/>
              </a:rPr>
              <a:t>interrupciones/excepciones/traps</a:t>
            </a:r>
            <a:r>
              <a:rPr dirty="0" sz="2000" spc="15" b="1">
                <a:latin typeface="Tahoma"/>
                <a:cs typeface="Tahoma"/>
              </a:rPr>
              <a:t> </a:t>
            </a:r>
            <a:r>
              <a:rPr dirty="0" sz="2000" spc="-105" b="1">
                <a:latin typeface="Tahoma"/>
                <a:cs typeface="Tahoma"/>
              </a:rPr>
              <a:t>para </a:t>
            </a:r>
            <a:r>
              <a:rPr dirty="0" sz="2000" spc="-125" b="1">
                <a:latin typeface="Tahoma"/>
                <a:cs typeface="Tahoma"/>
              </a:rPr>
              <a:t>ejecutar</a:t>
            </a:r>
            <a:r>
              <a:rPr dirty="0" sz="2000" spc="-160" b="1">
                <a:latin typeface="Tahoma"/>
                <a:cs typeface="Tahoma"/>
              </a:rPr>
              <a:t> </a:t>
            </a:r>
            <a:r>
              <a:rPr dirty="0" sz="2000" spc="-150" b="1">
                <a:latin typeface="Tahoma"/>
                <a:cs typeface="Tahoma"/>
              </a:rPr>
              <a:t>una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40" b="1">
                <a:latin typeface="Tahoma"/>
                <a:cs typeface="Tahoma"/>
              </a:rPr>
              <a:t>system</a:t>
            </a:r>
            <a:r>
              <a:rPr dirty="0" sz="2000" spc="-15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call!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0450" y="1576899"/>
            <a:ext cx="2988025" cy="276785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01" y="1104876"/>
            <a:ext cx="8424522" cy="37102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7175" y="641489"/>
            <a:ext cx="622046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5" b="1">
                <a:solidFill>
                  <a:srgbClr val="595959"/>
                </a:solidFill>
                <a:latin typeface="Tahoma"/>
                <a:cs typeface="Tahoma"/>
              </a:rPr>
              <a:t>SYSCALL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 b="1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INT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80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generan 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5" b="1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software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49680"/>
            <a:ext cx="7629525" cy="277431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86995">
              <a:lnSpc>
                <a:spcPts val="1960"/>
              </a:lnSpc>
              <a:spcBef>
                <a:spcPts val="25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punto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vista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llamar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menos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invocar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C.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supuesto,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detrás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bambalinas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muchas cosas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suceden:</a:t>
            </a:r>
            <a:endParaRPr sz="1700">
              <a:latin typeface="Tahoma"/>
              <a:cs typeface="Tahoma"/>
            </a:endParaRPr>
          </a:p>
          <a:p>
            <a:pPr marL="12700" marR="123189" indent="457200">
              <a:lnSpc>
                <a:spcPts val="1960"/>
              </a:lnSpc>
              <a:spcBef>
                <a:spcPts val="195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llamado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invocación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wrapper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(envoltorio)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biblioteca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C.</a:t>
            </a:r>
            <a:endParaRPr sz="1700">
              <a:latin typeface="Tahoma"/>
              <a:cs typeface="Tahoma"/>
            </a:endParaRPr>
          </a:p>
          <a:p>
            <a:pPr marL="12700" marR="5080" indent="457200">
              <a:lnSpc>
                <a:spcPts val="1960"/>
              </a:lnSpc>
              <a:spcBef>
                <a:spcPts val="1955"/>
              </a:spcBef>
            </a:pP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Dicha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wrapper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proporcionar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argumentos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trap_handling.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argumentos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pasados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wrapper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stack,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peeero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espera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determinados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registros.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wrapper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copia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registros.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0084" rIns="0" bIns="0" rtlCol="0" vert="horz">
            <a:spAutoFit/>
          </a:bodyPr>
          <a:lstStyle/>
          <a:p>
            <a:pPr marL="19050" marR="71120">
              <a:lnSpc>
                <a:spcPts val="1839"/>
              </a:lnSpc>
              <a:spcBef>
                <a:spcPts val="245"/>
              </a:spcBef>
            </a:pPr>
            <a:r>
              <a:rPr dirty="0"/>
              <a:t>Dado</a:t>
            </a:r>
            <a:r>
              <a:rPr dirty="0" spc="-130"/>
              <a:t> </a:t>
            </a:r>
            <a:r>
              <a:rPr dirty="0"/>
              <a:t>que</a:t>
            </a:r>
            <a:r>
              <a:rPr dirty="0" spc="-130"/>
              <a:t> </a:t>
            </a:r>
            <a:r>
              <a:rPr dirty="0"/>
              <a:t>todas</a:t>
            </a:r>
            <a:r>
              <a:rPr dirty="0" spc="-125"/>
              <a:t> </a:t>
            </a:r>
            <a:r>
              <a:rPr dirty="0"/>
              <a:t>las</a:t>
            </a:r>
            <a:r>
              <a:rPr dirty="0" spc="-130"/>
              <a:t> </a:t>
            </a:r>
            <a:r>
              <a:rPr dirty="0"/>
              <a:t>system</a:t>
            </a:r>
            <a:r>
              <a:rPr dirty="0" spc="-125"/>
              <a:t> </a:t>
            </a:r>
            <a:r>
              <a:rPr dirty="0"/>
              <a:t>calls</a:t>
            </a:r>
            <a:r>
              <a:rPr dirty="0" spc="-130"/>
              <a:t> </a:t>
            </a:r>
            <a:r>
              <a:rPr dirty="0"/>
              <a:t>son</a:t>
            </a:r>
            <a:r>
              <a:rPr dirty="0" spc="-125"/>
              <a:t> </a:t>
            </a:r>
            <a:r>
              <a:rPr dirty="0"/>
              <a:t>accedidas</a:t>
            </a:r>
            <a:r>
              <a:rPr dirty="0" spc="-130"/>
              <a:t> </a:t>
            </a:r>
            <a:r>
              <a:rPr dirty="0"/>
              <a:t>de</a:t>
            </a:r>
            <a:r>
              <a:rPr dirty="0" spc="-125"/>
              <a:t> </a:t>
            </a:r>
            <a:r>
              <a:rPr dirty="0"/>
              <a:t>la</a:t>
            </a:r>
            <a:r>
              <a:rPr dirty="0" spc="-130"/>
              <a:t> </a:t>
            </a:r>
            <a:r>
              <a:rPr dirty="0" spc="-10"/>
              <a:t>misma</a:t>
            </a:r>
            <a:r>
              <a:rPr dirty="0" spc="-130"/>
              <a:t> </a:t>
            </a:r>
            <a:r>
              <a:rPr dirty="0" spc="-25"/>
              <a:t>forma,</a:t>
            </a:r>
            <a:r>
              <a:rPr dirty="0" spc="-125"/>
              <a:t> </a:t>
            </a:r>
            <a:r>
              <a:rPr dirty="0"/>
              <a:t>el</a:t>
            </a:r>
            <a:r>
              <a:rPr dirty="0" spc="-130"/>
              <a:t> </a:t>
            </a:r>
            <a:r>
              <a:rPr dirty="0"/>
              <a:t>kernel</a:t>
            </a:r>
            <a:r>
              <a:rPr dirty="0" spc="-125"/>
              <a:t> </a:t>
            </a:r>
            <a:r>
              <a:rPr dirty="0"/>
              <a:t>tiene</a:t>
            </a:r>
            <a:r>
              <a:rPr dirty="0" spc="-130"/>
              <a:t> </a:t>
            </a:r>
            <a:r>
              <a:rPr dirty="0" spc="-25"/>
              <a:t>que </a:t>
            </a:r>
            <a:r>
              <a:rPr dirty="0"/>
              <a:t>saber</a:t>
            </a:r>
            <a:r>
              <a:rPr dirty="0" spc="-105"/>
              <a:t> </a:t>
            </a:r>
            <a:r>
              <a:rPr dirty="0"/>
              <a:t>identificarlas</a:t>
            </a:r>
            <a:r>
              <a:rPr dirty="0" spc="-100"/>
              <a:t> </a:t>
            </a:r>
            <a:r>
              <a:rPr dirty="0"/>
              <a:t>de</a:t>
            </a:r>
            <a:r>
              <a:rPr dirty="0" spc="-105"/>
              <a:t> </a:t>
            </a:r>
            <a:r>
              <a:rPr dirty="0" spc="-10"/>
              <a:t>alguna</a:t>
            </a:r>
            <a:r>
              <a:rPr dirty="0" spc="-100"/>
              <a:t> </a:t>
            </a:r>
            <a:r>
              <a:rPr dirty="0" spc="-25"/>
              <a:t>forma.</a:t>
            </a:r>
            <a:r>
              <a:rPr dirty="0" spc="-100"/>
              <a:t> </a:t>
            </a:r>
            <a:r>
              <a:rPr dirty="0"/>
              <a:t>Para</a:t>
            </a:r>
            <a:r>
              <a:rPr dirty="0" spc="-105"/>
              <a:t> </a:t>
            </a:r>
            <a:r>
              <a:rPr dirty="0"/>
              <a:t>poder</a:t>
            </a:r>
            <a:r>
              <a:rPr dirty="0" spc="-100"/>
              <a:t> </a:t>
            </a:r>
            <a:r>
              <a:rPr dirty="0"/>
              <a:t>hacer</a:t>
            </a:r>
            <a:r>
              <a:rPr dirty="0" spc="-105"/>
              <a:t> </a:t>
            </a:r>
            <a:r>
              <a:rPr dirty="0" spc="-20"/>
              <a:t>esto,</a:t>
            </a:r>
            <a:r>
              <a:rPr dirty="0" spc="-100"/>
              <a:t> </a:t>
            </a:r>
            <a:r>
              <a:rPr dirty="0"/>
              <a:t>la</a:t>
            </a:r>
            <a:r>
              <a:rPr dirty="0" spc="-100"/>
              <a:t> </a:t>
            </a:r>
            <a:r>
              <a:rPr dirty="0"/>
              <a:t>función</a:t>
            </a:r>
            <a:r>
              <a:rPr dirty="0" spc="-105"/>
              <a:t> </a:t>
            </a:r>
            <a:r>
              <a:rPr dirty="0"/>
              <a:t>wrapper</a:t>
            </a:r>
            <a:r>
              <a:rPr dirty="0" spc="-100"/>
              <a:t> </a:t>
            </a:r>
            <a:r>
              <a:rPr dirty="0"/>
              <a:t>copia</a:t>
            </a:r>
            <a:r>
              <a:rPr dirty="0" spc="-105"/>
              <a:t> </a:t>
            </a:r>
            <a:r>
              <a:rPr dirty="0" spc="-25"/>
              <a:t>el </a:t>
            </a:r>
            <a:r>
              <a:rPr dirty="0"/>
              <a:t>número</a:t>
            </a:r>
            <a:r>
              <a:rPr dirty="0" spc="-130"/>
              <a:t> </a:t>
            </a:r>
            <a:r>
              <a:rPr dirty="0"/>
              <a:t>de</a:t>
            </a:r>
            <a:r>
              <a:rPr dirty="0" spc="-125"/>
              <a:t> </a:t>
            </a:r>
            <a:r>
              <a:rPr dirty="0"/>
              <a:t>la</a:t>
            </a:r>
            <a:r>
              <a:rPr dirty="0" spc="-130"/>
              <a:t> </a:t>
            </a:r>
            <a:r>
              <a:rPr dirty="0"/>
              <a:t>system</a:t>
            </a:r>
            <a:r>
              <a:rPr dirty="0" spc="-125"/>
              <a:t> </a:t>
            </a:r>
            <a:r>
              <a:rPr dirty="0"/>
              <a:t>call</a:t>
            </a:r>
            <a:r>
              <a:rPr dirty="0" spc="-130"/>
              <a:t> </a:t>
            </a:r>
            <a:r>
              <a:rPr dirty="0" spc="-35"/>
              <a:t>a</a:t>
            </a:r>
            <a:r>
              <a:rPr dirty="0" spc="-125"/>
              <a:t> </a:t>
            </a:r>
            <a:r>
              <a:rPr dirty="0"/>
              <a:t>un</a:t>
            </a:r>
            <a:r>
              <a:rPr dirty="0" spc="-130"/>
              <a:t> </a:t>
            </a:r>
            <a:r>
              <a:rPr dirty="0"/>
              <a:t>determinado</a:t>
            </a:r>
            <a:r>
              <a:rPr dirty="0" spc="-125"/>
              <a:t> </a:t>
            </a:r>
            <a:r>
              <a:rPr dirty="0"/>
              <a:t>registro</a:t>
            </a:r>
            <a:r>
              <a:rPr dirty="0" spc="-125"/>
              <a:t> </a:t>
            </a:r>
            <a:r>
              <a:rPr dirty="0"/>
              <a:t>de</a:t>
            </a:r>
            <a:r>
              <a:rPr dirty="0" spc="-130"/>
              <a:t> </a:t>
            </a:r>
            <a:r>
              <a:rPr dirty="0"/>
              <a:t>la</a:t>
            </a:r>
            <a:r>
              <a:rPr dirty="0" spc="-125"/>
              <a:t> </a:t>
            </a:r>
            <a:r>
              <a:rPr dirty="0" spc="125"/>
              <a:t>CPU</a:t>
            </a:r>
            <a:r>
              <a:rPr dirty="0" spc="-130"/>
              <a:t> </a:t>
            </a:r>
            <a:r>
              <a:rPr dirty="0" spc="-10"/>
              <a:t>(%eax).</a:t>
            </a:r>
          </a:p>
          <a:p>
            <a:pPr marL="19050" marR="5080" indent="457200">
              <a:lnSpc>
                <a:spcPts val="1839"/>
              </a:lnSpc>
              <a:spcBef>
                <a:spcPts val="1855"/>
              </a:spcBef>
            </a:pPr>
            <a:r>
              <a:rPr dirty="0"/>
              <a:t>La</a:t>
            </a:r>
            <a:r>
              <a:rPr dirty="0" spc="-120"/>
              <a:t> </a:t>
            </a:r>
            <a:r>
              <a:rPr dirty="0"/>
              <a:t>función</a:t>
            </a:r>
            <a:r>
              <a:rPr dirty="0" spc="-120"/>
              <a:t> </a:t>
            </a:r>
            <a:r>
              <a:rPr dirty="0"/>
              <a:t>wrapper</a:t>
            </a:r>
            <a:r>
              <a:rPr dirty="0" spc="-120"/>
              <a:t> </a:t>
            </a:r>
            <a:r>
              <a:rPr dirty="0"/>
              <a:t>ejecuta</a:t>
            </a:r>
            <a:r>
              <a:rPr dirty="0" spc="-120"/>
              <a:t> </a:t>
            </a:r>
            <a:r>
              <a:rPr dirty="0"/>
              <a:t>una</a:t>
            </a:r>
            <a:r>
              <a:rPr dirty="0" spc="-120"/>
              <a:t> </a:t>
            </a:r>
            <a:r>
              <a:rPr dirty="0"/>
              <a:t>instrucción</a:t>
            </a:r>
            <a:r>
              <a:rPr dirty="0" spc="-120"/>
              <a:t> </a:t>
            </a:r>
            <a:r>
              <a:rPr dirty="0"/>
              <a:t>de</a:t>
            </a:r>
            <a:r>
              <a:rPr dirty="0" spc="-120"/>
              <a:t> </a:t>
            </a:r>
            <a:r>
              <a:rPr dirty="0"/>
              <a:t>código</a:t>
            </a:r>
            <a:r>
              <a:rPr dirty="0" spc="-120"/>
              <a:t> </a:t>
            </a:r>
            <a:r>
              <a:rPr dirty="0"/>
              <a:t>máquina</a:t>
            </a:r>
            <a:r>
              <a:rPr dirty="0" spc="-120"/>
              <a:t> </a:t>
            </a:r>
            <a:r>
              <a:rPr dirty="0"/>
              <a:t>llamada</a:t>
            </a:r>
            <a:r>
              <a:rPr dirty="0" spc="-114"/>
              <a:t> </a:t>
            </a:r>
            <a:r>
              <a:rPr dirty="0" spc="-20"/>
              <a:t>trap </a:t>
            </a:r>
            <a:r>
              <a:rPr dirty="0"/>
              <a:t>machine</a:t>
            </a:r>
            <a:r>
              <a:rPr dirty="0" spc="-130"/>
              <a:t> </a:t>
            </a:r>
            <a:r>
              <a:rPr dirty="0"/>
              <a:t>instruction</a:t>
            </a:r>
            <a:r>
              <a:rPr dirty="0" spc="-125"/>
              <a:t> </a:t>
            </a:r>
            <a:r>
              <a:rPr dirty="0"/>
              <a:t>(int</a:t>
            </a:r>
            <a:r>
              <a:rPr dirty="0" spc="-125"/>
              <a:t> </a:t>
            </a:r>
            <a:r>
              <a:rPr dirty="0" spc="50"/>
              <a:t>0x80</a:t>
            </a:r>
            <a:r>
              <a:rPr dirty="0" spc="-130"/>
              <a:t> </a:t>
            </a:r>
            <a:r>
              <a:rPr dirty="0"/>
              <a:t>o</a:t>
            </a:r>
            <a:r>
              <a:rPr dirty="0" spc="-125"/>
              <a:t> </a:t>
            </a:r>
            <a:r>
              <a:rPr dirty="0"/>
              <a:t>SYSCALL),</a:t>
            </a:r>
            <a:r>
              <a:rPr dirty="0" spc="-125"/>
              <a:t> </a:t>
            </a:r>
            <a:r>
              <a:rPr dirty="0"/>
              <a:t>esta</a:t>
            </a:r>
            <a:r>
              <a:rPr dirty="0" spc="-125"/>
              <a:t> </a:t>
            </a:r>
            <a:r>
              <a:rPr dirty="0" spc="-10"/>
              <a:t>causa</a:t>
            </a:r>
            <a:r>
              <a:rPr dirty="0" spc="-130"/>
              <a:t> </a:t>
            </a:r>
            <a:r>
              <a:rPr dirty="0"/>
              <a:t>que</a:t>
            </a:r>
            <a:r>
              <a:rPr dirty="0" spc="-125"/>
              <a:t> </a:t>
            </a:r>
            <a:r>
              <a:rPr dirty="0"/>
              <a:t>el</a:t>
            </a:r>
            <a:r>
              <a:rPr dirty="0" spc="-125"/>
              <a:t> </a:t>
            </a:r>
            <a:r>
              <a:rPr dirty="0"/>
              <a:t>procesador</a:t>
            </a:r>
            <a:r>
              <a:rPr dirty="0" spc="-125"/>
              <a:t> </a:t>
            </a:r>
            <a:r>
              <a:rPr dirty="0" spc="-10"/>
              <a:t>pase</a:t>
            </a:r>
            <a:r>
              <a:rPr dirty="0" spc="-130"/>
              <a:t> </a:t>
            </a:r>
            <a:r>
              <a:rPr dirty="0"/>
              <a:t>de</a:t>
            </a:r>
            <a:r>
              <a:rPr dirty="0" spc="-125"/>
              <a:t> </a:t>
            </a:r>
            <a:r>
              <a:rPr dirty="0" spc="-20"/>
              <a:t>user </a:t>
            </a:r>
            <a:r>
              <a:rPr dirty="0"/>
              <a:t>mode</a:t>
            </a:r>
            <a:r>
              <a:rPr dirty="0" spc="-135"/>
              <a:t> </a:t>
            </a:r>
            <a:r>
              <a:rPr dirty="0" spc="-35"/>
              <a:t>a</a:t>
            </a:r>
            <a:r>
              <a:rPr dirty="0" spc="-130"/>
              <a:t> </a:t>
            </a:r>
            <a:r>
              <a:rPr dirty="0"/>
              <a:t>kernel</a:t>
            </a:r>
            <a:r>
              <a:rPr dirty="0" spc="-135"/>
              <a:t> </a:t>
            </a:r>
            <a:r>
              <a:rPr dirty="0"/>
              <a:t>mode</a:t>
            </a:r>
            <a:r>
              <a:rPr dirty="0" spc="-130"/>
              <a:t> </a:t>
            </a:r>
            <a:r>
              <a:rPr dirty="0"/>
              <a:t>y</a:t>
            </a:r>
            <a:r>
              <a:rPr dirty="0" spc="-130"/>
              <a:t> </a:t>
            </a:r>
            <a:r>
              <a:rPr dirty="0"/>
              <a:t>ejecute</a:t>
            </a:r>
            <a:r>
              <a:rPr dirty="0" spc="-135"/>
              <a:t> </a:t>
            </a:r>
            <a:r>
              <a:rPr dirty="0"/>
              <a:t>el</a:t>
            </a:r>
            <a:r>
              <a:rPr dirty="0" spc="-130"/>
              <a:t> </a:t>
            </a:r>
            <a:r>
              <a:rPr dirty="0"/>
              <a:t>código</a:t>
            </a:r>
            <a:r>
              <a:rPr dirty="0" spc="-135"/>
              <a:t> </a:t>
            </a:r>
            <a:r>
              <a:rPr dirty="0"/>
              <a:t>apuntado</a:t>
            </a:r>
            <a:r>
              <a:rPr dirty="0" spc="-130"/>
              <a:t> </a:t>
            </a:r>
            <a:r>
              <a:rPr dirty="0"/>
              <a:t>por</a:t>
            </a:r>
            <a:r>
              <a:rPr dirty="0" spc="-130"/>
              <a:t> </a:t>
            </a:r>
            <a:r>
              <a:rPr dirty="0"/>
              <a:t>la</a:t>
            </a:r>
            <a:r>
              <a:rPr dirty="0" spc="-135"/>
              <a:t> </a:t>
            </a:r>
            <a:r>
              <a:rPr dirty="0"/>
              <a:t>dirección</a:t>
            </a:r>
            <a:r>
              <a:rPr dirty="0" spc="-130"/>
              <a:t> </a:t>
            </a:r>
            <a:r>
              <a:rPr dirty="0" spc="50"/>
              <a:t>0x80</a:t>
            </a:r>
            <a:r>
              <a:rPr dirty="0" spc="-130"/>
              <a:t> </a:t>
            </a:r>
            <a:r>
              <a:rPr dirty="0" spc="-25"/>
              <a:t>(128)</a:t>
            </a:r>
            <a:r>
              <a:rPr dirty="0" spc="-135"/>
              <a:t> </a:t>
            </a:r>
            <a:r>
              <a:rPr dirty="0"/>
              <a:t>del</a:t>
            </a:r>
            <a:r>
              <a:rPr dirty="0" spc="-130"/>
              <a:t> </a:t>
            </a:r>
            <a:r>
              <a:rPr dirty="0" spc="-10"/>
              <a:t>vector </a:t>
            </a:r>
            <a:r>
              <a:rPr dirty="0"/>
              <a:t>de</a:t>
            </a:r>
            <a:r>
              <a:rPr dirty="0" spc="-140"/>
              <a:t> </a:t>
            </a:r>
            <a:r>
              <a:rPr dirty="0"/>
              <a:t>traps</a:t>
            </a:r>
            <a:r>
              <a:rPr dirty="0" spc="-135"/>
              <a:t> </a:t>
            </a:r>
            <a:r>
              <a:rPr dirty="0"/>
              <a:t>del</a:t>
            </a:r>
            <a:r>
              <a:rPr dirty="0" spc="-140"/>
              <a:t> </a:t>
            </a:r>
            <a:r>
              <a:rPr dirty="0" spc="-10"/>
              <a:t>sistema.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7222" y="69624"/>
            <a:ext cx="5082532" cy="501295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105" y="1516192"/>
            <a:ext cx="6403650" cy="302625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5425" y="4446563"/>
            <a:ext cx="28962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 MT"/>
                <a:cs typeface="Arial MT"/>
              </a:rPr>
              <a:t>https://syscalls32.paolostivanin.com/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7375" y="1078472"/>
            <a:ext cx="6798850" cy="33104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00675" y="680643"/>
            <a:ext cx="3760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0" b="1">
                <a:solidFill>
                  <a:srgbClr val="595959"/>
                </a:solidFill>
                <a:latin typeface="Tahoma"/>
                <a:cs typeface="Tahoma"/>
              </a:rPr>
              <a:t>Convención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Syscalls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70" b="1">
                <a:solidFill>
                  <a:srgbClr val="595959"/>
                </a:solidFill>
                <a:latin typeface="Tahoma"/>
                <a:cs typeface="Tahoma"/>
              </a:rPr>
              <a:t>x86.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439450"/>
            <a:ext cx="8839199" cy="251550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25425" y="4446563"/>
            <a:ext cx="28962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 MT"/>
                <a:cs typeface="Arial MT"/>
              </a:rPr>
              <a:t>https://syscalls32.paolostivanin.com/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964" y="841742"/>
            <a:ext cx="6510749" cy="316182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393475" y="4574696"/>
            <a:ext cx="13227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760" algn="l"/>
              </a:tabLst>
            </a:pPr>
            <a:r>
              <a:rPr dirty="0" sz="1300" spc="75">
                <a:solidFill>
                  <a:srgbClr val="595959"/>
                </a:solidFill>
                <a:latin typeface="Tahoma"/>
                <a:cs typeface="Tahoma"/>
              </a:rPr>
              <a:t>EAX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0x04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30">
                <a:solidFill>
                  <a:srgbClr val="595959"/>
                </a:solidFill>
                <a:latin typeface="Tahoma"/>
                <a:cs typeface="Tahoma"/>
              </a:rPr>
              <a:t>EBX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802554" y="4081074"/>
            <a:ext cx="41275" cy="418465"/>
            <a:chOff x="2802554" y="4081074"/>
            <a:chExt cx="41275" cy="418465"/>
          </a:xfrm>
        </p:grpSpPr>
        <p:sp>
          <p:nvSpPr>
            <p:cNvPr id="5" name="object 5" descr=""/>
            <p:cNvSpPr/>
            <p:nvPr/>
          </p:nvSpPr>
          <p:spPr>
            <a:xfrm>
              <a:off x="2823049" y="4081074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700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07317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07317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3542879" y="4081074"/>
            <a:ext cx="41275" cy="418465"/>
            <a:chOff x="3542879" y="4081074"/>
            <a:chExt cx="41275" cy="418465"/>
          </a:xfrm>
        </p:grpSpPr>
        <p:sp>
          <p:nvSpPr>
            <p:cNvPr id="9" name="object 9" descr=""/>
            <p:cNvSpPr/>
            <p:nvPr/>
          </p:nvSpPr>
          <p:spPr>
            <a:xfrm>
              <a:off x="3563375" y="4081074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700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547642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547642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189374" y="4574696"/>
            <a:ext cx="3409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0">
                <a:solidFill>
                  <a:srgbClr val="595959"/>
                </a:solidFill>
                <a:latin typeface="Tahoma"/>
                <a:cs typeface="Tahoma"/>
              </a:rPr>
              <a:t>ECX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350554" y="4081074"/>
            <a:ext cx="41275" cy="418465"/>
            <a:chOff x="4350554" y="4081074"/>
            <a:chExt cx="41275" cy="418465"/>
          </a:xfrm>
        </p:grpSpPr>
        <p:sp>
          <p:nvSpPr>
            <p:cNvPr id="14" name="object 14" descr=""/>
            <p:cNvSpPr/>
            <p:nvPr/>
          </p:nvSpPr>
          <p:spPr>
            <a:xfrm>
              <a:off x="4371049" y="4081074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700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55317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355317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109325" y="4574696"/>
            <a:ext cx="3498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0">
                <a:solidFill>
                  <a:srgbClr val="595959"/>
                </a:solidFill>
                <a:latin typeface="Tahoma"/>
                <a:cs typeface="Tahoma"/>
              </a:rPr>
              <a:t>EDX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270504" y="4081074"/>
            <a:ext cx="41275" cy="418465"/>
            <a:chOff x="6270504" y="4081074"/>
            <a:chExt cx="41275" cy="418465"/>
          </a:xfrm>
        </p:grpSpPr>
        <p:sp>
          <p:nvSpPr>
            <p:cNvPr id="19" name="object 19" descr=""/>
            <p:cNvSpPr/>
            <p:nvPr/>
          </p:nvSpPr>
          <p:spPr>
            <a:xfrm>
              <a:off x="6291000" y="4081074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700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75267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75267" y="44511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Ejemplo:</a:t>
            </a:r>
            <a:r>
              <a:rPr dirty="0" spc="-80"/>
              <a:t> </a:t>
            </a:r>
            <a:r>
              <a:rPr dirty="0" spc="50"/>
              <a:t>Invocar</a:t>
            </a:r>
            <a:r>
              <a:rPr dirty="0" spc="-130"/>
              <a:t> </a:t>
            </a:r>
            <a:r>
              <a:rPr dirty="0" spc="85"/>
              <a:t>la</a:t>
            </a:r>
            <a:r>
              <a:rPr dirty="0" spc="-75"/>
              <a:t> </a:t>
            </a:r>
            <a:r>
              <a:rPr dirty="0" spc="95"/>
              <a:t>syscall</a:t>
            </a:r>
            <a:r>
              <a:rPr dirty="0" spc="-140"/>
              <a:t> </a:t>
            </a:r>
            <a:r>
              <a:rPr dirty="0" spc="40"/>
              <a:t>read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19999" y="1350049"/>
            <a:ext cx="8317865" cy="3265804"/>
          </a:xfrm>
          <a:custGeom>
            <a:avLst/>
            <a:gdLst/>
            <a:ahLst/>
            <a:cxnLst/>
            <a:rect l="l" t="t" r="r" b="b"/>
            <a:pathLst>
              <a:path w="8317865" h="3265804">
                <a:moveTo>
                  <a:pt x="0" y="0"/>
                </a:moveTo>
                <a:lnTo>
                  <a:pt x="8317799" y="0"/>
                </a:lnTo>
                <a:lnTo>
                  <a:pt x="8317799" y="3265799"/>
                </a:lnTo>
                <a:lnTo>
                  <a:pt x="0" y="3265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93024" y="1412914"/>
            <a:ext cx="1550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595959"/>
                </a:solidFill>
                <a:latin typeface="Courier New"/>
                <a:cs typeface="Courier New"/>
              </a:rPr>
              <a:t>mov</a:t>
            </a:r>
            <a:r>
              <a:rPr dirty="0" sz="20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595959"/>
                </a:solidFill>
                <a:latin typeface="Courier New"/>
                <a:cs typeface="Courier New"/>
              </a:rPr>
              <a:t>eax,</a:t>
            </a:r>
            <a:r>
              <a:rPr dirty="0" sz="20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spc="-50" b="1">
                <a:solidFill>
                  <a:srgbClr val="595959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36225" y="1412914"/>
            <a:ext cx="5054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595959"/>
                </a:solidFill>
                <a:latin typeface="Courier New"/>
                <a:cs typeface="Courier New"/>
              </a:rPr>
              <a:t>;</a:t>
            </a:r>
            <a:r>
              <a:rPr dirty="0" sz="20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595959"/>
                </a:solidFill>
                <a:latin typeface="Courier New"/>
                <a:cs typeface="Courier New"/>
              </a:rPr>
              <a:t>syscall</a:t>
            </a:r>
            <a:r>
              <a:rPr dirty="0" sz="20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595959"/>
                </a:solidFill>
                <a:latin typeface="Courier New"/>
                <a:cs typeface="Courier New"/>
              </a:rPr>
              <a:t>number</a:t>
            </a:r>
            <a:r>
              <a:rPr dirty="0" sz="20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595959"/>
                </a:solidFill>
                <a:latin typeface="Courier New"/>
                <a:cs typeface="Courier New"/>
              </a:rPr>
              <a:t>for</a:t>
            </a:r>
            <a:r>
              <a:rPr dirty="0" sz="20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595959"/>
                </a:solidFill>
                <a:latin typeface="Courier New"/>
                <a:cs typeface="Courier New"/>
              </a:rPr>
              <a:t>sys_read</a:t>
            </a:r>
            <a:r>
              <a:rPr dirty="0" sz="2000" spc="-25" b="1">
                <a:solidFill>
                  <a:srgbClr val="595959"/>
                </a:solidFill>
                <a:latin typeface="Courier New"/>
                <a:cs typeface="Courier New"/>
              </a:rPr>
              <a:t> (3)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73974" y="1971075"/>
          <a:ext cx="7607300" cy="1794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/>
                <a:gridCol w="762000"/>
                <a:gridCol w="1371600"/>
                <a:gridCol w="304800"/>
                <a:gridCol w="4527550"/>
              </a:tblGrid>
              <a:tr h="394970">
                <a:tc>
                  <a:txBody>
                    <a:bodyPr/>
                    <a:lstStyle/>
                    <a:p>
                      <a:pPr algn="ctr" marR="36830">
                        <a:lnSpc>
                          <a:spcPts val="2065"/>
                        </a:lnSpc>
                      </a:pPr>
                      <a:r>
                        <a:rPr dirty="0" sz="20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mov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ebx,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</a:pPr>
                      <a:r>
                        <a:rPr dirty="0" sz="2000" spc="-5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dirty="0" sz="2000" spc="-5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65"/>
                        </a:lnSpc>
                      </a:pP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file</a:t>
                      </a:r>
                      <a:r>
                        <a:rPr dirty="0" sz="20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descriptor</a:t>
                      </a:r>
                      <a:r>
                        <a:rPr dirty="0" sz="20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(0</a:t>
                      </a:r>
                      <a:r>
                        <a:rPr dirty="0" sz="20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stdin)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2284">
                <a:tc>
                  <a:txBody>
                    <a:bodyPr/>
                    <a:lstStyle/>
                    <a:p>
                      <a:pPr algn="ctr" marR="368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lea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ecx,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[buffer]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5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pointer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buffer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</a:tr>
              <a:tr h="502284">
                <a:tc>
                  <a:txBody>
                    <a:bodyPr/>
                    <a:lstStyle/>
                    <a:p>
                      <a:pPr algn="ctr" marR="368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mov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edx,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buf_len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5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number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dirty="0" sz="2000" spc="-1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read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</a:tr>
              <a:tr h="394970">
                <a:tc>
                  <a:txBody>
                    <a:bodyPr/>
                    <a:lstStyle/>
                    <a:p>
                      <a:pPr algn="ctr" marR="368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0x80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5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make</a:t>
                      </a:r>
                      <a:r>
                        <a:rPr dirty="0" sz="2000" spc="-3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system</a:t>
                      </a:r>
                      <a:r>
                        <a:rPr dirty="0" sz="20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call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64769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533775" y="641880"/>
            <a:ext cx="4963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502000"/>
                </a:solidFill>
                <a:latin typeface="Courier New"/>
                <a:cs typeface="Courier New"/>
              </a:rPr>
              <a:t>read(STDIN_FILENO,</a:t>
            </a:r>
            <a:r>
              <a:rPr dirty="0" sz="1800" spc="-75" b="1">
                <a:solidFill>
                  <a:srgbClr val="502000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502000"/>
                </a:solidFill>
                <a:latin typeface="Courier New"/>
                <a:cs typeface="Courier New"/>
              </a:rPr>
              <a:t>buffer,</a:t>
            </a:r>
            <a:r>
              <a:rPr dirty="0" sz="1800" spc="-60" b="1">
                <a:solidFill>
                  <a:srgbClr val="5020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502000"/>
                </a:solidFill>
                <a:latin typeface="Courier New"/>
                <a:cs typeface="Courier New"/>
              </a:rPr>
              <a:t>buf_len);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973497"/>
            <a:ext cx="7578725" cy="284797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986155">
              <a:lnSpc>
                <a:spcPts val="1839"/>
              </a:lnSpc>
              <a:spcBef>
                <a:spcPts val="24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respuesta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trap,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propia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syste_call()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(arch/i386/entry.s)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manejar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trap.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manejador:</a:t>
            </a:r>
            <a:endParaRPr sz="1600">
              <a:latin typeface="Tahoma"/>
              <a:cs typeface="Tahoma"/>
            </a:endParaRPr>
          </a:p>
          <a:p>
            <a:pPr marL="469265" indent="-391160">
              <a:lnSpc>
                <a:spcPts val="1760"/>
              </a:lnSpc>
              <a:buAutoNum type="arabicPeriod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Graba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stack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kernel.</a:t>
            </a:r>
            <a:endParaRPr sz="1600">
              <a:latin typeface="Tahoma"/>
              <a:cs typeface="Tahoma"/>
            </a:endParaRPr>
          </a:p>
          <a:p>
            <a:pPr marL="469265" indent="-391160">
              <a:lnSpc>
                <a:spcPts val="1845"/>
              </a:lnSpc>
              <a:buAutoNum type="arabicPeriod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Verifica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validez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call.</a:t>
            </a:r>
            <a:endParaRPr sz="1600">
              <a:latin typeface="Tahoma"/>
              <a:cs typeface="Tahoma"/>
            </a:endParaRPr>
          </a:p>
          <a:p>
            <a:pPr algn="just" marL="468630" marR="5080" indent="-390525">
              <a:lnSpc>
                <a:spcPts val="1839"/>
              </a:lnSpc>
              <a:spcBef>
                <a:spcPts val="90"/>
              </a:spcBef>
              <a:buAutoNum type="arabicPeriod"/>
              <a:tabLst>
                <a:tab pos="469900" algn="l"/>
              </a:tabLst>
            </a:pP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servicio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correspondiente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través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vector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de 	system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calls,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servicio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finalmente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resultado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de 	estado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rutina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system_call().</a:t>
            </a:r>
            <a:endParaRPr sz="1600">
              <a:latin typeface="Tahoma"/>
              <a:cs typeface="Tahoma"/>
            </a:endParaRPr>
          </a:p>
          <a:p>
            <a:pPr algn="just" marL="468630" marR="5080" indent="-390525">
              <a:lnSpc>
                <a:spcPts val="1839"/>
              </a:lnSpc>
              <a:spcBef>
                <a:spcPts val="10"/>
              </a:spcBef>
              <a:buAutoNum type="arabicPeriod"/>
              <a:tabLst>
                <a:tab pos="469900" algn="l"/>
              </a:tabLst>
            </a:pP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restauran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almacenados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stack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agrega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retorno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stack.</a:t>
            </a:r>
            <a:endParaRPr sz="1600">
              <a:latin typeface="Tahoma"/>
              <a:cs typeface="Tahoma"/>
            </a:endParaRPr>
          </a:p>
          <a:p>
            <a:pPr algn="just" marL="468630" indent="-390525">
              <a:lnSpc>
                <a:spcPts val="1760"/>
              </a:lnSpc>
              <a:buAutoNum type="arabicPeriod"/>
              <a:tabLst>
                <a:tab pos="468630" algn="l"/>
              </a:tabLst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wrapper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simultáneamente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mode.</a:t>
            </a:r>
            <a:endParaRPr sz="1600">
              <a:latin typeface="Tahoma"/>
              <a:cs typeface="Tahoma"/>
            </a:endParaRPr>
          </a:p>
          <a:p>
            <a:pPr algn="just" marL="468630" marR="13335" indent="-390525">
              <a:lnSpc>
                <a:spcPts val="1839"/>
              </a:lnSpc>
              <a:spcBef>
                <a:spcPts val="90"/>
              </a:spcBef>
              <a:buAutoNum type="arabicPeriod"/>
              <a:tabLst>
                <a:tab pos="469900" algn="l"/>
              </a:tabLst>
            </a:pP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retorno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rutina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servicio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da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error,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función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wrapper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setea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errno.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720" y="697375"/>
            <a:ext cx="7858298" cy="393330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399" y="598433"/>
            <a:ext cx="4612223" cy="454506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System</a:t>
            </a:r>
            <a:r>
              <a:rPr dirty="0" spc="-125"/>
              <a:t> </a:t>
            </a:r>
            <a:r>
              <a:rPr dirty="0" spc="105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2756"/>
            <a:ext cx="2800985" cy="2061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Strace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Ltrace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strace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testdir/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strace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-o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trace.log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testdir/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79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40"/>
              </a:spcBef>
            </a:pPr>
            <a:r>
              <a:rPr dirty="0"/>
              <a:t>Kernel</a:t>
            </a:r>
            <a:r>
              <a:rPr dirty="0" spc="-125"/>
              <a:t> </a:t>
            </a:r>
            <a:r>
              <a:rPr dirty="0" spc="160"/>
              <a:t>Mode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70"/>
              <a:t>User</a:t>
            </a:r>
            <a:r>
              <a:rPr dirty="0" spc="-110"/>
              <a:t> </a:t>
            </a:r>
            <a:r>
              <a:rPr dirty="0" spc="140"/>
              <a:t>Mode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2346" y="1473707"/>
            <a:ext cx="7892415" cy="118237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409575" indent="-396875">
              <a:lnSpc>
                <a:spcPct val="100000"/>
              </a:lnSpc>
              <a:spcBef>
                <a:spcPts val="495"/>
              </a:spcBef>
              <a:buFont typeface="Arial MT"/>
              <a:buChar char="●"/>
              <a:tabLst>
                <a:tab pos="409575" algn="l"/>
              </a:tabLst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Continuar</a:t>
            </a:r>
            <a:r>
              <a:rPr dirty="0" sz="2200" spc="2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luego</a:t>
            </a:r>
            <a:r>
              <a:rPr dirty="0" sz="22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200" spc="2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2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interrupción,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excepción</a:t>
            </a:r>
            <a:r>
              <a:rPr dirty="0" sz="22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22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2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30">
                <a:solidFill>
                  <a:srgbClr val="595959"/>
                </a:solidFill>
                <a:latin typeface="Tahoma"/>
                <a:cs typeface="Tahoma"/>
              </a:rPr>
              <a:t>sys</a:t>
            </a:r>
            <a:r>
              <a:rPr dirty="0" sz="22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endParaRPr sz="220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395"/>
              </a:spcBef>
              <a:buFont typeface="Arial MT"/>
              <a:buChar char="●"/>
              <a:tabLst>
                <a:tab pos="409575" algn="l"/>
              </a:tabLst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22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2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contexto:</a:t>
            </a:r>
            <a:r>
              <a:rPr dirty="0" sz="22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22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22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endParaRPr sz="220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395"/>
              </a:spcBef>
              <a:buFont typeface="Arial MT"/>
              <a:buChar char="●"/>
              <a:tabLst>
                <a:tab pos="409575" algn="l"/>
              </a:tabLst>
            </a:pPr>
            <a:r>
              <a:rPr dirty="0" sz="22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22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2475" y="3805426"/>
            <a:ext cx="24561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Dahlin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Cap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6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2.4!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2 - El Kernel</dc:title>
  <dcterms:created xsi:type="dcterms:W3CDTF">2026-03-16T16:04:30Z</dcterms:created>
  <dcterms:modified xsi:type="dcterms:W3CDTF">2026-03-16T16:04:30Z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