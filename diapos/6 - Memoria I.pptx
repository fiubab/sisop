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0675" y="601562"/>
            <a:ext cx="4495800" cy="468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80200" y="2960767"/>
            <a:ext cx="8098155" cy="749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59595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59595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488315"/>
          </a:xfrm>
          <a:custGeom>
            <a:avLst/>
            <a:gdLst/>
            <a:ahLst/>
            <a:cxnLst/>
            <a:rect l="l" t="t" r="r" b="b"/>
            <a:pathLst>
              <a:path w="9144000" h="488315">
                <a:moveTo>
                  <a:pt x="9143999" y="487799"/>
                </a:moveTo>
                <a:lnTo>
                  <a:pt x="0" y="48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487799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203295" y="1191255"/>
            <a:ext cx="373380" cy="46355"/>
          </a:xfrm>
          <a:custGeom>
            <a:avLst/>
            <a:gdLst/>
            <a:ahLst/>
            <a:cxnLst/>
            <a:rect l="l" t="t" r="r" b="b"/>
            <a:pathLst>
              <a:path w="373380" h="46355">
                <a:moveTo>
                  <a:pt x="372859" y="45826"/>
                </a:moveTo>
                <a:lnTo>
                  <a:pt x="0" y="45826"/>
                </a:lnTo>
                <a:lnTo>
                  <a:pt x="0" y="0"/>
                </a:lnTo>
                <a:lnTo>
                  <a:pt x="372859" y="0"/>
                </a:lnTo>
                <a:lnTo>
                  <a:pt x="372859" y="45826"/>
                </a:lnTo>
                <a:close/>
              </a:path>
            </a:pathLst>
          </a:custGeom>
          <a:solidFill>
            <a:srgbClr val="EB55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30391" y="1191255"/>
            <a:ext cx="376555" cy="46355"/>
          </a:xfrm>
          <a:custGeom>
            <a:avLst/>
            <a:gdLst/>
            <a:ahLst/>
            <a:cxnLst/>
            <a:rect l="l" t="t" r="r" b="b"/>
            <a:pathLst>
              <a:path w="376555" h="46355">
                <a:moveTo>
                  <a:pt x="376012" y="45826"/>
                </a:moveTo>
                <a:lnTo>
                  <a:pt x="0" y="45826"/>
                </a:lnTo>
                <a:lnTo>
                  <a:pt x="0" y="0"/>
                </a:lnTo>
                <a:lnTo>
                  <a:pt x="376012" y="0"/>
                </a:lnTo>
                <a:lnTo>
                  <a:pt x="376012" y="45826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2350" y="493487"/>
            <a:ext cx="7171084" cy="805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00675" y="1445453"/>
            <a:ext cx="7539990" cy="2760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59595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jp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jp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jpg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0.jpg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jpg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jpg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jpg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jpg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7.jpg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g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jpg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0.jpg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mit-pdos/xv6-riscv/blob/riscv/kernel/trampoline.S#L91-L95" TargetMode="External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 descr=""/>
            <p:cNvSpPr/>
            <p:nvPr/>
          </p:nvSpPr>
          <p:spPr>
            <a:xfrm>
              <a:off x="0" y="487800"/>
              <a:ext cx="9144000" cy="4655820"/>
            </a:xfrm>
            <a:custGeom>
              <a:avLst/>
              <a:gdLst/>
              <a:ahLst/>
              <a:cxnLst/>
              <a:rect l="l" t="t" r="r" b="b"/>
              <a:pathLst>
                <a:path w="9144000" h="4655820">
                  <a:moveTo>
                    <a:pt x="0" y="4655699"/>
                  </a:moveTo>
                  <a:lnTo>
                    <a:pt x="9143999" y="4655699"/>
                  </a:lnTo>
                  <a:lnTo>
                    <a:pt x="9143999" y="0"/>
                  </a:lnTo>
                  <a:lnTo>
                    <a:pt x="0" y="0"/>
                  </a:lnTo>
                  <a:lnTo>
                    <a:pt x="0" y="4655699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0"/>
              <a:ext cx="9144000" cy="488315"/>
            </a:xfrm>
            <a:custGeom>
              <a:avLst/>
              <a:gdLst/>
              <a:ahLst/>
              <a:cxnLst/>
              <a:rect l="l" t="t" r="r" b="b"/>
              <a:pathLst>
                <a:path w="9144000" h="488315">
                  <a:moveTo>
                    <a:pt x="9143999" y="487799"/>
                  </a:moveTo>
                  <a:lnTo>
                    <a:pt x="0" y="4877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87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03295" y="1191255"/>
              <a:ext cx="373380" cy="46355"/>
            </a:xfrm>
            <a:custGeom>
              <a:avLst/>
              <a:gdLst/>
              <a:ahLst/>
              <a:cxnLst/>
              <a:rect l="l" t="t" r="r" b="b"/>
              <a:pathLst>
                <a:path w="373380" h="46355">
                  <a:moveTo>
                    <a:pt x="372859" y="45826"/>
                  </a:moveTo>
                  <a:lnTo>
                    <a:pt x="0" y="45826"/>
                  </a:lnTo>
                  <a:lnTo>
                    <a:pt x="0" y="0"/>
                  </a:lnTo>
                  <a:lnTo>
                    <a:pt x="372859" y="0"/>
                  </a:lnTo>
                  <a:lnTo>
                    <a:pt x="372859" y="45826"/>
                  </a:lnTo>
                  <a:close/>
                </a:path>
              </a:pathLst>
            </a:custGeom>
            <a:solidFill>
              <a:srgbClr val="EB5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0391" y="1191255"/>
              <a:ext cx="376555" cy="46355"/>
            </a:xfrm>
            <a:custGeom>
              <a:avLst/>
              <a:gdLst/>
              <a:ahLst/>
              <a:cxnLst/>
              <a:rect l="l" t="t" r="r" b="b"/>
              <a:pathLst>
                <a:path w="376555" h="46355">
                  <a:moveTo>
                    <a:pt x="376012" y="45826"/>
                  </a:moveTo>
                  <a:lnTo>
                    <a:pt x="0" y="45826"/>
                  </a:lnTo>
                  <a:lnTo>
                    <a:pt x="0" y="0"/>
                  </a:lnTo>
                  <a:lnTo>
                    <a:pt x="376012" y="0"/>
                  </a:lnTo>
                  <a:lnTo>
                    <a:pt x="376012" y="45826"/>
                  </a:lnTo>
                  <a:close/>
                </a:path>
              </a:pathLst>
            </a:custGeom>
            <a:solidFill>
              <a:srgbClr val="1A99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02475" y="1374138"/>
            <a:ext cx="5246370" cy="13055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200" spc="145"/>
              <a:t>Sistemas</a:t>
            </a:r>
            <a:r>
              <a:rPr dirty="0" sz="4200" spc="-235"/>
              <a:t> </a:t>
            </a:r>
            <a:r>
              <a:rPr dirty="0" sz="4200" spc="50"/>
              <a:t>Operativos </a:t>
            </a:r>
            <a:r>
              <a:rPr dirty="0" sz="4200" spc="95"/>
              <a:t>Memoria</a:t>
            </a:r>
            <a:endParaRPr sz="4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30389" y="1191259"/>
            <a:ext cx="746125" cy="46355"/>
          </a:xfrm>
          <a:custGeom>
            <a:avLst/>
            <a:gdLst/>
            <a:ahLst/>
            <a:cxnLst/>
            <a:rect l="l" t="t" r="r" b="b"/>
            <a:pathLst>
              <a:path w="746125" h="46355">
                <a:moveTo>
                  <a:pt x="745756" y="0"/>
                </a:moveTo>
                <a:lnTo>
                  <a:pt x="376008" y="0"/>
                </a:lnTo>
                <a:lnTo>
                  <a:pt x="372897" y="0"/>
                </a:lnTo>
                <a:lnTo>
                  <a:pt x="0" y="0"/>
                </a:lnTo>
                <a:lnTo>
                  <a:pt x="0" y="45834"/>
                </a:lnTo>
                <a:lnTo>
                  <a:pt x="372897" y="45834"/>
                </a:lnTo>
                <a:lnTo>
                  <a:pt x="376008" y="45834"/>
                </a:lnTo>
                <a:lnTo>
                  <a:pt x="745756" y="45834"/>
                </a:lnTo>
                <a:lnTo>
                  <a:pt x="745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28194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40">
                <a:solidFill>
                  <a:srgbClr val="FFFFFF"/>
                </a:solidFill>
              </a:rPr>
              <a:t>Introducción</a:t>
            </a:r>
            <a:endParaRPr sz="3600"/>
          </a:p>
        </p:txBody>
      </p:sp>
      <p:sp>
        <p:nvSpPr>
          <p:cNvPr id="5" name="object 5" descr=""/>
          <p:cNvSpPr txBox="1"/>
          <p:nvPr/>
        </p:nvSpPr>
        <p:spPr>
          <a:xfrm>
            <a:off x="913550" y="3201581"/>
            <a:ext cx="3262629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FFFFFF"/>
                </a:solidFill>
                <a:latin typeface="Trebuchet MS"/>
                <a:cs typeface="Trebuchet MS"/>
              </a:rPr>
              <a:t>Conceptos</a:t>
            </a:r>
            <a:r>
              <a:rPr dirty="0" sz="18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clave: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Introducción</a:t>
            </a:r>
            <a:r>
              <a:rPr dirty="0" sz="1800" spc="1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histórica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80">
                <a:solidFill>
                  <a:srgbClr val="FFFFFF"/>
                </a:solidFill>
                <a:latin typeface="Trebuchet MS"/>
                <a:cs typeface="Trebuchet MS"/>
              </a:rPr>
              <a:t>Address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70">
                <a:solidFill>
                  <a:srgbClr val="FFFFFF"/>
                </a:solidFill>
                <a:latin typeface="Trebuchet MS"/>
                <a:cs typeface="Trebuchet MS"/>
              </a:rPr>
              <a:t>space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Traducción</a:t>
            </a:r>
            <a:r>
              <a:rPr dirty="0" sz="18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8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direcciones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4329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100"/>
              <a:t>¿</a:t>
            </a:r>
            <a:r>
              <a:rPr dirty="0" spc="-135"/>
              <a:t> </a:t>
            </a:r>
            <a:r>
              <a:rPr dirty="0" spc="100"/>
              <a:t>Que</a:t>
            </a:r>
            <a:r>
              <a:rPr dirty="0" spc="-135"/>
              <a:t> </a:t>
            </a:r>
            <a:r>
              <a:rPr dirty="0" spc="114"/>
              <a:t>es</a:t>
            </a:r>
            <a:r>
              <a:rPr dirty="0" spc="-135"/>
              <a:t> </a:t>
            </a:r>
            <a:r>
              <a:rPr dirty="0" spc="85"/>
              <a:t>la</a:t>
            </a:r>
            <a:r>
              <a:rPr dirty="0" spc="-130"/>
              <a:t> </a:t>
            </a:r>
            <a:r>
              <a:rPr dirty="0" spc="70"/>
              <a:t>Memoria?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65960" rIns="0" bIns="0" rtlCol="0" vert="horz">
            <a:spAutoFit/>
          </a:bodyPr>
          <a:lstStyle/>
          <a:p>
            <a:pPr marL="89535" marR="5080">
              <a:lnSpc>
                <a:spcPct val="114999"/>
              </a:lnSpc>
              <a:spcBef>
                <a:spcPts val="100"/>
              </a:spcBef>
            </a:pPr>
            <a:r>
              <a:rPr dirty="0" sz="1900"/>
              <a:t>El</a:t>
            </a:r>
            <a:r>
              <a:rPr dirty="0" sz="1900" spc="-210"/>
              <a:t> </a:t>
            </a:r>
            <a:r>
              <a:rPr dirty="0" sz="1900" spc="-20"/>
              <a:t>tema</a:t>
            </a:r>
            <a:r>
              <a:rPr dirty="0" sz="1900" spc="-204"/>
              <a:t> </a:t>
            </a:r>
            <a:r>
              <a:rPr dirty="0" sz="1900"/>
              <a:t>fundamental</a:t>
            </a:r>
            <a:r>
              <a:rPr dirty="0" sz="1900" spc="-204"/>
              <a:t> </a:t>
            </a:r>
            <a:r>
              <a:rPr dirty="0" sz="1900"/>
              <a:t>sobre</a:t>
            </a:r>
            <a:r>
              <a:rPr dirty="0" sz="1900" spc="-204"/>
              <a:t> </a:t>
            </a:r>
            <a:r>
              <a:rPr dirty="0" sz="1900"/>
              <a:t>la</a:t>
            </a:r>
            <a:r>
              <a:rPr dirty="0" sz="1900" spc="-204"/>
              <a:t> </a:t>
            </a:r>
            <a:r>
              <a:rPr dirty="0" sz="1900"/>
              <a:t>administración</a:t>
            </a:r>
            <a:r>
              <a:rPr dirty="0" sz="1900" spc="-204"/>
              <a:t> </a:t>
            </a:r>
            <a:r>
              <a:rPr dirty="0" sz="1900"/>
              <a:t>de</a:t>
            </a:r>
            <a:r>
              <a:rPr dirty="0" sz="1900" spc="-204"/>
              <a:t> </a:t>
            </a:r>
            <a:r>
              <a:rPr dirty="0" sz="1900"/>
              <a:t>memoria</a:t>
            </a:r>
            <a:r>
              <a:rPr dirty="0" sz="1900" spc="-204"/>
              <a:t> </a:t>
            </a:r>
            <a:r>
              <a:rPr dirty="0" sz="1900" spc="-25"/>
              <a:t>se</a:t>
            </a:r>
            <a:r>
              <a:rPr dirty="0" sz="1900" spc="-204"/>
              <a:t> </a:t>
            </a:r>
            <a:r>
              <a:rPr dirty="0" sz="1900" spc="-10"/>
              <a:t>encuentra </a:t>
            </a:r>
            <a:r>
              <a:rPr dirty="0" sz="1900" spc="-20"/>
              <a:t>en</a:t>
            </a:r>
            <a:r>
              <a:rPr dirty="0" sz="1900" spc="-204"/>
              <a:t> </a:t>
            </a:r>
            <a:r>
              <a:rPr dirty="0" sz="1900"/>
              <a:t>la</a:t>
            </a:r>
            <a:r>
              <a:rPr dirty="0" sz="1900" spc="-200"/>
              <a:t> </a:t>
            </a:r>
            <a:r>
              <a:rPr dirty="0" sz="1900"/>
              <a:t>forma</a:t>
            </a:r>
            <a:r>
              <a:rPr dirty="0" sz="1900" spc="-200"/>
              <a:t> </a:t>
            </a:r>
            <a:r>
              <a:rPr dirty="0" sz="1900" spc="-30"/>
              <a:t>adecuada</a:t>
            </a:r>
            <a:r>
              <a:rPr dirty="0" sz="1900" spc="-200"/>
              <a:t> </a:t>
            </a:r>
            <a:r>
              <a:rPr dirty="0" sz="1900"/>
              <a:t>de</a:t>
            </a:r>
            <a:r>
              <a:rPr dirty="0" sz="1900" spc="-200"/>
              <a:t> </a:t>
            </a:r>
            <a:r>
              <a:rPr dirty="0" sz="1900" spc="-10"/>
              <a:t>representarla.</a:t>
            </a:r>
            <a:endParaRPr sz="1900"/>
          </a:p>
          <a:p>
            <a:pPr marL="89535" marR="15875">
              <a:lnSpc>
                <a:spcPct val="114999"/>
              </a:lnSpc>
              <a:spcBef>
                <a:spcPts val="1200"/>
              </a:spcBef>
            </a:pPr>
            <a:r>
              <a:rPr dirty="0" sz="1900" spc="-10"/>
              <a:t>La</a:t>
            </a:r>
            <a:r>
              <a:rPr dirty="0" sz="1900" spc="-204"/>
              <a:t> </a:t>
            </a:r>
            <a:r>
              <a:rPr dirty="0" sz="1900"/>
              <a:t>memoria</a:t>
            </a:r>
            <a:r>
              <a:rPr dirty="0" sz="1900" spc="-200"/>
              <a:t> </a:t>
            </a:r>
            <a:r>
              <a:rPr dirty="0" sz="1900"/>
              <a:t>física</a:t>
            </a:r>
            <a:r>
              <a:rPr dirty="0" sz="1900" spc="-200"/>
              <a:t> </a:t>
            </a:r>
            <a:r>
              <a:rPr dirty="0" sz="1900" spc="-20"/>
              <a:t>puede</a:t>
            </a:r>
            <a:r>
              <a:rPr dirty="0" sz="1900" spc="-200"/>
              <a:t> </a:t>
            </a:r>
            <a:r>
              <a:rPr dirty="0" sz="1900"/>
              <a:t>ser</a:t>
            </a:r>
            <a:r>
              <a:rPr dirty="0" sz="1900" spc="-204"/>
              <a:t> </a:t>
            </a:r>
            <a:r>
              <a:rPr dirty="0" sz="1900" spc="-25"/>
              <a:t>imaginada</a:t>
            </a:r>
            <a:r>
              <a:rPr dirty="0" sz="1900" spc="-200"/>
              <a:t> </a:t>
            </a:r>
            <a:r>
              <a:rPr dirty="0" sz="1900"/>
              <a:t>como</a:t>
            </a:r>
            <a:r>
              <a:rPr dirty="0" sz="1900" spc="-200"/>
              <a:t> </a:t>
            </a:r>
            <a:r>
              <a:rPr dirty="0" sz="1900" spc="-20"/>
              <a:t>un</a:t>
            </a:r>
            <a:r>
              <a:rPr dirty="0" sz="1900" spc="-200"/>
              <a:t> </a:t>
            </a:r>
            <a:r>
              <a:rPr dirty="0" sz="1900"/>
              <a:t>arreglo</a:t>
            </a:r>
            <a:r>
              <a:rPr dirty="0" sz="1900" spc="-204"/>
              <a:t> </a:t>
            </a:r>
            <a:r>
              <a:rPr dirty="0" sz="1900"/>
              <a:t>de</a:t>
            </a:r>
            <a:r>
              <a:rPr dirty="0" sz="1900" spc="-200"/>
              <a:t> </a:t>
            </a:r>
            <a:r>
              <a:rPr dirty="0" sz="1900" spc="-10"/>
              <a:t>direcciones </a:t>
            </a:r>
            <a:r>
              <a:rPr dirty="0" sz="1900"/>
              <a:t>de</a:t>
            </a:r>
            <a:r>
              <a:rPr dirty="0" sz="1900" spc="-225"/>
              <a:t> </a:t>
            </a:r>
            <a:r>
              <a:rPr dirty="0" sz="1900"/>
              <a:t>memoria</a:t>
            </a:r>
            <a:r>
              <a:rPr dirty="0" sz="1900" spc="-220"/>
              <a:t> </a:t>
            </a:r>
            <a:r>
              <a:rPr dirty="0" sz="1900" spc="-30"/>
              <a:t>una</a:t>
            </a:r>
            <a:r>
              <a:rPr dirty="0" sz="1900" spc="-220"/>
              <a:t> </a:t>
            </a:r>
            <a:r>
              <a:rPr dirty="0" sz="1900"/>
              <a:t>detrás</a:t>
            </a:r>
            <a:r>
              <a:rPr dirty="0" sz="1900" spc="-220"/>
              <a:t> </a:t>
            </a:r>
            <a:r>
              <a:rPr dirty="0" sz="1900"/>
              <a:t>de</a:t>
            </a:r>
            <a:r>
              <a:rPr dirty="0" sz="1900" spc="-220"/>
              <a:t> </a:t>
            </a:r>
            <a:r>
              <a:rPr dirty="0" sz="1900" spc="-20"/>
              <a:t>otra.</a:t>
            </a:r>
            <a:endParaRPr sz="19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350" y="1458111"/>
            <a:ext cx="7921812" cy="6417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45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100"/>
              <a:t>¿</a:t>
            </a:r>
            <a:r>
              <a:rPr dirty="0" spc="-135"/>
              <a:t> </a:t>
            </a:r>
            <a:r>
              <a:rPr dirty="0" spc="100"/>
              <a:t>Qué</a:t>
            </a:r>
            <a:r>
              <a:rPr dirty="0" spc="-135"/>
              <a:t> </a:t>
            </a:r>
            <a:r>
              <a:rPr dirty="0" spc="114"/>
              <a:t>es</a:t>
            </a:r>
            <a:r>
              <a:rPr dirty="0" spc="-135"/>
              <a:t> </a:t>
            </a:r>
            <a:r>
              <a:rPr dirty="0" spc="85"/>
              <a:t>la</a:t>
            </a:r>
            <a:r>
              <a:rPr dirty="0" spc="-130"/>
              <a:t> </a:t>
            </a:r>
            <a:r>
              <a:rPr dirty="0" spc="60"/>
              <a:t>memoria?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56455" rIns="0" bIns="0" rtlCol="0" vert="horz">
            <a:spAutoFit/>
          </a:bodyPr>
          <a:lstStyle/>
          <a:p>
            <a:pPr marL="89535" marR="688340">
              <a:lnSpc>
                <a:spcPct val="114999"/>
              </a:lnSpc>
              <a:spcBef>
                <a:spcPts val="100"/>
              </a:spcBef>
            </a:pPr>
            <a:r>
              <a:rPr dirty="0" sz="1800"/>
              <a:t>Esta</a:t>
            </a:r>
            <a:r>
              <a:rPr dirty="0" sz="1800" spc="-185"/>
              <a:t> </a:t>
            </a:r>
            <a:r>
              <a:rPr dirty="0" sz="1800" spc="-110"/>
              <a:t>“</a:t>
            </a:r>
            <a:r>
              <a:rPr dirty="0" sz="1800" spc="-110" b="1">
                <a:latin typeface="Tahoma"/>
                <a:cs typeface="Tahoma"/>
              </a:rPr>
              <a:t>abstracción</a:t>
            </a:r>
            <a:r>
              <a:rPr dirty="0" sz="1800" spc="-110"/>
              <a:t>”</a:t>
            </a:r>
            <a:r>
              <a:rPr dirty="0" sz="1800" spc="-185"/>
              <a:t> </a:t>
            </a:r>
            <a:r>
              <a:rPr dirty="0" sz="1800" spc="-25"/>
              <a:t>es</a:t>
            </a:r>
            <a:r>
              <a:rPr dirty="0" sz="1800" spc="-185"/>
              <a:t> </a:t>
            </a:r>
            <a:r>
              <a:rPr dirty="0" sz="1800" spc="-25"/>
              <a:t>manejable</a:t>
            </a:r>
            <a:r>
              <a:rPr dirty="0" sz="1800" spc="-180"/>
              <a:t> </a:t>
            </a:r>
            <a:r>
              <a:rPr dirty="0" sz="1800"/>
              <a:t>mientras</a:t>
            </a:r>
            <a:r>
              <a:rPr dirty="0" sz="1800" spc="-185"/>
              <a:t> </a:t>
            </a:r>
            <a:r>
              <a:rPr dirty="0" sz="1800"/>
              <a:t>la</a:t>
            </a:r>
            <a:r>
              <a:rPr dirty="0" sz="1800" spc="-185"/>
              <a:t> </a:t>
            </a:r>
            <a:r>
              <a:rPr dirty="0" sz="1800"/>
              <a:t>cantidad</a:t>
            </a:r>
            <a:r>
              <a:rPr dirty="0" sz="1800" spc="-180"/>
              <a:t> </a:t>
            </a:r>
            <a:r>
              <a:rPr dirty="0" sz="1800" spc="-10"/>
              <a:t>de</a:t>
            </a:r>
            <a:r>
              <a:rPr dirty="0" sz="1800" spc="-185"/>
              <a:t> </a:t>
            </a:r>
            <a:r>
              <a:rPr dirty="0" sz="1800" spc="-10"/>
              <a:t>memoria </a:t>
            </a:r>
            <a:r>
              <a:rPr dirty="0" sz="1800"/>
              <a:t>necesitada</a:t>
            </a:r>
            <a:r>
              <a:rPr dirty="0" sz="1800" spc="-204"/>
              <a:t> </a:t>
            </a:r>
            <a:r>
              <a:rPr dirty="0" sz="1800"/>
              <a:t>está</a:t>
            </a:r>
            <a:r>
              <a:rPr dirty="0" sz="1800" spc="-204"/>
              <a:t> </a:t>
            </a:r>
            <a:r>
              <a:rPr dirty="0" sz="1800" spc="-10"/>
              <a:t>en</a:t>
            </a:r>
            <a:r>
              <a:rPr dirty="0" sz="1800" spc="-200"/>
              <a:t> </a:t>
            </a:r>
            <a:r>
              <a:rPr dirty="0" sz="1800"/>
              <a:t>un</a:t>
            </a:r>
            <a:r>
              <a:rPr dirty="0" sz="1800" spc="-204"/>
              <a:t> </a:t>
            </a:r>
            <a:r>
              <a:rPr dirty="0" sz="1800" spc="-25"/>
              <a:t>rango</a:t>
            </a:r>
            <a:r>
              <a:rPr dirty="0" sz="1800" spc="-204"/>
              <a:t> </a:t>
            </a:r>
            <a:r>
              <a:rPr dirty="0" sz="1800" spc="-45"/>
              <a:t>“manejable”</a:t>
            </a:r>
            <a:r>
              <a:rPr dirty="0" sz="1800" spc="-200"/>
              <a:t> </a:t>
            </a:r>
            <a:r>
              <a:rPr dirty="0" sz="1800"/>
              <a:t>y</a:t>
            </a:r>
            <a:r>
              <a:rPr dirty="0" sz="1800" spc="-204"/>
              <a:t> </a:t>
            </a:r>
            <a:r>
              <a:rPr dirty="0" sz="1800"/>
              <a:t>cual</a:t>
            </a:r>
            <a:r>
              <a:rPr dirty="0" sz="1800" spc="-204"/>
              <a:t> </a:t>
            </a:r>
            <a:r>
              <a:rPr dirty="0" sz="1800" spc="-25"/>
              <a:t>es</a:t>
            </a:r>
            <a:r>
              <a:rPr dirty="0" sz="1800" spc="-200"/>
              <a:t> </a:t>
            </a:r>
            <a:r>
              <a:rPr dirty="0" sz="1800" spc="-25"/>
              <a:t>ese</a:t>
            </a:r>
            <a:r>
              <a:rPr dirty="0" sz="1800" spc="-204"/>
              <a:t> </a:t>
            </a:r>
            <a:r>
              <a:rPr dirty="0" sz="1800" spc="-10"/>
              <a:t>rango.</a:t>
            </a:r>
            <a:endParaRPr sz="1800">
              <a:latin typeface="Tahoma"/>
              <a:cs typeface="Tahoma"/>
            </a:endParaRPr>
          </a:p>
          <a:p>
            <a:pPr marL="89535" marR="5080">
              <a:lnSpc>
                <a:spcPct val="114999"/>
              </a:lnSpc>
              <a:spcBef>
                <a:spcPts val="1200"/>
              </a:spcBef>
            </a:pPr>
            <a:r>
              <a:rPr dirty="0" sz="1800"/>
              <a:t>En</a:t>
            </a:r>
            <a:r>
              <a:rPr dirty="0" sz="1800" spc="-175"/>
              <a:t> </a:t>
            </a:r>
            <a:r>
              <a:rPr dirty="0" sz="1800" spc="80"/>
              <a:t>DOS</a:t>
            </a:r>
            <a:r>
              <a:rPr dirty="0" sz="1800" spc="-175"/>
              <a:t> </a:t>
            </a:r>
            <a:r>
              <a:rPr dirty="0" sz="1800"/>
              <a:t>(Disk</a:t>
            </a:r>
            <a:r>
              <a:rPr dirty="0" sz="1800" spc="-175"/>
              <a:t> </a:t>
            </a:r>
            <a:r>
              <a:rPr dirty="0" sz="1800"/>
              <a:t>Operating</a:t>
            </a:r>
            <a:r>
              <a:rPr dirty="0" sz="1800" spc="-170"/>
              <a:t> </a:t>
            </a:r>
            <a:r>
              <a:rPr dirty="0" sz="1800" spc="-35"/>
              <a:t>System)</a:t>
            </a:r>
            <a:r>
              <a:rPr dirty="0" sz="1800" spc="-175"/>
              <a:t> </a:t>
            </a:r>
            <a:r>
              <a:rPr dirty="0" sz="1800" spc="-25"/>
              <a:t>ese</a:t>
            </a:r>
            <a:r>
              <a:rPr dirty="0" sz="1800" spc="-175"/>
              <a:t> </a:t>
            </a:r>
            <a:r>
              <a:rPr dirty="0" sz="1800" spc="-25"/>
              <a:t>rango</a:t>
            </a:r>
            <a:r>
              <a:rPr dirty="0" sz="1800" spc="-170"/>
              <a:t> </a:t>
            </a:r>
            <a:r>
              <a:rPr dirty="0" sz="1800"/>
              <a:t>lo</a:t>
            </a:r>
            <a:r>
              <a:rPr dirty="0" sz="1800" spc="-175"/>
              <a:t> </a:t>
            </a:r>
            <a:r>
              <a:rPr dirty="0" sz="1800" spc="-25"/>
              <a:t>daba</a:t>
            </a:r>
            <a:r>
              <a:rPr dirty="0" sz="1800" spc="-175"/>
              <a:t> </a:t>
            </a:r>
            <a:r>
              <a:rPr dirty="0" sz="1800"/>
              <a:t>la</a:t>
            </a:r>
            <a:r>
              <a:rPr dirty="0" sz="1800" spc="-170"/>
              <a:t> </a:t>
            </a:r>
            <a:r>
              <a:rPr dirty="0" sz="1800"/>
              <a:t>elección</a:t>
            </a:r>
            <a:r>
              <a:rPr dirty="0" sz="1800" spc="-175"/>
              <a:t> </a:t>
            </a:r>
            <a:r>
              <a:rPr dirty="0" sz="1800" spc="-10"/>
              <a:t>de</a:t>
            </a:r>
            <a:r>
              <a:rPr dirty="0" sz="1800" spc="-175"/>
              <a:t> </a:t>
            </a:r>
            <a:r>
              <a:rPr dirty="0" sz="1800" spc="-25"/>
              <a:t>una </a:t>
            </a:r>
            <a:r>
              <a:rPr dirty="0" sz="1800"/>
              <a:t>arquitectura</a:t>
            </a:r>
            <a:r>
              <a:rPr dirty="0" sz="1800" spc="-145"/>
              <a:t> </a:t>
            </a:r>
            <a:r>
              <a:rPr dirty="0" sz="1800" spc="-10"/>
              <a:t>determinada,</a:t>
            </a:r>
            <a:r>
              <a:rPr dirty="0" sz="1800" spc="-140"/>
              <a:t> </a:t>
            </a:r>
            <a:r>
              <a:rPr dirty="0" sz="1800"/>
              <a:t>la</a:t>
            </a:r>
            <a:r>
              <a:rPr dirty="0" sz="1800" spc="-140"/>
              <a:t> </a:t>
            </a:r>
            <a:r>
              <a:rPr dirty="0" sz="1800"/>
              <a:t>del</a:t>
            </a:r>
            <a:r>
              <a:rPr dirty="0" sz="1800" spc="-140"/>
              <a:t> </a:t>
            </a:r>
            <a:r>
              <a:rPr dirty="0" sz="1800"/>
              <a:t>8086,</a:t>
            </a:r>
            <a:r>
              <a:rPr dirty="0" sz="1800" spc="-140"/>
              <a:t> </a:t>
            </a:r>
            <a:r>
              <a:rPr dirty="0" sz="1800"/>
              <a:t>que</a:t>
            </a:r>
            <a:r>
              <a:rPr dirty="0" sz="1800" spc="-140"/>
              <a:t> </a:t>
            </a:r>
            <a:r>
              <a:rPr dirty="0" sz="1800"/>
              <a:t>permite</a:t>
            </a:r>
            <a:r>
              <a:rPr dirty="0" sz="1800" spc="-140"/>
              <a:t> </a:t>
            </a:r>
            <a:r>
              <a:rPr dirty="0" sz="1800"/>
              <a:t>tener</a:t>
            </a:r>
            <a:r>
              <a:rPr dirty="0" sz="1800" spc="-140"/>
              <a:t> </a:t>
            </a:r>
            <a:r>
              <a:rPr dirty="0" sz="1800"/>
              <a:t>direcciones</a:t>
            </a:r>
            <a:r>
              <a:rPr dirty="0" sz="1800" spc="-140"/>
              <a:t> </a:t>
            </a:r>
            <a:r>
              <a:rPr dirty="0" sz="1800" spc="-25"/>
              <a:t>de </a:t>
            </a:r>
            <a:r>
              <a:rPr dirty="0" sz="1800"/>
              <a:t>memoria</a:t>
            </a:r>
            <a:r>
              <a:rPr dirty="0" sz="1800" spc="-155"/>
              <a:t> </a:t>
            </a:r>
            <a:r>
              <a:rPr dirty="0" sz="1800" spc="-10"/>
              <a:t>de</a:t>
            </a:r>
            <a:r>
              <a:rPr dirty="0" sz="1800" spc="-150"/>
              <a:t> </a:t>
            </a:r>
            <a:r>
              <a:rPr dirty="0" sz="1800" spc="-10"/>
              <a:t>hasta</a:t>
            </a:r>
            <a:r>
              <a:rPr dirty="0" sz="1800" spc="-155"/>
              <a:t> </a:t>
            </a:r>
            <a:r>
              <a:rPr dirty="0" sz="1800"/>
              <a:t>220</a:t>
            </a:r>
            <a:r>
              <a:rPr dirty="0" sz="1800" spc="-150"/>
              <a:t> </a:t>
            </a:r>
            <a:r>
              <a:rPr dirty="0" sz="1800" spc="-20"/>
              <a:t>bits,</a:t>
            </a:r>
            <a:r>
              <a:rPr dirty="0" sz="1800" spc="-150"/>
              <a:t> </a:t>
            </a:r>
            <a:r>
              <a:rPr dirty="0" sz="1800" spc="-25"/>
              <a:t>es</a:t>
            </a:r>
            <a:r>
              <a:rPr dirty="0" sz="1800" spc="-155"/>
              <a:t> </a:t>
            </a:r>
            <a:r>
              <a:rPr dirty="0" sz="1800"/>
              <a:t>decir</a:t>
            </a:r>
            <a:r>
              <a:rPr dirty="0" sz="1800" spc="-150"/>
              <a:t> </a:t>
            </a:r>
            <a:r>
              <a:rPr dirty="0" sz="1800"/>
              <a:t>1</a:t>
            </a:r>
            <a:r>
              <a:rPr dirty="0" sz="1800" spc="-155"/>
              <a:t> </a:t>
            </a:r>
            <a:r>
              <a:rPr dirty="0" sz="1800"/>
              <a:t>MegaByte</a:t>
            </a:r>
            <a:r>
              <a:rPr dirty="0" sz="1800" spc="-150"/>
              <a:t> </a:t>
            </a:r>
            <a:r>
              <a:rPr dirty="0" sz="1800" spc="-10"/>
              <a:t>de</a:t>
            </a:r>
            <a:r>
              <a:rPr dirty="0" sz="1800" spc="-150"/>
              <a:t> </a:t>
            </a:r>
            <a:r>
              <a:rPr dirty="0" sz="1800" spc="-10"/>
              <a:t>memoria.</a:t>
            </a:r>
            <a:endParaRPr sz="18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350" y="1330961"/>
            <a:ext cx="7921812" cy="6417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488315"/>
          </a:xfrm>
          <a:custGeom>
            <a:avLst/>
            <a:gdLst/>
            <a:ahLst/>
            <a:cxnLst/>
            <a:rect l="l" t="t" r="r" b="b"/>
            <a:pathLst>
              <a:path w="9144000" h="488315">
                <a:moveTo>
                  <a:pt x="9143999" y="487799"/>
                </a:moveTo>
                <a:lnTo>
                  <a:pt x="0" y="48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487799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830391" y="1191255"/>
            <a:ext cx="746125" cy="46355"/>
            <a:chOff x="830391" y="1191255"/>
            <a:chExt cx="746125" cy="46355"/>
          </a:xfrm>
        </p:grpSpPr>
        <p:sp>
          <p:nvSpPr>
            <p:cNvPr id="4" name="object 4" descr=""/>
            <p:cNvSpPr/>
            <p:nvPr/>
          </p:nvSpPr>
          <p:spPr>
            <a:xfrm>
              <a:off x="1203295" y="1191255"/>
              <a:ext cx="373380" cy="46355"/>
            </a:xfrm>
            <a:custGeom>
              <a:avLst/>
              <a:gdLst/>
              <a:ahLst/>
              <a:cxnLst/>
              <a:rect l="l" t="t" r="r" b="b"/>
              <a:pathLst>
                <a:path w="373380" h="46355">
                  <a:moveTo>
                    <a:pt x="372859" y="45826"/>
                  </a:moveTo>
                  <a:lnTo>
                    <a:pt x="0" y="45826"/>
                  </a:lnTo>
                  <a:lnTo>
                    <a:pt x="0" y="0"/>
                  </a:lnTo>
                  <a:lnTo>
                    <a:pt x="372859" y="0"/>
                  </a:lnTo>
                  <a:lnTo>
                    <a:pt x="372859" y="45826"/>
                  </a:lnTo>
                  <a:close/>
                </a:path>
              </a:pathLst>
            </a:custGeom>
            <a:solidFill>
              <a:srgbClr val="EB5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0391" y="1191255"/>
              <a:ext cx="376555" cy="46355"/>
            </a:xfrm>
            <a:custGeom>
              <a:avLst/>
              <a:gdLst/>
              <a:ahLst/>
              <a:cxnLst/>
              <a:rect l="l" t="t" r="r" b="b"/>
              <a:pathLst>
                <a:path w="376555" h="46355">
                  <a:moveTo>
                    <a:pt x="376012" y="45826"/>
                  </a:moveTo>
                  <a:lnTo>
                    <a:pt x="0" y="45826"/>
                  </a:lnTo>
                  <a:lnTo>
                    <a:pt x="0" y="0"/>
                  </a:lnTo>
                  <a:lnTo>
                    <a:pt x="376012" y="0"/>
                  </a:lnTo>
                  <a:lnTo>
                    <a:pt x="376012" y="45826"/>
                  </a:lnTo>
                  <a:close/>
                </a:path>
              </a:pathLst>
            </a:custGeom>
            <a:solidFill>
              <a:srgbClr val="1A99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873798" y="4669438"/>
            <a:ext cx="4329430" cy="3822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300" spc="65" b="1">
                <a:solidFill>
                  <a:srgbClr val="1A1A1A"/>
                </a:solidFill>
                <a:latin typeface="Trebuchet MS"/>
                <a:cs typeface="Trebuchet MS"/>
              </a:rPr>
              <a:t>memoria</a:t>
            </a:r>
            <a:r>
              <a:rPr dirty="0" sz="2300" spc="-120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114" b="1">
                <a:solidFill>
                  <a:srgbClr val="1A1A1A"/>
                </a:solidFill>
                <a:latin typeface="Trebuchet MS"/>
                <a:cs typeface="Trebuchet MS"/>
              </a:rPr>
              <a:t>de</a:t>
            </a:r>
            <a:r>
              <a:rPr dirty="0" sz="2300" spc="-120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90" b="1">
                <a:solidFill>
                  <a:srgbClr val="1A1A1A"/>
                </a:solidFill>
                <a:latin typeface="Trebuchet MS"/>
                <a:cs typeface="Trebuchet MS"/>
              </a:rPr>
              <a:t>núcleos</a:t>
            </a:r>
            <a:r>
              <a:rPr dirty="0" sz="2300" spc="-120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114" b="1">
                <a:solidFill>
                  <a:srgbClr val="1A1A1A"/>
                </a:solidFill>
                <a:latin typeface="Trebuchet MS"/>
                <a:cs typeface="Trebuchet MS"/>
              </a:rPr>
              <a:t>de</a:t>
            </a:r>
            <a:r>
              <a:rPr dirty="0" sz="2300" spc="-120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-10" b="1">
                <a:solidFill>
                  <a:srgbClr val="1A1A1A"/>
                </a:solidFill>
                <a:latin typeface="Trebuchet MS"/>
                <a:cs typeface="Trebuchet MS"/>
              </a:rPr>
              <a:t>ferrita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2476" y="535650"/>
            <a:ext cx="3745000" cy="35837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78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114"/>
              <a:t>Los</a:t>
            </a:r>
            <a:r>
              <a:rPr dirty="0" spc="-45"/>
              <a:t> </a:t>
            </a:r>
            <a:r>
              <a:rPr dirty="0"/>
              <a:t>Early</a:t>
            </a:r>
            <a:r>
              <a:rPr dirty="0" spc="-110"/>
              <a:t> </a:t>
            </a:r>
            <a:r>
              <a:rPr dirty="0" spc="90"/>
              <a:t>Days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338589"/>
            <a:ext cx="4541520" cy="2356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795">
              <a:lnSpc>
                <a:spcPct val="114999"/>
              </a:lnSpc>
              <a:spcBef>
                <a:spcPts val="100"/>
              </a:spcBef>
            </a:pP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900" spc="3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900" spc="3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primeros</a:t>
            </a:r>
            <a:r>
              <a:rPr dirty="0" sz="1900" spc="3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Sistemas</a:t>
            </a:r>
            <a:r>
              <a:rPr dirty="0" sz="1900" spc="3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Operativos,</a:t>
            </a:r>
            <a:r>
              <a:rPr dirty="0" sz="1900" spc="3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en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“the</a:t>
            </a:r>
            <a:r>
              <a:rPr dirty="0" sz="1900" spc="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Early</a:t>
            </a:r>
            <a:r>
              <a:rPr dirty="0" sz="1900" spc="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30">
                <a:solidFill>
                  <a:srgbClr val="595959"/>
                </a:solidFill>
                <a:latin typeface="Tahoma"/>
                <a:cs typeface="Tahoma"/>
              </a:rPr>
              <a:t>Days”,</a:t>
            </a:r>
            <a:r>
              <a:rPr dirty="0" sz="1900" spc="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900" spc="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9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cuales</a:t>
            </a:r>
            <a:r>
              <a:rPr dirty="0" sz="1900" spc="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mismo</a:t>
            </a:r>
            <a:endParaRPr sz="1900">
              <a:latin typeface="Tahoma"/>
              <a:cs typeface="Tahoma"/>
            </a:endParaRPr>
          </a:p>
          <a:p>
            <a:pPr algn="just" marL="12700" marR="5080">
              <a:lnSpc>
                <a:spcPct val="114999"/>
              </a:lnSpc>
            </a:pPr>
            <a:r>
              <a:rPr dirty="0" sz="1900" spc="-90">
                <a:solidFill>
                  <a:srgbClr val="595959"/>
                </a:solidFill>
                <a:latin typeface="Tahoma"/>
                <a:cs typeface="Tahoma"/>
              </a:rPr>
              <a:t>S.O.</a:t>
            </a:r>
            <a:r>
              <a:rPr dirty="0" sz="19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9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desplegaba</a:t>
            </a:r>
            <a:r>
              <a:rPr dirty="0" sz="19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9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9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b="1" i="1">
                <a:solidFill>
                  <a:srgbClr val="595959"/>
                </a:solidFill>
                <a:latin typeface="Trebuchet MS"/>
                <a:cs typeface="Trebuchet MS"/>
              </a:rPr>
              <a:t>64</a:t>
            </a:r>
            <a:r>
              <a:rPr dirty="0" sz="1900" spc="-4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25" b="1" i="1">
                <a:solidFill>
                  <a:srgbClr val="595959"/>
                </a:solidFill>
                <a:latin typeface="Trebuchet MS"/>
                <a:cs typeface="Trebuchet MS"/>
              </a:rPr>
              <a:t>KiloBytes</a:t>
            </a:r>
            <a:r>
              <a:rPr dirty="0" sz="1900" spc="-2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memoria,</a:t>
            </a:r>
            <a:r>
              <a:rPr dirty="0" sz="1900" spc="3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b="1" i="1">
                <a:solidFill>
                  <a:srgbClr val="595959"/>
                </a:solidFill>
                <a:latin typeface="Trebuchet MS"/>
                <a:cs typeface="Trebuchet MS"/>
              </a:rPr>
              <a:t>el</a:t>
            </a:r>
            <a:r>
              <a:rPr dirty="0" sz="1900" spc="36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b="1" i="1">
                <a:solidFill>
                  <a:srgbClr val="595959"/>
                </a:solidFill>
                <a:latin typeface="Trebuchet MS"/>
                <a:cs typeface="Trebuchet MS"/>
              </a:rPr>
              <a:t>resto</a:t>
            </a:r>
            <a:r>
              <a:rPr dirty="0" sz="1900" spc="36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b="1" i="1">
                <a:solidFill>
                  <a:srgbClr val="595959"/>
                </a:solidFill>
                <a:latin typeface="Trebuchet MS"/>
                <a:cs typeface="Trebuchet MS"/>
              </a:rPr>
              <a:t>de</a:t>
            </a:r>
            <a:r>
              <a:rPr dirty="0" sz="1900" spc="36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b="1" i="1">
                <a:solidFill>
                  <a:srgbClr val="595959"/>
                </a:solidFill>
                <a:latin typeface="Trebuchet MS"/>
                <a:cs typeface="Trebuchet MS"/>
              </a:rPr>
              <a:t>la</a:t>
            </a:r>
            <a:r>
              <a:rPr dirty="0" sz="1900" spc="36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b="1" i="1">
                <a:solidFill>
                  <a:srgbClr val="595959"/>
                </a:solidFill>
                <a:latin typeface="Trebuchet MS"/>
                <a:cs typeface="Trebuchet MS"/>
              </a:rPr>
              <a:t>misma</a:t>
            </a:r>
            <a:r>
              <a:rPr dirty="0" sz="1900" spc="36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50" b="1" i="1">
                <a:solidFill>
                  <a:srgbClr val="595959"/>
                </a:solidFill>
                <a:latin typeface="Trebuchet MS"/>
                <a:cs typeface="Trebuchet MS"/>
              </a:rPr>
              <a:t>estaba </a:t>
            </a:r>
            <a:r>
              <a:rPr dirty="0" sz="1900" b="1" i="1">
                <a:solidFill>
                  <a:srgbClr val="595959"/>
                </a:solidFill>
                <a:latin typeface="Trebuchet MS"/>
                <a:cs typeface="Trebuchet MS"/>
              </a:rPr>
              <a:t>disponible</a:t>
            </a:r>
            <a:r>
              <a:rPr dirty="0" sz="1900" spc="165" b="1" i="1">
                <a:solidFill>
                  <a:srgbClr val="595959"/>
                </a:solidFill>
                <a:latin typeface="Trebuchet MS"/>
                <a:cs typeface="Trebuchet MS"/>
              </a:rPr>
              <a:t>   </a:t>
            </a:r>
            <a:r>
              <a:rPr dirty="0" sz="1900" b="1" i="1">
                <a:solidFill>
                  <a:srgbClr val="595959"/>
                </a:solidFill>
                <a:latin typeface="Trebuchet MS"/>
                <a:cs typeface="Trebuchet MS"/>
              </a:rPr>
              <a:t>para</a:t>
            </a:r>
            <a:r>
              <a:rPr dirty="0" sz="1900" spc="165" b="1" i="1">
                <a:solidFill>
                  <a:srgbClr val="595959"/>
                </a:solidFill>
                <a:latin typeface="Trebuchet MS"/>
                <a:cs typeface="Trebuchet MS"/>
              </a:rPr>
              <a:t>   </a:t>
            </a:r>
            <a:r>
              <a:rPr dirty="0" sz="1900" b="1" i="1">
                <a:solidFill>
                  <a:srgbClr val="595959"/>
                </a:solidFill>
                <a:latin typeface="Trebuchet MS"/>
                <a:cs typeface="Trebuchet MS"/>
              </a:rPr>
              <a:t>un</a:t>
            </a:r>
            <a:r>
              <a:rPr dirty="0" sz="1900" spc="170" b="1" i="1">
                <a:solidFill>
                  <a:srgbClr val="595959"/>
                </a:solidFill>
                <a:latin typeface="Trebuchet MS"/>
                <a:cs typeface="Trebuchet MS"/>
              </a:rPr>
              <a:t>   </a:t>
            </a:r>
            <a:r>
              <a:rPr dirty="0" sz="1900" b="1" i="1">
                <a:solidFill>
                  <a:srgbClr val="595959"/>
                </a:solidFill>
                <a:latin typeface="Trebuchet MS"/>
                <a:cs typeface="Trebuchet MS"/>
              </a:rPr>
              <a:t>único</a:t>
            </a:r>
            <a:r>
              <a:rPr dirty="0" sz="1900" spc="165" b="1" i="1">
                <a:solidFill>
                  <a:srgbClr val="595959"/>
                </a:solidFill>
                <a:latin typeface="Trebuchet MS"/>
                <a:cs typeface="Trebuchet MS"/>
              </a:rPr>
              <a:t>   </a:t>
            </a:r>
            <a:r>
              <a:rPr dirty="0" sz="1900" spc="-135" b="1" i="1">
                <a:solidFill>
                  <a:srgbClr val="595959"/>
                </a:solidFill>
                <a:latin typeface="Trebuchet MS"/>
                <a:cs typeface="Trebuchet MS"/>
              </a:rPr>
              <a:t>proceso </a:t>
            </a:r>
            <a:r>
              <a:rPr dirty="0" sz="1900" spc="-45" b="1" i="1">
                <a:solidFill>
                  <a:srgbClr val="595959"/>
                </a:solidFill>
                <a:latin typeface="Trebuchet MS"/>
                <a:cs typeface="Trebuchet MS"/>
              </a:rPr>
              <a:t>ejecutándose</a:t>
            </a:r>
            <a:r>
              <a:rPr dirty="0" sz="1900" spc="46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b="1" i="1">
                <a:solidFill>
                  <a:srgbClr val="595959"/>
                </a:solidFill>
                <a:latin typeface="Trebuchet MS"/>
                <a:cs typeface="Trebuchet MS"/>
              </a:rPr>
              <a:t>a</a:t>
            </a:r>
            <a:r>
              <a:rPr dirty="0" sz="1900" spc="46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b="1" i="1">
                <a:solidFill>
                  <a:srgbClr val="595959"/>
                </a:solidFill>
                <a:latin typeface="Trebuchet MS"/>
                <a:cs typeface="Trebuchet MS"/>
              </a:rPr>
              <a:t>partir</a:t>
            </a:r>
            <a:r>
              <a:rPr dirty="0" sz="1900" spc="46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b="1" i="1">
                <a:solidFill>
                  <a:srgbClr val="595959"/>
                </a:solidFill>
                <a:latin typeface="Trebuchet MS"/>
                <a:cs typeface="Trebuchet MS"/>
              </a:rPr>
              <a:t>de</a:t>
            </a:r>
            <a:r>
              <a:rPr dirty="0" sz="1900" spc="46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b="1" i="1">
                <a:solidFill>
                  <a:srgbClr val="595959"/>
                </a:solidFill>
                <a:latin typeface="Trebuchet MS"/>
                <a:cs typeface="Trebuchet MS"/>
              </a:rPr>
              <a:t>los</a:t>
            </a:r>
            <a:r>
              <a:rPr dirty="0" sz="1900" spc="46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b="1" i="1">
                <a:solidFill>
                  <a:srgbClr val="595959"/>
                </a:solidFill>
                <a:latin typeface="Trebuchet MS"/>
                <a:cs typeface="Trebuchet MS"/>
              </a:rPr>
              <a:t>64Kb</a:t>
            </a:r>
            <a:r>
              <a:rPr dirty="0" sz="1900" spc="46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30" b="1" i="1">
                <a:solidFill>
                  <a:srgbClr val="595959"/>
                </a:solidFill>
                <a:latin typeface="Trebuchet MS"/>
                <a:cs typeface="Trebuchet MS"/>
              </a:rPr>
              <a:t>de </a:t>
            </a:r>
            <a:r>
              <a:rPr dirty="0" sz="1900" spc="-135" b="1" i="1">
                <a:solidFill>
                  <a:srgbClr val="595959"/>
                </a:solidFill>
                <a:latin typeface="Trebuchet MS"/>
                <a:cs typeface="Trebuchet MS"/>
              </a:rPr>
              <a:t>memoria</a:t>
            </a:r>
            <a:r>
              <a:rPr dirty="0" sz="1900" spc="-16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0" b="1" i="1">
                <a:solidFill>
                  <a:srgbClr val="595959"/>
                </a:solidFill>
                <a:latin typeface="Trebuchet MS"/>
                <a:cs typeface="Trebuchet MS"/>
              </a:rPr>
              <a:t>física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,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8936" y="1318650"/>
            <a:ext cx="2292153" cy="36118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88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114"/>
              <a:t>Los</a:t>
            </a:r>
            <a:r>
              <a:rPr dirty="0" spc="-45"/>
              <a:t> </a:t>
            </a:r>
            <a:r>
              <a:rPr dirty="0"/>
              <a:t>Early</a:t>
            </a:r>
            <a:r>
              <a:rPr dirty="0" spc="-110"/>
              <a:t> </a:t>
            </a:r>
            <a:r>
              <a:rPr dirty="0" spc="90"/>
              <a:t>Days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344177"/>
            <a:ext cx="4178935" cy="2707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700" spc="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operativo</a:t>
            </a:r>
            <a:r>
              <a:rPr dirty="0" sz="1700" spc="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era</a:t>
            </a:r>
            <a:r>
              <a:rPr dirty="0" sz="1700" spc="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700" spc="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700" spc="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menos</a:t>
            </a:r>
            <a:r>
              <a:rPr dirty="0" sz="1700" spc="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conjunto</a:t>
            </a:r>
            <a:r>
              <a:rPr dirty="0" sz="1700" spc="375">
                <a:solidFill>
                  <a:srgbClr val="595959"/>
                </a:solidFill>
                <a:latin typeface="Tahoma"/>
                <a:cs typeface="Tahoma"/>
              </a:rPr>
              <a:t> 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380">
                <a:solidFill>
                  <a:srgbClr val="595959"/>
                </a:solidFill>
                <a:latin typeface="Tahoma"/>
                <a:cs typeface="Tahoma"/>
              </a:rPr>
              <a:t> 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funciones</a:t>
            </a:r>
            <a:r>
              <a:rPr dirty="0" sz="1700" spc="380">
                <a:solidFill>
                  <a:srgbClr val="595959"/>
                </a:solidFill>
                <a:latin typeface="Tahoma"/>
                <a:cs typeface="Tahoma"/>
              </a:rPr>
              <a:t> 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700" spc="380">
                <a:solidFill>
                  <a:srgbClr val="595959"/>
                </a:solidFill>
                <a:latin typeface="Tahoma"/>
                <a:cs typeface="Tahoma"/>
              </a:rPr>
              <a:t>  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rutinas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(específicamente</a:t>
            </a:r>
            <a:r>
              <a:rPr dirty="0" sz="1700" spc="8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8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biblioteca)</a:t>
            </a:r>
            <a:r>
              <a:rPr dirty="0" sz="1700" spc="8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8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se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alojaba</a:t>
            </a:r>
            <a:r>
              <a:rPr dirty="0" sz="1700" spc="4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4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4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700" spc="4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empezando</a:t>
            </a:r>
            <a:r>
              <a:rPr dirty="0" sz="1700" spc="4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4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7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física</a:t>
            </a:r>
            <a:r>
              <a:rPr dirty="0" sz="17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90">
                <a:solidFill>
                  <a:srgbClr val="595959"/>
                </a:solidFill>
                <a:latin typeface="Tahoma"/>
                <a:cs typeface="Tahoma"/>
              </a:rPr>
              <a:t>0,</a:t>
            </a:r>
            <a:r>
              <a:rPr dirty="0" sz="17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después</a:t>
            </a:r>
            <a:r>
              <a:rPr dirty="0" sz="17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existía</a:t>
            </a:r>
            <a:r>
              <a:rPr dirty="0" sz="17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único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17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7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(un</a:t>
            </a:r>
            <a:r>
              <a:rPr dirty="0" sz="17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proceso)</a:t>
            </a:r>
            <a:r>
              <a:rPr dirty="0" sz="17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se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encontraba</a:t>
            </a:r>
            <a:r>
              <a:rPr dirty="0" sz="1700" spc="9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9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9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700" spc="10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física</a:t>
            </a:r>
            <a:r>
              <a:rPr dirty="0" sz="1700" spc="9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9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computadora,</a:t>
            </a:r>
            <a:r>
              <a:rPr dirty="0" sz="1700" spc="-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era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resto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no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utilizado</a:t>
            </a:r>
            <a:r>
              <a:rPr dirty="0" sz="17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7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operativo.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8936" y="1318650"/>
            <a:ext cx="2292153" cy="36118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75733" y="4362517"/>
            <a:ext cx="459486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20" b="1">
                <a:solidFill>
                  <a:srgbClr val="595959"/>
                </a:solidFill>
                <a:latin typeface="Tahoma"/>
                <a:cs typeface="Tahoma"/>
              </a:rPr>
              <a:t>Atlas</a:t>
            </a:r>
            <a:r>
              <a:rPr dirty="0" sz="2800" spc="-2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800" spc="-195" b="1">
                <a:solidFill>
                  <a:srgbClr val="595959"/>
                </a:solidFill>
                <a:latin typeface="Tahoma"/>
                <a:cs typeface="Tahoma"/>
              </a:rPr>
              <a:t>Univ.</a:t>
            </a:r>
            <a:r>
              <a:rPr dirty="0" sz="2800" spc="-2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800" spc="-160" b="1">
                <a:solidFill>
                  <a:srgbClr val="595959"/>
                </a:solidFill>
                <a:latin typeface="Tahoma"/>
                <a:cs typeface="Tahoma"/>
              </a:rPr>
              <a:t>Manchester</a:t>
            </a:r>
            <a:r>
              <a:rPr dirty="0" sz="2800" spc="-229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800" spc="-95" b="1">
                <a:solidFill>
                  <a:srgbClr val="595959"/>
                </a:solidFill>
                <a:latin typeface="Tahoma"/>
                <a:cs typeface="Tahoma"/>
              </a:rPr>
              <a:t>1961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4950" y="383225"/>
            <a:ext cx="5862892" cy="389882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966225" y="289603"/>
            <a:ext cx="2097405" cy="1848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300" spc="-30">
                <a:latin typeface="Tahoma"/>
                <a:cs typeface="Tahoma"/>
              </a:rPr>
              <a:t>It</a:t>
            </a:r>
            <a:r>
              <a:rPr dirty="0" sz="1300" spc="-14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used</a:t>
            </a:r>
            <a:r>
              <a:rPr dirty="0" sz="1300" spc="-145">
                <a:latin typeface="Tahoma"/>
                <a:cs typeface="Tahoma"/>
              </a:rPr>
              <a:t> </a:t>
            </a:r>
            <a:r>
              <a:rPr dirty="0" sz="1300" spc="-40">
                <a:latin typeface="Tahoma"/>
                <a:cs typeface="Tahoma"/>
              </a:rPr>
              <a:t>a</a:t>
            </a:r>
            <a:r>
              <a:rPr dirty="0" sz="1300" spc="-140">
                <a:latin typeface="Tahoma"/>
                <a:cs typeface="Tahoma"/>
              </a:rPr>
              <a:t> </a:t>
            </a:r>
            <a:r>
              <a:rPr dirty="0" sz="1300" spc="-25">
                <a:latin typeface="Tahoma"/>
                <a:cs typeface="Tahoma"/>
              </a:rPr>
              <a:t>paging</a:t>
            </a:r>
            <a:r>
              <a:rPr dirty="0" sz="1300" spc="-14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mechanism </a:t>
            </a:r>
            <a:r>
              <a:rPr dirty="0" sz="1300">
                <a:latin typeface="Tahoma"/>
                <a:cs typeface="Tahoma"/>
              </a:rPr>
              <a:t>to</a:t>
            </a:r>
            <a:r>
              <a:rPr dirty="0" sz="1300" spc="-95">
                <a:latin typeface="Tahoma"/>
                <a:cs typeface="Tahoma"/>
              </a:rPr>
              <a:t> </a:t>
            </a:r>
            <a:r>
              <a:rPr dirty="0" sz="1300" spc="-25">
                <a:latin typeface="Tahoma"/>
                <a:cs typeface="Tahoma"/>
              </a:rPr>
              <a:t>map</a:t>
            </a:r>
            <a:r>
              <a:rPr dirty="0" sz="1300" spc="-9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the</a:t>
            </a:r>
            <a:r>
              <a:rPr dirty="0" sz="1300" spc="-9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virtual</a:t>
            </a:r>
            <a:r>
              <a:rPr dirty="0" sz="1300" spc="-90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addresses available</a:t>
            </a:r>
            <a:r>
              <a:rPr dirty="0" sz="1300" spc="-10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to</a:t>
            </a:r>
            <a:r>
              <a:rPr dirty="0" sz="1300" spc="-10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the</a:t>
            </a:r>
            <a:r>
              <a:rPr dirty="0" sz="1300" spc="-100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programmer </a:t>
            </a:r>
            <a:r>
              <a:rPr dirty="0" sz="1300">
                <a:latin typeface="Tahoma"/>
                <a:cs typeface="Tahoma"/>
              </a:rPr>
              <a:t>on</a:t>
            </a:r>
            <a:r>
              <a:rPr dirty="0" sz="1300" spc="-12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to</a:t>
            </a:r>
            <a:r>
              <a:rPr dirty="0" sz="1300" spc="-12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the</a:t>
            </a:r>
            <a:r>
              <a:rPr dirty="0" sz="1300" spc="-114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real</a:t>
            </a:r>
            <a:r>
              <a:rPr dirty="0" sz="1300" spc="-12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memory</a:t>
            </a:r>
            <a:r>
              <a:rPr dirty="0" sz="1300" spc="-120">
                <a:latin typeface="Tahoma"/>
                <a:cs typeface="Tahoma"/>
              </a:rPr>
              <a:t> </a:t>
            </a:r>
            <a:r>
              <a:rPr dirty="0" sz="1300" spc="-20">
                <a:latin typeface="Tahoma"/>
                <a:cs typeface="Tahoma"/>
              </a:rPr>
              <a:t>that </a:t>
            </a:r>
            <a:r>
              <a:rPr dirty="0" sz="1300">
                <a:latin typeface="Tahoma"/>
                <a:cs typeface="Tahoma"/>
              </a:rPr>
              <a:t>consisted</a:t>
            </a:r>
            <a:r>
              <a:rPr dirty="0" sz="1300" spc="-9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of</a:t>
            </a:r>
            <a:r>
              <a:rPr dirty="0" sz="1300" spc="-9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16,384</a:t>
            </a:r>
            <a:r>
              <a:rPr dirty="0" sz="1300" spc="-9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words</a:t>
            </a:r>
            <a:r>
              <a:rPr dirty="0" sz="1300" spc="-90">
                <a:latin typeface="Tahoma"/>
                <a:cs typeface="Tahoma"/>
              </a:rPr>
              <a:t> </a:t>
            </a:r>
            <a:r>
              <a:rPr dirty="0" sz="1300" spc="-25">
                <a:latin typeface="Tahoma"/>
                <a:cs typeface="Tahoma"/>
              </a:rPr>
              <a:t>of </a:t>
            </a:r>
            <a:r>
              <a:rPr dirty="0" sz="1300">
                <a:latin typeface="Tahoma"/>
                <a:cs typeface="Tahoma"/>
              </a:rPr>
              <a:t>primary</a:t>
            </a:r>
            <a:r>
              <a:rPr dirty="0" sz="1300" spc="-9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core</a:t>
            </a:r>
            <a:r>
              <a:rPr dirty="0" sz="1300" spc="-9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memory</a:t>
            </a:r>
            <a:r>
              <a:rPr dirty="0" sz="1300" spc="-90">
                <a:latin typeface="Tahoma"/>
                <a:cs typeface="Tahoma"/>
              </a:rPr>
              <a:t> </a:t>
            </a:r>
            <a:r>
              <a:rPr dirty="0" sz="1300" spc="-20">
                <a:latin typeface="Tahoma"/>
                <a:cs typeface="Tahoma"/>
              </a:rPr>
              <a:t>with </a:t>
            </a:r>
            <a:r>
              <a:rPr dirty="0" sz="1300" spc="-30">
                <a:latin typeface="Tahoma"/>
                <a:cs typeface="Tahoma"/>
              </a:rPr>
              <a:t>an</a:t>
            </a:r>
            <a:r>
              <a:rPr dirty="0" sz="1300" spc="-9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additional</a:t>
            </a:r>
            <a:r>
              <a:rPr dirty="0" sz="1300" spc="-9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98,304</a:t>
            </a:r>
            <a:r>
              <a:rPr dirty="0" sz="1300" spc="-90">
                <a:latin typeface="Tahoma"/>
                <a:cs typeface="Tahoma"/>
              </a:rPr>
              <a:t> </a:t>
            </a:r>
            <a:r>
              <a:rPr dirty="0" sz="1300" spc="-20">
                <a:latin typeface="Tahoma"/>
                <a:cs typeface="Tahoma"/>
              </a:rPr>
              <a:t>words </a:t>
            </a:r>
            <a:r>
              <a:rPr dirty="0" sz="1300">
                <a:latin typeface="Tahoma"/>
                <a:cs typeface="Tahoma"/>
              </a:rPr>
              <a:t>of</a:t>
            </a:r>
            <a:r>
              <a:rPr dirty="0" sz="1300" spc="-12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secondary</a:t>
            </a:r>
            <a:r>
              <a:rPr dirty="0" sz="1300" spc="-114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drum</a:t>
            </a:r>
            <a:r>
              <a:rPr dirty="0" sz="1300" spc="-114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memory.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0825" y="1196865"/>
            <a:ext cx="3624579" cy="2917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500" spc="20">
                <a:latin typeface="Tahoma"/>
                <a:cs typeface="Tahoma"/>
              </a:rPr>
              <a:t>Multiprogramming</a:t>
            </a:r>
            <a:r>
              <a:rPr dirty="0" sz="1500" spc="-180">
                <a:latin typeface="Tahoma"/>
                <a:cs typeface="Tahoma"/>
              </a:rPr>
              <a:t> </a:t>
            </a:r>
            <a:r>
              <a:rPr dirty="0" sz="1500" spc="10">
                <a:latin typeface="Tahoma"/>
                <a:cs typeface="Tahoma"/>
              </a:rPr>
              <a:t>is</a:t>
            </a:r>
            <a:r>
              <a:rPr dirty="0" sz="1500" spc="-180">
                <a:latin typeface="Tahoma"/>
                <a:cs typeface="Tahoma"/>
              </a:rPr>
              <a:t> </a:t>
            </a:r>
            <a:r>
              <a:rPr dirty="0" sz="1500" spc="-35">
                <a:latin typeface="Tahoma"/>
                <a:cs typeface="Tahoma"/>
              </a:rPr>
              <a:t>a</a:t>
            </a:r>
            <a:r>
              <a:rPr dirty="0" sz="1500" spc="-180">
                <a:latin typeface="Tahoma"/>
                <a:cs typeface="Tahoma"/>
              </a:rPr>
              <a:t> </a:t>
            </a:r>
            <a:r>
              <a:rPr dirty="0" sz="1500" spc="10">
                <a:latin typeface="Tahoma"/>
                <a:cs typeface="Tahoma"/>
              </a:rPr>
              <a:t>rudimentary</a:t>
            </a:r>
            <a:r>
              <a:rPr dirty="0" sz="1500" spc="-180">
                <a:latin typeface="Tahoma"/>
                <a:cs typeface="Tahoma"/>
              </a:rPr>
              <a:t> </a:t>
            </a:r>
            <a:r>
              <a:rPr dirty="0" sz="1500" spc="15">
                <a:latin typeface="Tahoma"/>
                <a:cs typeface="Tahoma"/>
              </a:rPr>
              <a:t>form</a:t>
            </a:r>
            <a:r>
              <a:rPr dirty="0" sz="1500" spc="-180">
                <a:latin typeface="Tahoma"/>
                <a:cs typeface="Tahoma"/>
              </a:rPr>
              <a:t> </a:t>
            </a:r>
            <a:r>
              <a:rPr dirty="0" sz="1500" spc="-5">
                <a:latin typeface="Tahoma"/>
                <a:cs typeface="Tahoma"/>
              </a:rPr>
              <a:t>of</a:t>
            </a:r>
            <a:r>
              <a:rPr dirty="0" sz="1500" spc="15">
                <a:latin typeface="Tahoma"/>
                <a:cs typeface="Tahoma"/>
              </a:rPr>
              <a:t> </a:t>
            </a:r>
            <a:r>
              <a:rPr dirty="0" sz="1500" spc="10">
                <a:latin typeface="Tahoma"/>
                <a:cs typeface="Tahoma"/>
              </a:rPr>
              <a:t>parallel</a:t>
            </a:r>
            <a:r>
              <a:rPr dirty="0" sz="1500" spc="1190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processing</a:t>
            </a:r>
            <a:r>
              <a:rPr dirty="0" sz="1500" spc="1190">
                <a:latin typeface="Tahoma"/>
                <a:cs typeface="Tahoma"/>
              </a:rPr>
              <a:t> </a:t>
            </a:r>
            <a:r>
              <a:rPr dirty="0" sz="1500" spc="15">
                <a:latin typeface="Tahoma"/>
                <a:cs typeface="Tahoma"/>
              </a:rPr>
              <a:t>in</a:t>
            </a:r>
            <a:r>
              <a:rPr dirty="0" sz="1500" spc="1190">
                <a:latin typeface="Tahoma"/>
                <a:cs typeface="Tahoma"/>
              </a:rPr>
              <a:t> </a:t>
            </a:r>
            <a:r>
              <a:rPr dirty="0" sz="1500" spc="15">
                <a:latin typeface="Tahoma"/>
                <a:cs typeface="Tahoma"/>
              </a:rPr>
              <a:t>which</a:t>
            </a:r>
            <a:r>
              <a:rPr dirty="0" sz="1500" spc="1190">
                <a:latin typeface="Tahoma"/>
                <a:cs typeface="Tahoma"/>
              </a:rPr>
              <a:t> </a:t>
            </a:r>
            <a:r>
              <a:rPr dirty="0" sz="1500" spc="-15">
                <a:latin typeface="Tahoma"/>
                <a:cs typeface="Tahoma"/>
              </a:rPr>
              <a:t>several</a:t>
            </a:r>
            <a:r>
              <a:rPr dirty="0" sz="1500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programs</a:t>
            </a:r>
            <a:r>
              <a:rPr dirty="0" sz="1500" spc="195">
                <a:latin typeface="Tahoma"/>
                <a:cs typeface="Tahoma"/>
              </a:rPr>
              <a:t> </a:t>
            </a:r>
            <a:r>
              <a:rPr dirty="0" sz="1500" spc="5">
                <a:latin typeface="Tahoma"/>
                <a:cs typeface="Tahoma"/>
              </a:rPr>
              <a:t>are</a:t>
            </a:r>
            <a:r>
              <a:rPr dirty="0" sz="1500" spc="195">
                <a:latin typeface="Tahoma"/>
                <a:cs typeface="Tahoma"/>
              </a:rPr>
              <a:t> </a:t>
            </a:r>
            <a:r>
              <a:rPr dirty="0" sz="1500" spc="10">
                <a:latin typeface="Tahoma"/>
                <a:cs typeface="Tahoma"/>
              </a:rPr>
              <a:t>run</a:t>
            </a:r>
            <a:r>
              <a:rPr dirty="0" sz="1500" spc="195">
                <a:latin typeface="Tahoma"/>
                <a:cs typeface="Tahoma"/>
              </a:rPr>
              <a:t> </a:t>
            </a:r>
            <a:r>
              <a:rPr dirty="0" sz="1500" spc="10">
                <a:latin typeface="Tahoma"/>
                <a:cs typeface="Tahoma"/>
              </a:rPr>
              <a:t>at</a:t>
            </a:r>
            <a:r>
              <a:rPr dirty="0" sz="1500" spc="195">
                <a:latin typeface="Tahoma"/>
                <a:cs typeface="Tahoma"/>
              </a:rPr>
              <a:t> </a:t>
            </a:r>
            <a:r>
              <a:rPr dirty="0" sz="1500" spc="10">
                <a:latin typeface="Tahoma"/>
                <a:cs typeface="Tahoma"/>
              </a:rPr>
              <a:t>the</a:t>
            </a:r>
            <a:r>
              <a:rPr dirty="0" sz="1500" spc="195">
                <a:latin typeface="Tahoma"/>
                <a:cs typeface="Tahoma"/>
              </a:rPr>
              <a:t> </a:t>
            </a:r>
            <a:r>
              <a:rPr dirty="0" sz="1500" spc="-30">
                <a:latin typeface="Tahoma"/>
                <a:cs typeface="Tahoma"/>
              </a:rPr>
              <a:t>same</a:t>
            </a:r>
            <a:r>
              <a:rPr dirty="0" sz="1500" spc="195">
                <a:latin typeface="Tahoma"/>
                <a:cs typeface="Tahoma"/>
              </a:rPr>
              <a:t> </a:t>
            </a:r>
            <a:r>
              <a:rPr dirty="0" sz="1500" spc="10">
                <a:latin typeface="Tahoma"/>
                <a:cs typeface="Tahoma"/>
              </a:rPr>
              <a:t>time</a:t>
            </a:r>
            <a:r>
              <a:rPr dirty="0" sz="1500" spc="195">
                <a:latin typeface="Tahoma"/>
                <a:cs typeface="Tahoma"/>
              </a:rPr>
              <a:t> </a:t>
            </a:r>
            <a:r>
              <a:rPr dirty="0" sz="1500" spc="5">
                <a:latin typeface="Tahoma"/>
                <a:cs typeface="Tahoma"/>
              </a:rPr>
              <a:t>on</a:t>
            </a:r>
            <a:r>
              <a:rPr dirty="0" sz="1500" spc="195">
                <a:latin typeface="Tahoma"/>
                <a:cs typeface="Tahoma"/>
              </a:rPr>
              <a:t> </a:t>
            </a:r>
            <a:r>
              <a:rPr dirty="0" sz="1500" spc="-95">
                <a:latin typeface="Tahoma"/>
                <a:cs typeface="Tahoma"/>
              </a:rPr>
              <a:t>a</a:t>
            </a:r>
            <a:r>
              <a:rPr dirty="0" sz="1500" spc="-20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uniprocessor.</a:t>
            </a:r>
            <a:r>
              <a:rPr dirty="0" sz="1500" spc="76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Since</a:t>
            </a:r>
            <a:r>
              <a:rPr dirty="0" sz="1500" spc="765">
                <a:latin typeface="Tahoma"/>
                <a:cs typeface="Tahoma"/>
              </a:rPr>
              <a:t> </a:t>
            </a:r>
            <a:r>
              <a:rPr dirty="0" sz="1500" spc="20">
                <a:latin typeface="Tahoma"/>
                <a:cs typeface="Tahoma"/>
              </a:rPr>
              <a:t>there</a:t>
            </a:r>
            <a:r>
              <a:rPr dirty="0" sz="1500" spc="765">
                <a:latin typeface="Tahoma"/>
                <a:cs typeface="Tahoma"/>
              </a:rPr>
              <a:t> </a:t>
            </a:r>
            <a:r>
              <a:rPr dirty="0" sz="1500" spc="10">
                <a:latin typeface="Tahoma"/>
                <a:cs typeface="Tahoma"/>
              </a:rPr>
              <a:t>is</a:t>
            </a:r>
            <a:r>
              <a:rPr dirty="0" sz="1500" spc="765">
                <a:latin typeface="Tahoma"/>
                <a:cs typeface="Tahoma"/>
              </a:rPr>
              <a:t> </a:t>
            </a:r>
            <a:r>
              <a:rPr dirty="0" sz="1500" spc="20">
                <a:latin typeface="Tahoma"/>
                <a:cs typeface="Tahoma"/>
              </a:rPr>
              <a:t>only</a:t>
            </a:r>
            <a:r>
              <a:rPr dirty="0" sz="1500" spc="76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one </a:t>
            </a:r>
            <a:r>
              <a:rPr dirty="0" sz="1500" spc="-15">
                <a:latin typeface="Tahoma"/>
                <a:cs typeface="Tahoma"/>
              </a:rPr>
              <a:t>processor,</a:t>
            </a:r>
            <a:r>
              <a:rPr dirty="0" sz="1500" spc="1410">
                <a:latin typeface="Tahoma"/>
                <a:cs typeface="Tahoma"/>
              </a:rPr>
              <a:t> </a:t>
            </a:r>
            <a:r>
              <a:rPr dirty="0" sz="1500" spc="-60">
                <a:latin typeface="Tahoma"/>
                <a:cs typeface="Tahoma"/>
              </a:rPr>
              <a:t>t</a:t>
            </a:r>
            <a:r>
              <a:rPr dirty="0" sz="1500" spc="-60" b="1">
                <a:latin typeface="Tahoma"/>
                <a:cs typeface="Tahoma"/>
              </a:rPr>
              <a:t>here</a:t>
            </a:r>
            <a:r>
              <a:rPr dirty="0" sz="1500" spc="1415" b="1">
                <a:latin typeface="Tahoma"/>
                <a:cs typeface="Tahoma"/>
              </a:rPr>
              <a:t> </a:t>
            </a:r>
            <a:r>
              <a:rPr dirty="0" sz="1500" spc="-110" b="1">
                <a:latin typeface="Tahoma"/>
                <a:cs typeface="Tahoma"/>
              </a:rPr>
              <a:t>can</a:t>
            </a:r>
            <a:r>
              <a:rPr dirty="0" sz="1500" spc="1415" b="1">
                <a:latin typeface="Tahoma"/>
                <a:cs typeface="Tahoma"/>
              </a:rPr>
              <a:t> </a:t>
            </a:r>
            <a:r>
              <a:rPr dirty="0" sz="1500" spc="-95" b="1">
                <a:latin typeface="Tahoma"/>
                <a:cs typeface="Tahoma"/>
              </a:rPr>
              <a:t>be</a:t>
            </a:r>
            <a:r>
              <a:rPr dirty="0" sz="1500" spc="1415" b="1">
                <a:latin typeface="Tahoma"/>
                <a:cs typeface="Tahoma"/>
              </a:rPr>
              <a:t> </a:t>
            </a:r>
            <a:r>
              <a:rPr dirty="0" sz="1500" spc="-100" b="1">
                <a:latin typeface="Tahoma"/>
                <a:cs typeface="Tahoma"/>
              </a:rPr>
              <a:t>no</a:t>
            </a:r>
            <a:r>
              <a:rPr dirty="0" sz="1500" spc="1415" b="1">
                <a:latin typeface="Tahoma"/>
                <a:cs typeface="Tahoma"/>
              </a:rPr>
              <a:t> </a:t>
            </a:r>
            <a:r>
              <a:rPr dirty="0" sz="1500" spc="-80" b="1">
                <a:latin typeface="Tahoma"/>
                <a:cs typeface="Tahoma"/>
              </a:rPr>
              <a:t>true</a:t>
            </a:r>
            <a:r>
              <a:rPr dirty="0" sz="1500" spc="-45" b="1">
                <a:latin typeface="Tahoma"/>
                <a:cs typeface="Tahoma"/>
              </a:rPr>
              <a:t> </a:t>
            </a:r>
            <a:r>
              <a:rPr dirty="0" sz="1500" spc="-105" b="1">
                <a:latin typeface="Tahoma"/>
                <a:cs typeface="Tahoma"/>
              </a:rPr>
              <a:t>simultaneous</a:t>
            </a:r>
            <a:r>
              <a:rPr dirty="0" sz="1500" spc="1345" b="1">
                <a:latin typeface="Tahoma"/>
                <a:cs typeface="Tahoma"/>
              </a:rPr>
              <a:t> </a:t>
            </a:r>
            <a:r>
              <a:rPr dirty="0" sz="1500" spc="-100" b="1">
                <a:latin typeface="Tahoma"/>
                <a:cs typeface="Tahoma"/>
              </a:rPr>
              <a:t>execution</a:t>
            </a:r>
            <a:r>
              <a:rPr dirty="0" sz="1500" spc="1345" b="1">
                <a:latin typeface="Tahoma"/>
                <a:cs typeface="Tahoma"/>
              </a:rPr>
              <a:t> </a:t>
            </a:r>
            <a:r>
              <a:rPr dirty="0" sz="1500" spc="-70" b="1">
                <a:latin typeface="Tahoma"/>
                <a:cs typeface="Tahoma"/>
              </a:rPr>
              <a:t>of</a:t>
            </a:r>
            <a:r>
              <a:rPr dirty="0" sz="1500" spc="1345" b="1">
                <a:latin typeface="Tahoma"/>
                <a:cs typeface="Tahoma"/>
              </a:rPr>
              <a:t> </a:t>
            </a:r>
            <a:r>
              <a:rPr dirty="0" sz="1500" spc="-75" b="1">
                <a:latin typeface="Tahoma"/>
                <a:cs typeface="Tahoma"/>
              </a:rPr>
              <a:t>different</a:t>
            </a:r>
            <a:r>
              <a:rPr dirty="0" sz="1500" spc="-45" b="1">
                <a:latin typeface="Tahoma"/>
                <a:cs typeface="Tahoma"/>
              </a:rPr>
              <a:t> </a:t>
            </a:r>
            <a:r>
              <a:rPr dirty="0" sz="1500" spc="-120" b="1">
                <a:latin typeface="Tahoma"/>
                <a:cs typeface="Tahoma"/>
              </a:rPr>
              <a:t>programs</a:t>
            </a:r>
            <a:r>
              <a:rPr dirty="0" sz="1500" spc="-120">
                <a:latin typeface="Tahoma"/>
                <a:cs typeface="Tahoma"/>
              </a:rPr>
              <a:t>.</a:t>
            </a:r>
            <a:r>
              <a:rPr dirty="0" sz="1500" spc="290">
                <a:latin typeface="Tahoma"/>
                <a:cs typeface="Tahoma"/>
              </a:rPr>
              <a:t> </a:t>
            </a:r>
            <a:r>
              <a:rPr dirty="0" sz="1500" spc="-30">
                <a:latin typeface="Tahoma"/>
                <a:cs typeface="Tahoma"/>
              </a:rPr>
              <a:t>Instead,</a:t>
            </a:r>
            <a:r>
              <a:rPr dirty="0" sz="1500" spc="290">
                <a:latin typeface="Tahoma"/>
                <a:cs typeface="Tahoma"/>
              </a:rPr>
              <a:t> </a:t>
            </a:r>
            <a:r>
              <a:rPr dirty="0" sz="1500" spc="10">
                <a:latin typeface="Tahoma"/>
                <a:cs typeface="Tahoma"/>
              </a:rPr>
              <a:t>the</a:t>
            </a:r>
            <a:r>
              <a:rPr dirty="0" sz="1500" spc="290">
                <a:latin typeface="Tahoma"/>
                <a:cs typeface="Tahoma"/>
              </a:rPr>
              <a:t> </a:t>
            </a:r>
            <a:r>
              <a:rPr dirty="0" sz="1500" spc="5">
                <a:latin typeface="Tahoma"/>
                <a:cs typeface="Tahoma"/>
              </a:rPr>
              <a:t>operating</a:t>
            </a:r>
            <a:r>
              <a:rPr dirty="0" sz="1500" spc="290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system</a:t>
            </a:r>
            <a:r>
              <a:rPr dirty="0" sz="1500" spc="-5">
                <a:latin typeface="Tahoma"/>
                <a:cs typeface="Tahoma"/>
              </a:rPr>
              <a:t> </a:t>
            </a:r>
            <a:r>
              <a:rPr dirty="0" sz="1500" spc="-15">
                <a:latin typeface="Tahoma"/>
                <a:cs typeface="Tahoma"/>
              </a:rPr>
              <a:t>executes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00" spc="15">
                <a:latin typeface="Tahoma"/>
                <a:cs typeface="Tahoma"/>
              </a:rPr>
              <a:t>part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00" spc="25">
                <a:latin typeface="Tahoma"/>
                <a:cs typeface="Tahoma"/>
              </a:rPr>
              <a:t>of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one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00" spc="-20">
                <a:latin typeface="Tahoma"/>
                <a:cs typeface="Tahoma"/>
              </a:rPr>
              <a:t>program,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00" spc="5">
                <a:latin typeface="Tahoma"/>
                <a:cs typeface="Tahoma"/>
              </a:rPr>
              <a:t>then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00" spc="15">
                <a:latin typeface="Tahoma"/>
                <a:cs typeface="Tahoma"/>
              </a:rPr>
              <a:t>part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00" spc="25">
                <a:latin typeface="Tahoma"/>
                <a:cs typeface="Tahoma"/>
              </a:rPr>
              <a:t>of</a:t>
            </a:r>
            <a:r>
              <a:rPr dirty="0" sz="1500" spc="15">
                <a:latin typeface="Tahoma"/>
                <a:cs typeface="Tahoma"/>
              </a:rPr>
              <a:t> </a:t>
            </a:r>
            <a:r>
              <a:rPr dirty="0" sz="1500" spc="-20">
                <a:latin typeface="Tahoma"/>
                <a:cs typeface="Tahoma"/>
              </a:rPr>
              <a:t>another,</a:t>
            </a:r>
            <a:r>
              <a:rPr dirty="0" sz="1500" spc="30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and</a:t>
            </a:r>
            <a:r>
              <a:rPr dirty="0" sz="1500" spc="30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so</a:t>
            </a:r>
            <a:r>
              <a:rPr dirty="0" sz="1500" spc="30">
                <a:latin typeface="Tahoma"/>
                <a:cs typeface="Tahoma"/>
              </a:rPr>
              <a:t> </a:t>
            </a:r>
            <a:r>
              <a:rPr dirty="0" sz="1500" spc="-45">
                <a:latin typeface="Tahoma"/>
                <a:cs typeface="Tahoma"/>
              </a:rPr>
              <a:t>on.</a:t>
            </a:r>
            <a:r>
              <a:rPr dirty="0" sz="1500" spc="30">
                <a:latin typeface="Tahoma"/>
                <a:cs typeface="Tahoma"/>
              </a:rPr>
              <a:t> </a:t>
            </a:r>
            <a:r>
              <a:rPr dirty="0" sz="1500" spc="-70">
                <a:latin typeface="Tahoma"/>
                <a:cs typeface="Tahoma"/>
              </a:rPr>
              <a:t>To</a:t>
            </a:r>
            <a:r>
              <a:rPr dirty="0" sz="1500" spc="30">
                <a:latin typeface="Tahoma"/>
                <a:cs typeface="Tahoma"/>
              </a:rPr>
              <a:t> </a:t>
            </a:r>
            <a:r>
              <a:rPr dirty="0" sz="1500" spc="10">
                <a:latin typeface="Tahoma"/>
                <a:cs typeface="Tahoma"/>
              </a:rPr>
              <a:t>the</a:t>
            </a:r>
            <a:r>
              <a:rPr dirty="0" sz="1500" spc="30">
                <a:latin typeface="Tahoma"/>
                <a:cs typeface="Tahoma"/>
              </a:rPr>
              <a:t> </a:t>
            </a:r>
            <a:r>
              <a:rPr dirty="0" sz="1500" spc="5">
                <a:latin typeface="Tahoma"/>
                <a:cs typeface="Tahoma"/>
              </a:rPr>
              <a:t>user</a:t>
            </a:r>
            <a:r>
              <a:rPr dirty="0" sz="1500" spc="30">
                <a:latin typeface="Tahoma"/>
                <a:cs typeface="Tahoma"/>
              </a:rPr>
              <a:t> </a:t>
            </a:r>
            <a:r>
              <a:rPr dirty="0" sz="1500" spc="50">
                <a:latin typeface="Tahoma"/>
                <a:cs typeface="Tahoma"/>
              </a:rPr>
              <a:t>it</a:t>
            </a:r>
            <a:r>
              <a:rPr dirty="0" sz="1500" spc="30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appears</a:t>
            </a:r>
            <a:r>
              <a:rPr dirty="0" sz="1500" spc="-5">
                <a:latin typeface="Tahoma"/>
                <a:cs typeface="Tahoma"/>
              </a:rPr>
              <a:t> </a:t>
            </a:r>
            <a:r>
              <a:rPr dirty="0" sz="1500" spc="15">
                <a:latin typeface="Tahoma"/>
                <a:cs typeface="Tahoma"/>
              </a:rPr>
              <a:t>that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00" spc="15">
                <a:latin typeface="Tahoma"/>
                <a:cs typeface="Tahoma"/>
              </a:rPr>
              <a:t>all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programs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00" spc="5">
                <a:latin typeface="Tahoma"/>
                <a:cs typeface="Tahoma"/>
              </a:rPr>
              <a:t>are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00" spc="-5">
                <a:latin typeface="Tahoma"/>
                <a:cs typeface="Tahoma"/>
              </a:rPr>
              <a:t>executing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00" spc="10">
                <a:latin typeface="Tahoma"/>
                <a:cs typeface="Tahoma"/>
              </a:rPr>
              <a:t>at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00" spc="10">
                <a:latin typeface="Tahoma"/>
                <a:cs typeface="Tahoma"/>
              </a:rPr>
              <a:t>the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00" spc="-30">
                <a:latin typeface="Tahoma"/>
                <a:cs typeface="Tahoma"/>
              </a:rPr>
              <a:t>same</a:t>
            </a:r>
            <a:r>
              <a:rPr dirty="0" sz="1500" spc="-15">
                <a:latin typeface="Tahoma"/>
                <a:cs typeface="Tahoma"/>
              </a:rPr>
              <a:t> time.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825" y="593812"/>
            <a:ext cx="275463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Multiprogramación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9038" y="861155"/>
            <a:ext cx="2308285" cy="39376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2475" y="1314302"/>
            <a:ext cx="7540625" cy="2561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700" spc="55">
                <a:latin typeface="Tahoma"/>
                <a:cs typeface="Tahoma"/>
              </a:rPr>
              <a:t>Más</a:t>
            </a:r>
            <a:r>
              <a:rPr dirty="0" sz="1700" spc="-6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de</a:t>
            </a:r>
            <a:r>
              <a:rPr dirty="0" sz="1700" spc="-6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un</a:t>
            </a:r>
            <a:r>
              <a:rPr dirty="0" sz="1700" spc="-6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proceso</a:t>
            </a:r>
            <a:r>
              <a:rPr dirty="0" sz="1700" spc="-6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estaba</a:t>
            </a:r>
            <a:r>
              <a:rPr dirty="0" sz="1700" spc="-6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preparado</a:t>
            </a:r>
            <a:r>
              <a:rPr dirty="0" sz="1700" spc="-6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para</a:t>
            </a:r>
            <a:r>
              <a:rPr dirty="0" sz="1700" spc="-6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ser</a:t>
            </a:r>
            <a:r>
              <a:rPr dirty="0" sz="1700" spc="-6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ejecutado</a:t>
            </a:r>
            <a:r>
              <a:rPr dirty="0" sz="1700" spc="-6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en</a:t>
            </a:r>
            <a:r>
              <a:rPr dirty="0" sz="1700" spc="-60">
                <a:latin typeface="Tahoma"/>
                <a:cs typeface="Tahoma"/>
              </a:rPr>
              <a:t> </a:t>
            </a:r>
            <a:r>
              <a:rPr dirty="0" sz="1700" spc="-10">
                <a:latin typeface="Tahoma"/>
                <a:cs typeface="Tahoma"/>
              </a:rPr>
              <a:t>algún</a:t>
            </a:r>
            <a:r>
              <a:rPr dirty="0" sz="1700" spc="-60">
                <a:latin typeface="Tahoma"/>
                <a:cs typeface="Tahoma"/>
              </a:rPr>
              <a:t> </a:t>
            </a:r>
            <a:r>
              <a:rPr dirty="0" sz="1700" spc="-10">
                <a:latin typeface="Tahoma"/>
                <a:cs typeface="Tahoma"/>
              </a:rPr>
              <a:t>determinado </a:t>
            </a:r>
            <a:r>
              <a:rPr dirty="0" sz="1700">
                <a:latin typeface="Tahoma"/>
                <a:cs typeface="Tahoma"/>
              </a:rPr>
              <a:t>momento,</a:t>
            </a:r>
            <a:r>
              <a:rPr dirty="0" sz="1700" spc="105">
                <a:latin typeface="Tahoma"/>
                <a:cs typeface="Tahoma"/>
              </a:rPr>
              <a:t>  </a:t>
            </a:r>
            <a:r>
              <a:rPr dirty="0" sz="1700">
                <a:latin typeface="Tahoma"/>
                <a:cs typeface="Tahoma"/>
              </a:rPr>
              <a:t>y</a:t>
            </a:r>
            <a:r>
              <a:rPr dirty="0" sz="1700" spc="110">
                <a:latin typeface="Tahoma"/>
                <a:cs typeface="Tahoma"/>
              </a:rPr>
              <a:t>  </a:t>
            </a:r>
            <a:r>
              <a:rPr dirty="0" sz="1700">
                <a:latin typeface="Tahoma"/>
                <a:cs typeface="Tahoma"/>
              </a:rPr>
              <a:t>el</a:t>
            </a:r>
            <a:r>
              <a:rPr dirty="0" sz="1700" spc="110">
                <a:latin typeface="Tahoma"/>
                <a:cs typeface="Tahoma"/>
              </a:rPr>
              <a:t>  </a:t>
            </a:r>
            <a:r>
              <a:rPr dirty="0" sz="1700">
                <a:latin typeface="Tahoma"/>
                <a:cs typeface="Tahoma"/>
              </a:rPr>
              <a:t>sistema</a:t>
            </a:r>
            <a:r>
              <a:rPr dirty="0" sz="1700" spc="110">
                <a:latin typeface="Tahoma"/>
                <a:cs typeface="Tahoma"/>
              </a:rPr>
              <a:t>  </a:t>
            </a:r>
            <a:r>
              <a:rPr dirty="0" sz="1700">
                <a:latin typeface="Tahoma"/>
                <a:cs typeface="Tahoma"/>
              </a:rPr>
              <a:t>operativo</a:t>
            </a:r>
            <a:r>
              <a:rPr dirty="0" sz="1700" spc="110">
                <a:latin typeface="Tahoma"/>
                <a:cs typeface="Tahoma"/>
              </a:rPr>
              <a:t>  </a:t>
            </a:r>
            <a:r>
              <a:rPr dirty="0" sz="1700">
                <a:latin typeface="Tahoma"/>
                <a:cs typeface="Tahoma"/>
              </a:rPr>
              <a:t>intercalaba</a:t>
            </a:r>
            <a:r>
              <a:rPr dirty="0" sz="1700" spc="110">
                <a:latin typeface="Tahoma"/>
                <a:cs typeface="Tahoma"/>
              </a:rPr>
              <a:t>  </a:t>
            </a:r>
            <a:r>
              <a:rPr dirty="0" sz="1700">
                <a:latin typeface="Tahoma"/>
                <a:cs typeface="Tahoma"/>
              </a:rPr>
              <a:t>dicha</a:t>
            </a:r>
            <a:r>
              <a:rPr dirty="0" sz="1700" spc="105">
                <a:latin typeface="Tahoma"/>
                <a:cs typeface="Tahoma"/>
              </a:rPr>
              <a:t>  </a:t>
            </a:r>
            <a:r>
              <a:rPr dirty="0" sz="1700">
                <a:latin typeface="Tahoma"/>
                <a:cs typeface="Tahoma"/>
              </a:rPr>
              <a:t>ejecución</a:t>
            </a:r>
            <a:r>
              <a:rPr dirty="0" sz="1700" spc="110">
                <a:latin typeface="Tahoma"/>
                <a:cs typeface="Tahoma"/>
              </a:rPr>
              <a:t>  </a:t>
            </a:r>
            <a:r>
              <a:rPr dirty="0" sz="1700">
                <a:latin typeface="Tahoma"/>
                <a:cs typeface="Tahoma"/>
              </a:rPr>
              <a:t>según</a:t>
            </a:r>
            <a:r>
              <a:rPr dirty="0" sz="1700" spc="110">
                <a:latin typeface="Tahoma"/>
                <a:cs typeface="Tahoma"/>
              </a:rPr>
              <a:t>  </a:t>
            </a:r>
            <a:r>
              <a:rPr dirty="0" sz="1700" spc="-25">
                <a:latin typeface="Tahoma"/>
                <a:cs typeface="Tahoma"/>
              </a:rPr>
              <a:t>la </a:t>
            </a:r>
            <a:r>
              <a:rPr dirty="0" sz="1700">
                <a:latin typeface="Tahoma"/>
                <a:cs typeface="Tahoma"/>
              </a:rPr>
              <a:t>circunstancia.</a:t>
            </a:r>
            <a:r>
              <a:rPr dirty="0" sz="1700" spc="25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Haciendo</a:t>
            </a:r>
            <a:r>
              <a:rPr dirty="0" sz="1700" spc="25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esto</a:t>
            </a:r>
            <a:r>
              <a:rPr dirty="0" sz="1700" spc="254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se</a:t>
            </a:r>
            <a:r>
              <a:rPr dirty="0" sz="1700" spc="25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mejoró</a:t>
            </a:r>
            <a:r>
              <a:rPr dirty="0" sz="1700" spc="254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efectivamente</a:t>
            </a:r>
            <a:r>
              <a:rPr dirty="0" sz="1700" spc="25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el</a:t>
            </a:r>
            <a:r>
              <a:rPr dirty="0" sz="1700" spc="25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uso</a:t>
            </a:r>
            <a:r>
              <a:rPr dirty="0" sz="1700" spc="254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de</a:t>
            </a:r>
            <a:r>
              <a:rPr dirty="0" sz="1700" spc="25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la</a:t>
            </a:r>
            <a:r>
              <a:rPr dirty="0" sz="1700" spc="254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CPU,</a:t>
            </a:r>
            <a:r>
              <a:rPr dirty="0" sz="1700" spc="250">
                <a:latin typeface="Tahoma"/>
                <a:cs typeface="Tahoma"/>
              </a:rPr>
              <a:t> </a:t>
            </a:r>
            <a:r>
              <a:rPr dirty="0" sz="1700" spc="-25">
                <a:latin typeface="Tahoma"/>
                <a:cs typeface="Tahoma"/>
              </a:rPr>
              <a:t>tal </a:t>
            </a:r>
            <a:r>
              <a:rPr dirty="0" sz="1700">
                <a:latin typeface="Tahoma"/>
                <a:cs typeface="Tahoma"/>
              </a:rPr>
              <a:t>mejora</a:t>
            </a:r>
            <a:r>
              <a:rPr dirty="0" sz="1700" spc="-3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en</a:t>
            </a:r>
            <a:r>
              <a:rPr dirty="0" sz="1700" spc="-3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la</a:t>
            </a:r>
            <a:r>
              <a:rPr dirty="0" sz="1700" spc="-3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eficiencia</a:t>
            </a:r>
            <a:r>
              <a:rPr dirty="0" sz="1700" spc="-3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fue</a:t>
            </a:r>
            <a:r>
              <a:rPr dirty="0" sz="1700" spc="-3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particularmente</a:t>
            </a:r>
            <a:r>
              <a:rPr dirty="0" sz="1700" spc="-3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decisiva</a:t>
            </a:r>
            <a:r>
              <a:rPr dirty="0" sz="1700" spc="-25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en</a:t>
            </a:r>
            <a:r>
              <a:rPr dirty="0" sz="1700" spc="-3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esos</a:t>
            </a:r>
            <a:r>
              <a:rPr dirty="0" sz="1700" spc="-3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días</a:t>
            </a:r>
            <a:r>
              <a:rPr dirty="0" sz="1700" spc="-3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en</a:t>
            </a:r>
            <a:r>
              <a:rPr dirty="0" sz="1700" spc="-3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la</a:t>
            </a:r>
            <a:r>
              <a:rPr dirty="0" sz="1700" spc="-3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cual</a:t>
            </a:r>
            <a:r>
              <a:rPr dirty="0" sz="1700" spc="-30">
                <a:latin typeface="Tahoma"/>
                <a:cs typeface="Tahoma"/>
              </a:rPr>
              <a:t> </a:t>
            </a:r>
            <a:r>
              <a:rPr dirty="0" sz="1700" spc="-25">
                <a:latin typeface="Tahoma"/>
                <a:cs typeface="Tahoma"/>
              </a:rPr>
              <a:t>una </a:t>
            </a:r>
            <a:r>
              <a:rPr dirty="0" sz="1700">
                <a:latin typeface="Tahoma"/>
                <a:cs typeface="Tahoma"/>
              </a:rPr>
              <a:t>computadora</a:t>
            </a:r>
            <a:r>
              <a:rPr dirty="0" sz="1700" spc="-175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costaba</a:t>
            </a:r>
            <a:r>
              <a:rPr dirty="0" sz="1700" spc="-175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cientos</a:t>
            </a:r>
            <a:r>
              <a:rPr dirty="0" sz="1700" spc="-175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de</a:t>
            </a:r>
            <a:r>
              <a:rPr dirty="0" sz="1700" spc="-17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miles</a:t>
            </a:r>
            <a:r>
              <a:rPr dirty="0" sz="1700" spc="-175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o</a:t>
            </a:r>
            <a:r>
              <a:rPr dirty="0" sz="1700" spc="-175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tal</a:t>
            </a:r>
            <a:r>
              <a:rPr dirty="0" sz="1700" spc="-175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vez</a:t>
            </a:r>
            <a:r>
              <a:rPr dirty="0" sz="1700" spc="-17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millones</a:t>
            </a:r>
            <a:r>
              <a:rPr dirty="0" sz="1700" spc="-175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de</a:t>
            </a:r>
            <a:r>
              <a:rPr dirty="0" sz="1700" spc="-175">
                <a:latin typeface="Tahoma"/>
                <a:cs typeface="Tahoma"/>
              </a:rPr>
              <a:t> </a:t>
            </a:r>
            <a:r>
              <a:rPr dirty="0" sz="1700" spc="-10">
                <a:latin typeface="Tahoma"/>
                <a:cs typeface="Tahoma"/>
              </a:rPr>
              <a:t>dólares.</a:t>
            </a:r>
            <a:endParaRPr sz="1700">
              <a:latin typeface="Tahoma"/>
              <a:cs typeface="Tahoma"/>
            </a:endParaRPr>
          </a:p>
          <a:p>
            <a:pPr algn="just" marL="12700" marR="7620">
              <a:lnSpc>
                <a:spcPct val="114999"/>
              </a:lnSpc>
              <a:spcBef>
                <a:spcPts val="1200"/>
              </a:spcBef>
            </a:pPr>
            <a:r>
              <a:rPr dirty="0" sz="1700">
                <a:latin typeface="Tahoma"/>
                <a:cs typeface="Tahoma"/>
              </a:rPr>
              <a:t>En</a:t>
            </a:r>
            <a:r>
              <a:rPr dirty="0" sz="1700" spc="-85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esta</a:t>
            </a:r>
            <a:r>
              <a:rPr dirty="0" sz="1700" spc="-85">
                <a:latin typeface="Tahoma"/>
                <a:cs typeface="Tahoma"/>
              </a:rPr>
              <a:t> </a:t>
            </a:r>
            <a:r>
              <a:rPr dirty="0" sz="1700" spc="-50">
                <a:latin typeface="Tahoma"/>
                <a:cs typeface="Tahoma"/>
              </a:rPr>
              <a:t>era,</a:t>
            </a:r>
            <a:r>
              <a:rPr dirty="0" sz="1700" spc="-85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múltiples</a:t>
            </a:r>
            <a:r>
              <a:rPr dirty="0" sz="1700" spc="-85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procesos</a:t>
            </a:r>
            <a:r>
              <a:rPr dirty="0" sz="1700" spc="-85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están</a:t>
            </a:r>
            <a:r>
              <a:rPr dirty="0" sz="1700" spc="-85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listos</a:t>
            </a:r>
            <a:r>
              <a:rPr dirty="0" sz="1700" spc="-85">
                <a:latin typeface="Tahoma"/>
                <a:cs typeface="Tahoma"/>
              </a:rPr>
              <a:t> </a:t>
            </a:r>
            <a:r>
              <a:rPr dirty="0" sz="1700" spc="-10">
                <a:latin typeface="Tahoma"/>
                <a:cs typeface="Tahoma"/>
              </a:rPr>
              <a:t>para</a:t>
            </a:r>
            <a:r>
              <a:rPr dirty="0" sz="1700" spc="-85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ser</a:t>
            </a:r>
            <a:r>
              <a:rPr dirty="0" sz="1700" spc="-85">
                <a:latin typeface="Tahoma"/>
                <a:cs typeface="Tahoma"/>
              </a:rPr>
              <a:t> </a:t>
            </a:r>
            <a:r>
              <a:rPr dirty="0" sz="1700" spc="-10">
                <a:latin typeface="Tahoma"/>
                <a:cs typeface="Tahoma"/>
              </a:rPr>
              <a:t>ejecutados</a:t>
            </a:r>
            <a:r>
              <a:rPr dirty="0" sz="1700" spc="-8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un</a:t>
            </a:r>
            <a:r>
              <a:rPr dirty="0" sz="1700" spc="-85">
                <a:latin typeface="Tahoma"/>
                <a:cs typeface="Tahoma"/>
              </a:rPr>
              <a:t> </a:t>
            </a:r>
            <a:r>
              <a:rPr dirty="0" sz="1700" spc="-10">
                <a:latin typeface="Tahoma"/>
                <a:cs typeface="Tahoma"/>
              </a:rPr>
              <a:t>determinado </a:t>
            </a:r>
            <a:r>
              <a:rPr dirty="0" sz="1700">
                <a:latin typeface="Tahoma"/>
                <a:cs typeface="Tahoma"/>
              </a:rPr>
              <a:t>tiempo</a:t>
            </a:r>
            <a:r>
              <a:rPr dirty="0" sz="1700" spc="5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según</a:t>
            </a:r>
            <a:r>
              <a:rPr dirty="0" sz="1700" spc="55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el</a:t>
            </a:r>
            <a:r>
              <a:rPr dirty="0" sz="1700" spc="50">
                <a:latin typeface="Tahoma"/>
                <a:cs typeface="Tahoma"/>
              </a:rPr>
              <a:t> </a:t>
            </a:r>
            <a:r>
              <a:rPr dirty="0" sz="1700" spc="-50">
                <a:latin typeface="Tahoma"/>
                <a:cs typeface="Tahoma"/>
              </a:rPr>
              <a:t>S.O.</a:t>
            </a:r>
            <a:r>
              <a:rPr dirty="0" sz="1700" spc="55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lo</a:t>
            </a:r>
            <a:r>
              <a:rPr dirty="0" sz="1700" spc="5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decidiese</a:t>
            </a:r>
            <a:r>
              <a:rPr dirty="0" sz="1700" spc="55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en</a:t>
            </a:r>
            <a:r>
              <a:rPr dirty="0" sz="1700" spc="5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base</a:t>
            </a:r>
            <a:r>
              <a:rPr dirty="0" sz="1700" spc="55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a</a:t>
            </a:r>
            <a:r>
              <a:rPr dirty="0" sz="1700" spc="5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ciertas</a:t>
            </a:r>
            <a:r>
              <a:rPr dirty="0" sz="1700" spc="55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políticas</a:t>
            </a:r>
            <a:r>
              <a:rPr dirty="0" sz="1700" spc="5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de</a:t>
            </a:r>
            <a:r>
              <a:rPr dirty="0" sz="1700" spc="55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planificación</a:t>
            </a:r>
            <a:r>
              <a:rPr dirty="0" sz="1700" spc="55">
                <a:latin typeface="Tahoma"/>
                <a:cs typeface="Tahoma"/>
              </a:rPr>
              <a:t> </a:t>
            </a:r>
            <a:r>
              <a:rPr dirty="0" sz="1700" spc="-50">
                <a:latin typeface="Tahoma"/>
                <a:cs typeface="Tahoma"/>
              </a:rPr>
              <a:t>o </a:t>
            </a:r>
            <a:r>
              <a:rPr dirty="0" sz="1700" spc="-10">
                <a:latin typeface="Tahoma"/>
                <a:cs typeface="Tahoma"/>
              </a:rPr>
              <a:t>scheduling.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965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Multiprogramación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0825" y="1475109"/>
            <a:ext cx="3630295" cy="2479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400" spc="-95" b="1">
                <a:latin typeface="Tahoma"/>
                <a:cs typeface="Tahoma"/>
              </a:rPr>
              <a:t>Tiempo</a:t>
            </a:r>
            <a:r>
              <a:rPr dirty="0" sz="1400" spc="10" b="1">
                <a:latin typeface="Tahoma"/>
                <a:cs typeface="Tahoma"/>
              </a:rPr>
              <a:t> </a:t>
            </a:r>
            <a:r>
              <a:rPr dirty="0" sz="1400" spc="-85" b="1">
                <a:latin typeface="Tahoma"/>
                <a:cs typeface="Tahoma"/>
              </a:rPr>
              <a:t>compartido</a:t>
            </a:r>
            <a:r>
              <a:rPr dirty="0" sz="1400" spc="20" b="1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se</a:t>
            </a:r>
            <a:r>
              <a:rPr dirty="0" sz="1400" spc="-1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refiere</a:t>
            </a:r>
            <a:r>
              <a:rPr dirty="0" sz="1400" spc="-1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a</a:t>
            </a:r>
            <a:r>
              <a:rPr dirty="0" sz="1400" spc="-20">
                <a:latin typeface="Tahoma"/>
                <a:cs typeface="Tahoma"/>
              </a:rPr>
              <a:t> </a:t>
            </a:r>
            <a:r>
              <a:rPr dirty="0" sz="1400" spc="-90" b="1">
                <a:latin typeface="Tahoma"/>
                <a:cs typeface="Tahoma"/>
              </a:rPr>
              <a:t>compartir</a:t>
            </a:r>
            <a:r>
              <a:rPr dirty="0" sz="1400" spc="15" b="1">
                <a:latin typeface="Tahoma"/>
                <a:cs typeface="Tahoma"/>
              </a:rPr>
              <a:t> </a:t>
            </a:r>
            <a:r>
              <a:rPr dirty="0" sz="1400" spc="-25" b="1">
                <a:latin typeface="Tahoma"/>
                <a:cs typeface="Tahoma"/>
              </a:rPr>
              <a:t>de </a:t>
            </a:r>
            <a:r>
              <a:rPr dirty="0" sz="1400" spc="-110" b="1">
                <a:latin typeface="Tahoma"/>
                <a:cs typeface="Tahoma"/>
              </a:rPr>
              <a:t>forma</a:t>
            </a:r>
            <a:r>
              <a:rPr dirty="0" sz="1400" spc="10" b="1">
                <a:latin typeface="Tahoma"/>
                <a:cs typeface="Tahoma"/>
              </a:rPr>
              <a:t> </a:t>
            </a:r>
            <a:r>
              <a:rPr dirty="0" sz="1400" spc="-95" b="1">
                <a:latin typeface="Tahoma"/>
                <a:cs typeface="Tahoma"/>
              </a:rPr>
              <a:t>concurrente</a:t>
            </a:r>
            <a:r>
              <a:rPr dirty="0" sz="1400" spc="15" b="1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un</a:t>
            </a:r>
            <a:r>
              <a:rPr dirty="0" sz="1400" spc="-20">
                <a:latin typeface="Tahoma"/>
                <a:cs typeface="Tahoma"/>
              </a:rPr>
              <a:t> </a:t>
            </a:r>
            <a:r>
              <a:rPr dirty="0" sz="1400" spc="-95" b="1">
                <a:latin typeface="Tahoma"/>
                <a:cs typeface="Tahoma"/>
              </a:rPr>
              <a:t>recurso</a:t>
            </a:r>
            <a:r>
              <a:rPr dirty="0" sz="1400" spc="10" b="1">
                <a:latin typeface="Tahoma"/>
                <a:cs typeface="Tahoma"/>
              </a:rPr>
              <a:t> </a:t>
            </a:r>
            <a:r>
              <a:rPr dirty="0" sz="1400" spc="-80" b="1">
                <a:latin typeface="Tahoma"/>
                <a:cs typeface="Tahoma"/>
              </a:rPr>
              <a:t>computacional </a:t>
            </a:r>
            <a:r>
              <a:rPr dirty="0" sz="1400">
                <a:latin typeface="Tahoma"/>
                <a:cs typeface="Tahoma"/>
              </a:rPr>
              <a:t>(tiempo</a:t>
            </a:r>
            <a:r>
              <a:rPr dirty="0" sz="1400" spc="29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de</a:t>
            </a:r>
            <a:r>
              <a:rPr dirty="0" sz="1400" spc="29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ejecución</a:t>
            </a:r>
            <a:r>
              <a:rPr dirty="0" sz="1400" spc="29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en</a:t>
            </a:r>
            <a:r>
              <a:rPr dirty="0" sz="1400" spc="29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la</a:t>
            </a:r>
            <a:r>
              <a:rPr dirty="0" sz="1400" spc="29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CPU,</a:t>
            </a:r>
            <a:r>
              <a:rPr dirty="0" sz="1400" spc="29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uso</a:t>
            </a:r>
            <a:r>
              <a:rPr dirty="0" sz="1400" spc="29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de</a:t>
            </a:r>
            <a:r>
              <a:rPr dirty="0" sz="1400" spc="295">
                <a:latin typeface="Tahoma"/>
                <a:cs typeface="Tahoma"/>
              </a:rPr>
              <a:t> </a:t>
            </a:r>
            <a:r>
              <a:rPr dirty="0" sz="1400" spc="-25">
                <a:latin typeface="Tahoma"/>
                <a:cs typeface="Tahoma"/>
              </a:rPr>
              <a:t>la </a:t>
            </a:r>
            <a:r>
              <a:rPr dirty="0" sz="1400">
                <a:latin typeface="Tahoma"/>
                <a:cs typeface="Tahoma"/>
              </a:rPr>
              <a:t>memoria,</a:t>
            </a:r>
            <a:r>
              <a:rPr dirty="0" sz="1400" spc="44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etc.)</a:t>
            </a:r>
            <a:r>
              <a:rPr dirty="0" sz="1400" spc="44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entre</a:t>
            </a:r>
            <a:r>
              <a:rPr dirty="0" sz="1400" spc="44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muchos</a:t>
            </a:r>
            <a:r>
              <a:rPr dirty="0" sz="1400" spc="44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usuarios</a:t>
            </a:r>
            <a:r>
              <a:rPr dirty="0" sz="1400" spc="445">
                <a:latin typeface="Tahoma"/>
                <a:cs typeface="Tahoma"/>
              </a:rPr>
              <a:t> </a:t>
            </a:r>
            <a:r>
              <a:rPr dirty="0" sz="1400" spc="-25">
                <a:latin typeface="Tahoma"/>
                <a:cs typeface="Tahoma"/>
              </a:rPr>
              <a:t>por </a:t>
            </a:r>
            <a:r>
              <a:rPr dirty="0" sz="1400">
                <a:latin typeface="Tahoma"/>
                <a:cs typeface="Tahoma"/>
              </a:rPr>
              <a:t>medio</a:t>
            </a:r>
            <a:r>
              <a:rPr dirty="0" sz="1400" spc="360">
                <a:latin typeface="Tahoma"/>
                <a:cs typeface="Tahoma"/>
              </a:rPr>
              <a:t>    </a:t>
            </a:r>
            <a:r>
              <a:rPr dirty="0" sz="1400">
                <a:latin typeface="Tahoma"/>
                <a:cs typeface="Tahoma"/>
              </a:rPr>
              <a:t>de</a:t>
            </a:r>
            <a:r>
              <a:rPr dirty="0" sz="1400" spc="365">
                <a:latin typeface="Tahoma"/>
                <a:cs typeface="Tahoma"/>
              </a:rPr>
              <a:t>    </a:t>
            </a:r>
            <a:r>
              <a:rPr dirty="0" sz="1400">
                <a:latin typeface="Tahoma"/>
                <a:cs typeface="Tahoma"/>
              </a:rPr>
              <a:t>las</a:t>
            </a:r>
            <a:r>
              <a:rPr dirty="0" sz="1400" spc="365">
                <a:latin typeface="Tahoma"/>
                <a:cs typeface="Tahoma"/>
              </a:rPr>
              <a:t>    </a:t>
            </a:r>
            <a:r>
              <a:rPr dirty="0" sz="1400">
                <a:latin typeface="Tahoma"/>
                <a:cs typeface="Tahoma"/>
              </a:rPr>
              <a:t>tecnologías</a:t>
            </a:r>
            <a:r>
              <a:rPr dirty="0" sz="1400" spc="365">
                <a:latin typeface="Tahoma"/>
                <a:cs typeface="Tahoma"/>
              </a:rPr>
              <a:t>    </a:t>
            </a:r>
            <a:r>
              <a:rPr dirty="0" sz="1400" spc="-25">
                <a:latin typeface="Tahoma"/>
                <a:cs typeface="Tahoma"/>
              </a:rPr>
              <a:t>de </a:t>
            </a:r>
            <a:r>
              <a:rPr dirty="0" sz="1400">
                <a:latin typeface="Tahoma"/>
                <a:cs typeface="Tahoma"/>
              </a:rPr>
              <a:t>multiprogramación</a:t>
            </a:r>
            <a:r>
              <a:rPr dirty="0" sz="1400" spc="235">
                <a:latin typeface="Tahoma"/>
                <a:cs typeface="Tahoma"/>
              </a:rPr>
              <a:t>   </a:t>
            </a:r>
            <a:r>
              <a:rPr dirty="0" sz="1400">
                <a:latin typeface="Tahoma"/>
                <a:cs typeface="Tahoma"/>
              </a:rPr>
              <a:t>y</a:t>
            </a:r>
            <a:r>
              <a:rPr dirty="0" sz="1400" spc="235">
                <a:latin typeface="Tahoma"/>
                <a:cs typeface="Tahoma"/>
              </a:rPr>
              <a:t>   </a:t>
            </a:r>
            <a:r>
              <a:rPr dirty="0" sz="1400">
                <a:latin typeface="Tahoma"/>
                <a:cs typeface="Tahoma"/>
              </a:rPr>
              <a:t>la</a:t>
            </a:r>
            <a:r>
              <a:rPr dirty="0" sz="1400" spc="235">
                <a:latin typeface="Tahoma"/>
                <a:cs typeface="Tahoma"/>
              </a:rPr>
              <a:t>   </a:t>
            </a:r>
            <a:r>
              <a:rPr dirty="0" sz="1400">
                <a:latin typeface="Tahoma"/>
                <a:cs typeface="Tahoma"/>
              </a:rPr>
              <a:t>inclusión</a:t>
            </a:r>
            <a:r>
              <a:rPr dirty="0" sz="1400" spc="235">
                <a:latin typeface="Tahoma"/>
                <a:cs typeface="Tahoma"/>
              </a:rPr>
              <a:t>   </a:t>
            </a:r>
            <a:r>
              <a:rPr dirty="0" sz="1400" spc="-25">
                <a:latin typeface="Tahoma"/>
                <a:cs typeface="Tahoma"/>
              </a:rPr>
              <a:t>de </a:t>
            </a:r>
            <a:r>
              <a:rPr dirty="0" sz="1400">
                <a:latin typeface="Tahoma"/>
                <a:cs typeface="Tahoma"/>
              </a:rPr>
              <a:t>interrupciones</a:t>
            </a:r>
            <a:r>
              <a:rPr dirty="0" sz="1400" spc="14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de</a:t>
            </a:r>
            <a:r>
              <a:rPr dirty="0" sz="1400" spc="14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reloj</a:t>
            </a:r>
            <a:r>
              <a:rPr dirty="0" sz="1400" spc="14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por</a:t>
            </a:r>
            <a:r>
              <a:rPr dirty="0" sz="1400" spc="14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parte</a:t>
            </a:r>
            <a:r>
              <a:rPr dirty="0" sz="1400" spc="14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del</a:t>
            </a:r>
            <a:r>
              <a:rPr dirty="0" sz="1400" spc="14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sistema </a:t>
            </a:r>
            <a:r>
              <a:rPr dirty="0" sz="1400">
                <a:latin typeface="Tahoma"/>
                <a:cs typeface="Tahoma"/>
              </a:rPr>
              <a:t>operativo,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permitiendo a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este último acotar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 spc="-25">
                <a:latin typeface="Tahoma"/>
                <a:cs typeface="Tahoma"/>
              </a:rPr>
              <a:t>el </a:t>
            </a:r>
            <a:r>
              <a:rPr dirty="0" sz="1400">
                <a:latin typeface="Tahoma"/>
                <a:cs typeface="Tahoma"/>
              </a:rPr>
              <a:t>tiempo</a:t>
            </a:r>
            <a:r>
              <a:rPr dirty="0" sz="1400" spc="-1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de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respuesta</a:t>
            </a:r>
            <a:r>
              <a:rPr dirty="0" sz="1400" spc="-1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del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computador</a:t>
            </a:r>
            <a:r>
              <a:rPr dirty="0" sz="1400" spc="-1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y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limitar </a:t>
            </a:r>
            <a:r>
              <a:rPr dirty="0" sz="1400">
                <a:latin typeface="Tahoma"/>
                <a:cs typeface="Tahoma"/>
              </a:rPr>
              <a:t>el</a:t>
            </a:r>
            <a:r>
              <a:rPr dirty="0" sz="1400" spc="-15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uso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de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la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 spc="100">
                <a:latin typeface="Tahoma"/>
                <a:cs typeface="Tahoma"/>
              </a:rPr>
              <a:t>CPU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por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parte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de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un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proceso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 spc="-20">
                <a:latin typeface="Tahoma"/>
                <a:cs typeface="Tahoma"/>
              </a:rPr>
              <a:t>dado.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43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50"/>
              <a:t>Time</a:t>
            </a:r>
            <a:r>
              <a:rPr dirty="0" spc="-120"/>
              <a:t> </a:t>
            </a:r>
            <a:r>
              <a:rPr dirty="0" spc="70"/>
              <a:t>Sharing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2702" y="1070199"/>
            <a:ext cx="2817699" cy="37581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4625" y="269875"/>
            <a:ext cx="5311185" cy="4102675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2238482" y="4417208"/>
            <a:ext cx="4672330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b="1">
                <a:solidFill>
                  <a:srgbClr val="1A1A1A"/>
                </a:solidFill>
                <a:latin typeface="Trebuchet MS"/>
                <a:cs typeface="Trebuchet MS"/>
              </a:rPr>
              <a:t>Time</a:t>
            </a:r>
            <a:r>
              <a:rPr dirty="0" sz="1400" spc="-3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400" spc="55" b="1">
                <a:solidFill>
                  <a:srgbClr val="1A1A1A"/>
                </a:solidFill>
                <a:latin typeface="Trebuchet MS"/>
                <a:cs typeface="Trebuchet MS"/>
              </a:rPr>
              <a:t>Sharing</a:t>
            </a:r>
            <a:r>
              <a:rPr dirty="0" sz="1400" spc="-30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400" spc="80" b="1">
                <a:solidFill>
                  <a:srgbClr val="1A1A1A"/>
                </a:solidFill>
                <a:latin typeface="Trebuchet MS"/>
                <a:cs typeface="Trebuchet MS"/>
              </a:rPr>
              <a:t>-</a:t>
            </a:r>
            <a:r>
              <a:rPr dirty="0" sz="1400" spc="-30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400" spc="110" b="1">
                <a:solidFill>
                  <a:srgbClr val="1A1A1A"/>
                </a:solidFill>
                <a:latin typeface="Trebuchet MS"/>
                <a:cs typeface="Trebuchet MS"/>
              </a:rPr>
              <a:t>IBM</a:t>
            </a:r>
            <a:r>
              <a:rPr dirty="0" sz="1400" spc="-30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1A1A1A"/>
                </a:solidFill>
                <a:latin typeface="Trebuchet MS"/>
                <a:cs typeface="Trebuchet MS"/>
              </a:rPr>
              <a:t>704</a:t>
            </a:r>
            <a:r>
              <a:rPr dirty="0" sz="1400" spc="-30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400" spc="80" b="1">
                <a:solidFill>
                  <a:srgbClr val="1A1A1A"/>
                </a:solidFill>
                <a:latin typeface="Trebuchet MS"/>
                <a:cs typeface="Trebuchet MS"/>
              </a:rPr>
              <a:t>-</a:t>
            </a:r>
            <a:r>
              <a:rPr dirty="0" sz="1400" spc="-3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1A1A1A"/>
                </a:solidFill>
                <a:latin typeface="Trebuchet MS"/>
                <a:cs typeface="Trebuchet MS"/>
              </a:rPr>
              <a:t>primer</a:t>
            </a:r>
            <a:r>
              <a:rPr dirty="0" sz="1400" spc="-6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400" spc="55" b="1">
                <a:solidFill>
                  <a:srgbClr val="1A1A1A"/>
                </a:solidFill>
                <a:latin typeface="Trebuchet MS"/>
                <a:cs typeface="Trebuchet MS"/>
              </a:rPr>
              <a:t>sistema</a:t>
            </a:r>
            <a:r>
              <a:rPr dirty="0" sz="1400" spc="-7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1A1A1A"/>
                </a:solidFill>
                <a:latin typeface="Trebuchet MS"/>
                <a:cs typeface="Trebuchet MS"/>
              </a:rPr>
              <a:t>Time</a:t>
            </a:r>
            <a:r>
              <a:rPr dirty="0" sz="1400" spc="-30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400" spc="45" b="1">
                <a:solidFill>
                  <a:srgbClr val="1A1A1A"/>
                </a:solidFill>
                <a:latin typeface="Trebuchet MS"/>
                <a:cs typeface="Trebuchet MS"/>
              </a:rPr>
              <a:t>Sharing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0675" y="1364651"/>
            <a:ext cx="4310380" cy="2859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700">
                <a:latin typeface="Tahoma"/>
                <a:cs typeface="Tahoma"/>
              </a:rPr>
              <a:t>Crear</a:t>
            </a:r>
            <a:r>
              <a:rPr dirty="0" sz="1700" spc="20">
                <a:latin typeface="Tahoma"/>
                <a:cs typeface="Tahoma"/>
              </a:rPr>
              <a:t>  </a:t>
            </a:r>
            <a:r>
              <a:rPr dirty="0" sz="1700">
                <a:latin typeface="Tahoma"/>
                <a:cs typeface="Tahoma"/>
              </a:rPr>
              <a:t>un</a:t>
            </a:r>
            <a:r>
              <a:rPr dirty="0" sz="1700" spc="20">
                <a:latin typeface="Tahoma"/>
                <a:cs typeface="Tahoma"/>
              </a:rPr>
              <a:t>  </a:t>
            </a:r>
            <a:r>
              <a:rPr dirty="0" sz="1700">
                <a:latin typeface="Tahoma"/>
                <a:cs typeface="Tahoma"/>
              </a:rPr>
              <a:t>mecanismo</a:t>
            </a:r>
            <a:r>
              <a:rPr dirty="0" sz="1700" spc="20">
                <a:latin typeface="Tahoma"/>
                <a:cs typeface="Tahoma"/>
              </a:rPr>
              <a:t>  </a:t>
            </a:r>
            <a:r>
              <a:rPr dirty="0" sz="1700">
                <a:latin typeface="Tahoma"/>
                <a:cs typeface="Tahoma"/>
              </a:rPr>
              <a:t>que</a:t>
            </a:r>
            <a:r>
              <a:rPr dirty="0" sz="1700" spc="20">
                <a:latin typeface="Tahoma"/>
                <a:cs typeface="Tahoma"/>
              </a:rPr>
              <a:t>  </a:t>
            </a:r>
            <a:r>
              <a:rPr dirty="0" sz="1700">
                <a:latin typeface="Tahoma"/>
                <a:cs typeface="Tahoma"/>
              </a:rPr>
              <a:t>permita</a:t>
            </a:r>
            <a:r>
              <a:rPr dirty="0" sz="1700" spc="20">
                <a:latin typeface="Tahoma"/>
                <a:cs typeface="Tahoma"/>
              </a:rPr>
              <a:t>  </a:t>
            </a:r>
            <a:r>
              <a:rPr dirty="0" sz="1700">
                <a:latin typeface="Tahoma"/>
                <a:cs typeface="Tahoma"/>
              </a:rPr>
              <a:t>que</a:t>
            </a:r>
            <a:r>
              <a:rPr dirty="0" sz="1700" spc="20">
                <a:latin typeface="Tahoma"/>
                <a:cs typeface="Tahoma"/>
              </a:rPr>
              <a:t>  </a:t>
            </a:r>
            <a:r>
              <a:rPr dirty="0" sz="1700" spc="-25">
                <a:latin typeface="Tahoma"/>
                <a:cs typeface="Tahoma"/>
              </a:rPr>
              <a:t>la </a:t>
            </a:r>
            <a:r>
              <a:rPr dirty="0" sz="1700">
                <a:latin typeface="Tahoma"/>
                <a:cs typeface="Tahoma"/>
              </a:rPr>
              <a:t>memoria</a:t>
            </a:r>
            <a:r>
              <a:rPr dirty="0" sz="1700" spc="95">
                <a:latin typeface="Tahoma"/>
                <a:cs typeface="Tahoma"/>
              </a:rPr>
              <a:t>  </a:t>
            </a:r>
            <a:r>
              <a:rPr dirty="0" sz="1700">
                <a:latin typeface="Tahoma"/>
                <a:cs typeface="Tahoma"/>
              </a:rPr>
              <a:t>física</a:t>
            </a:r>
            <a:r>
              <a:rPr dirty="0" sz="1700" spc="95">
                <a:latin typeface="Tahoma"/>
                <a:cs typeface="Tahoma"/>
              </a:rPr>
              <a:t>  </a:t>
            </a:r>
            <a:r>
              <a:rPr dirty="0" sz="1700">
                <a:latin typeface="Tahoma"/>
                <a:cs typeface="Tahoma"/>
              </a:rPr>
              <a:t>de</a:t>
            </a:r>
            <a:r>
              <a:rPr dirty="0" sz="1700" spc="95">
                <a:latin typeface="Tahoma"/>
                <a:cs typeface="Tahoma"/>
              </a:rPr>
              <a:t>  </a:t>
            </a:r>
            <a:r>
              <a:rPr dirty="0" sz="1700">
                <a:latin typeface="Tahoma"/>
                <a:cs typeface="Tahoma"/>
              </a:rPr>
              <a:t>una</a:t>
            </a:r>
            <a:r>
              <a:rPr dirty="0" sz="1700" spc="95">
                <a:latin typeface="Tahoma"/>
                <a:cs typeface="Tahoma"/>
              </a:rPr>
              <a:t>  </a:t>
            </a:r>
            <a:r>
              <a:rPr dirty="0" sz="1700">
                <a:latin typeface="Tahoma"/>
                <a:cs typeface="Tahoma"/>
              </a:rPr>
              <a:t>computadora</a:t>
            </a:r>
            <a:r>
              <a:rPr dirty="0" sz="1700" spc="95">
                <a:latin typeface="Tahoma"/>
                <a:cs typeface="Tahoma"/>
              </a:rPr>
              <a:t>  </a:t>
            </a:r>
            <a:r>
              <a:rPr dirty="0" sz="1700" spc="-25">
                <a:latin typeface="Tahoma"/>
                <a:cs typeface="Tahoma"/>
              </a:rPr>
              <a:t>sea </a:t>
            </a:r>
            <a:r>
              <a:rPr dirty="0" sz="1700">
                <a:latin typeface="Tahoma"/>
                <a:cs typeface="Tahoma"/>
              </a:rPr>
              <a:t>utilizada</a:t>
            </a:r>
            <a:r>
              <a:rPr dirty="0" sz="1700" spc="95">
                <a:latin typeface="Tahoma"/>
                <a:cs typeface="Tahoma"/>
              </a:rPr>
              <a:t>  </a:t>
            </a:r>
            <a:r>
              <a:rPr dirty="0" sz="1700">
                <a:latin typeface="Tahoma"/>
                <a:cs typeface="Tahoma"/>
              </a:rPr>
              <a:t>de</a:t>
            </a:r>
            <a:r>
              <a:rPr dirty="0" sz="1700" spc="95">
                <a:latin typeface="Tahoma"/>
                <a:cs typeface="Tahoma"/>
              </a:rPr>
              <a:t>  </a:t>
            </a:r>
            <a:r>
              <a:rPr dirty="0" sz="1700">
                <a:latin typeface="Tahoma"/>
                <a:cs typeface="Tahoma"/>
              </a:rPr>
              <a:t>forma</a:t>
            </a:r>
            <a:r>
              <a:rPr dirty="0" sz="1700" spc="100">
                <a:latin typeface="Tahoma"/>
                <a:cs typeface="Tahoma"/>
              </a:rPr>
              <a:t>  </a:t>
            </a:r>
            <a:r>
              <a:rPr dirty="0" sz="1700">
                <a:latin typeface="Tahoma"/>
                <a:cs typeface="Tahoma"/>
              </a:rPr>
              <a:t>fácil</a:t>
            </a:r>
            <a:r>
              <a:rPr dirty="0" sz="1700" spc="95">
                <a:latin typeface="Tahoma"/>
                <a:cs typeface="Tahoma"/>
              </a:rPr>
              <a:t>  </a:t>
            </a:r>
            <a:r>
              <a:rPr dirty="0" sz="1700">
                <a:latin typeface="Tahoma"/>
                <a:cs typeface="Tahoma"/>
              </a:rPr>
              <a:t>y</a:t>
            </a:r>
            <a:r>
              <a:rPr dirty="0" sz="1700" spc="100">
                <a:latin typeface="Tahoma"/>
                <a:cs typeface="Tahoma"/>
              </a:rPr>
              <a:t>  </a:t>
            </a:r>
            <a:r>
              <a:rPr dirty="0" sz="1700">
                <a:latin typeface="Tahoma"/>
                <a:cs typeface="Tahoma"/>
              </a:rPr>
              <a:t>eficiente</a:t>
            </a:r>
            <a:r>
              <a:rPr dirty="0" sz="1700" spc="95">
                <a:latin typeface="Tahoma"/>
                <a:cs typeface="Tahoma"/>
              </a:rPr>
              <a:t>  </a:t>
            </a:r>
            <a:r>
              <a:rPr dirty="0" sz="1700" spc="-10">
                <a:latin typeface="Tahoma"/>
                <a:cs typeface="Tahoma"/>
              </a:rPr>
              <a:t>llevó </a:t>
            </a:r>
            <a:r>
              <a:rPr dirty="0" sz="1700">
                <a:latin typeface="Tahoma"/>
                <a:cs typeface="Tahoma"/>
              </a:rPr>
              <a:t>paulatinamente</a:t>
            </a:r>
            <a:r>
              <a:rPr dirty="0" sz="1700" spc="445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a</a:t>
            </a:r>
            <a:r>
              <a:rPr dirty="0" sz="1700" spc="45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concebir</a:t>
            </a:r>
            <a:r>
              <a:rPr dirty="0" sz="1700" spc="450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el</a:t>
            </a:r>
            <a:r>
              <a:rPr dirty="0" sz="1700" spc="445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concepto</a:t>
            </a:r>
            <a:r>
              <a:rPr dirty="0" sz="1700" spc="450">
                <a:latin typeface="Tahoma"/>
                <a:cs typeface="Tahoma"/>
              </a:rPr>
              <a:t> </a:t>
            </a:r>
            <a:r>
              <a:rPr dirty="0" sz="1700" spc="-25">
                <a:latin typeface="Tahoma"/>
                <a:cs typeface="Tahoma"/>
              </a:rPr>
              <a:t>de </a:t>
            </a:r>
            <a:r>
              <a:rPr dirty="0" sz="1700" spc="-135" b="1">
                <a:latin typeface="Tahoma"/>
                <a:cs typeface="Tahoma"/>
              </a:rPr>
              <a:t>espacio</a:t>
            </a:r>
            <a:r>
              <a:rPr dirty="0" sz="1700" spc="10" b="1">
                <a:latin typeface="Tahoma"/>
                <a:cs typeface="Tahoma"/>
              </a:rPr>
              <a:t> </a:t>
            </a:r>
            <a:r>
              <a:rPr dirty="0" sz="1700" spc="-275" b="1">
                <a:latin typeface="Tahoma"/>
                <a:cs typeface="Tahoma"/>
              </a:rPr>
              <a:t>de</a:t>
            </a:r>
            <a:r>
              <a:rPr dirty="0" sz="1700" spc="150" b="1">
                <a:latin typeface="Tahoma"/>
                <a:cs typeface="Tahoma"/>
              </a:rPr>
              <a:t> </a:t>
            </a:r>
            <a:r>
              <a:rPr dirty="0" sz="1700" spc="-114" b="1">
                <a:latin typeface="Tahoma"/>
                <a:cs typeface="Tahoma"/>
              </a:rPr>
              <a:t>direcciones,</a:t>
            </a:r>
            <a:r>
              <a:rPr dirty="0" sz="1700" spc="25" b="1">
                <a:latin typeface="Tahoma"/>
                <a:cs typeface="Tahoma"/>
              </a:rPr>
              <a:t> </a:t>
            </a:r>
            <a:r>
              <a:rPr dirty="0" sz="1700" spc="-225" b="1">
                <a:latin typeface="Tahoma"/>
                <a:cs typeface="Tahoma"/>
              </a:rPr>
              <a:t>la</a:t>
            </a:r>
            <a:r>
              <a:rPr dirty="0" sz="1700" spc="100" b="1">
                <a:latin typeface="Tahoma"/>
                <a:cs typeface="Tahoma"/>
              </a:rPr>
              <a:t> </a:t>
            </a:r>
            <a:r>
              <a:rPr dirty="0" sz="1700" spc="-125" b="1">
                <a:latin typeface="Tahoma"/>
                <a:cs typeface="Tahoma"/>
              </a:rPr>
              <a:t>abstracción</a:t>
            </a:r>
            <a:r>
              <a:rPr dirty="0" sz="1700" spc="70" b="1">
                <a:latin typeface="Tahoma"/>
                <a:cs typeface="Tahoma"/>
              </a:rPr>
              <a:t> </a:t>
            </a:r>
            <a:r>
              <a:rPr dirty="0" sz="1700" spc="-170" b="1">
                <a:latin typeface="Tahoma"/>
                <a:cs typeface="Tahoma"/>
              </a:rPr>
              <a:t>para</a:t>
            </a:r>
            <a:r>
              <a:rPr dirty="0" sz="1700" spc="70" b="1">
                <a:latin typeface="Tahoma"/>
                <a:cs typeface="Tahoma"/>
              </a:rPr>
              <a:t> </a:t>
            </a:r>
            <a:r>
              <a:rPr dirty="0" sz="1700" spc="-25" b="1">
                <a:latin typeface="Tahoma"/>
                <a:cs typeface="Tahoma"/>
              </a:rPr>
              <a:t>la </a:t>
            </a:r>
            <a:r>
              <a:rPr dirty="0" sz="1700" spc="-10" b="1">
                <a:latin typeface="Tahoma"/>
                <a:cs typeface="Tahoma"/>
              </a:rPr>
              <a:t>memoria</a:t>
            </a:r>
            <a:r>
              <a:rPr dirty="0" sz="1700" spc="-10">
                <a:latin typeface="Tahoma"/>
                <a:cs typeface="Tahoma"/>
              </a:rPr>
              <a:t>.</a:t>
            </a:r>
            <a:endParaRPr sz="1700">
              <a:latin typeface="Tahoma"/>
              <a:cs typeface="Tahoma"/>
            </a:endParaRPr>
          </a:p>
          <a:p>
            <a:pPr algn="just" marL="12700" marR="7620">
              <a:lnSpc>
                <a:spcPct val="114999"/>
              </a:lnSpc>
              <a:spcBef>
                <a:spcPts val="1200"/>
              </a:spcBef>
            </a:pPr>
            <a:r>
              <a:rPr dirty="0" sz="1700">
                <a:latin typeface="Tahoma"/>
                <a:cs typeface="Tahoma"/>
              </a:rPr>
              <a:t>El</a:t>
            </a:r>
            <a:r>
              <a:rPr dirty="0" sz="1700" spc="20">
                <a:latin typeface="Tahoma"/>
                <a:cs typeface="Tahoma"/>
              </a:rPr>
              <a:t> </a:t>
            </a:r>
            <a:r>
              <a:rPr dirty="0" sz="1700" spc="-35" b="1">
                <a:latin typeface="Tahoma"/>
                <a:cs typeface="Tahoma"/>
              </a:rPr>
              <a:t>Address</a:t>
            </a:r>
            <a:r>
              <a:rPr dirty="0" sz="1700" spc="55" b="1">
                <a:latin typeface="Tahoma"/>
                <a:cs typeface="Tahoma"/>
              </a:rPr>
              <a:t> </a:t>
            </a:r>
            <a:r>
              <a:rPr dirty="0" sz="1700" spc="-55" b="1">
                <a:latin typeface="Tahoma"/>
                <a:cs typeface="Tahoma"/>
              </a:rPr>
              <a:t>Space</a:t>
            </a:r>
            <a:r>
              <a:rPr dirty="0" sz="1700" spc="60" b="1">
                <a:latin typeface="Tahoma"/>
                <a:cs typeface="Tahoma"/>
              </a:rPr>
              <a:t> </a:t>
            </a:r>
            <a:r>
              <a:rPr dirty="0" sz="1700" b="1">
                <a:latin typeface="Tahoma"/>
                <a:cs typeface="Tahoma"/>
              </a:rPr>
              <a:t>de</a:t>
            </a:r>
            <a:r>
              <a:rPr dirty="0" sz="1700" spc="55" b="1">
                <a:latin typeface="Tahoma"/>
                <a:cs typeface="Tahoma"/>
              </a:rPr>
              <a:t> </a:t>
            </a:r>
            <a:r>
              <a:rPr dirty="0" sz="1700" b="1">
                <a:latin typeface="Tahoma"/>
                <a:cs typeface="Tahoma"/>
              </a:rPr>
              <a:t>un</a:t>
            </a:r>
            <a:r>
              <a:rPr dirty="0" sz="1700" spc="55" b="1">
                <a:latin typeface="Tahoma"/>
                <a:cs typeface="Tahoma"/>
              </a:rPr>
              <a:t> </a:t>
            </a:r>
            <a:r>
              <a:rPr dirty="0" sz="1700" spc="-45" b="1">
                <a:latin typeface="Tahoma"/>
                <a:cs typeface="Tahoma"/>
              </a:rPr>
              <a:t>proceso</a:t>
            </a:r>
            <a:r>
              <a:rPr dirty="0" sz="1700" spc="55" b="1">
                <a:latin typeface="Tahoma"/>
                <a:cs typeface="Tahoma"/>
              </a:rPr>
              <a:t> </a:t>
            </a:r>
            <a:r>
              <a:rPr dirty="0" sz="1700" spc="-55" b="1">
                <a:latin typeface="Tahoma"/>
                <a:cs typeface="Tahoma"/>
              </a:rPr>
              <a:t>contiene </a:t>
            </a:r>
            <a:r>
              <a:rPr dirty="0" sz="1700" b="1">
                <a:latin typeface="Tahoma"/>
                <a:cs typeface="Tahoma"/>
              </a:rPr>
              <a:t>todo</a:t>
            </a:r>
            <a:r>
              <a:rPr dirty="0" sz="1700" spc="10" b="1">
                <a:latin typeface="Tahoma"/>
                <a:cs typeface="Tahoma"/>
              </a:rPr>
              <a:t>  </a:t>
            </a:r>
            <a:r>
              <a:rPr dirty="0" sz="1700" b="1">
                <a:latin typeface="Tahoma"/>
                <a:cs typeface="Tahoma"/>
              </a:rPr>
              <a:t>el</a:t>
            </a:r>
            <a:r>
              <a:rPr dirty="0" sz="1700" spc="10" b="1">
                <a:latin typeface="Tahoma"/>
                <a:cs typeface="Tahoma"/>
              </a:rPr>
              <a:t>  </a:t>
            </a:r>
            <a:r>
              <a:rPr dirty="0" sz="1700" b="1">
                <a:latin typeface="Tahoma"/>
                <a:cs typeface="Tahoma"/>
              </a:rPr>
              <a:t>estado</a:t>
            </a:r>
            <a:r>
              <a:rPr dirty="0" sz="1700" spc="10" b="1">
                <a:latin typeface="Tahoma"/>
                <a:cs typeface="Tahoma"/>
              </a:rPr>
              <a:t>  </a:t>
            </a:r>
            <a:r>
              <a:rPr dirty="0" sz="1700" b="1">
                <a:latin typeface="Tahoma"/>
                <a:cs typeface="Tahoma"/>
              </a:rPr>
              <a:t>de</a:t>
            </a:r>
            <a:r>
              <a:rPr dirty="0" sz="1700" spc="15" b="1">
                <a:latin typeface="Tahoma"/>
                <a:cs typeface="Tahoma"/>
              </a:rPr>
              <a:t>  </a:t>
            </a:r>
            <a:r>
              <a:rPr dirty="0" sz="1700" b="1">
                <a:latin typeface="Tahoma"/>
                <a:cs typeface="Tahoma"/>
              </a:rPr>
              <a:t>la</a:t>
            </a:r>
            <a:r>
              <a:rPr dirty="0" sz="1700" spc="10" b="1">
                <a:latin typeface="Tahoma"/>
                <a:cs typeface="Tahoma"/>
              </a:rPr>
              <a:t>  </a:t>
            </a:r>
            <a:r>
              <a:rPr dirty="0" sz="1700" b="1">
                <a:latin typeface="Tahoma"/>
                <a:cs typeface="Tahoma"/>
              </a:rPr>
              <a:t>memoria</a:t>
            </a:r>
            <a:r>
              <a:rPr dirty="0" sz="1700" spc="10" b="1">
                <a:latin typeface="Tahoma"/>
                <a:cs typeface="Tahoma"/>
              </a:rPr>
              <a:t>  </a:t>
            </a:r>
            <a:r>
              <a:rPr dirty="0" sz="1700" b="1">
                <a:latin typeface="Tahoma"/>
                <a:cs typeface="Tahoma"/>
              </a:rPr>
              <a:t>de</a:t>
            </a:r>
            <a:r>
              <a:rPr dirty="0" sz="1700" spc="15" b="1">
                <a:latin typeface="Tahoma"/>
                <a:cs typeface="Tahoma"/>
              </a:rPr>
              <a:t>  </a:t>
            </a:r>
            <a:r>
              <a:rPr dirty="0" sz="1700" spc="-50" b="1">
                <a:latin typeface="Tahoma"/>
                <a:cs typeface="Tahoma"/>
              </a:rPr>
              <a:t>un </a:t>
            </a:r>
            <a:r>
              <a:rPr dirty="0" sz="1700" spc="-140" b="1">
                <a:latin typeface="Tahoma"/>
                <a:cs typeface="Tahoma"/>
              </a:rPr>
              <a:t>programa</a:t>
            </a:r>
            <a:r>
              <a:rPr dirty="0" sz="1700" spc="-130" b="1">
                <a:latin typeface="Tahoma"/>
                <a:cs typeface="Tahoma"/>
              </a:rPr>
              <a:t> </a:t>
            </a:r>
            <a:r>
              <a:rPr dirty="0" sz="1700" spc="-125" b="1">
                <a:latin typeface="Tahoma"/>
                <a:cs typeface="Tahoma"/>
              </a:rPr>
              <a:t>en</a:t>
            </a:r>
            <a:r>
              <a:rPr dirty="0" sz="1700" spc="-130" b="1">
                <a:latin typeface="Tahoma"/>
                <a:cs typeface="Tahoma"/>
              </a:rPr>
              <a:t> </a:t>
            </a:r>
            <a:r>
              <a:rPr dirty="0" sz="1700" spc="-10" b="1">
                <a:latin typeface="Tahoma"/>
                <a:cs typeface="Tahoma"/>
              </a:rPr>
              <a:t>ejecución</a:t>
            </a:r>
            <a:r>
              <a:rPr dirty="0" sz="1700" spc="-10">
                <a:latin typeface="Tahoma"/>
                <a:cs typeface="Tahoma"/>
              </a:rPr>
              <a:t>.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9004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75"/>
              <a:t>El</a:t>
            </a:r>
            <a:r>
              <a:rPr dirty="0" spc="-185"/>
              <a:t> </a:t>
            </a:r>
            <a:r>
              <a:rPr dirty="0" spc="95"/>
              <a:t>Espacio</a:t>
            </a:r>
            <a:r>
              <a:rPr dirty="0" spc="-120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 spc="50"/>
              <a:t>Direcciones</a:t>
            </a:r>
            <a:r>
              <a:rPr dirty="0" spc="-120"/>
              <a:t> </a:t>
            </a:r>
            <a:r>
              <a:rPr dirty="0" spc="114"/>
              <a:t>o</a:t>
            </a:r>
            <a:r>
              <a:rPr dirty="0" spc="-190"/>
              <a:t> </a:t>
            </a:r>
            <a:r>
              <a:rPr dirty="0" spc="100"/>
              <a:t>Address</a:t>
            </a:r>
            <a:r>
              <a:rPr dirty="0" spc="-125"/>
              <a:t> </a:t>
            </a:r>
            <a:r>
              <a:rPr dirty="0" spc="120"/>
              <a:t>Space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2066" y="1853850"/>
            <a:ext cx="2703260" cy="29035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880" rIns="0" bIns="0" rtlCol="0" vert="horz">
            <a:spAutoFit/>
          </a:bodyPr>
          <a:lstStyle/>
          <a:p>
            <a:pPr marL="342265">
              <a:lnSpc>
                <a:spcPct val="100000"/>
              </a:lnSpc>
              <a:spcBef>
                <a:spcPts val="140"/>
              </a:spcBef>
            </a:pPr>
            <a:r>
              <a:rPr dirty="0"/>
              <a:t>Virtualización</a:t>
            </a:r>
            <a:r>
              <a:rPr dirty="0" spc="15"/>
              <a:t> </a:t>
            </a:r>
            <a:r>
              <a:rPr dirty="0" spc="114"/>
              <a:t>de</a:t>
            </a:r>
            <a:r>
              <a:rPr dirty="0" spc="20"/>
              <a:t> </a:t>
            </a:r>
            <a:r>
              <a:rPr dirty="0" spc="70"/>
              <a:t>Memoria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363055"/>
            <a:ext cx="7536815" cy="3082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15875">
              <a:lnSpc>
                <a:spcPct val="106200"/>
              </a:lnSpc>
              <a:spcBef>
                <a:spcPts val="95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0" b="1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700" spc="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85" b="1">
                <a:solidFill>
                  <a:srgbClr val="595959"/>
                </a:solidFill>
                <a:latin typeface="Tahoma"/>
                <a:cs typeface="Tahoma"/>
              </a:rPr>
              <a:t>operativo</a:t>
            </a:r>
            <a:r>
              <a:rPr dirty="0" sz="1700" spc="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75" b="1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700" spc="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5" b="1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80" b="1">
                <a:solidFill>
                  <a:srgbClr val="595959"/>
                </a:solidFill>
                <a:latin typeface="Tahoma"/>
                <a:cs typeface="Tahoma"/>
              </a:rPr>
              <a:t>virtualizar</a:t>
            </a:r>
            <a:r>
              <a:rPr dirty="0" sz="1700" spc="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0" b="1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700" spc="-120">
                <a:solidFill>
                  <a:srgbClr val="595959"/>
                </a:solidFill>
                <a:latin typeface="Tahoma"/>
                <a:cs typeface="Tahoma"/>
              </a:rPr>
              <a:t>…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pero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hacer </a:t>
            </a:r>
            <a:r>
              <a:rPr dirty="0" sz="1700" b="1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700" spc="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65" b="1">
                <a:solidFill>
                  <a:srgbClr val="595959"/>
                </a:solidFill>
                <a:latin typeface="Tahoma"/>
                <a:cs typeface="Tahoma"/>
              </a:rPr>
              <a:t>estilo</a:t>
            </a:r>
            <a:r>
              <a:rPr dirty="0" sz="1700" spc="-65">
                <a:solidFill>
                  <a:srgbClr val="595959"/>
                </a:solidFill>
                <a:latin typeface="Tahoma"/>
                <a:cs typeface="Tahoma"/>
              </a:rPr>
              <a:t>,</a:t>
            </a:r>
            <a:r>
              <a:rPr dirty="0" sz="1700" spc="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700" spc="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ello</a:t>
            </a:r>
            <a:r>
              <a:rPr dirty="0" sz="1700" spc="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700" spc="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65" b="1">
                <a:solidFill>
                  <a:srgbClr val="595959"/>
                </a:solidFill>
                <a:latin typeface="Tahoma"/>
                <a:cs typeface="Tahoma"/>
              </a:rPr>
              <a:t>metas</a:t>
            </a:r>
            <a:r>
              <a:rPr dirty="0" sz="1700" spc="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principales</a:t>
            </a:r>
            <a:r>
              <a:rPr dirty="0" sz="1700" spc="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65" b="1">
                <a:solidFill>
                  <a:srgbClr val="595959"/>
                </a:solidFill>
                <a:latin typeface="Tahoma"/>
                <a:cs typeface="Tahoma"/>
              </a:rPr>
              <a:t>virtualización</a:t>
            </a:r>
            <a:r>
              <a:rPr dirty="0" sz="1700" spc="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b="1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 b="1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700" spc="-35" b="1">
                <a:solidFill>
                  <a:srgbClr val="595959"/>
                </a:solidFill>
                <a:latin typeface="Tahoma"/>
                <a:cs typeface="Tahoma"/>
              </a:rPr>
              <a:t>transparencia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.</a:t>
            </a:r>
            <a:endParaRPr sz="1700">
              <a:latin typeface="Tahoma"/>
              <a:cs typeface="Tahoma"/>
            </a:endParaRPr>
          </a:p>
          <a:p>
            <a:pPr algn="just" marL="12700" marR="5080">
              <a:lnSpc>
                <a:spcPct val="106200"/>
              </a:lnSpc>
              <a:spcBef>
                <a:spcPts val="12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700" spc="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operativo</a:t>
            </a:r>
            <a:r>
              <a:rPr dirty="0" sz="1700" spc="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debería</a:t>
            </a:r>
            <a:r>
              <a:rPr dirty="0" sz="1700" spc="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implementar</a:t>
            </a:r>
            <a:r>
              <a:rPr dirty="0" sz="1700" spc="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60" b="1">
                <a:solidFill>
                  <a:srgbClr val="595959"/>
                </a:solidFill>
                <a:latin typeface="Tahoma"/>
                <a:cs typeface="Tahoma"/>
              </a:rPr>
              <a:t>virtualización</a:t>
            </a:r>
            <a:r>
              <a:rPr dirty="0" sz="1700" spc="2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2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80" b="1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700" spc="2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 b="1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700" spc="-60" b="1">
                <a:solidFill>
                  <a:srgbClr val="595959"/>
                </a:solidFill>
                <a:latin typeface="Tahoma"/>
                <a:cs typeface="Tahoma"/>
              </a:rPr>
              <a:t>forma</a:t>
            </a:r>
            <a:r>
              <a:rPr dirty="0" sz="1700" spc="-6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b="1">
                <a:solidFill>
                  <a:srgbClr val="595959"/>
                </a:solidFill>
                <a:latin typeface="Tahoma"/>
                <a:cs typeface="Tahoma"/>
              </a:rPr>
              <a:t>tal</a:t>
            </a:r>
            <a:r>
              <a:rPr dirty="0" sz="1700" spc="-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 b="1">
                <a:solidFill>
                  <a:srgbClr val="595959"/>
                </a:solidFill>
                <a:latin typeface="Tahoma"/>
                <a:cs typeface="Tahoma"/>
              </a:rPr>
              <a:t>que </a:t>
            </a:r>
            <a:r>
              <a:rPr dirty="0" sz="1700" spc="-45" b="1">
                <a:solidFill>
                  <a:srgbClr val="595959"/>
                </a:solidFill>
                <a:latin typeface="Tahoma"/>
                <a:cs typeface="Tahoma"/>
              </a:rPr>
              <a:t>sea</a:t>
            </a:r>
            <a:r>
              <a:rPr dirty="0" sz="1700" spc="-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65" b="1">
                <a:solidFill>
                  <a:srgbClr val="595959"/>
                </a:solidFill>
                <a:latin typeface="Tahoma"/>
                <a:cs typeface="Tahoma"/>
              </a:rPr>
              <a:t>invisible</a:t>
            </a:r>
            <a:r>
              <a:rPr dirty="0" sz="1700" spc="-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b="1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700" spc="-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0" b="1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1700" spc="-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 b="1">
                <a:solidFill>
                  <a:srgbClr val="595959"/>
                </a:solidFill>
                <a:latin typeface="Tahoma"/>
                <a:cs typeface="Tahoma"/>
              </a:rPr>
              <a:t>que </a:t>
            </a:r>
            <a:r>
              <a:rPr dirty="0" sz="1700" b="1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50" b="1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700" spc="-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0" b="1">
                <a:solidFill>
                  <a:srgbClr val="595959"/>
                </a:solidFill>
                <a:latin typeface="Tahoma"/>
                <a:cs typeface="Tahoma"/>
              </a:rPr>
              <a:t>ejecutando</a:t>
            </a:r>
            <a:r>
              <a:rPr dirty="0" sz="1700" spc="-100">
                <a:solidFill>
                  <a:srgbClr val="595959"/>
                </a:solidFill>
                <a:latin typeface="Tahoma"/>
                <a:cs typeface="Tahoma"/>
              </a:rPr>
              <a:t>;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más,</a:t>
            </a:r>
            <a:r>
              <a:rPr dirty="0" sz="17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comportarse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él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estuviera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alojado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propia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área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7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física</a:t>
            </a:r>
            <a:r>
              <a:rPr dirty="0" sz="17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privada.</a:t>
            </a:r>
            <a:endParaRPr sz="1700">
              <a:latin typeface="Tahoma"/>
              <a:cs typeface="Tahoma"/>
            </a:endParaRPr>
          </a:p>
          <a:p>
            <a:pPr algn="just" marL="12700" marR="6350">
              <a:lnSpc>
                <a:spcPct val="106200"/>
              </a:lnSpc>
              <a:spcBef>
                <a:spcPts val="1200"/>
              </a:spcBef>
            </a:pPr>
            <a:r>
              <a:rPr dirty="0" sz="1700" spc="45">
                <a:solidFill>
                  <a:srgbClr val="595959"/>
                </a:solidFill>
                <a:latin typeface="Tahoma"/>
                <a:cs typeface="Tahoma"/>
              </a:rPr>
              <a:t>Pero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detrás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escena,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25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operativo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25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25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25">
                <a:solidFill>
                  <a:srgbClr val="595959"/>
                </a:solidFill>
                <a:latin typeface="Tahoma"/>
                <a:cs typeface="Tahoma"/>
              </a:rPr>
              <a:t>hardware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hacen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30">
                <a:solidFill>
                  <a:srgbClr val="595959"/>
                </a:solidFill>
                <a:latin typeface="Tahoma"/>
                <a:cs typeface="Tahoma"/>
              </a:rPr>
              <a:t>todo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25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trabajo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700" spc="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25">
                <a:solidFill>
                  <a:srgbClr val="595959"/>
                </a:solidFill>
                <a:latin typeface="Tahoma"/>
                <a:cs typeface="Tahoma"/>
              </a:rPr>
              <a:t>multiplexar</a:t>
            </a:r>
            <a:r>
              <a:rPr dirty="0" sz="1700" spc="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700" spc="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35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700" spc="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largo</a:t>
            </a:r>
            <a:r>
              <a:rPr dirty="0" sz="1700" spc="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diferentes</a:t>
            </a:r>
            <a:r>
              <a:rPr dirty="0" sz="1700" spc="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700" spc="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25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4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ende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implementa</a:t>
            </a:r>
            <a:r>
              <a:rPr dirty="0" sz="17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ilusión.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879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/>
              <a:t>Virtualización</a:t>
            </a:r>
            <a:r>
              <a:rPr dirty="0" spc="15"/>
              <a:t> </a:t>
            </a:r>
            <a:r>
              <a:rPr dirty="0" spc="114"/>
              <a:t>de</a:t>
            </a:r>
            <a:r>
              <a:rPr dirty="0" spc="20"/>
              <a:t> </a:t>
            </a:r>
            <a:r>
              <a:rPr dirty="0" spc="70"/>
              <a:t>Memoria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390000"/>
            <a:ext cx="7538084" cy="2061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6000"/>
              </a:lnSpc>
              <a:spcBef>
                <a:spcPts val="95"/>
              </a:spcBef>
            </a:pPr>
            <a:r>
              <a:rPr dirty="0" sz="2100" spc="75">
                <a:solidFill>
                  <a:srgbClr val="595959"/>
                </a:solidFill>
                <a:latin typeface="Tahoma"/>
                <a:cs typeface="Tahoma"/>
              </a:rPr>
              <a:t>Otra</a:t>
            </a:r>
            <a:r>
              <a:rPr dirty="0" sz="2100" spc="2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meta</a:t>
            </a:r>
            <a:r>
              <a:rPr dirty="0" sz="21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importante</a:t>
            </a:r>
            <a:r>
              <a:rPr dirty="0" sz="2100" spc="2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1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2100" spc="2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virtualización</a:t>
            </a:r>
            <a:r>
              <a:rPr dirty="0" sz="21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21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21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95" b="1">
                <a:solidFill>
                  <a:srgbClr val="595959"/>
                </a:solidFill>
                <a:latin typeface="Tahoma"/>
                <a:cs typeface="Tahoma"/>
              </a:rPr>
              <a:t>eficiencia</a:t>
            </a:r>
            <a:r>
              <a:rPr dirty="0" sz="2100" spc="-95">
                <a:solidFill>
                  <a:srgbClr val="595959"/>
                </a:solidFill>
                <a:latin typeface="Tahoma"/>
                <a:cs typeface="Tahoma"/>
              </a:rPr>
              <a:t>.</a:t>
            </a:r>
            <a:r>
              <a:rPr dirty="0" sz="21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30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2100" spc="409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operativo</a:t>
            </a:r>
            <a:r>
              <a:rPr dirty="0" sz="2100" spc="41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2100" spc="41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esforzarse</a:t>
            </a:r>
            <a:r>
              <a:rPr dirty="0" sz="2100" spc="41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2100" spc="409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hacer</a:t>
            </a:r>
            <a:r>
              <a:rPr dirty="0" sz="2100" spc="41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100" spc="41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21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2100" spc="-130" b="1" i="1">
                <a:solidFill>
                  <a:srgbClr val="595959"/>
                </a:solidFill>
                <a:latin typeface="Trebuchet MS"/>
                <a:cs typeface="Trebuchet MS"/>
              </a:rPr>
              <a:t>virtualización</a:t>
            </a:r>
            <a:r>
              <a:rPr dirty="0" sz="2100" spc="-3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2100" spc="-105" b="1" i="1">
                <a:solidFill>
                  <a:srgbClr val="595959"/>
                </a:solidFill>
                <a:latin typeface="Trebuchet MS"/>
                <a:cs typeface="Trebuchet MS"/>
              </a:rPr>
              <a:t>sea</a:t>
            </a:r>
            <a:r>
              <a:rPr dirty="0" sz="2100" spc="-5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2100" spc="-10" b="1" i="1">
                <a:solidFill>
                  <a:srgbClr val="595959"/>
                </a:solidFill>
                <a:latin typeface="Trebuchet MS"/>
                <a:cs typeface="Trebuchet MS"/>
              </a:rPr>
              <a:t>lo</a:t>
            </a:r>
            <a:r>
              <a:rPr dirty="0" sz="2100" spc="-14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2100" spc="-45" b="1" i="1">
                <a:solidFill>
                  <a:srgbClr val="595959"/>
                </a:solidFill>
                <a:latin typeface="Trebuchet MS"/>
                <a:cs typeface="Trebuchet MS"/>
              </a:rPr>
              <a:t>más</a:t>
            </a:r>
            <a:r>
              <a:rPr dirty="0" sz="2100" spc="-5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2100" spc="-135" b="1" i="1">
                <a:solidFill>
                  <a:srgbClr val="595959"/>
                </a:solidFill>
                <a:latin typeface="Trebuchet MS"/>
                <a:cs typeface="Trebuchet MS"/>
              </a:rPr>
              <a:t>eficiente</a:t>
            </a:r>
            <a:r>
              <a:rPr dirty="0" sz="2100" spc="-2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2100" spc="-125" b="1" i="1">
                <a:solidFill>
                  <a:srgbClr val="595959"/>
                </a:solidFill>
                <a:latin typeface="Trebuchet MS"/>
                <a:cs typeface="Trebuchet MS"/>
              </a:rPr>
              <a:t>posible</a:t>
            </a:r>
            <a:r>
              <a:rPr dirty="0" sz="2100" spc="-3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2100" b="1" i="1">
                <a:solidFill>
                  <a:srgbClr val="595959"/>
                </a:solidFill>
                <a:latin typeface="Trebuchet MS"/>
                <a:cs typeface="Trebuchet MS"/>
              </a:rPr>
              <a:t>en</a:t>
            </a:r>
            <a:r>
              <a:rPr dirty="0" sz="2100" spc="-5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2100" spc="-120" b="1" i="1">
                <a:solidFill>
                  <a:srgbClr val="595959"/>
                </a:solidFill>
                <a:latin typeface="Trebuchet MS"/>
                <a:cs typeface="Trebuchet MS"/>
              </a:rPr>
              <a:t>términos</a:t>
            </a:r>
            <a:r>
              <a:rPr dirty="0" sz="2100" spc="-4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2100" spc="-20" b="1" i="1">
                <a:solidFill>
                  <a:srgbClr val="595959"/>
                </a:solidFill>
                <a:latin typeface="Trebuchet MS"/>
                <a:cs typeface="Trebuchet MS"/>
              </a:rPr>
              <a:t>de</a:t>
            </a:r>
            <a:r>
              <a:rPr dirty="0" sz="2100" spc="-5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2100" spc="-90" b="1" i="1">
                <a:solidFill>
                  <a:srgbClr val="595959"/>
                </a:solidFill>
                <a:latin typeface="Trebuchet MS"/>
                <a:cs typeface="Trebuchet MS"/>
              </a:rPr>
              <a:t>tiempo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(no</a:t>
            </a:r>
            <a:r>
              <a:rPr dirty="0" sz="21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hacer</a:t>
            </a:r>
            <a:r>
              <a:rPr dirty="0" sz="21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1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21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programas</a:t>
            </a:r>
            <a:r>
              <a:rPr dirty="0" sz="21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corran</a:t>
            </a:r>
            <a:r>
              <a:rPr dirty="0" sz="21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2100" spc="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lentos)</a:t>
            </a:r>
            <a:r>
              <a:rPr dirty="0" sz="2100" spc="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b="1" i="1">
                <a:solidFill>
                  <a:srgbClr val="595959"/>
                </a:solidFill>
                <a:latin typeface="Trebuchet MS"/>
                <a:cs typeface="Trebuchet MS"/>
              </a:rPr>
              <a:t>y</a:t>
            </a:r>
            <a:r>
              <a:rPr dirty="0" sz="2100" spc="13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2100" spc="-114" b="1" i="1">
                <a:solidFill>
                  <a:srgbClr val="595959"/>
                </a:solidFill>
                <a:latin typeface="Trebuchet MS"/>
                <a:cs typeface="Trebuchet MS"/>
              </a:rPr>
              <a:t>espacio</a:t>
            </a:r>
            <a:r>
              <a:rPr dirty="0" sz="2100" spc="13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2100" spc="-25">
                <a:solidFill>
                  <a:srgbClr val="595959"/>
                </a:solidFill>
                <a:latin typeface="Tahoma"/>
                <a:cs typeface="Tahoma"/>
              </a:rPr>
              <a:t>(no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usar</a:t>
            </a:r>
            <a:r>
              <a:rPr dirty="0" sz="2100" spc="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demasiada</a:t>
            </a:r>
            <a:r>
              <a:rPr dirty="0" sz="2100" spc="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2100" spc="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2100" spc="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2100" spc="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estructuras</a:t>
            </a:r>
            <a:r>
              <a:rPr dirty="0" sz="2100" spc="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necesarias</a:t>
            </a:r>
            <a:r>
              <a:rPr dirty="0" sz="2100" spc="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20">
                <a:solidFill>
                  <a:srgbClr val="595959"/>
                </a:solidFill>
                <a:latin typeface="Tahoma"/>
                <a:cs typeface="Tahoma"/>
              </a:rPr>
              <a:t>para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soportar</a:t>
            </a:r>
            <a:r>
              <a:rPr dirty="0" sz="21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21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595959"/>
                </a:solidFill>
                <a:latin typeface="Tahoma"/>
                <a:cs typeface="Tahoma"/>
              </a:rPr>
              <a:t>virtualización).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879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/>
              <a:t>Virtualización</a:t>
            </a:r>
            <a:r>
              <a:rPr dirty="0" spc="15"/>
              <a:t> </a:t>
            </a:r>
            <a:r>
              <a:rPr dirty="0" spc="114"/>
              <a:t>de</a:t>
            </a:r>
            <a:r>
              <a:rPr dirty="0" spc="20"/>
              <a:t> </a:t>
            </a:r>
            <a:r>
              <a:rPr dirty="0" spc="70"/>
              <a:t>Memoria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392540"/>
            <a:ext cx="7542530" cy="21761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6100"/>
              </a:lnSpc>
              <a:spcBef>
                <a:spcPts val="95"/>
              </a:spcBef>
            </a:pPr>
            <a:r>
              <a:rPr dirty="0" sz="1900" spc="6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900" spc="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último,</a:t>
            </a:r>
            <a:r>
              <a:rPr dirty="0" sz="1900" spc="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900" spc="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0">
                <a:solidFill>
                  <a:srgbClr val="595959"/>
                </a:solidFill>
                <a:latin typeface="Tahoma"/>
                <a:cs typeface="Tahoma"/>
              </a:rPr>
              <a:t>tercera</a:t>
            </a:r>
            <a:r>
              <a:rPr dirty="0" sz="1900" spc="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meta</a:t>
            </a:r>
            <a:r>
              <a:rPr dirty="0" sz="1900" spc="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5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900" spc="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30">
                <a:solidFill>
                  <a:srgbClr val="595959"/>
                </a:solidFill>
                <a:latin typeface="Tahoma"/>
                <a:cs typeface="Tahoma"/>
              </a:rPr>
              <a:t>virtualización</a:t>
            </a:r>
            <a:r>
              <a:rPr dirty="0" sz="1900" spc="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900" spc="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900" spc="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900" spc="-105" b="1">
                <a:solidFill>
                  <a:srgbClr val="595959"/>
                </a:solidFill>
                <a:latin typeface="Tahoma"/>
                <a:cs typeface="Tahoma"/>
              </a:rPr>
              <a:t>protección</a:t>
            </a:r>
            <a:r>
              <a:rPr dirty="0" sz="1900" spc="-105">
                <a:solidFill>
                  <a:srgbClr val="595959"/>
                </a:solidFill>
                <a:latin typeface="Tahoma"/>
                <a:cs typeface="Tahoma"/>
              </a:rPr>
              <a:t>.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5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0">
                <a:solidFill>
                  <a:srgbClr val="595959"/>
                </a:solidFill>
                <a:latin typeface="Tahoma"/>
                <a:cs typeface="Tahoma"/>
              </a:rPr>
              <a:t>operativo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asegurarse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5">
                <a:solidFill>
                  <a:srgbClr val="595959"/>
                </a:solidFill>
                <a:latin typeface="Tahoma"/>
                <a:cs typeface="Tahoma"/>
              </a:rPr>
              <a:t>proteger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3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5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9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5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9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unos</a:t>
            </a:r>
            <a:r>
              <a:rPr dirty="0" sz="19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30">
                <a:solidFill>
                  <a:srgbClr val="595959"/>
                </a:solidFill>
                <a:latin typeface="Tahoma"/>
                <a:cs typeface="Tahoma"/>
              </a:rPr>
              <a:t>otros</a:t>
            </a:r>
            <a:r>
              <a:rPr dirty="0" sz="19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9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5">
                <a:solidFill>
                  <a:srgbClr val="595959"/>
                </a:solidFill>
                <a:latin typeface="Tahoma"/>
                <a:cs typeface="Tahoma"/>
              </a:rPr>
              <a:t>también</a:t>
            </a:r>
            <a:r>
              <a:rPr dirty="0" sz="19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5">
                <a:solidFill>
                  <a:srgbClr val="595959"/>
                </a:solidFill>
                <a:latin typeface="Tahoma"/>
                <a:cs typeface="Tahoma"/>
              </a:rPr>
              <a:t>proteger</a:t>
            </a:r>
            <a:r>
              <a:rPr dirty="0" sz="19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5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9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9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0">
                <a:solidFill>
                  <a:srgbClr val="595959"/>
                </a:solidFill>
                <a:latin typeface="Tahoma"/>
                <a:cs typeface="Tahoma"/>
              </a:rPr>
              <a:t>operativo</a:t>
            </a:r>
            <a:r>
              <a:rPr dirty="0" sz="19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5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procesos.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3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5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0">
                <a:solidFill>
                  <a:srgbClr val="595959"/>
                </a:solidFill>
                <a:latin typeface="Tahoma"/>
                <a:cs typeface="Tahoma"/>
              </a:rPr>
              <a:t>realiza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load,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store,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5">
                <a:solidFill>
                  <a:srgbClr val="595959"/>
                </a:solidFill>
                <a:latin typeface="Tahoma"/>
                <a:cs typeface="Tahoma"/>
              </a:rPr>
              <a:t>fetch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4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900" spc="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0">
                <a:solidFill>
                  <a:srgbClr val="595959"/>
                </a:solidFill>
                <a:latin typeface="Tahoma"/>
                <a:cs typeface="Tahoma"/>
              </a:rPr>
              <a:t>instrucción</a:t>
            </a:r>
            <a:r>
              <a:rPr dirty="0" sz="1900" spc="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5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900" spc="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900" spc="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900" spc="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900" spc="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5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900" spc="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capaz</a:t>
            </a:r>
            <a:r>
              <a:rPr dirty="0" sz="1900" spc="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5">
                <a:solidFill>
                  <a:srgbClr val="595959"/>
                </a:solidFill>
                <a:latin typeface="Tahoma"/>
                <a:cs typeface="Tahoma"/>
              </a:rPr>
              <a:t>hacerlo</a:t>
            </a:r>
            <a:r>
              <a:rPr dirty="0" sz="1900" spc="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900" spc="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0">
                <a:solidFill>
                  <a:srgbClr val="595959"/>
                </a:solidFill>
                <a:latin typeface="Tahoma"/>
                <a:cs typeface="Tahoma"/>
              </a:rPr>
              <a:t>afectar</a:t>
            </a:r>
            <a:r>
              <a:rPr dirty="0" sz="1900" spc="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ninguna</a:t>
            </a:r>
            <a:r>
              <a:rPr dirty="0" sz="19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5">
                <a:solidFill>
                  <a:srgbClr val="595959"/>
                </a:solidFill>
                <a:latin typeface="Tahoma"/>
                <a:cs typeface="Tahoma"/>
              </a:rPr>
              <a:t>forma</a:t>
            </a:r>
            <a:r>
              <a:rPr dirty="0" sz="19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5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9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5">
                <a:solidFill>
                  <a:srgbClr val="595959"/>
                </a:solidFill>
                <a:latin typeface="Tahoma"/>
                <a:cs typeface="Tahoma"/>
              </a:rPr>
              <a:t>contenido</a:t>
            </a:r>
            <a:r>
              <a:rPr dirty="0" sz="19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5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9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9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9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5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9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9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9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5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 operativo.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601562"/>
            <a:ext cx="3738879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Virtualización</a:t>
            </a:r>
            <a:r>
              <a:rPr dirty="0" spc="15"/>
              <a:t> </a:t>
            </a:r>
            <a:r>
              <a:rPr dirty="0" spc="114"/>
              <a:t>de</a:t>
            </a:r>
            <a:r>
              <a:rPr dirty="0" spc="20"/>
              <a:t> </a:t>
            </a:r>
            <a:r>
              <a:rPr dirty="0" spc="70"/>
              <a:t>Memoria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174021"/>
            <a:ext cx="7498715" cy="2574925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Existen</a:t>
            </a:r>
            <a:r>
              <a:rPr dirty="0" sz="20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dos</a:t>
            </a:r>
            <a:r>
              <a:rPr dirty="0" sz="20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puntos</a:t>
            </a:r>
            <a:r>
              <a:rPr dirty="0" sz="20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importantes</a:t>
            </a:r>
            <a:r>
              <a:rPr dirty="0" sz="20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20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20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hora</a:t>
            </a:r>
            <a:r>
              <a:rPr dirty="0" sz="20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virtualizar</a:t>
            </a:r>
            <a:r>
              <a:rPr dirty="0" sz="20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memoria:</a:t>
            </a:r>
            <a:endParaRPr sz="2000">
              <a:latin typeface="Tahoma"/>
              <a:cs typeface="Tahoma"/>
            </a:endParaRPr>
          </a:p>
          <a:p>
            <a:pPr marL="469265" indent="-382905">
              <a:lnSpc>
                <a:spcPct val="100000"/>
              </a:lnSpc>
              <a:spcBef>
                <a:spcPts val="134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2000" spc="-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flexibilidad</a:t>
            </a:r>
            <a:endParaRPr sz="2000">
              <a:latin typeface="Tahoma"/>
              <a:cs typeface="Tahoma"/>
            </a:endParaRPr>
          </a:p>
          <a:p>
            <a:pPr marL="469265" indent="-382905">
              <a:lnSpc>
                <a:spcPct val="100000"/>
              </a:lnSpc>
              <a:spcBef>
                <a:spcPts val="14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2000" spc="-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eficiencia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06100"/>
              </a:lnSpc>
            </a:pP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20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llegar</a:t>
            </a:r>
            <a:r>
              <a:rPr dirty="0" sz="20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20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ellos</a:t>
            </a:r>
            <a:r>
              <a:rPr dirty="0" sz="20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0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buen</a:t>
            </a:r>
            <a:r>
              <a:rPr dirty="0" sz="20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mecanismo</a:t>
            </a:r>
            <a:r>
              <a:rPr dirty="0" sz="20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virtualización</a:t>
            </a:r>
            <a:r>
              <a:rPr dirty="0" sz="20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memoria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20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20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20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3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20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flexible</a:t>
            </a:r>
            <a:r>
              <a:rPr dirty="0" sz="20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20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eficiente</a:t>
            </a:r>
            <a:r>
              <a:rPr dirty="0" sz="20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posible.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233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90"/>
              <a:t>Address</a:t>
            </a:r>
            <a:r>
              <a:rPr dirty="0" spc="-135"/>
              <a:t> </a:t>
            </a:r>
            <a:r>
              <a:rPr dirty="0" spc="-10"/>
              <a:t>Translation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96775" y="1445480"/>
            <a:ext cx="3629660" cy="22275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6200"/>
              </a:lnSpc>
              <a:spcBef>
                <a:spcPts val="95"/>
              </a:spcBef>
            </a:pP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700" spc="155">
                <a:solidFill>
                  <a:srgbClr val="595959"/>
                </a:solidFill>
                <a:latin typeface="Tahoma"/>
                <a:cs typeface="Tahoma"/>
              </a:rPr>
              <a:t> 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700" spc="160">
                <a:solidFill>
                  <a:srgbClr val="595959"/>
                </a:solidFill>
                <a:latin typeface="Tahoma"/>
                <a:cs typeface="Tahoma"/>
              </a:rPr>
              <a:t> 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técnica</a:t>
            </a:r>
            <a:r>
              <a:rPr dirty="0" sz="1700" spc="160">
                <a:solidFill>
                  <a:srgbClr val="595959"/>
                </a:solidFill>
                <a:latin typeface="Tahoma"/>
                <a:cs typeface="Tahoma"/>
              </a:rPr>
              <a:t> 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160">
                <a:solidFill>
                  <a:srgbClr val="595959"/>
                </a:solidFill>
                <a:latin typeface="Tahoma"/>
                <a:cs typeface="Tahoma"/>
              </a:rPr>
              <a:t>  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hardware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transforma</a:t>
            </a:r>
            <a:r>
              <a:rPr dirty="0" sz="1700" spc="3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700" spc="3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acceso</a:t>
            </a:r>
            <a:r>
              <a:rPr dirty="0" sz="1700" spc="3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3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memoria,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transformando</a:t>
            </a:r>
            <a:r>
              <a:rPr dirty="0" sz="1700" spc="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virtual</a:t>
            </a:r>
            <a:r>
              <a:rPr dirty="0" sz="1700" spc="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address</a:t>
            </a:r>
            <a:r>
              <a:rPr dirty="0" sz="1700" spc="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que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provista</a:t>
            </a:r>
            <a:r>
              <a:rPr dirty="0" sz="1700" spc="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desde</a:t>
            </a:r>
            <a:r>
              <a:rPr dirty="0" sz="1700" spc="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dentro</a:t>
            </a:r>
            <a:r>
              <a:rPr dirty="0" sz="1700" spc="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espacio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39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1700" spc="40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40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40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physical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address</a:t>
            </a:r>
            <a:r>
              <a:rPr dirty="0" sz="1700" spc="6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7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6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cual</a:t>
            </a:r>
            <a:r>
              <a:rPr dirty="0" sz="1700" spc="7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6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información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deseada</a:t>
            </a:r>
            <a:r>
              <a:rPr dirty="0" sz="1700" spc="33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33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encuentra</a:t>
            </a:r>
            <a:r>
              <a:rPr dirty="0" sz="1700" spc="33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realmente almacenada.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3625" y="1644101"/>
            <a:ext cx="4496425" cy="2815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855" rIns="0" bIns="0" rtlCol="0" vert="horz">
            <a:spAutoFit/>
          </a:bodyPr>
          <a:lstStyle/>
          <a:p>
            <a:pPr marL="236854">
              <a:lnSpc>
                <a:spcPct val="100000"/>
              </a:lnSpc>
              <a:spcBef>
                <a:spcPts val="140"/>
              </a:spcBef>
            </a:pPr>
            <a:r>
              <a:rPr dirty="0" spc="90"/>
              <a:t>Address</a:t>
            </a:r>
            <a:r>
              <a:rPr dirty="0" spc="-135"/>
              <a:t> </a:t>
            </a:r>
            <a:r>
              <a:rPr dirty="0" spc="-10"/>
              <a:t>Translation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96775" y="1415362"/>
            <a:ext cx="3629660" cy="56324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ts val="2170"/>
              </a:lnSpc>
              <a:spcBef>
                <a:spcPts val="85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Entonces,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referencias</a:t>
            </a:r>
            <a:r>
              <a:rPr dirty="0" sz="17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7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address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15943" y="2241065"/>
            <a:ext cx="1310640" cy="2876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redireccionar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96775" y="1965831"/>
            <a:ext cx="1103630" cy="83820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ts val="2170"/>
              </a:lnSpc>
              <a:spcBef>
                <a:spcPts val="85"/>
              </a:spcBef>
            </a:pP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translation hardware referencias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283960" y="2516299"/>
            <a:ext cx="1676400" cy="2876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78460" algn="l"/>
                <a:tab pos="1426845" algn="l"/>
              </a:tabLst>
            </a:pP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854725" y="1965831"/>
            <a:ext cx="2472055" cy="83820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8255" indent="126364">
              <a:lnSpc>
                <a:spcPts val="2170"/>
              </a:lnSpc>
              <a:spcBef>
                <a:spcPts val="85"/>
              </a:spcBef>
              <a:tabLst>
                <a:tab pos="593725" algn="l"/>
                <a:tab pos="1708785" algn="l"/>
                <a:tab pos="2193290" algn="l"/>
                <a:tab pos="2284095" algn="l"/>
              </a:tabLst>
            </a:pP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realizada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		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			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endParaRPr sz="1700">
              <a:latin typeface="Tahoma"/>
              <a:cs typeface="Tahoma"/>
            </a:endParaRPr>
          </a:p>
          <a:p>
            <a:pPr marL="131445">
              <a:lnSpc>
                <a:spcPct val="100000"/>
              </a:lnSpc>
              <a:spcBef>
                <a:spcPts val="30"/>
              </a:spcBef>
              <a:tabLst>
                <a:tab pos="2291715" algn="l"/>
              </a:tabLst>
            </a:pPr>
            <a:r>
              <a:rPr dirty="0" sz="1700" spc="-5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96775" y="2778427"/>
            <a:ext cx="3630295" cy="575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95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aplicación</a:t>
            </a:r>
            <a:r>
              <a:rPr dirty="0" sz="1700" spc="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hacia</a:t>
            </a:r>
            <a:r>
              <a:rPr dirty="0" sz="1700" spc="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700" spc="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posiciones</a:t>
            </a:r>
            <a:r>
              <a:rPr dirty="0" sz="1700" spc="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reales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física.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3625" y="1644101"/>
            <a:ext cx="4496425" cy="28159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8455" rIns="0" bIns="0" rtlCol="0" vert="horz">
            <a:spAutoFit/>
          </a:bodyPr>
          <a:lstStyle/>
          <a:p>
            <a:pPr marL="212725">
              <a:lnSpc>
                <a:spcPct val="100000"/>
              </a:lnSpc>
              <a:spcBef>
                <a:spcPts val="140"/>
              </a:spcBef>
            </a:pPr>
            <a:r>
              <a:rPr dirty="0" spc="90"/>
              <a:t>Address</a:t>
            </a:r>
            <a:r>
              <a:rPr dirty="0" spc="-135"/>
              <a:t> </a:t>
            </a:r>
            <a:r>
              <a:rPr dirty="0" spc="-10"/>
              <a:t>Translation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353379"/>
            <a:ext cx="7320280" cy="2378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5725">
              <a:lnSpc>
                <a:spcPct val="105000"/>
              </a:lnSpc>
              <a:spcBef>
                <a:spcPts val="1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evidente,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hardware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sí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virtualizar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memoria.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Éste,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sólo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provee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mecanismo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bajo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nivel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poder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hacerlo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eficientemente.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operativo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involucrarse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puntos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claves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para:</a:t>
            </a:r>
            <a:endParaRPr sz="1600">
              <a:latin typeface="Tahoma"/>
              <a:cs typeface="Tahoma"/>
            </a:endParaRPr>
          </a:p>
          <a:p>
            <a:pPr marL="469265" indent="-351155">
              <a:lnSpc>
                <a:spcPct val="100000"/>
              </a:lnSpc>
              <a:spcBef>
                <a:spcPts val="129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setear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hardware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forma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correcta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traducción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lugar;</a:t>
            </a:r>
            <a:endParaRPr sz="1600">
              <a:latin typeface="Tahoma"/>
              <a:cs typeface="Tahoma"/>
            </a:endParaRPr>
          </a:p>
          <a:p>
            <a:pPr marL="469900" marR="5080" indent="-351790">
              <a:lnSpc>
                <a:spcPct val="105000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entonces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gerenciar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memoria,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5">
                <a:solidFill>
                  <a:srgbClr val="595959"/>
                </a:solidFill>
                <a:latin typeface="Tahoma"/>
                <a:cs typeface="Tahoma"/>
              </a:rPr>
              <a:t>m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anteniendo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información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 b="1">
                <a:solidFill>
                  <a:srgbClr val="595959"/>
                </a:solidFill>
                <a:latin typeface="Tahoma"/>
                <a:cs typeface="Tahoma"/>
              </a:rPr>
              <a:t>en 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qué</a:t>
            </a:r>
            <a:r>
              <a:rPr dirty="0" sz="16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lugar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hay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áreas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90" b="1">
                <a:solidFill>
                  <a:srgbClr val="595959"/>
                </a:solidFill>
                <a:latin typeface="Tahoma"/>
                <a:cs typeface="Tahoma"/>
              </a:rPr>
              <a:t>libres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80" b="1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qué</a:t>
            </a:r>
            <a:r>
              <a:rPr dirty="0" sz="16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lugar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hay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áreas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 b="1">
                <a:solidFill>
                  <a:srgbClr val="595959"/>
                </a:solidFill>
                <a:latin typeface="Tahoma"/>
                <a:cs typeface="Tahoma"/>
              </a:rPr>
              <a:t>uso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;</a:t>
            </a:r>
            <a:endParaRPr sz="1600">
              <a:latin typeface="Tahoma"/>
              <a:cs typeface="Tahoma"/>
            </a:endParaRPr>
          </a:p>
          <a:p>
            <a:pPr marL="469900" marR="158750" indent="-351790">
              <a:lnSpc>
                <a:spcPct val="105000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último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90" b="1">
                <a:solidFill>
                  <a:srgbClr val="595959"/>
                </a:solidFill>
                <a:latin typeface="Tahoma"/>
                <a:cs typeface="Tahoma"/>
              </a:rPr>
              <a:t>intervenir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 de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forma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90" b="1">
                <a:solidFill>
                  <a:srgbClr val="595959"/>
                </a:solidFill>
                <a:latin typeface="Tahoma"/>
                <a:cs typeface="Tahoma"/>
              </a:rPr>
              <a:t>criteriosa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mantener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85" b="1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80" b="1">
                <a:solidFill>
                  <a:srgbClr val="595959"/>
                </a:solidFill>
                <a:latin typeface="Tahoma"/>
                <a:cs typeface="Tahoma"/>
              </a:rPr>
              <a:t>control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5" b="1">
                <a:solidFill>
                  <a:srgbClr val="595959"/>
                </a:solidFill>
                <a:latin typeface="Tahoma"/>
                <a:cs typeface="Tahoma"/>
              </a:rPr>
              <a:t>sobre 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toda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25" b="1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595959"/>
                </a:solidFill>
                <a:latin typeface="Tahoma"/>
                <a:cs typeface="Tahoma"/>
              </a:rPr>
              <a:t>usada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7775" y="282601"/>
            <a:ext cx="1654349" cy="10360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2330" rIns="0" bIns="0" rtlCol="0" vert="horz">
            <a:spAutoFit/>
          </a:bodyPr>
          <a:lstStyle/>
          <a:p>
            <a:pPr marL="191135">
              <a:lnSpc>
                <a:spcPct val="100000"/>
              </a:lnSpc>
              <a:spcBef>
                <a:spcPts val="140"/>
              </a:spcBef>
            </a:pPr>
            <a:r>
              <a:rPr dirty="0" spc="90"/>
              <a:t>Address</a:t>
            </a:r>
            <a:r>
              <a:rPr dirty="0" spc="-135"/>
              <a:t> </a:t>
            </a:r>
            <a:r>
              <a:rPr dirty="0" spc="-10"/>
              <a:t>Translation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70725" y="1377443"/>
            <a:ext cx="3332479" cy="250698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algn="just" marL="12700" marR="5715">
              <a:lnSpc>
                <a:spcPts val="1820"/>
              </a:lnSpc>
              <a:spcBef>
                <a:spcPts val="244"/>
              </a:spcBef>
            </a:pPr>
            <a:r>
              <a:rPr dirty="0" sz="1600" spc="35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5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S.O.</a:t>
            </a:r>
            <a:r>
              <a:rPr dirty="0" sz="1600" spc="5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600" spc="5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5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5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medio</a:t>
            </a:r>
            <a:r>
              <a:rPr dirty="0" sz="1600" spc="5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5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ese</a:t>
            </a:r>
            <a:r>
              <a:rPr dirty="0" sz="1600" spc="-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determina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mismo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ha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realizado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correctamente.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hace</a:t>
            </a:r>
            <a:r>
              <a:rPr dirty="0" sz="1600" spc="-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gerenciar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manejo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memoria:</a:t>
            </a:r>
            <a:endParaRPr sz="1600">
              <a:latin typeface="Tahoma"/>
              <a:cs typeface="Tahoma"/>
            </a:endParaRPr>
          </a:p>
          <a:p>
            <a:pPr algn="just" marL="469900" marR="5080" indent="-351790">
              <a:lnSpc>
                <a:spcPts val="1820"/>
              </a:lnSpc>
              <a:spcBef>
                <a:spcPts val="1215"/>
              </a:spcBef>
              <a:buFont typeface="Arial MT"/>
              <a:buChar char="●"/>
              <a:tabLst>
                <a:tab pos="469900" algn="l"/>
                <a:tab pos="47180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	Manteniendo</a:t>
            </a:r>
            <a:r>
              <a:rPr dirty="0" sz="1600" spc="9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registro</a:t>
            </a:r>
            <a:r>
              <a:rPr dirty="0" sz="1600" spc="9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9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qué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parte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libre.</a:t>
            </a:r>
            <a:endParaRPr sz="1600">
              <a:latin typeface="Tahoma"/>
              <a:cs typeface="Tahoma"/>
            </a:endParaRPr>
          </a:p>
          <a:p>
            <a:pPr algn="just" marL="471805" indent="-353695">
              <a:lnSpc>
                <a:spcPts val="1735"/>
              </a:lnSpc>
              <a:buFont typeface="Arial MT"/>
              <a:buChar char="●"/>
              <a:tabLst>
                <a:tab pos="47180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Qué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parte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uso.</a:t>
            </a:r>
            <a:endParaRPr sz="1600">
              <a:latin typeface="Tahoma"/>
              <a:cs typeface="Tahoma"/>
            </a:endParaRPr>
          </a:p>
          <a:p>
            <a:pPr algn="just" marL="469900" marR="5080" indent="-351790">
              <a:lnSpc>
                <a:spcPts val="1820"/>
              </a:lnSpc>
              <a:spcBef>
                <a:spcPts val="95"/>
              </a:spcBef>
              <a:buFont typeface="Arial MT"/>
              <a:buChar char="●"/>
              <a:tabLst>
                <a:tab pos="469900" algn="l"/>
                <a:tab pos="47180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	Manteniendo</a:t>
            </a:r>
            <a:r>
              <a:rPr dirty="0" sz="1600" spc="3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3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control</a:t>
            </a:r>
            <a:r>
              <a:rPr dirty="0" sz="1600" spc="3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3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forma</a:t>
            </a:r>
            <a:r>
              <a:rPr dirty="0" sz="16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cual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está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siendo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utilizada.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7862" y="1093037"/>
            <a:ext cx="4543424" cy="35813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395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90"/>
              <a:t>Address</a:t>
            </a:r>
            <a:r>
              <a:rPr dirty="0" spc="-135"/>
              <a:t> </a:t>
            </a:r>
            <a:r>
              <a:rPr dirty="0" spc="-10"/>
              <a:t>Translation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350" y="1352182"/>
            <a:ext cx="3628390" cy="2658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Formalmente,</a:t>
            </a:r>
            <a:r>
              <a:rPr dirty="0" sz="18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55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address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translation</a:t>
            </a:r>
            <a:r>
              <a:rPr dirty="0" sz="18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8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mapeo</a:t>
            </a:r>
            <a:r>
              <a:rPr dirty="0" sz="18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entre</a:t>
            </a:r>
            <a:r>
              <a:rPr dirty="0" sz="1800" spc="3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los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elementos</a:t>
            </a:r>
            <a:r>
              <a:rPr dirty="0" sz="1800" spc="47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47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47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espacio</a:t>
            </a:r>
            <a:r>
              <a:rPr dirty="0" sz="1800" spc="47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 spc="-3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1800" spc="345">
                <a:solidFill>
                  <a:srgbClr val="595959"/>
                </a:solidFill>
                <a:latin typeface="Tahoma"/>
                <a:cs typeface="Tahoma"/>
              </a:rPr>
              <a:t>    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virtuales</a:t>
            </a:r>
            <a:r>
              <a:rPr dirty="0" sz="1800" spc="345">
                <a:solidFill>
                  <a:srgbClr val="595959"/>
                </a:solidFill>
                <a:latin typeface="Tahoma"/>
                <a:cs typeface="Tahoma"/>
              </a:rPr>
              <a:t>     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N-elementos</a:t>
            </a:r>
            <a:r>
              <a:rPr dirty="0" sz="180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(VAS)</a:t>
            </a:r>
            <a:r>
              <a:rPr dirty="0" sz="180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80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espacio</a:t>
            </a:r>
            <a:r>
              <a:rPr dirty="0" sz="180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1800" spc="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físicas</a:t>
            </a:r>
            <a:r>
              <a:rPr dirty="0" sz="1800" spc="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M-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elementos (PAS):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dirty="0" sz="1500" spc="-130" i="1">
                <a:latin typeface="Arial"/>
                <a:cs typeface="Arial"/>
              </a:rPr>
              <a:t>𝑀𝐴𝑃</a:t>
            </a:r>
            <a:r>
              <a:rPr dirty="0" sz="1500" spc="-130">
                <a:latin typeface="Arial MT"/>
                <a:cs typeface="Arial MT"/>
              </a:rPr>
              <a:t>:</a:t>
            </a:r>
            <a:r>
              <a:rPr dirty="0" sz="1500" spc="-130" i="1">
                <a:latin typeface="Arial"/>
                <a:cs typeface="Arial"/>
              </a:rPr>
              <a:t>𝑉𝐴𝑆</a:t>
            </a:r>
            <a:r>
              <a:rPr dirty="0" sz="1500" spc="-130">
                <a:latin typeface="MS PGothic"/>
                <a:cs typeface="MS PGothic"/>
              </a:rPr>
              <a:t>⇒</a:t>
            </a:r>
            <a:r>
              <a:rPr dirty="0" sz="1500" spc="-130" i="1">
                <a:latin typeface="Arial"/>
                <a:cs typeface="Arial"/>
              </a:rPr>
              <a:t>𝑃𝐴𝑆</a:t>
            </a:r>
            <a:r>
              <a:rPr dirty="0" sz="1500" spc="-130">
                <a:latin typeface="MS PGothic"/>
                <a:cs typeface="MS PGothic"/>
              </a:rPr>
              <a:t>∪∅</a:t>
            </a:r>
            <a:endParaRPr sz="1500">
              <a:latin typeface="MS PGothic"/>
              <a:cs typeface="MS PGothic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4167" y="1055704"/>
            <a:ext cx="2317126" cy="182646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8749" y="3940974"/>
            <a:ext cx="6470225" cy="98594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30389" y="1191259"/>
            <a:ext cx="746125" cy="46355"/>
          </a:xfrm>
          <a:custGeom>
            <a:avLst/>
            <a:gdLst/>
            <a:ahLst/>
            <a:cxnLst/>
            <a:rect l="l" t="t" r="r" b="b"/>
            <a:pathLst>
              <a:path w="746125" h="46355">
                <a:moveTo>
                  <a:pt x="745756" y="0"/>
                </a:moveTo>
                <a:lnTo>
                  <a:pt x="376008" y="0"/>
                </a:lnTo>
                <a:lnTo>
                  <a:pt x="372897" y="0"/>
                </a:lnTo>
                <a:lnTo>
                  <a:pt x="0" y="0"/>
                </a:lnTo>
                <a:lnTo>
                  <a:pt x="0" y="45834"/>
                </a:lnTo>
                <a:lnTo>
                  <a:pt x="372897" y="45834"/>
                </a:lnTo>
                <a:lnTo>
                  <a:pt x="376008" y="45834"/>
                </a:lnTo>
                <a:lnTo>
                  <a:pt x="745756" y="45834"/>
                </a:lnTo>
                <a:lnTo>
                  <a:pt x="745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687705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600" spc="95">
                <a:solidFill>
                  <a:srgbClr val="FFFFFF"/>
                </a:solidFill>
              </a:rPr>
              <a:t>Implementaciones</a:t>
            </a:r>
            <a:r>
              <a:rPr dirty="0" sz="3600" spc="-210">
                <a:solidFill>
                  <a:srgbClr val="FFFFFF"/>
                </a:solidFill>
              </a:rPr>
              <a:t> </a:t>
            </a:r>
            <a:r>
              <a:rPr dirty="0" sz="3600" spc="145">
                <a:solidFill>
                  <a:srgbClr val="FFFFFF"/>
                </a:solidFill>
              </a:rPr>
              <a:t>de</a:t>
            </a:r>
            <a:r>
              <a:rPr dirty="0" sz="3600" spc="-210">
                <a:solidFill>
                  <a:srgbClr val="FFFFFF"/>
                </a:solidFill>
              </a:rPr>
              <a:t> </a:t>
            </a:r>
            <a:r>
              <a:rPr dirty="0" sz="3600" spc="50">
                <a:solidFill>
                  <a:srgbClr val="FFFFFF"/>
                </a:solidFill>
              </a:rPr>
              <a:t>memoria </a:t>
            </a:r>
            <a:r>
              <a:rPr dirty="0" sz="3600" spc="-10">
                <a:solidFill>
                  <a:srgbClr val="FFFFFF"/>
                </a:solidFill>
              </a:rPr>
              <a:t>virtual</a:t>
            </a:r>
            <a:endParaRPr sz="3600"/>
          </a:p>
        </p:txBody>
      </p:sp>
      <p:sp>
        <p:nvSpPr>
          <p:cNvPr id="5" name="object 5" descr=""/>
          <p:cNvSpPr txBox="1"/>
          <p:nvPr/>
        </p:nvSpPr>
        <p:spPr>
          <a:xfrm>
            <a:off x="913550" y="3201581"/>
            <a:ext cx="354584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FFFFFF"/>
                </a:solidFill>
                <a:latin typeface="Trebuchet MS"/>
                <a:cs typeface="Trebuchet MS"/>
              </a:rPr>
              <a:t>Conceptos</a:t>
            </a:r>
            <a:r>
              <a:rPr dirty="0" sz="18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clave: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100">
                <a:solidFill>
                  <a:srgbClr val="FFFFFF"/>
                </a:solidFill>
                <a:latin typeface="Trebuchet MS"/>
                <a:cs typeface="Trebuchet MS"/>
              </a:rPr>
              <a:t>Base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65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95">
                <a:solidFill>
                  <a:srgbClr val="FFFFFF"/>
                </a:solidFill>
                <a:latin typeface="Trebuchet MS"/>
                <a:cs typeface="Trebuchet MS"/>
              </a:rPr>
              <a:t>Bound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Memoria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segmentada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Memoria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paginada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Memoria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Trebuchet MS"/>
                <a:cs typeface="Trebuchet MS"/>
              </a:rPr>
              <a:t>paginada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multinivel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070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Hacia</a:t>
            </a:r>
            <a:r>
              <a:rPr dirty="0" spc="-50"/>
              <a:t> </a:t>
            </a:r>
            <a:r>
              <a:rPr dirty="0" spc="75"/>
              <a:t>una</a:t>
            </a:r>
            <a:r>
              <a:rPr dirty="0" spc="-45"/>
              <a:t> </a:t>
            </a:r>
            <a:r>
              <a:rPr dirty="0"/>
              <a:t>Flexible</a:t>
            </a:r>
            <a:r>
              <a:rPr dirty="0" spc="-130"/>
              <a:t> </a:t>
            </a:r>
            <a:r>
              <a:rPr dirty="0" spc="90"/>
              <a:t>Address</a:t>
            </a:r>
            <a:r>
              <a:rPr dirty="0" spc="-120"/>
              <a:t> </a:t>
            </a:r>
            <a:r>
              <a:rPr dirty="0" spc="-10"/>
              <a:t>Translation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328996"/>
            <a:ext cx="7544434" cy="2293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ir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ganando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comprensión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sobre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20" b="1" i="1">
                <a:solidFill>
                  <a:srgbClr val="595959"/>
                </a:solidFill>
                <a:latin typeface="Trebuchet MS"/>
                <a:cs typeface="Trebuchet MS"/>
              </a:rPr>
              <a:t>hardware-</a:t>
            </a:r>
            <a:r>
              <a:rPr dirty="0" sz="1600" spc="-135" b="1" i="1">
                <a:solidFill>
                  <a:srgbClr val="595959"/>
                </a:solidFill>
                <a:latin typeface="Trebuchet MS"/>
                <a:cs typeface="Trebuchet MS"/>
              </a:rPr>
              <a:t>based</a:t>
            </a:r>
            <a:r>
              <a:rPr dirty="0" sz="1600" spc="1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45" b="1" i="1">
                <a:solidFill>
                  <a:srgbClr val="595959"/>
                </a:solidFill>
                <a:latin typeface="Trebuchet MS"/>
                <a:cs typeface="Trebuchet MS"/>
              </a:rPr>
              <a:t>address</a:t>
            </a:r>
            <a:r>
              <a:rPr dirty="0" sz="1600" spc="2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35" b="1" i="1">
                <a:solidFill>
                  <a:srgbClr val="595959"/>
                </a:solidFill>
                <a:latin typeface="Trebuchet MS"/>
                <a:cs typeface="Trebuchet MS"/>
              </a:rPr>
              <a:t>translation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,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verá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su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primera</a:t>
            </a:r>
            <a:r>
              <a:rPr dirty="0" sz="1600" spc="4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implementación,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introducida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primera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máquinas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4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utilizaban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time-sharing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hacia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fin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años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50,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idea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simple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llamada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base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segmento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también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vista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0" b="1" i="1">
                <a:solidFill>
                  <a:srgbClr val="595959"/>
                </a:solidFill>
                <a:latin typeface="Trebuchet MS"/>
                <a:cs typeface="Trebuchet MS"/>
              </a:rPr>
              <a:t>dynamic</a:t>
            </a:r>
            <a:r>
              <a:rPr dirty="0" sz="1600" spc="-15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35" b="1" i="1">
                <a:solidFill>
                  <a:srgbClr val="595959"/>
                </a:solidFill>
                <a:latin typeface="Trebuchet MS"/>
                <a:cs typeface="Trebuchet MS"/>
              </a:rPr>
              <a:t>realocation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600">
              <a:latin typeface="Tahoma"/>
              <a:cs typeface="Tahoma"/>
            </a:endParaRPr>
          </a:p>
          <a:p>
            <a:pPr algn="just" marL="12700" marR="5080">
              <a:lnSpc>
                <a:spcPct val="114999"/>
              </a:lnSpc>
            </a:pP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Específicamente</a:t>
            </a:r>
            <a:r>
              <a:rPr dirty="0" sz="16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necesitan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dos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registros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hardware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dentro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de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cpu: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Uno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llamado</a:t>
            </a:r>
            <a:r>
              <a:rPr dirty="0" sz="16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registro</a:t>
            </a:r>
            <a:r>
              <a:rPr dirty="0" sz="16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base</a:t>
            </a:r>
            <a:r>
              <a:rPr dirty="0" sz="16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otro</a:t>
            </a:r>
            <a:r>
              <a:rPr dirty="0" sz="16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registro</a:t>
            </a:r>
            <a:r>
              <a:rPr dirty="0" sz="16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límite</a:t>
            </a:r>
            <a:r>
              <a:rPr dirty="0" sz="16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6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Segmento.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3929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135"/>
              <a:t>Base</a:t>
            </a:r>
            <a:r>
              <a:rPr dirty="0" spc="-130"/>
              <a:t> </a:t>
            </a:r>
            <a:r>
              <a:rPr dirty="0" spc="100"/>
              <a:t>and</a:t>
            </a:r>
            <a:r>
              <a:rPr dirty="0" spc="-130"/>
              <a:t> </a:t>
            </a:r>
            <a:r>
              <a:rPr dirty="0" spc="110"/>
              <a:t>Bound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379396"/>
            <a:ext cx="6697345" cy="2293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Específicamente</a:t>
            </a:r>
            <a:r>
              <a:rPr dirty="0" sz="1600" spc="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600" spc="2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2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necesitan</a:t>
            </a:r>
            <a:r>
              <a:rPr dirty="0" sz="1600" spc="2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dos</a:t>
            </a:r>
            <a:r>
              <a:rPr dirty="0" sz="1600" spc="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registros</a:t>
            </a:r>
            <a:r>
              <a:rPr dirty="0" sz="1600" spc="2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2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hardware</a:t>
            </a:r>
            <a:r>
              <a:rPr dirty="0" sz="1600" spc="2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dentro</a:t>
            </a:r>
            <a:r>
              <a:rPr dirty="0" sz="1600" spc="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de cada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cpu:</a:t>
            </a:r>
            <a:endParaRPr sz="1600">
              <a:latin typeface="Tahoma"/>
              <a:cs typeface="Tahoma"/>
            </a:endParaRPr>
          </a:p>
          <a:p>
            <a:pPr marL="469265" indent="-351155">
              <a:lnSpc>
                <a:spcPct val="100000"/>
              </a:lnSpc>
              <a:spcBef>
                <a:spcPts val="148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registro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base</a:t>
            </a:r>
            <a:endParaRPr sz="1600">
              <a:latin typeface="Tahoma"/>
              <a:cs typeface="Tahoma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registro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límite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Segmento.</a:t>
            </a:r>
            <a:endParaRPr sz="1600">
              <a:latin typeface="Tahoma"/>
              <a:cs typeface="Tahoma"/>
            </a:endParaRPr>
          </a:p>
          <a:p>
            <a:pPr algn="just" marL="12700" marR="5715">
              <a:lnSpc>
                <a:spcPct val="114999"/>
              </a:lnSpc>
              <a:spcBef>
                <a:spcPts val="1200"/>
              </a:spcBef>
            </a:pP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par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base-límite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permitir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address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space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pueda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ubicado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cualquier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lugar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deseado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5">
                <a:solidFill>
                  <a:srgbClr val="595959"/>
                </a:solidFill>
                <a:latin typeface="Tahoma"/>
                <a:cs typeface="Tahoma"/>
              </a:rPr>
              <a:t>física,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5">
                <a:solidFill>
                  <a:srgbClr val="595959"/>
                </a:solidFill>
                <a:latin typeface="Tahoma"/>
                <a:cs typeface="Tahoma"/>
              </a:rPr>
              <a:t>hará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mientras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sistema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operativo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asegura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acceder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address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space.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533976" y="4418257"/>
            <a:ext cx="407797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>
                <a:solidFill>
                  <a:srgbClr val="595959"/>
                </a:solidFill>
                <a:latin typeface="Tahoma"/>
                <a:cs typeface="Tahoma"/>
              </a:rPr>
              <a:t>Base</a:t>
            </a:r>
            <a:r>
              <a:rPr dirty="0" sz="23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35">
                <a:solidFill>
                  <a:srgbClr val="595959"/>
                </a:solidFill>
                <a:latin typeface="Tahoma"/>
                <a:cs typeface="Tahoma"/>
              </a:rPr>
              <a:t>and</a:t>
            </a:r>
            <a:r>
              <a:rPr dirty="0" sz="23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595959"/>
                </a:solidFill>
                <a:latin typeface="Tahoma"/>
                <a:cs typeface="Tahoma"/>
              </a:rPr>
              <a:t>Bound</a:t>
            </a:r>
            <a:r>
              <a:rPr dirty="0" sz="23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300" spc="-30">
                <a:solidFill>
                  <a:srgbClr val="595959"/>
                </a:solidFill>
                <a:latin typeface="Tahoma"/>
                <a:cs typeface="Tahoma"/>
              </a:rPr>
              <a:t>(segmentación)</a:t>
            </a:r>
            <a:endParaRPr sz="23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091" y="620940"/>
            <a:ext cx="7884546" cy="363436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080" rIns="0" bIns="0" rtlCol="0" vert="horz">
            <a:spAutoFit/>
          </a:bodyPr>
          <a:lstStyle/>
          <a:p>
            <a:pPr marL="342265">
              <a:lnSpc>
                <a:spcPct val="100000"/>
              </a:lnSpc>
              <a:spcBef>
                <a:spcPts val="140"/>
              </a:spcBef>
            </a:pPr>
            <a:r>
              <a:rPr dirty="0" spc="100"/>
              <a:t>Segmentación</a:t>
            </a:r>
            <a:r>
              <a:rPr dirty="0" spc="-80"/>
              <a:t> </a:t>
            </a:r>
            <a:r>
              <a:rPr dirty="0" spc="70"/>
              <a:t>B5000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2150" y="2190350"/>
            <a:ext cx="5183300" cy="242864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10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90"/>
              <a:t>Address</a:t>
            </a:r>
            <a:r>
              <a:rPr dirty="0" spc="-120"/>
              <a:t> </a:t>
            </a:r>
            <a:r>
              <a:rPr dirty="0"/>
              <a:t>Translation</a:t>
            </a:r>
            <a:r>
              <a:rPr dirty="0" spc="-45"/>
              <a:t> </a:t>
            </a:r>
            <a:r>
              <a:rPr dirty="0" spc="95"/>
              <a:t>con</a:t>
            </a:r>
            <a:r>
              <a:rPr dirty="0" spc="-120"/>
              <a:t> </a:t>
            </a:r>
            <a:r>
              <a:rPr dirty="0" spc="50"/>
              <a:t>Tabla</a:t>
            </a:r>
            <a:r>
              <a:rPr dirty="0" spc="-45"/>
              <a:t> </a:t>
            </a:r>
            <a:r>
              <a:rPr dirty="0" spc="114"/>
              <a:t>de</a:t>
            </a:r>
            <a:r>
              <a:rPr dirty="0" spc="-45"/>
              <a:t> </a:t>
            </a:r>
            <a:r>
              <a:rPr dirty="0" spc="125"/>
              <a:t>Segmentos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514153"/>
            <a:ext cx="7526020" cy="282956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30480">
              <a:lnSpc>
                <a:spcPts val="1839"/>
              </a:lnSpc>
              <a:spcBef>
                <a:spcPts val="24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problema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técnica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anterior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registro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base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un segmento.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mejora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método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mediante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aplicación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pequeño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cambio: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tener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registro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límite,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arreglo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pares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(registro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base,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segmento)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proceso.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virtual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dos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componentes: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número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segmento:un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offset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segmento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ts val="1839"/>
              </a:lnSpc>
              <a:spcBef>
                <a:spcPts val="125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número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segmento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índice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ubicar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inicio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segmento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física.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registro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bound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chequeado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contra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suma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registro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base+offset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prevenir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lea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escriba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fuera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región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5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memoria.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861" y="319536"/>
            <a:ext cx="8109837" cy="470027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978418" y="4398854"/>
            <a:ext cx="5193665" cy="3479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Address</a:t>
            </a:r>
            <a:r>
              <a:rPr dirty="0" sz="21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Translation</a:t>
            </a:r>
            <a:r>
              <a:rPr dirty="0" sz="21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21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55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21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1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595959"/>
                </a:solidFill>
                <a:latin typeface="Tahoma"/>
                <a:cs typeface="Tahoma"/>
              </a:rPr>
              <a:t>Segmentos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08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90"/>
              <a:t>Address</a:t>
            </a:r>
            <a:r>
              <a:rPr dirty="0" spc="-120"/>
              <a:t> </a:t>
            </a:r>
            <a:r>
              <a:rPr dirty="0"/>
              <a:t>Translation</a:t>
            </a:r>
            <a:r>
              <a:rPr dirty="0" spc="-45"/>
              <a:t> </a:t>
            </a:r>
            <a:r>
              <a:rPr dirty="0" spc="95"/>
              <a:t>con</a:t>
            </a:r>
            <a:r>
              <a:rPr dirty="0" spc="-120"/>
              <a:t> </a:t>
            </a:r>
            <a:r>
              <a:rPr dirty="0" spc="50"/>
              <a:t>Tabla</a:t>
            </a:r>
            <a:r>
              <a:rPr dirty="0" spc="-45"/>
              <a:t> </a:t>
            </a:r>
            <a:r>
              <a:rPr dirty="0" spc="114"/>
              <a:t>de</a:t>
            </a:r>
            <a:r>
              <a:rPr dirty="0" spc="-45"/>
              <a:t> </a:t>
            </a:r>
            <a:r>
              <a:rPr dirty="0" spc="125"/>
              <a:t>Segmentos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72775" y="1458696"/>
            <a:ext cx="7543800" cy="2573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3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3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600" spc="3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virtual</a:t>
            </a:r>
            <a:r>
              <a:rPr dirty="0" sz="1600" spc="3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utilizando</a:t>
            </a:r>
            <a:r>
              <a:rPr dirty="0" sz="1600" spc="3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600" spc="3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técnica,</a:t>
            </a:r>
            <a:r>
              <a:rPr dirty="0" sz="1600" spc="3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3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1600" spc="3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3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3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alto</a:t>
            </a:r>
            <a:r>
              <a:rPr dirty="0" sz="1600" spc="3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orden</a:t>
            </a:r>
            <a:r>
              <a:rPr dirty="0" sz="1600" spc="3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son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utilizados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índice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segmentos.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resto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toma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offset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 sumado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registro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base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comparado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contra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registro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bound.</a:t>
            </a:r>
            <a:endParaRPr sz="1600">
              <a:latin typeface="Tahoma"/>
              <a:cs typeface="Tahoma"/>
            </a:endParaRPr>
          </a:p>
          <a:p>
            <a:pPr algn="just" marL="51435">
              <a:lnSpc>
                <a:spcPct val="100000"/>
              </a:lnSpc>
              <a:spcBef>
                <a:spcPts val="1485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número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segmentos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depende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cantidad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bits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utilizan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índice.</a:t>
            </a:r>
            <a:endParaRPr sz="1600">
              <a:latin typeface="Tahoma"/>
              <a:cs typeface="Tahoma"/>
            </a:endParaRPr>
          </a:p>
          <a:p>
            <a:pPr algn="just" marL="12700" marR="8890">
              <a:lnSpc>
                <a:spcPct val="114999"/>
              </a:lnSpc>
              <a:spcBef>
                <a:spcPts val="12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error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Segmentation</a:t>
            </a:r>
            <a:r>
              <a:rPr dirty="0" sz="1600" spc="1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Fault</a:t>
            </a:r>
            <a:r>
              <a:rPr dirty="0" sz="16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era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 un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error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daba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cuando,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 en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máquinas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que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implementan</a:t>
            </a:r>
            <a:r>
              <a:rPr dirty="0" sz="1600" spc="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segmentación,</a:t>
            </a:r>
            <a:r>
              <a:rPr dirty="0" sz="16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quería</a:t>
            </a:r>
            <a:r>
              <a:rPr dirty="0" sz="16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direccionar</a:t>
            </a:r>
            <a:r>
              <a:rPr dirty="0" sz="1600" spc="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posición</a:t>
            </a:r>
            <a:r>
              <a:rPr dirty="0" sz="16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fuera</a:t>
            </a:r>
            <a:r>
              <a:rPr dirty="0" sz="16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espacio direccionable.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Increíblemente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error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aún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 se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sistemas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operativos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no usan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segmentación.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5338" y="205721"/>
            <a:ext cx="5327935" cy="469700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114"/>
              <a:t> </a:t>
            </a:r>
            <a:r>
              <a:rPr dirty="0" spc="90"/>
              <a:t>Paginada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466727"/>
            <a:ext cx="3348354" cy="919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700" spc="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paginación,</a:t>
            </a:r>
            <a:r>
              <a:rPr dirty="0" sz="1700" spc="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700" spc="2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es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reservada</a:t>
            </a:r>
            <a:r>
              <a:rPr dirty="0" sz="1700" spc="3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3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pedazos</a:t>
            </a:r>
            <a:r>
              <a:rPr dirty="0" sz="1700" spc="3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3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tamaño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fijo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llamados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page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frames.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5300" y="847712"/>
            <a:ext cx="3581399" cy="419099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0911" y="1472835"/>
            <a:ext cx="4274343" cy="348541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00675" y="1466727"/>
            <a:ext cx="3343910" cy="621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700" spc="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paginas</a:t>
            </a:r>
            <a:r>
              <a:rPr dirty="0" sz="1700" spc="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frames</a:t>
            </a:r>
            <a:r>
              <a:rPr dirty="0" sz="1700" spc="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tienen</a:t>
            </a:r>
            <a:r>
              <a:rPr dirty="0" sz="1700" spc="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mismo</a:t>
            </a:r>
            <a:r>
              <a:rPr dirty="0" sz="17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tamaño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0">
                <a:solidFill>
                  <a:srgbClr val="595959"/>
                </a:solidFill>
                <a:latin typeface="Tahoma"/>
                <a:cs typeface="Tahoma"/>
              </a:rPr>
              <a:t>(eg.</a:t>
            </a:r>
            <a:r>
              <a:rPr dirty="0" sz="17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4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Kb)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114"/>
              <a:t> </a:t>
            </a:r>
            <a:r>
              <a:rPr dirty="0" spc="90"/>
              <a:t>Paginada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748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114"/>
              <a:t> </a:t>
            </a:r>
            <a:r>
              <a:rPr dirty="0" spc="90"/>
              <a:t>Paginada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06571" y="1357821"/>
            <a:ext cx="7404734" cy="254952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385"/>
              </a:spcBef>
              <a:buFont typeface="Arial MT"/>
              <a:buChar char="●"/>
              <a:tabLst>
                <a:tab pos="36385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alternativa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segmentada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paginada.</a:t>
            </a:r>
            <a:endParaRPr sz="1600">
              <a:latin typeface="Tahoma"/>
              <a:cs typeface="Tahoma"/>
            </a:endParaRPr>
          </a:p>
          <a:p>
            <a:pPr marL="363855" indent="-351155">
              <a:lnSpc>
                <a:spcPct val="100000"/>
              </a:lnSpc>
              <a:spcBef>
                <a:spcPts val="290"/>
              </a:spcBef>
              <a:buFont typeface="Arial MT"/>
              <a:buChar char="●"/>
              <a:tabLst>
                <a:tab pos="36385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address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translation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similar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trabaja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segmentación.</a:t>
            </a:r>
            <a:endParaRPr sz="1600">
              <a:latin typeface="Tahoma"/>
              <a:cs typeface="Tahoma"/>
            </a:endParaRPr>
          </a:p>
          <a:p>
            <a:pPr marL="363855" marR="5080" indent="-351790">
              <a:lnSpc>
                <a:spcPct val="114999"/>
              </a:lnSpc>
              <a:buFont typeface="Arial MT"/>
              <a:buChar char="●"/>
              <a:tabLst>
                <a:tab pos="36385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tener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segmentos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cuyas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entradas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contienen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punteros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a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segmentos,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hay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páginas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cuyas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entradas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contienen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punteros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page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frames.</a:t>
            </a:r>
            <a:endParaRPr sz="1600">
              <a:latin typeface="Tahoma"/>
              <a:cs typeface="Tahoma"/>
            </a:endParaRPr>
          </a:p>
          <a:p>
            <a:pPr marL="363855" marR="19685" indent="-351790">
              <a:lnSpc>
                <a:spcPct val="114999"/>
              </a:lnSpc>
              <a:buFont typeface="Arial MT"/>
              <a:buChar char="●"/>
              <a:tabLst>
                <a:tab pos="363855" algn="l"/>
              </a:tabLst>
            </a:pP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Teniendo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cuenta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page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frames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tienen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tamaño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fijo,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potencia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de 2,las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entradas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page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table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sólo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tienen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proveer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superiores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page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frame.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forma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van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compactos.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75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necesario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tener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límite;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entera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reserva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unidad.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070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114"/>
              <a:t> </a:t>
            </a:r>
            <a:r>
              <a:rPr dirty="0" spc="90"/>
              <a:t>Paginada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80650" y="1474365"/>
            <a:ext cx="3790950" cy="279654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algn="just" marL="12700" marR="9525">
              <a:lnSpc>
                <a:spcPts val="1490"/>
              </a:lnSpc>
              <a:spcBef>
                <a:spcPts val="21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número</a:t>
            </a:r>
            <a:r>
              <a:rPr dirty="0" sz="13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13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virtual</a:t>
            </a:r>
            <a:r>
              <a:rPr dirty="0" sz="13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índice</a:t>
            </a:r>
            <a:r>
              <a:rPr dirty="0" sz="13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page </a:t>
            </a:r>
            <a:r>
              <a:rPr dirty="0" sz="1300" spc="-20" b="1">
                <a:solidFill>
                  <a:srgbClr val="595959"/>
                </a:solidFill>
                <a:latin typeface="Tahoma"/>
                <a:cs typeface="Tahoma"/>
              </a:rPr>
              <a:t>table</a:t>
            </a:r>
            <a:r>
              <a:rPr dirty="0" sz="1300" spc="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300" spc="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obtener</a:t>
            </a:r>
            <a:r>
              <a:rPr dirty="0" sz="13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5" b="1">
                <a:solidFill>
                  <a:srgbClr val="595959"/>
                </a:solidFill>
                <a:latin typeface="Tahoma"/>
                <a:cs typeface="Tahoma"/>
              </a:rPr>
              <a:t>page</a:t>
            </a:r>
            <a:r>
              <a:rPr dirty="0" sz="1300" spc="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50" b="1">
                <a:solidFill>
                  <a:srgbClr val="595959"/>
                </a:solidFill>
                <a:latin typeface="Tahoma"/>
                <a:cs typeface="Tahoma"/>
              </a:rPr>
              <a:t>frame</a:t>
            </a:r>
            <a:r>
              <a:rPr dirty="0" sz="1300" spc="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memoria física.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ts val="1490"/>
              </a:lnSpc>
              <a:spcBef>
                <a:spcPts val="1195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300" spc="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física</a:t>
            </a:r>
            <a:r>
              <a:rPr dirty="0" sz="1300" spc="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300" spc="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compuesta</a:t>
            </a:r>
            <a:r>
              <a:rPr dirty="0" sz="1300" spc="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300" spc="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dirección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física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5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45" b="1">
                <a:solidFill>
                  <a:srgbClr val="595959"/>
                </a:solidFill>
                <a:latin typeface="Tahoma"/>
                <a:cs typeface="Tahoma"/>
              </a:rPr>
              <a:t>l</a:t>
            </a:r>
            <a:r>
              <a:rPr dirty="0" sz="1300" spc="-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25" b="1">
                <a:solidFill>
                  <a:srgbClr val="595959"/>
                </a:solidFill>
                <a:latin typeface="Tahoma"/>
                <a:cs typeface="Tahoma"/>
              </a:rPr>
              <a:t>Frame</a:t>
            </a:r>
            <a:r>
              <a:rPr dirty="0" sz="1300" spc="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50" b="1">
                <a:solidFill>
                  <a:srgbClr val="595959"/>
                </a:solidFill>
                <a:latin typeface="Tahoma"/>
                <a:cs typeface="Tahoma"/>
              </a:rPr>
              <a:t>Page</a:t>
            </a:r>
            <a:r>
              <a:rPr dirty="0" sz="1300" spc="6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65">
                <a:solidFill>
                  <a:srgbClr val="595959"/>
                </a:solidFill>
                <a:latin typeface="Tahoma"/>
                <a:cs typeface="Tahoma"/>
              </a:rPr>
              <a:t> se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obtiene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55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55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50">
                <a:solidFill>
                  <a:srgbClr val="595959"/>
                </a:solidFill>
                <a:latin typeface="Tahoma"/>
                <a:cs typeface="Tahoma"/>
              </a:rPr>
              <a:t>page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table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concatenado</a:t>
            </a:r>
            <a:r>
              <a:rPr dirty="0" sz="1300" spc="4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300" spc="4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4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offset</a:t>
            </a:r>
            <a:r>
              <a:rPr dirty="0" sz="1300" spc="4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4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4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1300" spc="4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4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se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obtiene</a:t>
            </a:r>
            <a:r>
              <a:rPr dirty="0" sz="13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virtual</a:t>
            </a:r>
            <a:r>
              <a:rPr dirty="0" sz="13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address.</a:t>
            </a:r>
            <a:r>
              <a:rPr dirty="0" sz="13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3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operativo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maneja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accesos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memoria.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ts val="1490"/>
              </a:lnSpc>
              <a:spcBef>
                <a:spcPts val="119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cosas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pueden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parecer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raras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sobre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paginación</a:t>
            </a:r>
            <a:r>
              <a:rPr dirty="0" sz="130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30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bien</a:t>
            </a:r>
            <a:r>
              <a:rPr dirty="0" sz="1300" spc="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130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cree</a:t>
            </a:r>
            <a:r>
              <a:rPr dirty="0" sz="130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su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300" spc="4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4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lineal,</a:t>
            </a:r>
            <a:r>
              <a:rPr dirty="0" sz="1300" spc="4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4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hecho,</a:t>
            </a:r>
            <a:r>
              <a:rPr dirty="0" sz="1300" spc="4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300" spc="4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300" spc="4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está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desparramada</a:t>
            </a:r>
            <a:r>
              <a:rPr dirty="0" sz="1300" spc="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300" spc="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toda</a:t>
            </a:r>
            <a:r>
              <a:rPr dirty="0" sz="1300" spc="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300" spc="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física</a:t>
            </a:r>
            <a:r>
              <a:rPr dirty="0" sz="1300" spc="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300" spc="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si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fuera</a:t>
            </a:r>
            <a:r>
              <a:rPr dirty="0" sz="13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mosaico.</a:t>
            </a:r>
            <a:endParaRPr sz="13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4340" y="548580"/>
            <a:ext cx="4703819" cy="416105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85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110"/>
              <a:t> </a:t>
            </a:r>
            <a:r>
              <a:rPr dirty="0" spc="114"/>
              <a:t>paginada</a:t>
            </a:r>
            <a:r>
              <a:rPr dirty="0" spc="-105"/>
              <a:t> </a:t>
            </a:r>
            <a:r>
              <a:rPr dirty="0" spc="-10"/>
              <a:t>multinivel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6744" y="1347609"/>
            <a:ext cx="3987068" cy="376858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30389" y="1191259"/>
            <a:ext cx="746125" cy="46355"/>
          </a:xfrm>
          <a:custGeom>
            <a:avLst/>
            <a:gdLst/>
            <a:ahLst/>
            <a:cxnLst/>
            <a:rect l="l" t="t" r="r" b="b"/>
            <a:pathLst>
              <a:path w="746125" h="46355">
                <a:moveTo>
                  <a:pt x="745756" y="0"/>
                </a:moveTo>
                <a:lnTo>
                  <a:pt x="376008" y="0"/>
                </a:lnTo>
                <a:lnTo>
                  <a:pt x="372897" y="0"/>
                </a:lnTo>
                <a:lnTo>
                  <a:pt x="0" y="0"/>
                </a:lnTo>
                <a:lnTo>
                  <a:pt x="0" y="45834"/>
                </a:lnTo>
                <a:lnTo>
                  <a:pt x="372897" y="45834"/>
                </a:lnTo>
                <a:lnTo>
                  <a:pt x="376008" y="45834"/>
                </a:lnTo>
                <a:lnTo>
                  <a:pt x="745756" y="45834"/>
                </a:lnTo>
                <a:lnTo>
                  <a:pt x="745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376491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200">
                <a:solidFill>
                  <a:srgbClr val="FFFFFF"/>
                </a:solidFill>
              </a:rPr>
              <a:t>Casos</a:t>
            </a:r>
            <a:r>
              <a:rPr dirty="0" sz="3600" spc="-220">
                <a:solidFill>
                  <a:srgbClr val="FFFFFF"/>
                </a:solidFill>
              </a:rPr>
              <a:t> </a:t>
            </a:r>
            <a:r>
              <a:rPr dirty="0" sz="3600" spc="145">
                <a:solidFill>
                  <a:srgbClr val="FFFFFF"/>
                </a:solidFill>
              </a:rPr>
              <a:t>de</a:t>
            </a:r>
            <a:r>
              <a:rPr dirty="0" sz="3600" spc="-215">
                <a:solidFill>
                  <a:srgbClr val="FFFFFF"/>
                </a:solidFill>
              </a:rPr>
              <a:t> </a:t>
            </a:r>
            <a:r>
              <a:rPr dirty="0" sz="3600" spc="70">
                <a:solidFill>
                  <a:srgbClr val="FFFFFF"/>
                </a:solidFill>
              </a:rPr>
              <a:t>Estudio</a:t>
            </a:r>
            <a:endParaRPr sz="3600"/>
          </a:p>
        </p:txBody>
      </p:sp>
      <p:sp>
        <p:nvSpPr>
          <p:cNvPr id="5" name="object 5" descr=""/>
          <p:cNvSpPr txBox="1"/>
          <p:nvPr/>
        </p:nvSpPr>
        <p:spPr>
          <a:xfrm>
            <a:off x="913550" y="3201581"/>
            <a:ext cx="329501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FFFFFF"/>
                </a:solidFill>
                <a:latin typeface="Trebuchet MS"/>
                <a:cs typeface="Trebuchet MS"/>
              </a:rPr>
              <a:t>Conceptos</a:t>
            </a:r>
            <a:r>
              <a:rPr dirty="0" sz="18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clave: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100">
                <a:solidFill>
                  <a:srgbClr val="FFFFFF"/>
                </a:solidFill>
                <a:latin typeface="Trebuchet MS"/>
                <a:cs typeface="Trebuchet MS"/>
              </a:rPr>
              <a:t>Base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65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8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Bound:</a:t>
            </a:r>
            <a:r>
              <a:rPr dirty="0" sz="18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00">
                <a:solidFill>
                  <a:srgbClr val="FFFFFF"/>
                </a:solidFill>
                <a:latin typeface="Trebuchet MS"/>
                <a:cs typeface="Trebuchet MS"/>
              </a:rPr>
              <a:t>8086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Memoria</a:t>
            </a:r>
            <a:r>
              <a:rPr dirty="0" sz="180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segmentada:</a:t>
            </a:r>
            <a:r>
              <a:rPr dirty="0" sz="180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x86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Memoria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paginada:</a:t>
            </a:r>
            <a:r>
              <a:rPr dirty="0" sz="18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x86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070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135"/>
              <a:t>Base</a:t>
            </a:r>
            <a:r>
              <a:rPr dirty="0" spc="-130"/>
              <a:t> </a:t>
            </a:r>
            <a:r>
              <a:rPr dirty="0" spc="100"/>
              <a:t>and</a:t>
            </a:r>
            <a:r>
              <a:rPr dirty="0" spc="-130"/>
              <a:t> </a:t>
            </a:r>
            <a:r>
              <a:rPr dirty="0" spc="120"/>
              <a:t>Bound</a:t>
            </a:r>
            <a:r>
              <a:rPr dirty="0" spc="-125"/>
              <a:t> </a:t>
            </a:r>
            <a:r>
              <a:rPr dirty="0" spc="50"/>
              <a:t>en</a:t>
            </a:r>
            <a:r>
              <a:rPr dirty="0" spc="-130"/>
              <a:t> </a:t>
            </a:r>
            <a:r>
              <a:rPr dirty="0" spc="45"/>
              <a:t>8086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411385"/>
            <a:ext cx="4500245" cy="322961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1710"/>
              </a:lnSpc>
              <a:spcBef>
                <a:spcPts val="229"/>
              </a:spcBef>
            </a:pP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arquitectura</a:t>
            </a:r>
            <a:r>
              <a:rPr dirty="0" sz="15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5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procesador</a:t>
            </a:r>
            <a:r>
              <a:rPr dirty="0" sz="15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8086</a:t>
            </a:r>
            <a:r>
              <a:rPr dirty="0" sz="15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5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bus</a:t>
            </a:r>
            <a:r>
              <a:rPr dirty="0" sz="15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20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bits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,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registros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longitud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16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bits.</a:t>
            </a:r>
            <a:r>
              <a:rPr dirty="0" sz="1500" spc="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base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and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bound</a:t>
            </a:r>
            <a:endParaRPr sz="1500">
              <a:latin typeface="Tahoma"/>
              <a:cs typeface="Tahoma"/>
            </a:endParaRPr>
          </a:p>
          <a:p>
            <a:pPr marL="469900" marR="2760345" indent="-457200">
              <a:lnSpc>
                <a:spcPts val="1710"/>
              </a:lnSpc>
              <a:spcBef>
                <a:spcPts val="120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Registros</a:t>
            </a:r>
            <a:r>
              <a:rPr dirty="0" sz="15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Generales: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AX,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BX,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CX,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60">
                <a:solidFill>
                  <a:srgbClr val="595959"/>
                </a:solidFill>
                <a:latin typeface="Tahoma"/>
                <a:cs typeface="Tahoma"/>
              </a:rPr>
              <a:t>DX</a:t>
            </a:r>
            <a:endParaRPr sz="1500">
              <a:latin typeface="Tahoma"/>
              <a:cs typeface="Tahoma"/>
            </a:endParaRPr>
          </a:p>
          <a:p>
            <a:pPr marL="469900" marR="2494915" indent="-457200">
              <a:lnSpc>
                <a:spcPts val="1710"/>
              </a:lnSpc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Registros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Segmento </a:t>
            </a:r>
            <a:r>
              <a:rPr dirty="0" sz="1500" spc="-30">
                <a:solidFill>
                  <a:srgbClr val="595959"/>
                </a:solidFill>
                <a:latin typeface="Tahoma"/>
                <a:cs typeface="Tahoma"/>
              </a:rPr>
              <a:t>CS:</a:t>
            </a:r>
            <a:r>
              <a:rPr dirty="0" sz="15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Code</a:t>
            </a:r>
            <a:r>
              <a:rPr dirty="0" sz="15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Segment 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DS: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Data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Segment </a:t>
            </a:r>
            <a:r>
              <a:rPr dirty="0" sz="1500" spc="-90">
                <a:solidFill>
                  <a:srgbClr val="595959"/>
                </a:solidFill>
                <a:latin typeface="Tahoma"/>
                <a:cs typeface="Tahoma"/>
              </a:rPr>
              <a:t>SS: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Stack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Segment</a:t>
            </a:r>
            <a:endParaRPr sz="1500">
              <a:latin typeface="Tahoma"/>
              <a:cs typeface="Tahoma"/>
            </a:endParaRPr>
          </a:p>
          <a:p>
            <a:pPr marL="469900">
              <a:lnSpc>
                <a:spcPts val="1670"/>
              </a:lnSpc>
            </a:pP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Extra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Data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Segment</a:t>
            </a:r>
            <a:endParaRPr sz="1500">
              <a:latin typeface="Tahoma"/>
              <a:cs typeface="Tahoma"/>
            </a:endParaRPr>
          </a:p>
          <a:p>
            <a:pPr marL="12700" marR="151130">
              <a:lnSpc>
                <a:spcPts val="1710"/>
              </a:lnSpc>
              <a:spcBef>
                <a:spcPts val="1750"/>
              </a:spcBef>
            </a:pPr>
            <a:r>
              <a:rPr dirty="0" sz="1500" spc="-100">
                <a:solidFill>
                  <a:srgbClr val="595959"/>
                </a:solidFill>
                <a:latin typeface="Tahoma"/>
                <a:cs typeface="Tahoma"/>
              </a:rPr>
              <a:t>SI,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50">
                <a:solidFill>
                  <a:srgbClr val="595959"/>
                </a:solidFill>
                <a:latin typeface="Tahoma"/>
                <a:cs typeface="Tahoma"/>
              </a:rPr>
              <a:t>DI,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595959"/>
                </a:solidFill>
                <a:latin typeface="Tahoma"/>
                <a:cs typeface="Tahoma"/>
              </a:rPr>
              <a:t>BP,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0">
                <a:solidFill>
                  <a:srgbClr val="595959"/>
                </a:solidFill>
                <a:latin typeface="Tahoma"/>
                <a:cs typeface="Tahoma"/>
              </a:rPr>
              <a:t>SP,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IP:</a:t>
            </a:r>
            <a:r>
              <a:rPr dirty="0" sz="1500" spc="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Registros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Punteros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Registro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500" spc="-35">
                <a:solidFill>
                  <a:srgbClr val="595959"/>
                </a:solidFill>
                <a:latin typeface="Tahoma"/>
                <a:cs typeface="Tahoma"/>
              </a:rPr>
              <a:t>Índices.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595959"/>
                </a:solidFill>
                <a:latin typeface="Tahoma"/>
                <a:cs typeface="Tahoma"/>
              </a:rPr>
              <a:t>(Base</a:t>
            </a:r>
            <a:r>
              <a:rPr dirty="0" sz="15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Pointer,</a:t>
            </a:r>
            <a:r>
              <a:rPr dirty="0" sz="15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Stack</a:t>
            </a:r>
            <a:r>
              <a:rPr dirty="0" sz="15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Pointer</a:t>
            </a:r>
            <a:r>
              <a:rPr dirty="0" sz="15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Instruction Pointer)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8000" y="1644175"/>
            <a:ext cx="3775999" cy="283202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26275" y="1420657"/>
            <a:ext cx="5100320" cy="3303904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algn="just" marL="88900" marR="48895">
              <a:lnSpc>
                <a:spcPct val="106800"/>
              </a:lnSpc>
              <a:spcBef>
                <a:spcPts val="5"/>
              </a:spcBef>
            </a:pP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Dado</a:t>
            </a:r>
            <a:r>
              <a:rPr dirty="0" sz="145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45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era</a:t>
            </a:r>
            <a:r>
              <a:rPr dirty="0" sz="145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45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arquitectura</a:t>
            </a:r>
            <a:r>
              <a:rPr dirty="0" sz="145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35">
                <a:solidFill>
                  <a:srgbClr val="595959"/>
                </a:solidFill>
                <a:latin typeface="Tahoma"/>
                <a:cs typeface="Tahoma"/>
              </a:rPr>
              <a:t>16</a:t>
            </a:r>
            <a:r>
              <a:rPr dirty="0" sz="145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bits</a:t>
            </a:r>
            <a:r>
              <a:rPr dirty="0" sz="145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2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5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cantidad</a:t>
            </a:r>
            <a:r>
              <a:rPr dirty="0" sz="145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máxima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direccionable</a:t>
            </a:r>
            <a:r>
              <a:rPr dirty="0" sz="1450" spc="4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era</a:t>
            </a:r>
            <a:r>
              <a:rPr dirty="0" sz="1450" spc="4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55">
                <a:solidFill>
                  <a:srgbClr val="595959"/>
                </a:solidFill>
                <a:latin typeface="Tahoma"/>
                <a:cs typeface="Tahoma"/>
              </a:rPr>
              <a:t>2</a:t>
            </a:r>
            <a:r>
              <a:rPr dirty="0" baseline="32163" sz="1425" spc="82">
                <a:solidFill>
                  <a:srgbClr val="595959"/>
                </a:solidFill>
                <a:latin typeface="Tahoma"/>
                <a:cs typeface="Tahoma"/>
              </a:rPr>
              <a:t>16</a:t>
            </a:r>
            <a:r>
              <a:rPr dirty="0" baseline="32163" sz="1425" spc="585">
                <a:solidFill>
                  <a:srgbClr val="595959"/>
                </a:solidFill>
                <a:latin typeface="Tahoma"/>
                <a:cs typeface="Tahoma"/>
              </a:rPr>
              <a:t>   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450" spc="4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450" spc="4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60">
                <a:solidFill>
                  <a:srgbClr val="595959"/>
                </a:solidFill>
                <a:latin typeface="Tahoma"/>
                <a:cs typeface="Tahoma"/>
              </a:rPr>
              <a:t>65536</a:t>
            </a:r>
            <a:r>
              <a:rPr dirty="0" sz="1450" spc="4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bytes.</a:t>
            </a:r>
            <a:r>
              <a:rPr dirty="0" sz="1450" spc="4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450" spc="4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25">
                <a:solidFill>
                  <a:srgbClr val="595959"/>
                </a:solidFill>
                <a:latin typeface="Tahoma"/>
                <a:cs typeface="Tahoma"/>
              </a:rPr>
              <a:t>se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quedaban</a:t>
            </a:r>
            <a:r>
              <a:rPr dirty="0" sz="1450" spc="4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cortos</a:t>
            </a:r>
            <a:r>
              <a:rPr dirty="0" sz="1450" spc="4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porque</a:t>
            </a:r>
            <a:r>
              <a:rPr dirty="0" sz="1450" spc="4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eso</a:t>
            </a:r>
            <a:r>
              <a:rPr dirty="0" sz="1450" spc="4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era</a:t>
            </a:r>
            <a:r>
              <a:rPr dirty="0" sz="1450" spc="4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450" spc="4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50">
                <a:solidFill>
                  <a:srgbClr val="595959"/>
                </a:solidFill>
                <a:latin typeface="Tahoma"/>
                <a:cs typeface="Tahoma"/>
              </a:rPr>
              <a:t>64k</a:t>
            </a:r>
            <a:r>
              <a:rPr dirty="0" sz="1450" spc="45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4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memoria,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decidieron</a:t>
            </a:r>
            <a:r>
              <a:rPr dirty="0" sz="1450" spc="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agregar</a:t>
            </a:r>
            <a:r>
              <a:rPr dirty="0" sz="145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60">
                <a:solidFill>
                  <a:srgbClr val="595959"/>
                </a:solidFill>
                <a:latin typeface="Tahoma"/>
                <a:cs typeface="Tahoma"/>
              </a:rPr>
              <a:t>4</a:t>
            </a:r>
            <a:r>
              <a:rPr dirty="0" sz="145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bits</a:t>
            </a:r>
            <a:r>
              <a:rPr dirty="0" sz="145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45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45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45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145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memoria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llevando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45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bus</a:t>
            </a:r>
            <a:r>
              <a:rPr dirty="0" sz="145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45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2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45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60">
                <a:solidFill>
                  <a:srgbClr val="595959"/>
                </a:solidFill>
                <a:latin typeface="Tahoma"/>
                <a:cs typeface="Tahoma"/>
              </a:rPr>
              <a:t>20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20">
                <a:solidFill>
                  <a:srgbClr val="595959"/>
                </a:solidFill>
                <a:latin typeface="Tahoma"/>
                <a:cs typeface="Tahoma"/>
              </a:rPr>
              <a:t>bits</a:t>
            </a:r>
            <a:endParaRPr sz="1450">
              <a:latin typeface="Tahoma"/>
              <a:cs typeface="Tahoma"/>
            </a:endParaRPr>
          </a:p>
          <a:p>
            <a:pPr marL="88900" marR="160655">
              <a:lnSpc>
                <a:spcPct val="106800"/>
              </a:lnSpc>
              <a:spcBef>
                <a:spcPts val="1200"/>
              </a:spcBef>
            </a:pP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45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45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virtual</a:t>
            </a:r>
            <a:r>
              <a:rPr dirty="0" sz="145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45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considera</a:t>
            </a:r>
            <a:r>
              <a:rPr dirty="0" sz="145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45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45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45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45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registro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segmento</a:t>
            </a:r>
            <a:r>
              <a:rPr dirty="0" sz="145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shifted</a:t>
            </a:r>
            <a:r>
              <a:rPr dirty="0" sz="145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60">
                <a:solidFill>
                  <a:srgbClr val="595959"/>
                </a:solidFill>
                <a:latin typeface="Tahoma"/>
                <a:cs typeface="Tahoma"/>
              </a:rPr>
              <a:t>4</a:t>
            </a:r>
            <a:r>
              <a:rPr dirty="0" sz="145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2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45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izquierda,</a:t>
            </a:r>
            <a:r>
              <a:rPr dirty="0" sz="145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45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luego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45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le</a:t>
            </a:r>
            <a:r>
              <a:rPr dirty="0" sz="145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suma</a:t>
            </a:r>
            <a:r>
              <a:rPr dirty="0" sz="145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offset</a:t>
            </a:r>
            <a:endParaRPr sz="1450">
              <a:latin typeface="Tahoma"/>
              <a:cs typeface="Tahoma"/>
            </a:endParaRPr>
          </a:p>
          <a:p>
            <a:pPr marL="450215" marR="819785" indent="-36195">
              <a:lnSpc>
                <a:spcPct val="175800"/>
              </a:lnSpc>
            </a:pP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1000:F00F</a:t>
            </a:r>
            <a:r>
              <a:rPr dirty="0" sz="1450" spc="3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virtual</a:t>
            </a:r>
            <a:r>
              <a:rPr dirty="0" sz="145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equivale</a:t>
            </a:r>
            <a:r>
              <a:rPr dirty="0" sz="145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2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450" spc="-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5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450" spc="-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física: </a:t>
            </a:r>
            <a:r>
              <a:rPr dirty="0" sz="1450" spc="50">
                <a:solidFill>
                  <a:srgbClr val="595959"/>
                </a:solidFill>
                <a:latin typeface="Tahoma"/>
                <a:cs typeface="Tahoma"/>
              </a:rPr>
              <a:t>10000</a:t>
            </a:r>
            <a:endParaRPr sz="1450">
              <a:latin typeface="Tahoma"/>
              <a:cs typeface="Tahoma"/>
            </a:endParaRPr>
          </a:p>
          <a:p>
            <a:pPr marL="341630">
              <a:lnSpc>
                <a:spcPct val="100000"/>
              </a:lnSpc>
              <a:spcBef>
                <a:spcPts val="120"/>
              </a:spcBef>
            </a:pP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+</a:t>
            </a:r>
            <a:r>
              <a:rPr dirty="0" sz="1450" spc="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45">
                <a:solidFill>
                  <a:srgbClr val="595959"/>
                </a:solidFill>
                <a:latin typeface="Tahoma"/>
                <a:cs typeface="Tahoma"/>
              </a:rPr>
              <a:t>F00F</a:t>
            </a:r>
            <a:endParaRPr sz="1450">
              <a:latin typeface="Tahoma"/>
              <a:cs typeface="Tahoma"/>
            </a:endParaRPr>
          </a:p>
          <a:p>
            <a:pPr marL="485775">
              <a:lnSpc>
                <a:spcPct val="100000"/>
              </a:lnSpc>
              <a:spcBef>
                <a:spcPts val="114"/>
              </a:spcBef>
              <a:tabLst>
                <a:tab pos="1275080" algn="l"/>
              </a:tabLst>
            </a:pPr>
            <a:r>
              <a:rPr dirty="0" sz="1450" spc="-10" b="1">
                <a:solidFill>
                  <a:srgbClr val="595959"/>
                </a:solidFill>
                <a:latin typeface="Tahoma"/>
                <a:cs typeface="Tahoma"/>
              </a:rPr>
              <a:t>1F00F</a:t>
            </a:r>
            <a:r>
              <a:rPr dirty="0" sz="1450" b="1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direccion</a:t>
            </a:r>
            <a:r>
              <a:rPr dirty="0" sz="14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60">
                <a:solidFill>
                  <a:srgbClr val="595959"/>
                </a:solidFill>
                <a:latin typeface="Tahoma"/>
                <a:cs typeface="Tahoma"/>
              </a:rPr>
              <a:t>20</a:t>
            </a:r>
            <a:r>
              <a:rPr dirty="0" sz="14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20">
                <a:solidFill>
                  <a:srgbClr val="595959"/>
                </a:solidFill>
                <a:latin typeface="Tahoma"/>
                <a:cs typeface="Tahoma"/>
              </a:rPr>
              <a:t>bits</a:t>
            </a:r>
            <a:endParaRPr sz="145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0624" y="1583000"/>
            <a:ext cx="2514599" cy="31241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070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135"/>
              <a:t>Base</a:t>
            </a:r>
            <a:r>
              <a:rPr dirty="0" spc="-130"/>
              <a:t> </a:t>
            </a:r>
            <a:r>
              <a:rPr dirty="0" spc="100"/>
              <a:t>and</a:t>
            </a:r>
            <a:r>
              <a:rPr dirty="0" spc="-130"/>
              <a:t> </a:t>
            </a:r>
            <a:r>
              <a:rPr dirty="0" spc="120"/>
              <a:t>Bound</a:t>
            </a:r>
            <a:r>
              <a:rPr dirty="0" spc="-125"/>
              <a:t> </a:t>
            </a:r>
            <a:r>
              <a:rPr dirty="0" spc="50"/>
              <a:t>en</a:t>
            </a:r>
            <a:r>
              <a:rPr dirty="0" spc="-130"/>
              <a:t> </a:t>
            </a:r>
            <a:r>
              <a:rPr dirty="0" spc="-25"/>
              <a:t>x86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2475" y="3409857"/>
            <a:ext cx="7043420" cy="1372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Combinaciones</a:t>
            </a:r>
            <a:r>
              <a:rPr dirty="0" sz="14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especiales:</a:t>
            </a:r>
            <a:endParaRPr sz="1400">
              <a:latin typeface="Tahoma"/>
              <a:cs typeface="Tahoma"/>
            </a:endParaRPr>
          </a:p>
          <a:p>
            <a:pPr marL="469265" indent="-335915">
              <a:lnSpc>
                <a:spcPct val="100000"/>
              </a:lnSpc>
              <a:spcBef>
                <a:spcPts val="145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400" spc="-55" b="1" i="1">
                <a:solidFill>
                  <a:srgbClr val="595959"/>
                </a:solidFill>
                <a:latin typeface="Trebuchet MS"/>
                <a:cs typeface="Trebuchet MS"/>
              </a:rPr>
              <a:t>CS:IP</a:t>
            </a:r>
            <a:r>
              <a:rPr dirty="0" sz="1400" spc="-114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localiza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próxima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instrucción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ejecutada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real.</a:t>
            </a:r>
            <a:endParaRPr sz="1400">
              <a:latin typeface="Tahoma"/>
              <a:cs typeface="Tahoma"/>
            </a:endParaRPr>
          </a:p>
          <a:p>
            <a:pPr marL="469265" indent="-335915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400" spc="-60" b="1" i="1">
                <a:solidFill>
                  <a:srgbClr val="595959"/>
                </a:solidFill>
                <a:latin typeface="Trebuchet MS"/>
                <a:cs typeface="Trebuchet MS"/>
              </a:rPr>
              <a:t>SS:SP</a:t>
            </a:r>
            <a:r>
              <a:rPr dirty="0" sz="1400" spc="-12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localiza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puntero</a:t>
            </a:r>
            <a:r>
              <a:rPr dirty="0" sz="14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595959"/>
                </a:solidFill>
                <a:latin typeface="Tahoma"/>
                <a:cs typeface="Tahoma"/>
              </a:rPr>
              <a:t>stack,</a:t>
            </a:r>
            <a:r>
              <a:rPr dirty="0" sz="14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veces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también</a:t>
            </a:r>
            <a:r>
              <a:rPr dirty="0" sz="14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4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SS:BP.</a:t>
            </a:r>
            <a:endParaRPr sz="1400">
              <a:latin typeface="Tahoma"/>
              <a:cs typeface="Tahoma"/>
            </a:endParaRPr>
          </a:p>
          <a:p>
            <a:pPr marL="469265" indent="-335915">
              <a:lnSpc>
                <a:spcPct val="100000"/>
              </a:lnSpc>
              <a:spcBef>
                <a:spcPts val="25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400" spc="-105" b="1">
                <a:solidFill>
                  <a:srgbClr val="595959"/>
                </a:solidFill>
                <a:latin typeface="Tahoma"/>
                <a:cs typeface="Tahoma"/>
              </a:rPr>
              <a:t>DS:</a:t>
            </a:r>
            <a:r>
              <a:rPr dirty="0" sz="14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30" b="1">
                <a:solidFill>
                  <a:srgbClr val="595959"/>
                </a:solidFill>
                <a:latin typeface="Tahoma"/>
                <a:cs typeface="Tahoma"/>
              </a:rPr>
              <a:t>BX,DI,SI</a:t>
            </a:r>
            <a:r>
              <a:rPr dirty="0" sz="14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localizan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puntero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dentro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data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address.</a:t>
            </a:r>
            <a:endParaRPr sz="1400">
              <a:latin typeface="Tahoma"/>
              <a:cs typeface="Tahoma"/>
            </a:endParaRPr>
          </a:p>
          <a:p>
            <a:pPr marL="469265" indent="-335915">
              <a:lnSpc>
                <a:spcPct val="100000"/>
              </a:lnSpc>
              <a:spcBef>
                <a:spcPts val="25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400" spc="-105" b="1">
                <a:solidFill>
                  <a:srgbClr val="595959"/>
                </a:solidFill>
                <a:latin typeface="Tahoma"/>
                <a:cs typeface="Tahoma"/>
              </a:rPr>
              <a:t>ES:D</a:t>
            </a:r>
            <a:r>
              <a:rPr dirty="0" sz="1400" spc="-105">
                <a:solidFill>
                  <a:srgbClr val="595959"/>
                </a:solidFill>
                <a:latin typeface="Tahoma"/>
                <a:cs typeface="Tahoma"/>
              </a:rPr>
              <a:t>I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puntero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extra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data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address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donde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van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strings.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9825" y="1583725"/>
            <a:ext cx="4610099" cy="16097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070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135"/>
              <a:t>Base</a:t>
            </a:r>
            <a:r>
              <a:rPr dirty="0" spc="-130"/>
              <a:t> </a:t>
            </a:r>
            <a:r>
              <a:rPr dirty="0" spc="100"/>
              <a:t>and</a:t>
            </a:r>
            <a:r>
              <a:rPr dirty="0" spc="-130"/>
              <a:t> </a:t>
            </a:r>
            <a:r>
              <a:rPr dirty="0" spc="120"/>
              <a:t>Bound</a:t>
            </a:r>
            <a:r>
              <a:rPr dirty="0" spc="-125"/>
              <a:t> </a:t>
            </a:r>
            <a:r>
              <a:rPr dirty="0" spc="50"/>
              <a:t>en</a:t>
            </a:r>
            <a:r>
              <a:rPr dirty="0" spc="-130"/>
              <a:t> </a:t>
            </a:r>
            <a:r>
              <a:rPr dirty="0" spc="-25"/>
              <a:t>x86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08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165"/>
              <a:t>Modo</a:t>
            </a:r>
            <a:r>
              <a:rPr dirty="0" spc="-120"/>
              <a:t> </a:t>
            </a:r>
            <a:r>
              <a:rPr dirty="0" spc="70"/>
              <a:t>Protegido</a:t>
            </a:r>
            <a:r>
              <a:rPr dirty="0" spc="-114"/>
              <a:t> </a:t>
            </a:r>
            <a:r>
              <a:rPr dirty="0" spc="-25"/>
              <a:t>x86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72775" y="1458696"/>
            <a:ext cx="7540625" cy="2446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x86</a:t>
            </a:r>
            <a:r>
              <a:rPr dirty="0" sz="1600" spc="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además</a:t>
            </a:r>
            <a:r>
              <a:rPr dirty="0" sz="1600" spc="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1600" spc="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nativo,</a:t>
            </a:r>
            <a:r>
              <a:rPr dirty="0" sz="1600" spc="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real</a:t>
            </a:r>
            <a:r>
              <a:rPr dirty="0" sz="1600" spc="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mode,</a:t>
            </a:r>
            <a:r>
              <a:rPr dirty="0" sz="1600" spc="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donde</a:t>
            </a:r>
            <a:r>
              <a:rPr dirty="0" sz="1600" spc="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1600" spc="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accedidas</a:t>
            </a:r>
            <a:r>
              <a:rPr dirty="0" sz="1600" spc="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son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físicas,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existe</a:t>
            </a:r>
            <a:r>
              <a:rPr dirty="0" sz="1600" spc="3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otro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llamado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65" b="1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1600" spc="-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Protegido</a:t>
            </a:r>
            <a:r>
              <a:rPr dirty="0" sz="1600" spc="-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cual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proveen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mecanismos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necesarios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protección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memoria.</a:t>
            </a:r>
            <a:endParaRPr sz="1600">
              <a:latin typeface="Tahoma"/>
              <a:cs typeface="Tahoma"/>
            </a:endParaRPr>
          </a:p>
          <a:p>
            <a:pPr algn="just" marL="12700">
              <a:lnSpc>
                <a:spcPct val="100000"/>
              </a:lnSpc>
              <a:spcBef>
                <a:spcPts val="1485"/>
              </a:spcBef>
            </a:pP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implementó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partir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40">
                <a:solidFill>
                  <a:srgbClr val="595959"/>
                </a:solidFill>
                <a:latin typeface="Tahoma"/>
                <a:cs typeface="Tahoma"/>
              </a:rPr>
              <a:t>80286</a:t>
            </a:r>
            <a:endParaRPr sz="1600">
              <a:latin typeface="Tahoma"/>
              <a:cs typeface="Tahoma"/>
            </a:endParaRPr>
          </a:p>
          <a:p>
            <a:pPr algn="just"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1600" spc="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protegido</a:t>
            </a:r>
            <a:r>
              <a:rPr dirty="0" sz="1600" spc="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permite</a:t>
            </a:r>
            <a:r>
              <a:rPr dirty="0" sz="1600" spc="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direccionar</a:t>
            </a:r>
            <a:r>
              <a:rPr dirty="0" sz="1600" spc="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600" spc="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programas</a:t>
            </a:r>
            <a:r>
              <a:rPr dirty="0" sz="1600" spc="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allá</a:t>
            </a:r>
            <a:r>
              <a:rPr dirty="0" sz="1600" spc="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1</a:t>
            </a:r>
            <a:r>
              <a:rPr dirty="0" sz="1600" spc="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14">
                <a:solidFill>
                  <a:srgbClr val="595959"/>
                </a:solidFill>
                <a:latin typeface="Tahoma"/>
                <a:cs typeface="Tahoma"/>
              </a:rPr>
              <a:t>Mb</a:t>
            </a:r>
            <a:r>
              <a:rPr dirty="0" sz="1600" spc="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física,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así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también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dentro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primer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mega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física.</a:t>
            </a:r>
            <a:endParaRPr sz="1600">
              <a:latin typeface="Tahoma"/>
              <a:cs typeface="Tahoma"/>
            </a:endParaRPr>
          </a:p>
          <a:p>
            <a:pPr algn="just" marL="12700">
              <a:lnSpc>
                <a:spcPct val="100000"/>
              </a:lnSpc>
              <a:spcBef>
                <a:spcPts val="149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virtualización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segmentos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08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125"/>
              <a:t> </a:t>
            </a:r>
            <a:r>
              <a:rPr dirty="0" spc="125"/>
              <a:t>segmentada</a:t>
            </a:r>
            <a:r>
              <a:rPr dirty="0" spc="-120"/>
              <a:t> </a:t>
            </a:r>
            <a:r>
              <a:rPr dirty="0" spc="50"/>
              <a:t>en</a:t>
            </a:r>
            <a:r>
              <a:rPr dirty="0" spc="-120"/>
              <a:t> </a:t>
            </a:r>
            <a:r>
              <a:rPr dirty="0" spc="-25"/>
              <a:t>x86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459" y="1515494"/>
            <a:ext cx="7658043" cy="153586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00675" y="3497913"/>
            <a:ext cx="7500620" cy="878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Unidad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Gestión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Memoria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(MMU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transforma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una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dirección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lógica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una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dirección </a:t>
            </a:r>
            <a:r>
              <a:rPr dirty="0" sz="1400">
                <a:latin typeface="Arial MT"/>
                <a:cs typeface="Arial MT"/>
              </a:rPr>
              <a:t>lineal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mediante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un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circuito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hardware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llamado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unidad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de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segmentación</a:t>
            </a:r>
            <a:r>
              <a:rPr dirty="0" sz="1400">
                <a:latin typeface="Arial MT"/>
                <a:cs typeface="Arial MT"/>
              </a:rPr>
              <a:t>;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posteriormente,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un </a:t>
            </a:r>
            <a:r>
              <a:rPr dirty="0" sz="1400">
                <a:latin typeface="Arial MT"/>
                <a:cs typeface="Arial MT"/>
              </a:rPr>
              <a:t>segundo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circuito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hardware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llamado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unidad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de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paginación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transforma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dirección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lineal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en </a:t>
            </a:r>
            <a:r>
              <a:rPr dirty="0" sz="1400">
                <a:latin typeface="Arial MT"/>
                <a:cs typeface="Arial MT"/>
              </a:rPr>
              <a:t>una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dirección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física.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08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125"/>
              <a:t> </a:t>
            </a:r>
            <a:r>
              <a:rPr dirty="0" spc="125"/>
              <a:t>segmentada</a:t>
            </a:r>
            <a:r>
              <a:rPr dirty="0" spc="-120"/>
              <a:t> </a:t>
            </a:r>
            <a:r>
              <a:rPr dirty="0" spc="50"/>
              <a:t>en</a:t>
            </a:r>
            <a:r>
              <a:rPr dirty="0" spc="-120"/>
              <a:t> </a:t>
            </a:r>
            <a:r>
              <a:rPr dirty="0" spc="-25"/>
              <a:t>x86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419453"/>
            <a:ext cx="7532370" cy="3520440"/>
          </a:xfrm>
          <a:prstGeom prst="rect">
            <a:avLst/>
          </a:prstGeom>
        </p:spPr>
        <p:txBody>
          <a:bodyPr wrap="square" lIns="0" tIns="425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300" spc="-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lógica</a:t>
            </a:r>
            <a:endParaRPr sz="13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</a:pP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Incluida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instrucciones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lenguaje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máquina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especificar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operando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instrucción.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tipo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encarna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conocida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arquitectura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segmentada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80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4">
                <a:solidFill>
                  <a:srgbClr val="595959"/>
                </a:solidFill>
                <a:latin typeface="Tahoma"/>
                <a:cs typeface="Tahoma"/>
              </a:rPr>
              <a:t>×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86,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obliga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50">
                <a:solidFill>
                  <a:srgbClr val="595959"/>
                </a:solidFill>
                <a:latin typeface="Tahoma"/>
                <a:cs typeface="Tahoma"/>
              </a:rPr>
              <a:t>a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programadores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MS-</a:t>
            </a:r>
            <a:r>
              <a:rPr dirty="0" sz="1300" spc="50">
                <a:solidFill>
                  <a:srgbClr val="595959"/>
                </a:solidFill>
                <a:latin typeface="Tahoma"/>
                <a:cs typeface="Tahoma"/>
              </a:rPr>
              <a:t>DOS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Windows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dividir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sus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programas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segmentos.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3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lógica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consta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segmento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desplazamiento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60">
                <a:solidFill>
                  <a:srgbClr val="595959"/>
                </a:solidFill>
                <a:latin typeface="Tahoma"/>
                <a:cs typeface="Tahoma"/>
              </a:rPr>
              <a:t>(o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"offset")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denota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distancia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desde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inicio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del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segmento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hasta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real.</a:t>
            </a: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300" spc="-7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lineal</a:t>
            </a:r>
            <a:r>
              <a:rPr dirty="0" sz="1300" spc="-6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10" b="1">
                <a:solidFill>
                  <a:srgbClr val="595959"/>
                </a:solidFill>
                <a:latin typeface="Tahoma"/>
                <a:cs typeface="Tahoma"/>
              </a:rPr>
              <a:t>(también</a:t>
            </a:r>
            <a:r>
              <a:rPr dirty="0" sz="1300" spc="-6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conocida</a:t>
            </a:r>
            <a:r>
              <a:rPr dirty="0" sz="1300" spc="-7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0" b="1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300" spc="-7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300" spc="-7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virtual)</a:t>
            </a:r>
            <a:endParaRPr sz="1300">
              <a:latin typeface="Tahoma"/>
              <a:cs typeface="Tahoma"/>
            </a:endParaRPr>
          </a:p>
          <a:p>
            <a:pPr marL="12700" marR="234315">
              <a:lnSpc>
                <a:spcPct val="114999"/>
              </a:lnSpc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único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número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entero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sin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signo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32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bits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utilizarse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direccionar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hasta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4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GB,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decir, hasta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4,294,967,296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celdas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memoria.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lineales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suelen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representarse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notación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hexadecimal;</a:t>
            </a:r>
            <a:r>
              <a:rPr dirty="0" sz="13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sus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valores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varían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desde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0x00000000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hasta</a:t>
            </a:r>
            <a:r>
              <a:rPr dirty="0" sz="13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0xffffffff.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0" i="1">
                <a:solidFill>
                  <a:srgbClr val="595959"/>
                </a:solidFill>
                <a:latin typeface="Trebuchet MS"/>
                <a:cs typeface="Trebuchet MS"/>
              </a:rPr>
              <a:t>(equivalente</a:t>
            </a:r>
            <a:r>
              <a:rPr dirty="0" sz="1300" spc="-8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300" spc="-65" i="1">
                <a:solidFill>
                  <a:srgbClr val="595959"/>
                </a:solidFill>
                <a:latin typeface="Trebuchet MS"/>
                <a:cs typeface="Trebuchet MS"/>
              </a:rPr>
              <a:t>para</a:t>
            </a:r>
            <a:r>
              <a:rPr dirty="0" sz="1300" spc="-8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300" spc="60" i="1">
                <a:solidFill>
                  <a:srgbClr val="595959"/>
                </a:solidFill>
                <a:latin typeface="Trebuchet MS"/>
                <a:cs typeface="Trebuchet MS"/>
              </a:rPr>
              <a:t>64</a:t>
            </a:r>
            <a:r>
              <a:rPr dirty="0" sz="1300" spc="-7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300" spc="-10" i="1">
                <a:solidFill>
                  <a:srgbClr val="595959"/>
                </a:solidFill>
                <a:latin typeface="Trebuchet MS"/>
                <a:cs typeface="Trebuchet MS"/>
              </a:rPr>
              <a:t>bits)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300" spc="-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física</a:t>
            </a:r>
            <a:endParaRPr sz="1300">
              <a:latin typeface="Tahoma"/>
              <a:cs typeface="Tahoma"/>
            </a:endParaRPr>
          </a:p>
          <a:p>
            <a:pPr marL="12700" marR="304800">
              <a:lnSpc>
                <a:spcPct val="114999"/>
              </a:lnSpc>
            </a:pP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direccionar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celdas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chips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memoria.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Corresponden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señales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eléctricas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enviadas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largo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pines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microprocesador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bus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memoria.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Las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físicas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representan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números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enteros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sin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signo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32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bits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36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bits.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08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125"/>
              <a:t> </a:t>
            </a:r>
            <a:r>
              <a:rPr dirty="0" spc="125"/>
              <a:t>segmentada</a:t>
            </a:r>
            <a:r>
              <a:rPr dirty="0" spc="-120"/>
              <a:t> </a:t>
            </a:r>
            <a:r>
              <a:rPr dirty="0" spc="50"/>
              <a:t>en</a:t>
            </a:r>
            <a:r>
              <a:rPr dirty="0" spc="-120"/>
              <a:t> </a:t>
            </a:r>
            <a:r>
              <a:rPr dirty="0" spc="-25"/>
              <a:t>x86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8409" y="1522643"/>
            <a:ext cx="3888005" cy="286756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00675" y="1534888"/>
            <a:ext cx="4134485" cy="33235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92710" indent="103505">
              <a:lnSpc>
                <a:spcPct val="100499"/>
              </a:lnSpc>
              <a:spcBef>
                <a:spcPts val="90"/>
              </a:spcBef>
              <a:buSzPct val="116666"/>
              <a:buChar char="•"/>
              <a:tabLst>
                <a:tab pos="116205" algn="l"/>
              </a:tabLst>
            </a:pPr>
            <a:r>
              <a:rPr dirty="0" sz="1200">
                <a:latin typeface="Arial MT"/>
                <a:cs typeface="Arial MT"/>
              </a:rPr>
              <a:t>Examina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campo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TI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Selector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Segmento</a:t>
            </a:r>
            <a:r>
              <a:rPr dirty="0" sz="1200" spc="-20">
                <a:latin typeface="Arial MT"/>
                <a:cs typeface="Arial MT"/>
              </a:rPr>
              <a:t> para </a:t>
            </a:r>
            <a:r>
              <a:rPr dirty="0" sz="1200">
                <a:latin typeface="Arial MT"/>
                <a:cs typeface="Arial MT"/>
              </a:rPr>
              <a:t>determinar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qué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Tabla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Descriptores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almacena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el </a:t>
            </a:r>
            <a:r>
              <a:rPr dirty="0" sz="1200">
                <a:latin typeface="Arial MT"/>
                <a:cs typeface="Arial MT"/>
              </a:rPr>
              <a:t>Descriptor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Segmento.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Este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campo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indica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si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Descriptor </a:t>
            </a:r>
            <a:r>
              <a:rPr dirty="0" sz="1200">
                <a:latin typeface="Arial MT"/>
                <a:cs typeface="Arial MT"/>
              </a:rPr>
              <a:t>está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GDT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(en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cuyo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caso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unidad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segmentación </a:t>
            </a:r>
            <a:r>
              <a:rPr dirty="0" sz="1200">
                <a:latin typeface="Arial MT"/>
                <a:cs typeface="Arial MT"/>
              </a:rPr>
              <a:t>obtiene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dirección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base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lineal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GDT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desde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registro </a:t>
            </a:r>
            <a:r>
              <a:rPr dirty="0" sz="1200">
                <a:latin typeface="Arial MT"/>
                <a:cs typeface="Arial MT"/>
              </a:rPr>
              <a:t>gdtr)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LDT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(en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cuyo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caso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unidad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35">
                <a:latin typeface="Arial MT"/>
                <a:cs typeface="Arial MT"/>
              </a:rPr>
              <a:t>de </a:t>
            </a:r>
            <a:r>
              <a:rPr dirty="0" sz="1200">
                <a:latin typeface="Arial MT"/>
                <a:cs typeface="Arial MT"/>
              </a:rPr>
              <a:t>segmentación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obtiene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dirección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base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lineal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esa</a:t>
            </a:r>
            <a:r>
              <a:rPr dirty="0" sz="1200" spc="-25">
                <a:latin typeface="Arial MT"/>
                <a:cs typeface="Arial MT"/>
              </a:rPr>
              <a:t> LDT </a:t>
            </a:r>
            <a:r>
              <a:rPr dirty="0" sz="1200">
                <a:latin typeface="Arial MT"/>
                <a:cs typeface="Arial MT"/>
              </a:rPr>
              <a:t>desde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registro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ldtr).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Arial MT"/>
              <a:buChar char="•"/>
            </a:pPr>
            <a:endParaRPr sz="1200">
              <a:latin typeface="Arial MT"/>
              <a:cs typeface="Arial MT"/>
            </a:endParaRPr>
          </a:p>
          <a:p>
            <a:pPr marL="12700" marR="5080" indent="95250">
              <a:lnSpc>
                <a:spcPct val="100000"/>
              </a:lnSpc>
              <a:buChar char="•"/>
              <a:tabLst>
                <a:tab pos="107950" algn="l"/>
              </a:tabLst>
            </a:pPr>
            <a:r>
              <a:rPr dirty="0" sz="1200">
                <a:latin typeface="Arial MT"/>
                <a:cs typeface="Arial MT"/>
              </a:rPr>
              <a:t>Calcula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dirección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Descriptor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Segmento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partir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del </a:t>
            </a:r>
            <a:r>
              <a:rPr dirty="0" sz="1200">
                <a:latin typeface="Arial MT"/>
                <a:cs typeface="Arial MT"/>
              </a:rPr>
              <a:t>campo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índice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Selector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Segmento.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campo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de </a:t>
            </a:r>
            <a:r>
              <a:rPr dirty="0" sz="1200">
                <a:latin typeface="Arial MT"/>
                <a:cs typeface="Arial MT"/>
              </a:rPr>
              <a:t>índice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multiplica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8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(el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tamaño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Descriptor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de </a:t>
            </a:r>
            <a:r>
              <a:rPr dirty="0" sz="1200">
                <a:latin typeface="Arial MT"/>
                <a:cs typeface="Arial MT"/>
              </a:rPr>
              <a:t>Segmento),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resultado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suma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contenido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registro </a:t>
            </a:r>
            <a:r>
              <a:rPr dirty="0" sz="1200">
                <a:latin typeface="Arial MT"/>
                <a:cs typeface="Arial MT"/>
              </a:rPr>
              <a:t>gdtr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ldtr.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Arial MT"/>
              <a:buChar char="•"/>
            </a:pPr>
            <a:endParaRPr sz="1200">
              <a:latin typeface="Arial MT"/>
              <a:cs typeface="Arial MT"/>
            </a:endParaRPr>
          </a:p>
          <a:p>
            <a:pPr algn="just" marL="12700" marR="92710" indent="95250">
              <a:lnSpc>
                <a:spcPct val="100000"/>
              </a:lnSpc>
              <a:buChar char="•"/>
              <a:tabLst>
                <a:tab pos="107950" algn="l"/>
              </a:tabLst>
            </a:pPr>
            <a:r>
              <a:rPr dirty="0" sz="1200">
                <a:latin typeface="Arial MT"/>
                <a:cs typeface="Arial MT"/>
              </a:rPr>
              <a:t>Suma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el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desplazamiento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("offset")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la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dirección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lógica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al </a:t>
            </a:r>
            <a:r>
              <a:rPr dirty="0" sz="1200">
                <a:latin typeface="Arial MT"/>
                <a:cs typeface="Arial MT"/>
              </a:rPr>
              <a:t>campo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Base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Descriptor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Segmento,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obteniendo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así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la </a:t>
            </a:r>
            <a:r>
              <a:rPr dirty="0" sz="1200">
                <a:latin typeface="Arial MT"/>
                <a:cs typeface="Arial MT"/>
              </a:rPr>
              <a:t>dirección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lineal.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08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125"/>
              <a:t> </a:t>
            </a:r>
            <a:r>
              <a:rPr dirty="0" spc="125"/>
              <a:t>segmentada</a:t>
            </a:r>
            <a:r>
              <a:rPr dirty="0" spc="-120"/>
              <a:t> </a:t>
            </a:r>
            <a:r>
              <a:rPr dirty="0" spc="50"/>
              <a:t>en</a:t>
            </a:r>
            <a:r>
              <a:rPr dirty="0" spc="-120"/>
              <a:t> </a:t>
            </a:r>
            <a:r>
              <a:rPr dirty="0" spc="-25"/>
              <a:t>x86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72775" y="1458696"/>
            <a:ext cx="7529195" cy="3591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 spc="-95" b="1">
                <a:solidFill>
                  <a:srgbClr val="595959"/>
                </a:solidFill>
                <a:latin typeface="Tahoma"/>
                <a:cs typeface="Tahoma"/>
              </a:rPr>
              <a:t>Global</a:t>
            </a:r>
            <a:r>
              <a:rPr dirty="0" sz="1600" spc="-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95" b="1">
                <a:solidFill>
                  <a:srgbClr val="595959"/>
                </a:solidFill>
                <a:latin typeface="Tahoma"/>
                <a:cs typeface="Tahoma"/>
              </a:rPr>
              <a:t>Descriptor</a:t>
            </a:r>
            <a:r>
              <a:rPr dirty="0" sz="1600" spc="-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60" b="1">
                <a:solidFill>
                  <a:srgbClr val="595959"/>
                </a:solidFill>
                <a:latin typeface="Tahoma"/>
                <a:cs typeface="Tahoma"/>
              </a:rPr>
              <a:t>Table</a:t>
            </a:r>
            <a:r>
              <a:rPr dirty="0" sz="1600" spc="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70" b="1">
                <a:solidFill>
                  <a:srgbClr val="595959"/>
                </a:solidFill>
                <a:latin typeface="Tahoma"/>
                <a:cs typeface="Tahoma"/>
              </a:rPr>
              <a:t>(GDT)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6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guardada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memoria,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apuntada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registro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llamado</a:t>
            </a:r>
            <a:r>
              <a:rPr dirty="0" sz="1600" spc="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GDTR.</a:t>
            </a:r>
            <a:r>
              <a:rPr dirty="0" sz="1600" spc="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todo</a:t>
            </a:r>
            <a:r>
              <a:rPr dirty="0" sz="1600" spc="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600" spc="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siempre</a:t>
            </a:r>
            <a:r>
              <a:rPr dirty="0" sz="1600" spc="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accesible.</a:t>
            </a:r>
            <a:r>
              <a:rPr dirty="0" sz="1600" spc="165">
                <a:solidFill>
                  <a:srgbClr val="595959"/>
                </a:solidFill>
                <a:latin typeface="Tahoma"/>
                <a:cs typeface="Tahoma"/>
              </a:rPr>
              <a:t>  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600" spc="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memoria ccompartida.</a:t>
            </a:r>
            <a:endParaRPr sz="1600">
              <a:latin typeface="Tahoma"/>
              <a:cs typeface="Tahoma"/>
            </a:endParaRPr>
          </a:p>
          <a:p>
            <a:pPr algn="just" marL="12700" marR="52069">
              <a:lnSpc>
                <a:spcPct val="114999"/>
              </a:lnSpc>
              <a:spcBef>
                <a:spcPts val="1200"/>
              </a:spcBef>
            </a:pPr>
            <a:r>
              <a:rPr dirty="0" sz="1600" spc="-55" b="1">
                <a:solidFill>
                  <a:srgbClr val="595959"/>
                </a:solidFill>
                <a:latin typeface="Tahoma"/>
                <a:cs typeface="Tahoma"/>
              </a:rPr>
              <a:t>Local</a:t>
            </a:r>
            <a:r>
              <a:rPr dirty="0" sz="1600" spc="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60" b="1">
                <a:solidFill>
                  <a:srgbClr val="595959"/>
                </a:solidFill>
                <a:latin typeface="Tahoma"/>
                <a:cs typeface="Tahoma"/>
              </a:rPr>
              <a:t>Descriptor</a:t>
            </a:r>
            <a:r>
              <a:rPr dirty="0" sz="1600" spc="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90" b="1">
                <a:solidFill>
                  <a:srgbClr val="595959"/>
                </a:solidFill>
                <a:latin typeface="Tahoma"/>
                <a:cs typeface="Tahoma"/>
              </a:rPr>
              <a:t>Table</a:t>
            </a:r>
            <a:r>
              <a:rPr dirty="0" sz="1600" spc="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b="1">
                <a:solidFill>
                  <a:srgbClr val="595959"/>
                </a:solidFill>
                <a:latin typeface="Tahoma"/>
                <a:cs typeface="Tahoma"/>
              </a:rPr>
              <a:t>(LDT)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normalmente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tarea,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proceso.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haber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varias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pero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activa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momento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dado.</a:t>
            </a:r>
            <a:endParaRPr sz="1600">
              <a:latin typeface="Tahoma"/>
              <a:cs typeface="Tahoma"/>
            </a:endParaRPr>
          </a:p>
          <a:p>
            <a:pPr marL="12700" marR="18415">
              <a:lnSpc>
                <a:spcPct val="114999"/>
              </a:lnSpc>
              <a:spcBef>
                <a:spcPts val="1200"/>
              </a:spcBef>
            </a:pP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Segment</a:t>
            </a:r>
            <a:r>
              <a:rPr dirty="0" sz="1600" spc="-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Selector:</a:t>
            </a:r>
            <a:r>
              <a:rPr dirty="0" sz="1600" spc="-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índice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GDT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apunta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Segment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Descriptor,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tabla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8192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entradas</a:t>
            </a:r>
            <a:endParaRPr sz="1600">
              <a:latin typeface="Tahoma"/>
              <a:cs typeface="Tahoma"/>
            </a:endParaRPr>
          </a:p>
          <a:p>
            <a:pPr marL="469900" marR="2390775" indent="-457200">
              <a:lnSpc>
                <a:spcPct val="177500"/>
              </a:lnSpc>
            </a:pPr>
            <a:r>
              <a:rPr dirty="0" sz="1600" spc="-140" b="1">
                <a:solidFill>
                  <a:srgbClr val="595959"/>
                </a:solidFill>
                <a:latin typeface="Tahoma"/>
                <a:cs typeface="Tahoma"/>
              </a:rPr>
              <a:t>Segment</a:t>
            </a:r>
            <a:r>
              <a:rPr dirty="0" sz="16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80" b="1">
                <a:solidFill>
                  <a:srgbClr val="595959"/>
                </a:solidFill>
                <a:latin typeface="Tahoma"/>
                <a:cs typeface="Tahoma"/>
              </a:rPr>
              <a:t>Descriptor</a:t>
            </a:r>
            <a:r>
              <a:rPr dirty="0" sz="16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8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bytes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GDT: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32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bits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segmento</a:t>
            </a:r>
            <a:endParaRPr sz="16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1485"/>
              </a:spcBef>
            </a:pP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20</a:t>
            </a:r>
            <a:r>
              <a:rPr dirty="0" sz="1600" spc="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bits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segmento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límite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dependiendo</a:t>
            </a:r>
            <a:r>
              <a:rPr dirty="0" sz="1600" spc="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G-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762" y="1257962"/>
            <a:ext cx="3686174" cy="187642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72775" y="3199296"/>
            <a:ext cx="2742565" cy="1263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CS,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DS,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SS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0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&gt;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Selector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registers</a:t>
            </a:r>
            <a:endParaRPr sz="1600">
              <a:latin typeface="Tahoma"/>
              <a:cs typeface="Tahoma"/>
            </a:endParaRPr>
          </a:p>
          <a:p>
            <a:pPr marL="12700" marR="1545590">
              <a:lnSpc>
                <a:spcPct val="114999"/>
              </a:lnSpc>
              <a:spcBef>
                <a:spcPts val="12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indice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13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bits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TI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RPL: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requested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privilege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level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7449" y="1257973"/>
            <a:ext cx="4021723" cy="38855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08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125"/>
              <a:t> </a:t>
            </a:r>
            <a:r>
              <a:rPr dirty="0" spc="125"/>
              <a:t>segmentada</a:t>
            </a:r>
            <a:r>
              <a:rPr dirty="0" spc="-120"/>
              <a:t> </a:t>
            </a:r>
            <a:r>
              <a:rPr dirty="0" spc="50"/>
              <a:t>en</a:t>
            </a:r>
            <a:r>
              <a:rPr dirty="0" spc="-120"/>
              <a:t> </a:t>
            </a:r>
            <a:r>
              <a:rPr dirty="0" spc="-25"/>
              <a:t>x86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2400" y="1383775"/>
            <a:ext cx="8839200" cy="3112135"/>
            <a:chOff x="152400" y="1383775"/>
            <a:chExt cx="8839200" cy="311213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1383775"/>
              <a:ext cx="8839203" cy="311184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4849274" y="3203799"/>
              <a:ext cx="2277745" cy="501650"/>
            </a:xfrm>
            <a:custGeom>
              <a:avLst/>
              <a:gdLst/>
              <a:ahLst/>
              <a:cxnLst/>
              <a:rect l="l" t="t" r="r" b="b"/>
              <a:pathLst>
                <a:path w="2277745" h="501650">
                  <a:moveTo>
                    <a:pt x="0" y="0"/>
                  </a:moveTo>
                  <a:lnTo>
                    <a:pt x="2277599" y="0"/>
                  </a:lnTo>
                  <a:lnTo>
                    <a:pt x="2277599" y="501299"/>
                  </a:lnTo>
                  <a:lnTo>
                    <a:pt x="0" y="5012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08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125"/>
              <a:t> </a:t>
            </a:r>
            <a:r>
              <a:rPr dirty="0" spc="125"/>
              <a:t>segmentada</a:t>
            </a:r>
            <a:r>
              <a:rPr dirty="0" spc="-120"/>
              <a:t> </a:t>
            </a:r>
            <a:r>
              <a:rPr dirty="0" spc="50"/>
              <a:t>en</a:t>
            </a:r>
            <a:r>
              <a:rPr dirty="0" spc="-120"/>
              <a:t> </a:t>
            </a:r>
            <a:r>
              <a:rPr dirty="0" spc="-25"/>
              <a:t>x86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7900" y="1276374"/>
            <a:ext cx="4632631" cy="37188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08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125"/>
              <a:t> </a:t>
            </a:r>
            <a:r>
              <a:rPr dirty="0" spc="125"/>
              <a:t>segmentada</a:t>
            </a:r>
            <a:r>
              <a:rPr dirty="0" spc="-120"/>
              <a:t> </a:t>
            </a:r>
            <a:r>
              <a:rPr dirty="0" spc="50"/>
              <a:t>en</a:t>
            </a:r>
            <a:r>
              <a:rPr dirty="0" spc="-120"/>
              <a:t> </a:t>
            </a:r>
            <a:r>
              <a:rPr dirty="0" spc="-25"/>
              <a:t>x86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7025" y="1497303"/>
            <a:ext cx="8545195" cy="3500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133590">
              <a:lnSpc>
                <a:spcPct val="100000"/>
              </a:lnSpc>
              <a:spcBef>
                <a:spcPts val="100"/>
              </a:spcBef>
            </a:pPr>
            <a:r>
              <a:rPr dirty="0" sz="1200" spc="8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2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is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Accessed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95959"/>
                </a:solidFill>
                <a:latin typeface="Tahoma"/>
                <a:cs typeface="Tahoma"/>
              </a:rPr>
              <a:t>bit;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R</a:t>
            </a:r>
            <a:r>
              <a:rPr dirty="0" sz="12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is</a:t>
            </a:r>
            <a:r>
              <a:rPr dirty="0" sz="12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</a:t>
            </a:r>
            <a:r>
              <a:rPr dirty="0" sz="12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Readable</a:t>
            </a:r>
            <a:r>
              <a:rPr dirty="0" sz="12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95959"/>
                </a:solidFill>
                <a:latin typeface="Tahoma"/>
                <a:cs typeface="Tahoma"/>
              </a:rPr>
              <a:t>bit;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200" spc="90">
                <a:solidFill>
                  <a:srgbClr val="595959"/>
                </a:solidFill>
                <a:latin typeface="Tahoma"/>
                <a:cs typeface="Tahoma"/>
              </a:rPr>
              <a:t>C</a:t>
            </a:r>
            <a:r>
              <a:rPr dirty="0" sz="12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(Bit</a:t>
            </a:r>
            <a:r>
              <a:rPr dirty="0" sz="12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42)</a:t>
            </a:r>
            <a:r>
              <a:rPr dirty="0" sz="12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depends</a:t>
            </a:r>
            <a:r>
              <a:rPr dirty="0" sz="12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on</a:t>
            </a:r>
            <a:r>
              <a:rPr dirty="0" sz="12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595959"/>
                </a:solidFill>
                <a:latin typeface="Tahoma"/>
                <a:cs typeface="Tahoma"/>
              </a:rPr>
              <a:t>X:</a:t>
            </a:r>
            <a:endParaRPr sz="1200">
              <a:latin typeface="Tahoma"/>
              <a:cs typeface="Tahoma"/>
            </a:endParaRPr>
          </a:p>
          <a:p>
            <a:pPr marL="12700" marR="5080" indent="457200">
              <a:lnSpc>
                <a:spcPct val="100000"/>
              </a:lnSpc>
            </a:pP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if</a:t>
            </a:r>
            <a:r>
              <a:rPr dirty="0" sz="12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70">
                <a:solidFill>
                  <a:srgbClr val="595959"/>
                </a:solidFill>
                <a:latin typeface="Tahoma"/>
                <a:cs typeface="Tahoma"/>
              </a:rPr>
              <a:t>X</a:t>
            </a:r>
            <a:r>
              <a:rPr dirty="0" sz="12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9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2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1</a:t>
            </a:r>
            <a:r>
              <a:rPr dirty="0" sz="12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then</a:t>
            </a:r>
            <a:r>
              <a:rPr dirty="0" sz="12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90">
                <a:solidFill>
                  <a:srgbClr val="595959"/>
                </a:solidFill>
                <a:latin typeface="Tahoma"/>
                <a:cs typeface="Tahoma"/>
              </a:rPr>
              <a:t>C</a:t>
            </a:r>
            <a:r>
              <a:rPr dirty="0" sz="12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is</a:t>
            </a:r>
            <a:r>
              <a:rPr dirty="0" sz="12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</a:t>
            </a:r>
            <a:r>
              <a:rPr dirty="0" sz="12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Conforming</a:t>
            </a:r>
            <a:r>
              <a:rPr dirty="0" sz="12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bit,</a:t>
            </a:r>
            <a:r>
              <a:rPr dirty="0" sz="12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and</a:t>
            </a:r>
            <a:r>
              <a:rPr dirty="0" sz="12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determines</a:t>
            </a:r>
            <a:r>
              <a:rPr dirty="0" sz="12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which</a:t>
            </a:r>
            <a:r>
              <a:rPr dirty="0" sz="12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privilege</a:t>
            </a:r>
            <a:r>
              <a:rPr dirty="0" sz="12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levels</a:t>
            </a:r>
            <a:r>
              <a:rPr dirty="0" sz="12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can</a:t>
            </a:r>
            <a:r>
              <a:rPr dirty="0" sz="12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far-jump</a:t>
            </a:r>
            <a:r>
              <a:rPr dirty="0" sz="12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to</a:t>
            </a:r>
            <a:r>
              <a:rPr dirty="0" sz="12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this</a:t>
            </a:r>
            <a:r>
              <a:rPr dirty="0" sz="12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95959"/>
                </a:solidFill>
                <a:latin typeface="Tahoma"/>
                <a:cs typeface="Tahoma"/>
              </a:rPr>
              <a:t>segment</a:t>
            </a:r>
            <a:r>
              <a:rPr dirty="0" sz="12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(without</a:t>
            </a:r>
            <a:r>
              <a:rPr dirty="0" sz="12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changing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privilege</a:t>
            </a:r>
            <a:r>
              <a:rPr dirty="0" sz="12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level):</a:t>
            </a:r>
            <a:endParaRPr sz="12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</a:pP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if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90">
                <a:solidFill>
                  <a:srgbClr val="595959"/>
                </a:solidFill>
                <a:latin typeface="Tahoma"/>
                <a:cs typeface="Tahoma"/>
              </a:rPr>
              <a:t>C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9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0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then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only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code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with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595959"/>
                </a:solidFill>
                <a:latin typeface="Tahoma"/>
                <a:cs typeface="Tahoma"/>
              </a:rPr>
              <a:t>same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privilege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level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595959"/>
                </a:solidFill>
                <a:latin typeface="Tahoma"/>
                <a:cs typeface="Tahoma"/>
              </a:rPr>
              <a:t>as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55">
                <a:solidFill>
                  <a:srgbClr val="595959"/>
                </a:solidFill>
                <a:latin typeface="Tahoma"/>
                <a:cs typeface="Tahoma"/>
              </a:rPr>
              <a:t>DPL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595959"/>
                </a:solidFill>
                <a:latin typeface="Tahoma"/>
                <a:cs typeface="Tahoma"/>
              </a:rPr>
              <a:t>may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595959"/>
                </a:solidFill>
                <a:latin typeface="Tahoma"/>
                <a:cs typeface="Tahoma"/>
              </a:rPr>
              <a:t>jump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here;</a:t>
            </a:r>
            <a:endParaRPr sz="1200">
              <a:latin typeface="Tahoma"/>
              <a:cs typeface="Tahoma"/>
            </a:endParaRPr>
          </a:p>
          <a:p>
            <a:pPr marL="469900" marR="1803400" indent="457200">
              <a:lnSpc>
                <a:spcPct val="100000"/>
              </a:lnSpc>
            </a:pP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if</a:t>
            </a:r>
            <a:r>
              <a:rPr dirty="0" sz="12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90">
                <a:solidFill>
                  <a:srgbClr val="595959"/>
                </a:solidFill>
                <a:latin typeface="Tahoma"/>
                <a:cs typeface="Tahoma"/>
              </a:rPr>
              <a:t>C</a:t>
            </a:r>
            <a:r>
              <a:rPr dirty="0" sz="12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9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2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1</a:t>
            </a:r>
            <a:r>
              <a:rPr dirty="0" sz="12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then</a:t>
            </a:r>
            <a:r>
              <a:rPr dirty="0" sz="12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code</a:t>
            </a:r>
            <a:r>
              <a:rPr dirty="0" sz="12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with</a:t>
            </a:r>
            <a:r>
              <a:rPr dirty="0" sz="12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</a:t>
            </a:r>
            <a:r>
              <a:rPr dirty="0" sz="12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595959"/>
                </a:solidFill>
                <a:latin typeface="Tahoma"/>
                <a:cs typeface="Tahoma"/>
              </a:rPr>
              <a:t>same</a:t>
            </a:r>
            <a:r>
              <a:rPr dirty="0" sz="12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or</a:t>
            </a:r>
            <a:r>
              <a:rPr dirty="0" sz="12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2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lower</a:t>
            </a:r>
            <a:r>
              <a:rPr dirty="0" sz="12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privilege</a:t>
            </a:r>
            <a:r>
              <a:rPr dirty="0" sz="12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level</a:t>
            </a:r>
            <a:r>
              <a:rPr dirty="0" sz="12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relative</a:t>
            </a:r>
            <a:r>
              <a:rPr dirty="0" sz="12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to</a:t>
            </a:r>
            <a:r>
              <a:rPr dirty="0" sz="12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55">
                <a:solidFill>
                  <a:srgbClr val="595959"/>
                </a:solidFill>
                <a:latin typeface="Tahoma"/>
                <a:cs typeface="Tahoma"/>
              </a:rPr>
              <a:t>DPL</a:t>
            </a:r>
            <a:r>
              <a:rPr dirty="0" sz="12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595959"/>
                </a:solidFill>
                <a:latin typeface="Tahoma"/>
                <a:cs typeface="Tahoma"/>
              </a:rPr>
              <a:t>may</a:t>
            </a:r>
            <a:r>
              <a:rPr dirty="0" sz="12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595959"/>
                </a:solidFill>
                <a:latin typeface="Tahoma"/>
                <a:cs typeface="Tahoma"/>
              </a:rPr>
              <a:t>jump</a:t>
            </a:r>
            <a:r>
              <a:rPr dirty="0" sz="12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here.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if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70">
                <a:solidFill>
                  <a:srgbClr val="595959"/>
                </a:solidFill>
                <a:latin typeface="Tahoma"/>
                <a:cs typeface="Tahoma"/>
              </a:rPr>
              <a:t>X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9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0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then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90">
                <a:solidFill>
                  <a:srgbClr val="595959"/>
                </a:solidFill>
                <a:latin typeface="Tahoma"/>
                <a:cs typeface="Tahoma"/>
              </a:rPr>
              <a:t>C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is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direction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95959"/>
                </a:solidFill>
                <a:latin typeface="Tahoma"/>
                <a:cs typeface="Tahoma"/>
              </a:rPr>
              <a:t>bit:</a:t>
            </a:r>
            <a:endParaRPr sz="12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</a:pP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if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90">
                <a:solidFill>
                  <a:srgbClr val="595959"/>
                </a:solidFill>
                <a:latin typeface="Tahoma"/>
                <a:cs typeface="Tahoma"/>
              </a:rPr>
              <a:t>C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9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0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then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95959"/>
                </a:solidFill>
                <a:latin typeface="Tahoma"/>
                <a:cs typeface="Tahoma"/>
              </a:rPr>
              <a:t>segment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grows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595959"/>
                </a:solidFill>
                <a:latin typeface="Tahoma"/>
                <a:cs typeface="Tahoma"/>
              </a:rPr>
              <a:t>up;</a:t>
            </a:r>
            <a:endParaRPr sz="12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</a:pP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if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90">
                <a:solidFill>
                  <a:srgbClr val="595959"/>
                </a:solidFill>
                <a:latin typeface="Tahoma"/>
                <a:cs typeface="Tahoma"/>
              </a:rPr>
              <a:t>C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9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1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then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95959"/>
                </a:solidFill>
                <a:latin typeface="Tahoma"/>
                <a:cs typeface="Tahoma"/>
              </a:rPr>
              <a:t>segment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grows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down.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200" spc="70">
                <a:solidFill>
                  <a:srgbClr val="595959"/>
                </a:solidFill>
                <a:latin typeface="Tahoma"/>
                <a:cs typeface="Tahoma"/>
              </a:rPr>
              <a:t>X</a:t>
            </a:r>
            <a:r>
              <a:rPr dirty="0" sz="12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is</a:t>
            </a:r>
            <a:r>
              <a:rPr dirty="0" sz="12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</a:t>
            </a:r>
            <a:r>
              <a:rPr dirty="0" sz="12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Executable</a:t>
            </a:r>
            <a:r>
              <a:rPr dirty="0" sz="12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bit:[38]</a:t>
            </a:r>
            <a:endParaRPr sz="1200">
              <a:latin typeface="Tahoma"/>
              <a:cs typeface="Tahoma"/>
            </a:endParaRPr>
          </a:p>
          <a:p>
            <a:pPr marL="469900" marR="5197475">
              <a:lnSpc>
                <a:spcPct val="100000"/>
              </a:lnSpc>
            </a:pP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if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70">
                <a:solidFill>
                  <a:srgbClr val="595959"/>
                </a:solidFill>
                <a:latin typeface="Tahoma"/>
                <a:cs typeface="Tahoma"/>
              </a:rPr>
              <a:t>X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9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1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then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95959"/>
                </a:solidFill>
                <a:latin typeface="Tahoma"/>
                <a:cs typeface="Tahoma"/>
              </a:rPr>
              <a:t>segment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is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code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595959"/>
                </a:solidFill>
                <a:latin typeface="Tahoma"/>
                <a:cs typeface="Tahoma"/>
              </a:rPr>
              <a:t>segment;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if</a:t>
            </a:r>
            <a:r>
              <a:rPr dirty="0" sz="12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70">
                <a:solidFill>
                  <a:srgbClr val="595959"/>
                </a:solidFill>
                <a:latin typeface="Tahoma"/>
                <a:cs typeface="Tahoma"/>
              </a:rPr>
              <a:t>X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9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2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0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then</a:t>
            </a:r>
            <a:r>
              <a:rPr dirty="0" sz="12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95959"/>
                </a:solidFill>
                <a:latin typeface="Tahoma"/>
                <a:cs typeface="Tahoma"/>
              </a:rPr>
              <a:t>segment</a:t>
            </a:r>
            <a:r>
              <a:rPr dirty="0" sz="12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is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data</a:t>
            </a:r>
            <a:r>
              <a:rPr dirty="0" sz="12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segment.</a:t>
            </a:r>
            <a:endParaRPr sz="1200">
              <a:latin typeface="Tahoma"/>
              <a:cs typeface="Tahoma"/>
            </a:endParaRPr>
          </a:p>
          <a:p>
            <a:pPr marL="12700" marR="2910205">
              <a:lnSpc>
                <a:spcPct val="100000"/>
              </a:lnSpc>
            </a:pPr>
            <a:r>
              <a:rPr dirty="0" sz="1200" spc="-35">
                <a:solidFill>
                  <a:srgbClr val="595959"/>
                </a:solidFill>
                <a:latin typeface="Tahoma"/>
                <a:cs typeface="Tahoma"/>
              </a:rPr>
              <a:t>S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is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95959"/>
                </a:solidFill>
                <a:latin typeface="Tahoma"/>
                <a:cs typeface="Tahoma"/>
              </a:rPr>
              <a:t>Segment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type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bit,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which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should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generally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be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cleared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for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95959"/>
                </a:solidFill>
                <a:latin typeface="Tahoma"/>
                <a:cs typeface="Tahoma"/>
              </a:rPr>
              <a:t>segments;[38] </a:t>
            </a:r>
            <a:r>
              <a:rPr dirty="0" sz="1200" spc="55">
                <a:solidFill>
                  <a:srgbClr val="595959"/>
                </a:solidFill>
                <a:latin typeface="Tahoma"/>
                <a:cs typeface="Tahoma"/>
              </a:rPr>
              <a:t>DPL</a:t>
            </a:r>
            <a:r>
              <a:rPr dirty="0" sz="12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is</a:t>
            </a:r>
            <a:r>
              <a:rPr dirty="0" sz="12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</a:t>
            </a:r>
            <a:r>
              <a:rPr dirty="0" sz="12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Descriptor</a:t>
            </a:r>
            <a:r>
              <a:rPr dirty="0" sz="12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Privilege</a:t>
            </a:r>
            <a:r>
              <a:rPr dirty="0" sz="12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Level;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200" spc="65">
                <a:solidFill>
                  <a:srgbClr val="595959"/>
                </a:solidFill>
                <a:latin typeface="Tahoma"/>
                <a:cs typeface="Tahoma"/>
              </a:rPr>
              <a:t>P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is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Present</a:t>
            </a:r>
            <a:r>
              <a:rPr dirty="0" sz="12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95959"/>
                </a:solidFill>
                <a:latin typeface="Tahoma"/>
                <a:cs typeface="Tahoma"/>
              </a:rPr>
              <a:t>bit;</a:t>
            </a:r>
            <a:endParaRPr sz="1200">
              <a:latin typeface="Tahoma"/>
              <a:cs typeface="Tahoma"/>
            </a:endParaRPr>
          </a:p>
          <a:p>
            <a:pPr marL="12700" marR="6583680">
              <a:lnSpc>
                <a:spcPct val="100000"/>
              </a:lnSpc>
            </a:pPr>
            <a:r>
              <a:rPr dirty="0" sz="1200" spc="85">
                <a:solidFill>
                  <a:srgbClr val="595959"/>
                </a:solidFill>
                <a:latin typeface="Tahoma"/>
                <a:cs typeface="Tahoma"/>
              </a:rPr>
              <a:t>D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is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</a:t>
            </a:r>
            <a:r>
              <a:rPr dirty="0" sz="12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Default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operand</a:t>
            </a:r>
            <a:r>
              <a:rPr dirty="0" sz="12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595959"/>
                </a:solidFill>
                <a:latin typeface="Tahoma"/>
                <a:cs typeface="Tahoma"/>
              </a:rPr>
              <a:t>size;</a:t>
            </a:r>
            <a:endParaRPr sz="1200">
              <a:latin typeface="Tahoma"/>
              <a:cs typeface="Tahoma"/>
            </a:endParaRPr>
          </a:p>
          <a:p>
            <a:pPr marL="12700" marR="6583680">
              <a:lnSpc>
                <a:spcPct val="100000"/>
              </a:lnSpc>
            </a:pPr>
            <a:r>
              <a:rPr dirty="0" sz="1200" spc="80">
                <a:solidFill>
                  <a:srgbClr val="595959"/>
                </a:solidFill>
                <a:latin typeface="Tahoma"/>
                <a:cs typeface="Tahoma"/>
              </a:rPr>
              <a:t>G</a:t>
            </a:r>
            <a:r>
              <a:rPr dirty="0" sz="12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is</a:t>
            </a:r>
            <a:r>
              <a:rPr dirty="0" sz="12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</a:t>
            </a:r>
            <a:r>
              <a:rPr dirty="0" sz="12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Granularity</a:t>
            </a:r>
            <a:r>
              <a:rPr dirty="0" sz="12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95959"/>
                </a:solidFill>
                <a:latin typeface="Tahoma"/>
                <a:cs typeface="Tahoma"/>
              </a:rPr>
              <a:t>bit;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12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1</a:t>
            </a:r>
            <a:r>
              <a:rPr dirty="0" sz="12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of</a:t>
            </a:r>
            <a:r>
              <a:rPr dirty="0" sz="12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</a:t>
            </a:r>
            <a:r>
              <a:rPr dirty="0" sz="12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80386</a:t>
            </a:r>
            <a:r>
              <a:rPr dirty="0" sz="12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descriptor</a:t>
            </a:r>
            <a:r>
              <a:rPr dirty="0" sz="12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is</a:t>
            </a:r>
            <a:r>
              <a:rPr dirty="0" sz="12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not</a:t>
            </a:r>
            <a:r>
              <a:rPr dirty="0" sz="12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used</a:t>
            </a:r>
            <a:r>
              <a:rPr dirty="0" sz="12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by</a:t>
            </a:r>
            <a:r>
              <a:rPr dirty="0" sz="12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the</a:t>
            </a:r>
            <a:r>
              <a:rPr dirty="0" sz="12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hardware.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8925" y="583649"/>
            <a:ext cx="3835727" cy="113506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08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125"/>
              <a:t> </a:t>
            </a:r>
            <a:r>
              <a:rPr dirty="0" spc="125"/>
              <a:t>segmentada</a:t>
            </a:r>
            <a:r>
              <a:rPr dirty="0" spc="-120"/>
              <a:t> </a:t>
            </a:r>
            <a:r>
              <a:rPr dirty="0" spc="50"/>
              <a:t>en</a:t>
            </a:r>
            <a:r>
              <a:rPr dirty="0" spc="-120"/>
              <a:t> </a:t>
            </a:r>
            <a:r>
              <a:rPr dirty="0" spc="-25"/>
              <a:t>x86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08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100"/>
              <a:t>Segmentación</a:t>
            </a:r>
            <a:r>
              <a:rPr dirty="0" spc="-105"/>
              <a:t> </a:t>
            </a:r>
            <a:r>
              <a:rPr dirty="0" spc="50"/>
              <a:t>en</a:t>
            </a:r>
            <a:r>
              <a:rPr dirty="0" spc="-100"/>
              <a:t> </a:t>
            </a:r>
            <a:r>
              <a:rPr dirty="0" spc="-10"/>
              <a:t>Linux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524637"/>
            <a:ext cx="7493634" cy="3012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Linux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utiliza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segmentación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una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manera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muy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limitada.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hecho,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la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segmentación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y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25" b="1">
                <a:latin typeface="Arial"/>
                <a:cs typeface="Arial"/>
              </a:rPr>
              <a:t>la </a:t>
            </a:r>
            <a:r>
              <a:rPr dirty="0" sz="1400" b="1">
                <a:latin typeface="Arial"/>
                <a:cs typeface="Arial"/>
              </a:rPr>
              <a:t>paginación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son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algo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redundantes</a:t>
            </a:r>
            <a:r>
              <a:rPr dirty="0" sz="1400">
                <a:latin typeface="Arial MT"/>
                <a:cs typeface="Arial MT"/>
              </a:rPr>
              <a:t>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ya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que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ambas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pueden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utilizarse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separar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los</a:t>
            </a:r>
            <a:r>
              <a:rPr dirty="0" sz="1400" spc="50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espacios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direcciones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físicas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los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procesos: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segmentación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puede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asignar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espacio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de </a:t>
            </a:r>
            <a:r>
              <a:rPr dirty="0" sz="1400">
                <a:latin typeface="Arial MT"/>
                <a:cs typeface="Arial MT"/>
              </a:rPr>
              <a:t>direcciones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lineales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diferente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cada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proceso,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mientras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que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paginación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puede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mapear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el </a:t>
            </a:r>
            <a:r>
              <a:rPr dirty="0" sz="1400">
                <a:latin typeface="Arial MT"/>
                <a:cs typeface="Arial MT"/>
              </a:rPr>
              <a:t>mismo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espacio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direcciones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lineales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diferentes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espacios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direcciones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físicas.</a:t>
            </a:r>
            <a:r>
              <a:rPr dirty="0" sz="1400" spc="-10">
                <a:latin typeface="Arial MT"/>
                <a:cs typeface="Arial MT"/>
              </a:rPr>
              <a:t> Linux </a:t>
            </a:r>
            <a:r>
              <a:rPr dirty="0" sz="1400">
                <a:latin typeface="Arial MT"/>
                <a:cs typeface="Arial MT"/>
              </a:rPr>
              <a:t>prefiere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paginación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segmentación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por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siguientes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razones: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Arial MT"/>
              <a:cs typeface="Arial MT"/>
            </a:endParaRPr>
          </a:p>
          <a:p>
            <a:pPr marL="469900" marR="101600" indent="-336550">
              <a:lnSpc>
                <a:spcPct val="100000"/>
              </a:lnSpc>
              <a:buChar char="●"/>
              <a:tabLst>
                <a:tab pos="469900" algn="l"/>
              </a:tabLst>
            </a:pP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gestión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memoria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más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simple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cuando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todos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los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procesos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usan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los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mismos </a:t>
            </a:r>
            <a:r>
              <a:rPr dirty="0" sz="1400">
                <a:latin typeface="Arial MT"/>
                <a:cs typeface="Arial MT"/>
              </a:rPr>
              <a:t>valores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los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registros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segmento,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decir,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cuando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comparten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el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mismo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conjunto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de </a:t>
            </a:r>
            <a:r>
              <a:rPr dirty="0" sz="1400">
                <a:latin typeface="Arial MT"/>
                <a:cs typeface="Arial MT"/>
              </a:rPr>
              <a:t>direcciones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lineales.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 MT"/>
              <a:buChar char="●"/>
            </a:pPr>
            <a:endParaRPr sz="1400">
              <a:latin typeface="Arial MT"/>
              <a:cs typeface="Arial MT"/>
            </a:endParaRPr>
          </a:p>
          <a:p>
            <a:pPr marL="469900" marR="368935" indent="-336550">
              <a:lnSpc>
                <a:spcPct val="100000"/>
              </a:lnSpc>
              <a:buChar char="●"/>
              <a:tabLst>
                <a:tab pos="469900" algn="l"/>
              </a:tabLst>
            </a:pPr>
            <a:r>
              <a:rPr dirty="0" sz="1400">
                <a:latin typeface="Arial MT"/>
                <a:cs typeface="Arial MT"/>
              </a:rPr>
              <a:t>Uno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los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objetivos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diseño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Linux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portabilidad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una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amplia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gama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de </a:t>
            </a:r>
            <a:r>
              <a:rPr dirty="0" sz="1400">
                <a:latin typeface="Arial MT"/>
                <a:cs typeface="Arial MT"/>
              </a:rPr>
              <a:t>arquitecturas;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particular,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arquitecturas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RISC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tienen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un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soporte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limitado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la </a:t>
            </a:r>
            <a:r>
              <a:rPr dirty="0" sz="1400" spc="-10">
                <a:latin typeface="Arial MT"/>
                <a:cs typeface="Arial MT"/>
              </a:rPr>
              <a:t>segmentación.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08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100"/>
              <a:t>Segmentación</a:t>
            </a:r>
            <a:r>
              <a:rPr dirty="0" spc="-105"/>
              <a:t> </a:t>
            </a:r>
            <a:r>
              <a:rPr dirty="0" spc="50"/>
              <a:t>en</a:t>
            </a:r>
            <a:r>
              <a:rPr dirty="0" spc="-100"/>
              <a:t> </a:t>
            </a:r>
            <a:r>
              <a:rPr dirty="0" spc="-10"/>
              <a:t>Linux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032" y="1379757"/>
            <a:ext cx="7521836" cy="187354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70750" y="3455578"/>
            <a:ext cx="7473315" cy="1316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12725">
              <a:lnSpc>
                <a:spcPct val="114999"/>
              </a:lnSpc>
              <a:spcBef>
                <a:spcPts val="100"/>
              </a:spcBef>
            </a:pP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segmentos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comienzan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0x00000000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hace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Linux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lógicas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coinciden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lineales;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decir,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campo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desplazamiento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("Offset")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una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lógica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siempre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coincide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lineal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correspondiente.</a:t>
            </a:r>
            <a:endParaRPr sz="13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Observa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lineales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asociadas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dichos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segmentos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comienzan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0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alcanzan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límite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direccionamiento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2³²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1.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748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120"/>
              <a:t> </a:t>
            </a:r>
            <a:r>
              <a:rPr dirty="0" spc="100"/>
              <a:t>Paginada</a:t>
            </a:r>
            <a:r>
              <a:rPr dirty="0" spc="-120"/>
              <a:t> </a:t>
            </a:r>
            <a:r>
              <a:rPr dirty="0" spc="50"/>
              <a:t>en</a:t>
            </a:r>
            <a:r>
              <a:rPr dirty="0" spc="-120"/>
              <a:t> </a:t>
            </a:r>
            <a:r>
              <a:rPr dirty="0" spc="-25"/>
              <a:t>x86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0299" y="1324224"/>
            <a:ext cx="5340120" cy="358999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2650" y="170125"/>
            <a:ext cx="3316824" cy="48032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975" y="1497150"/>
            <a:ext cx="5252381" cy="322567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748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120"/>
              <a:t> </a:t>
            </a:r>
            <a:r>
              <a:rPr dirty="0" spc="105"/>
              <a:t>Paginada</a:t>
            </a:r>
            <a:r>
              <a:rPr dirty="0" spc="-120"/>
              <a:t> </a:t>
            </a:r>
            <a:r>
              <a:rPr dirty="0" spc="50"/>
              <a:t>en</a:t>
            </a:r>
            <a:r>
              <a:rPr dirty="0" spc="-120"/>
              <a:t> </a:t>
            </a:r>
            <a:r>
              <a:rPr dirty="0" spc="-25"/>
              <a:t>x86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879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80"/>
              <a:t> </a:t>
            </a:r>
            <a:r>
              <a:rPr dirty="0" spc="100"/>
              <a:t>Paginada</a:t>
            </a:r>
            <a:r>
              <a:rPr dirty="0" spc="-75"/>
              <a:t> </a:t>
            </a:r>
            <a:r>
              <a:rPr dirty="0" spc="50"/>
              <a:t>en</a:t>
            </a:r>
            <a:r>
              <a:rPr dirty="0" spc="-80"/>
              <a:t> </a:t>
            </a:r>
            <a:r>
              <a:rPr dirty="0" spc="-55"/>
              <a:t>x86:</a:t>
            </a:r>
            <a:r>
              <a:rPr dirty="0" spc="-75"/>
              <a:t> </a:t>
            </a:r>
            <a:r>
              <a:rPr dirty="0" spc="145"/>
              <a:t>Page</a:t>
            </a:r>
            <a:r>
              <a:rPr dirty="0" spc="-80"/>
              <a:t> </a:t>
            </a:r>
            <a:r>
              <a:rPr dirty="0"/>
              <a:t>Directory</a:t>
            </a:r>
            <a:r>
              <a:rPr dirty="0" spc="-135"/>
              <a:t> </a:t>
            </a:r>
            <a:r>
              <a:rPr dirty="0" spc="-10"/>
              <a:t>Entry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5812" y="1942084"/>
            <a:ext cx="4855474" cy="293586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27100" y="1443177"/>
            <a:ext cx="3348354" cy="1369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2225">
              <a:lnSpc>
                <a:spcPct val="114999"/>
              </a:lnSpc>
              <a:spcBef>
                <a:spcPts val="1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700" spc="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page</a:t>
            </a:r>
            <a:r>
              <a:rPr dirty="0" sz="1700" spc="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directory, ocupa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4</a:t>
            </a:r>
            <a:r>
              <a:rPr dirty="0" sz="17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bytes.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  <a:tabLst>
                <a:tab pos="411480" algn="l"/>
                <a:tab pos="1042669" algn="l"/>
                <a:tab pos="2096135" algn="l"/>
                <a:tab pos="2834005" algn="l"/>
              </a:tabLst>
            </a:pP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page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directory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posee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700" spc="35">
                <a:solidFill>
                  <a:srgbClr val="595959"/>
                </a:solidFill>
                <a:latin typeface="Tahoma"/>
                <a:cs typeface="Tahoma"/>
              </a:rPr>
              <a:t>1024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entradas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74725" y="1317593"/>
            <a:ext cx="8124190" cy="3714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00"/>
              </a:lnSpc>
              <a:spcBef>
                <a:spcPts val="100"/>
              </a:spcBef>
            </a:pPr>
            <a:r>
              <a:rPr dirty="0" sz="1050" spc="-55" b="1">
                <a:solidFill>
                  <a:srgbClr val="595959"/>
                </a:solidFill>
                <a:latin typeface="Tahoma"/>
                <a:cs typeface="Tahoma"/>
              </a:rPr>
              <a:t>Present</a:t>
            </a:r>
            <a:r>
              <a:rPr dirty="0" sz="1050" spc="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35" b="1">
                <a:solidFill>
                  <a:srgbClr val="595959"/>
                </a:solidFill>
                <a:latin typeface="Tahoma"/>
                <a:cs typeface="Tahoma"/>
              </a:rPr>
              <a:t>(P):</a:t>
            </a:r>
            <a:r>
              <a:rPr dirty="0" sz="1050" spc="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05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105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indica</a:t>
            </a:r>
            <a:r>
              <a:rPr dirty="0" sz="105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05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05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105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páginas</a:t>
            </a:r>
            <a:r>
              <a:rPr dirty="0" sz="105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05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presente</a:t>
            </a:r>
            <a:r>
              <a:rPr dirty="0" sz="105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05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05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física.</a:t>
            </a:r>
            <a:r>
              <a:rPr dirty="0" sz="105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05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05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establecido</a:t>
            </a:r>
            <a:r>
              <a:rPr dirty="0" sz="105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60">
                <a:solidFill>
                  <a:srgbClr val="595959"/>
                </a:solidFill>
                <a:latin typeface="Tahoma"/>
                <a:cs typeface="Tahoma"/>
              </a:rPr>
              <a:t>(1),</a:t>
            </a:r>
            <a:r>
              <a:rPr dirty="0" sz="105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05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595959"/>
                </a:solidFill>
                <a:latin typeface="Tahoma"/>
                <a:cs typeface="Tahoma"/>
              </a:rPr>
              <a:t>está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presente</a:t>
            </a:r>
            <a:r>
              <a:rPr dirty="0" sz="105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05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05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05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utilizar</a:t>
            </a:r>
            <a:r>
              <a:rPr dirty="0" sz="105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05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traducir</a:t>
            </a:r>
            <a:r>
              <a:rPr dirty="0" sz="105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105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virtuales.</a:t>
            </a:r>
            <a:r>
              <a:rPr dirty="0" sz="105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05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05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desactivado</a:t>
            </a:r>
            <a:r>
              <a:rPr dirty="0" sz="105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70">
                <a:solidFill>
                  <a:srgbClr val="595959"/>
                </a:solidFill>
                <a:latin typeface="Tahoma"/>
                <a:cs typeface="Tahoma"/>
              </a:rPr>
              <a:t>(0),</a:t>
            </a:r>
            <a:r>
              <a:rPr dirty="0" sz="105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05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05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05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presente</a:t>
            </a:r>
            <a:r>
              <a:rPr dirty="0" sz="105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05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cualquier</a:t>
            </a:r>
            <a:r>
              <a:rPr dirty="0" sz="105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intento</a:t>
            </a:r>
            <a:r>
              <a:rPr dirty="0" sz="105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acceso</a:t>
            </a:r>
            <a:r>
              <a:rPr dirty="0" sz="105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ella</a:t>
            </a:r>
            <a:r>
              <a:rPr dirty="0" sz="105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causará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05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fallo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página.</a:t>
            </a:r>
            <a:endParaRPr sz="1050">
              <a:latin typeface="Tahoma"/>
              <a:cs typeface="Tahoma"/>
            </a:endParaRPr>
          </a:p>
          <a:p>
            <a:pPr marL="12700" marR="13970">
              <a:lnSpc>
                <a:spcPct val="115300"/>
              </a:lnSpc>
            </a:pPr>
            <a:r>
              <a:rPr dirty="0" sz="1050" spc="-75" b="1">
                <a:solidFill>
                  <a:srgbClr val="595959"/>
                </a:solidFill>
                <a:latin typeface="Tahoma"/>
                <a:cs typeface="Tahoma"/>
              </a:rPr>
              <a:t>Read/Write</a:t>
            </a:r>
            <a:r>
              <a:rPr dirty="0" sz="1050" spc="-6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20" b="1">
                <a:solidFill>
                  <a:srgbClr val="595959"/>
                </a:solidFill>
                <a:latin typeface="Tahoma"/>
                <a:cs typeface="Tahoma"/>
              </a:rPr>
              <a:t>(R/W)</a:t>
            </a:r>
            <a:r>
              <a:rPr dirty="0" sz="1050" spc="-12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0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0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10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controla</a:t>
            </a:r>
            <a:r>
              <a:rPr dirty="0" sz="10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0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región</a:t>
            </a:r>
            <a:r>
              <a:rPr dirty="0" sz="10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0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595959"/>
                </a:solidFill>
                <a:latin typeface="Tahoma"/>
                <a:cs typeface="Tahoma"/>
              </a:rPr>
              <a:t>mapeada</a:t>
            </a:r>
            <a:r>
              <a:rPr dirty="0" sz="10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0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0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0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0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0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lectura</a:t>
            </a:r>
            <a:r>
              <a:rPr dirty="0" sz="10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55">
                <a:solidFill>
                  <a:srgbClr val="595959"/>
                </a:solidFill>
                <a:latin typeface="Tahoma"/>
                <a:cs typeface="Tahoma"/>
              </a:rPr>
              <a:t>(0)</a:t>
            </a:r>
            <a:r>
              <a:rPr dirty="0" sz="10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lectura/escritura</a:t>
            </a:r>
            <a:r>
              <a:rPr dirty="0" sz="10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595959"/>
                </a:solidFill>
                <a:latin typeface="Tahoma"/>
                <a:cs typeface="Tahoma"/>
              </a:rPr>
              <a:t>(1). </a:t>
            </a:r>
            <a:r>
              <a:rPr dirty="0" sz="1050" spc="-65" b="1">
                <a:solidFill>
                  <a:srgbClr val="595959"/>
                </a:solidFill>
                <a:latin typeface="Tahoma"/>
                <a:cs typeface="Tahoma"/>
              </a:rPr>
              <a:t>User/Supervisor</a:t>
            </a:r>
            <a:r>
              <a:rPr dirty="0" sz="1050" spc="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25" b="1">
                <a:solidFill>
                  <a:srgbClr val="595959"/>
                </a:solidFill>
                <a:latin typeface="Tahoma"/>
                <a:cs typeface="Tahoma"/>
              </a:rPr>
              <a:t>(U/S):</a:t>
            </a:r>
            <a:r>
              <a:rPr dirty="0" sz="1050" spc="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05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105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determina</a:t>
            </a:r>
            <a:r>
              <a:rPr dirty="0" sz="105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05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privilegios</a:t>
            </a:r>
            <a:r>
              <a:rPr dirty="0" sz="105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acceso</a:t>
            </a:r>
            <a:r>
              <a:rPr dirty="0" sz="105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05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región</a:t>
            </a:r>
            <a:r>
              <a:rPr dirty="0" sz="105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05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mapeada.</a:t>
            </a:r>
            <a:r>
              <a:rPr dirty="0" sz="1050" spc="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05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05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configurado,</a:t>
            </a:r>
            <a:r>
              <a:rPr dirty="0" sz="105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región</a:t>
            </a:r>
            <a:r>
              <a:rPr dirty="0" sz="105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595959"/>
                </a:solidFill>
                <a:latin typeface="Tahoma"/>
                <a:cs typeface="Tahoma"/>
              </a:rPr>
              <a:t>es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accesible</a:t>
            </a:r>
            <a:r>
              <a:rPr dirty="0" sz="10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0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10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usuario</a:t>
            </a:r>
            <a:r>
              <a:rPr dirty="0" sz="10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0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10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supervisor.</a:t>
            </a:r>
            <a:r>
              <a:rPr dirty="0" sz="10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0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0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desactivado,</a:t>
            </a:r>
            <a:r>
              <a:rPr dirty="0" sz="10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0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0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accesible</a:t>
            </a:r>
            <a:r>
              <a:rPr dirty="0" sz="10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0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10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supervisor.</a:t>
            </a:r>
            <a:endParaRPr sz="1050">
              <a:latin typeface="Tahoma"/>
              <a:cs typeface="Tahoma"/>
            </a:endParaRPr>
          </a:p>
          <a:p>
            <a:pPr marL="12700" marR="19050">
              <a:lnSpc>
                <a:spcPct val="115300"/>
              </a:lnSpc>
            </a:pPr>
            <a:r>
              <a:rPr dirty="0" sz="1050" spc="-65" b="1">
                <a:solidFill>
                  <a:srgbClr val="595959"/>
                </a:solidFill>
                <a:latin typeface="Tahoma"/>
                <a:cs typeface="Tahoma"/>
              </a:rPr>
              <a:t>Write-</a:t>
            </a:r>
            <a:r>
              <a:rPr dirty="0" sz="1050" spc="-60" b="1">
                <a:solidFill>
                  <a:srgbClr val="595959"/>
                </a:solidFill>
                <a:latin typeface="Tahoma"/>
                <a:cs typeface="Tahoma"/>
              </a:rPr>
              <a:t>through</a:t>
            </a:r>
            <a:r>
              <a:rPr dirty="0" sz="1050" spc="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20" b="1">
                <a:solidFill>
                  <a:srgbClr val="595959"/>
                </a:solidFill>
                <a:latin typeface="Tahoma"/>
                <a:cs typeface="Tahoma"/>
              </a:rPr>
              <a:t>(W/T):</a:t>
            </a:r>
            <a:r>
              <a:rPr dirty="0" sz="1050" spc="6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050" spc="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105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controla</a:t>
            </a:r>
            <a:r>
              <a:rPr dirty="0" sz="1050" spc="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política</a:t>
            </a:r>
            <a:r>
              <a:rPr dirty="0" sz="105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escritura</a:t>
            </a:r>
            <a:r>
              <a:rPr dirty="0" sz="1050" spc="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05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caché</a:t>
            </a:r>
            <a:r>
              <a:rPr dirty="0" sz="1050" spc="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050" spc="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región</a:t>
            </a:r>
            <a:r>
              <a:rPr dirty="0" sz="1050" spc="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memoria.</a:t>
            </a:r>
            <a:r>
              <a:rPr dirty="0" sz="105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050" spc="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05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establecido,</a:t>
            </a:r>
            <a:r>
              <a:rPr dirty="0" sz="1050" spc="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050" spc="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escrituras</a:t>
            </a:r>
            <a:r>
              <a:rPr dirty="0" sz="105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595959"/>
                </a:solidFill>
                <a:latin typeface="Tahoma"/>
                <a:cs typeface="Tahoma"/>
              </a:rPr>
              <a:t>se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realizan</a:t>
            </a:r>
            <a:r>
              <a:rPr dirty="0" sz="105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través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595959"/>
                </a:solidFill>
                <a:latin typeface="Tahoma"/>
                <a:cs typeface="Tahoma"/>
              </a:rPr>
              <a:t>caché.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desactivado,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escrituras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05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pueden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realizar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directamente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principal.</a:t>
            </a:r>
            <a:endParaRPr sz="1050">
              <a:latin typeface="Tahoma"/>
              <a:cs typeface="Tahoma"/>
            </a:endParaRPr>
          </a:p>
          <a:p>
            <a:pPr marL="12700" marR="18415">
              <a:lnSpc>
                <a:spcPct val="115300"/>
              </a:lnSpc>
            </a:pPr>
            <a:r>
              <a:rPr dirty="0" sz="1050" spc="-40" b="1">
                <a:solidFill>
                  <a:srgbClr val="595959"/>
                </a:solidFill>
                <a:latin typeface="Tahoma"/>
                <a:cs typeface="Tahoma"/>
              </a:rPr>
              <a:t>Cache</a:t>
            </a:r>
            <a:r>
              <a:rPr dirty="0" sz="1050" spc="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40" b="1">
                <a:solidFill>
                  <a:srgbClr val="595959"/>
                </a:solidFill>
                <a:latin typeface="Tahoma"/>
                <a:cs typeface="Tahoma"/>
              </a:rPr>
              <a:t>Disable</a:t>
            </a:r>
            <a:r>
              <a:rPr dirty="0" sz="1050" spc="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95" b="1">
                <a:solidFill>
                  <a:srgbClr val="595959"/>
                </a:solidFill>
                <a:latin typeface="Tahoma"/>
                <a:cs typeface="Tahoma"/>
              </a:rPr>
              <a:t>(C):</a:t>
            </a:r>
            <a:r>
              <a:rPr dirty="0" sz="1050" spc="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050" spc="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1050" spc="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050" spc="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1050" spc="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050" spc="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desactivar</a:t>
            </a:r>
            <a:r>
              <a:rPr dirty="0" sz="1050" spc="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caché</a:t>
            </a:r>
            <a:r>
              <a:rPr dirty="0" sz="1050" spc="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050" spc="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región</a:t>
            </a:r>
            <a:r>
              <a:rPr dirty="0" sz="1050" spc="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050" spc="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mapeada.</a:t>
            </a:r>
            <a:r>
              <a:rPr dirty="0" sz="1050" spc="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050" spc="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050" spc="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establecido,</a:t>
            </a:r>
            <a:r>
              <a:rPr dirty="0" sz="1050" spc="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caché</a:t>
            </a:r>
            <a:r>
              <a:rPr dirty="0" sz="1050" spc="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595959"/>
                </a:solidFill>
                <a:latin typeface="Tahoma"/>
                <a:cs typeface="Tahoma"/>
              </a:rPr>
              <a:t>está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desactivada</a:t>
            </a:r>
            <a:r>
              <a:rPr dirty="0" sz="10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0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región.</a:t>
            </a:r>
            <a:r>
              <a:rPr dirty="0" sz="10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0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0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desactivado,</a:t>
            </a:r>
            <a:r>
              <a:rPr dirty="0" sz="10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caché</a:t>
            </a:r>
            <a:r>
              <a:rPr dirty="0" sz="10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0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utilizarse.</a:t>
            </a:r>
            <a:endParaRPr sz="1050">
              <a:latin typeface="Tahoma"/>
              <a:cs typeface="Tahoma"/>
            </a:endParaRPr>
          </a:p>
          <a:p>
            <a:pPr marL="12700" marR="10160">
              <a:lnSpc>
                <a:spcPct val="115300"/>
              </a:lnSpc>
            </a:pPr>
            <a:r>
              <a:rPr dirty="0" sz="1050" spc="-50" b="1">
                <a:solidFill>
                  <a:srgbClr val="595959"/>
                </a:solidFill>
                <a:latin typeface="Tahoma"/>
                <a:cs typeface="Tahoma"/>
              </a:rPr>
              <a:t>Accessed</a:t>
            </a:r>
            <a:r>
              <a:rPr dirty="0" sz="1050" spc="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0" b="1">
                <a:solidFill>
                  <a:srgbClr val="595959"/>
                </a:solidFill>
                <a:latin typeface="Tahoma"/>
                <a:cs typeface="Tahoma"/>
              </a:rPr>
              <a:t>(A):</a:t>
            </a:r>
            <a:r>
              <a:rPr dirty="0" sz="1050" spc="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05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105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05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establece</a:t>
            </a:r>
            <a:r>
              <a:rPr dirty="0" sz="105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05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hardware</a:t>
            </a:r>
            <a:r>
              <a:rPr dirty="0" sz="105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05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05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05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05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accede</a:t>
            </a:r>
            <a:r>
              <a:rPr dirty="0" sz="105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05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región</a:t>
            </a:r>
            <a:r>
              <a:rPr dirty="0" sz="105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05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595959"/>
                </a:solidFill>
                <a:latin typeface="Tahoma"/>
                <a:cs typeface="Tahoma"/>
              </a:rPr>
              <a:t>mapeada.</a:t>
            </a:r>
            <a:r>
              <a:rPr dirty="0" sz="105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05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útil</a:t>
            </a:r>
            <a:r>
              <a:rPr dirty="0" sz="105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05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gestión</a:t>
            </a:r>
            <a:r>
              <a:rPr dirty="0" sz="105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05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optimización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algoritmos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reemplazo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páginas.</a:t>
            </a:r>
            <a:endParaRPr sz="1050">
              <a:latin typeface="Tahoma"/>
              <a:cs typeface="Tahoma"/>
            </a:endParaRPr>
          </a:p>
          <a:p>
            <a:pPr marL="12700" marR="13335">
              <a:lnSpc>
                <a:spcPct val="115300"/>
              </a:lnSpc>
            </a:pPr>
            <a:r>
              <a:rPr dirty="0" sz="1050" spc="-10" b="1">
                <a:solidFill>
                  <a:srgbClr val="595959"/>
                </a:solidFill>
                <a:latin typeface="Tahoma"/>
                <a:cs typeface="Tahoma"/>
              </a:rPr>
              <a:t>Dirty</a:t>
            </a:r>
            <a:r>
              <a:rPr dirty="0" sz="1050" spc="7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20" b="1">
                <a:solidFill>
                  <a:srgbClr val="595959"/>
                </a:solidFill>
                <a:latin typeface="Tahoma"/>
                <a:cs typeface="Tahoma"/>
              </a:rPr>
              <a:t>(D):</a:t>
            </a:r>
            <a:r>
              <a:rPr dirty="0" sz="1050" spc="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050" spc="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105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050" spc="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establece</a:t>
            </a:r>
            <a:r>
              <a:rPr dirty="0" sz="105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050" spc="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hardware</a:t>
            </a:r>
            <a:r>
              <a:rPr dirty="0" sz="105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05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050" spc="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05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050" spc="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escribe</a:t>
            </a:r>
            <a:r>
              <a:rPr dirty="0" sz="105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050" spc="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región</a:t>
            </a:r>
            <a:r>
              <a:rPr dirty="0" sz="1050" spc="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05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mapeada.</a:t>
            </a:r>
            <a:r>
              <a:rPr dirty="0" sz="1050" spc="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Indica</a:t>
            </a:r>
            <a:r>
              <a:rPr dirty="0" sz="105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050" spc="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1050" spc="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ha</a:t>
            </a:r>
            <a:r>
              <a:rPr dirty="0" sz="105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595959"/>
                </a:solidFill>
                <a:latin typeface="Tahoma"/>
                <a:cs typeface="Tahoma"/>
              </a:rPr>
              <a:t>sido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modificada</a:t>
            </a:r>
            <a:r>
              <a:rPr dirty="0" sz="105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desde</a:t>
            </a:r>
            <a:r>
              <a:rPr dirty="0" sz="10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última</a:t>
            </a:r>
            <a:r>
              <a:rPr dirty="0" sz="10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05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0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0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limpió.</a:t>
            </a:r>
            <a:endParaRPr sz="1050">
              <a:latin typeface="Tahoma"/>
              <a:cs typeface="Tahoma"/>
            </a:endParaRPr>
          </a:p>
          <a:p>
            <a:pPr marL="12700" marR="7620">
              <a:lnSpc>
                <a:spcPct val="115300"/>
              </a:lnSpc>
            </a:pPr>
            <a:r>
              <a:rPr dirty="0" sz="1050" spc="-85" b="1">
                <a:solidFill>
                  <a:srgbClr val="595959"/>
                </a:solidFill>
                <a:latin typeface="Tahoma"/>
                <a:cs typeface="Tahoma"/>
              </a:rPr>
              <a:t>Large</a:t>
            </a:r>
            <a:r>
              <a:rPr dirty="0" sz="1050" spc="-6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95" b="1">
                <a:solidFill>
                  <a:srgbClr val="595959"/>
                </a:solidFill>
                <a:latin typeface="Tahoma"/>
                <a:cs typeface="Tahoma"/>
              </a:rPr>
              <a:t>Page</a:t>
            </a:r>
            <a:r>
              <a:rPr dirty="0" sz="1050" spc="-6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20" b="1">
                <a:solidFill>
                  <a:srgbClr val="595959"/>
                </a:solidFill>
                <a:latin typeface="Tahoma"/>
                <a:cs typeface="Tahoma"/>
              </a:rPr>
              <a:t>(PS):</a:t>
            </a:r>
            <a:r>
              <a:rPr dirty="0" sz="1050" spc="-6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0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configurado,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indica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55">
                <a:solidFill>
                  <a:srgbClr val="595959"/>
                </a:solidFill>
                <a:latin typeface="Tahoma"/>
                <a:cs typeface="Tahoma"/>
              </a:rPr>
              <a:t>PDE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apunta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0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595959"/>
                </a:solidFill>
                <a:latin typeface="Tahoma"/>
                <a:cs typeface="Tahoma"/>
              </a:rPr>
              <a:t>páginas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tamaño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grande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35">
                <a:solidFill>
                  <a:srgbClr val="595959"/>
                </a:solidFill>
                <a:latin typeface="Tahoma"/>
                <a:cs typeface="Tahoma"/>
              </a:rPr>
              <a:t>(4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100">
                <a:solidFill>
                  <a:srgbClr val="595959"/>
                </a:solidFill>
                <a:latin typeface="Tahoma"/>
                <a:cs typeface="Tahoma"/>
              </a:rPr>
              <a:t>MB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0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lugar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50">
                <a:solidFill>
                  <a:srgbClr val="595959"/>
                </a:solidFill>
                <a:latin typeface="Tahoma"/>
                <a:cs typeface="Tahoma"/>
              </a:rPr>
              <a:t>4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KB).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05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05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soporte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595959"/>
                </a:solidFill>
                <a:latin typeface="Tahoma"/>
                <a:cs typeface="Tahoma"/>
              </a:rPr>
              <a:t>páginas</a:t>
            </a:r>
            <a:r>
              <a:rPr dirty="0" sz="105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grandes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05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mejorar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rendimiento</a:t>
            </a:r>
            <a:r>
              <a:rPr dirty="0" sz="105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ciertos</a:t>
            </a:r>
            <a:r>
              <a:rPr dirty="0" sz="105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casos.</a:t>
            </a:r>
            <a:endParaRPr sz="1050">
              <a:latin typeface="Tahoma"/>
              <a:cs typeface="Tahoma"/>
            </a:endParaRPr>
          </a:p>
          <a:p>
            <a:pPr marL="12700" marR="7620">
              <a:lnSpc>
                <a:spcPct val="115300"/>
              </a:lnSpc>
            </a:pPr>
            <a:r>
              <a:rPr dirty="0" sz="1050" spc="-55" b="1">
                <a:solidFill>
                  <a:srgbClr val="595959"/>
                </a:solidFill>
                <a:latin typeface="Tahoma"/>
                <a:cs typeface="Tahoma"/>
              </a:rPr>
              <a:t>Global</a:t>
            </a:r>
            <a:r>
              <a:rPr dirty="0" sz="1050" spc="-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25" b="1">
                <a:solidFill>
                  <a:srgbClr val="595959"/>
                </a:solidFill>
                <a:latin typeface="Tahoma"/>
                <a:cs typeface="Tahoma"/>
              </a:rPr>
              <a:t>(G):</a:t>
            </a:r>
            <a:r>
              <a:rPr dirty="0" sz="1050" spc="-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05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105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05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105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05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595959"/>
                </a:solidFill>
                <a:latin typeface="Tahoma"/>
                <a:cs typeface="Tahoma"/>
              </a:rPr>
              <a:t>páginas</a:t>
            </a:r>
            <a:r>
              <a:rPr dirty="0" sz="105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globales.</a:t>
            </a:r>
            <a:r>
              <a:rPr dirty="0" sz="105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05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05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establecido,</a:t>
            </a:r>
            <a:r>
              <a:rPr dirty="0" sz="105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105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05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05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elimina</a:t>
            </a:r>
            <a:r>
              <a:rPr dirty="0" sz="105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05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caché</a:t>
            </a:r>
            <a:r>
              <a:rPr dirty="0" sz="105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traducción</a:t>
            </a:r>
            <a:r>
              <a:rPr dirty="0" sz="105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105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(TLB)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cambia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contexto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proceso.</a:t>
            </a:r>
            <a:endParaRPr sz="1050">
              <a:latin typeface="Tahoma"/>
              <a:cs typeface="Tahoma"/>
            </a:endParaRPr>
          </a:p>
          <a:p>
            <a:pPr marL="12700" marR="26670">
              <a:lnSpc>
                <a:spcPct val="115300"/>
              </a:lnSpc>
            </a:pPr>
            <a:r>
              <a:rPr dirty="0" sz="1050" spc="-45" b="1">
                <a:solidFill>
                  <a:srgbClr val="595959"/>
                </a:solidFill>
                <a:latin typeface="Tahoma"/>
                <a:cs typeface="Tahoma"/>
              </a:rPr>
              <a:t>Available</a:t>
            </a:r>
            <a:r>
              <a:rPr dirty="0" sz="1050" spc="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70" b="1">
                <a:solidFill>
                  <a:srgbClr val="595959"/>
                </a:solidFill>
                <a:latin typeface="Tahoma"/>
                <a:cs typeface="Tahoma"/>
              </a:rPr>
              <a:t>(Avail):</a:t>
            </a:r>
            <a:r>
              <a:rPr dirty="0" sz="1050" spc="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050" spc="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bits</a:t>
            </a:r>
            <a:r>
              <a:rPr dirty="0" sz="1050" spc="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están</a:t>
            </a:r>
            <a:r>
              <a:rPr dirty="0" sz="1050" spc="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disponibles</a:t>
            </a:r>
            <a:r>
              <a:rPr dirty="0" sz="1050" spc="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050" spc="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050" spc="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uso</a:t>
            </a:r>
            <a:r>
              <a:rPr dirty="0" sz="1050" spc="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050" spc="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software</a:t>
            </a:r>
            <a:r>
              <a:rPr dirty="0" sz="1050" spc="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050" spc="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pueden</a:t>
            </a:r>
            <a:r>
              <a:rPr dirty="0" sz="1050" spc="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050" spc="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utilizados</a:t>
            </a:r>
            <a:r>
              <a:rPr dirty="0" sz="1050" spc="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050" spc="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almacenar</a:t>
            </a:r>
            <a:r>
              <a:rPr dirty="0" sz="1050" spc="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información</a:t>
            </a:r>
            <a:r>
              <a:rPr dirty="0" sz="1050" spc="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adicional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específica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operativo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0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595959"/>
                </a:solidFill>
                <a:latin typeface="Tahoma"/>
                <a:cs typeface="Tahoma"/>
              </a:rPr>
              <a:t>aplicación.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879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80"/>
              <a:t> </a:t>
            </a:r>
            <a:r>
              <a:rPr dirty="0" spc="100"/>
              <a:t>Paginada</a:t>
            </a:r>
            <a:r>
              <a:rPr dirty="0" spc="-75"/>
              <a:t> </a:t>
            </a:r>
            <a:r>
              <a:rPr dirty="0" spc="50"/>
              <a:t>en</a:t>
            </a:r>
            <a:r>
              <a:rPr dirty="0" spc="-80"/>
              <a:t> </a:t>
            </a:r>
            <a:r>
              <a:rPr dirty="0" spc="-55"/>
              <a:t>x86:</a:t>
            </a:r>
            <a:r>
              <a:rPr dirty="0" spc="-75"/>
              <a:t> </a:t>
            </a:r>
            <a:r>
              <a:rPr dirty="0" spc="145"/>
              <a:t>Page</a:t>
            </a:r>
            <a:r>
              <a:rPr dirty="0" spc="-80"/>
              <a:t> </a:t>
            </a:r>
            <a:r>
              <a:rPr dirty="0"/>
              <a:t>Directory</a:t>
            </a:r>
            <a:r>
              <a:rPr dirty="0" spc="-135"/>
              <a:t> </a:t>
            </a:r>
            <a:r>
              <a:rPr dirty="0" spc="-10"/>
              <a:t>Entry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7275" y="1690299"/>
            <a:ext cx="5262749" cy="307197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227100" y="1443177"/>
            <a:ext cx="3348354" cy="1369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890">
              <a:lnSpc>
                <a:spcPct val="114999"/>
              </a:lnSpc>
              <a:spcBef>
                <a:spcPts val="1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page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table,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ocupa 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4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bytes.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  <a:tabLst>
                <a:tab pos="411480" algn="l"/>
                <a:tab pos="1042669" algn="l"/>
                <a:tab pos="2096135" algn="l"/>
                <a:tab pos="2834005" algn="l"/>
              </a:tabLst>
            </a:pP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page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directory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posee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700" spc="35">
                <a:solidFill>
                  <a:srgbClr val="595959"/>
                </a:solidFill>
                <a:latin typeface="Tahoma"/>
                <a:cs typeface="Tahoma"/>
              </a:rPr>
              <a:t>1024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entradas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748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85"/>
              <a:t> </a:t>
            </a:r>
            <a:r>
              <a:rPr dirty="0" spc="100"/>
              <a:t>Paginada</a:t>
            </a:r>
            <a:r>
              <a:rPr dirty="0" spc="-85"/>
              <a:t> </a:t>
            </a:r>
            <a:r>
              <a:rPr dirty="0" spc="50"/>
              <a:t>en</a:t>
            </a:r>
            <a:r>
              <a:rPr dirty="0" spc="-80"/>
              <a:t> </a:t>
            </a:r>
            <a:r>
              <a:rPr dirty="0"/>
              <a:t>x86</a:t>
            </a:r>
            <a:r>
              <a:rPr dirty="0" spc="-85"/>
              <a:t> </a:t>
            </a:r>
            <a:r>
              <a:rPr dirty="0" spc="-285"/>
              <a:t>:</a:t>
            </a:r>
            <a:r>
              <a:rPr dirty="0" spc="-85"/>
              <a:t> </a:t>
            </a:r>
            <a:r>
              <a:rPr dirty="0" spc="145"/>
              <a:t>Page</a:t>
            </a:r>
            <a:r>
              <a:rPr dirty="0" spc="-155"/>
              <a:t> </a:t>
            </a:r>
            <a:r>
              <a:rPr dirty="0"/>
              <a:t>Table</a:t>
            </a:r>
            <a:r>
              <a:rPr dirty="0" spc="-80"/>
              <a:t> </a:t>
            </a:r>
            <a:r>
              <a:rPr dirty="0" spc="-10"/>
              <a:t>Entry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748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85"/>
              <a:t> </a:t>
            </a:r>
            <a:r>
              <a:rPr dirty="0" spc="100"/>
              <a:t>Paginada</a:t>
            </a:r>
            <a:r>
              <a:rPr dirty="0" spc="-85"/>
              <a:t> </a:t>
            </a:r>
            <a:r>
              <a:rPr dirty="0" spc="50"/>
              <a:t>en</a:t>
            </a:r>
            <a:r>
              <a:rPr dirty="0" spc="-80"/>
              <a:t> </a:t>
            </a:r>
            <a:r>
              <a:rPr dirty="0"/>
              <a:t>x86</a:t>
            </a:r>
            <a:r>
              <a:rPr dirty="0" spc="-85"/>
              <a:t> </a:t>
            </a:r>
            <a:r>
              <a:rPr dirty="0" spc="-285"/>
              <a:t>:</a:t>
            </a:r>
            <a:r>
              <a:rPr dirty="0" spc="-85"/>
              <a:t> </a:t>
            </a:r>
            <a:r>
              <a:rPr dirty="0" spc="145"/>
              <a:t>Page</a:t>
            </a:r>
            <a:r>
              <a:rPr dirty="0" spc="-155"/>
              <a:t> </a:t>
            </a:r>
            <a:r>
              <a:rPr dirty="0"/>
              <a:t>Table</a:t>
            </a:r>
            <a:r>
              <a:rPr dirty="0" spc="-80"/>
              <a:t> </a:t>
            </a:r>
            <a:r>
              <a:rPr dirty="0" spc="-10"/>
              <a:t>Entry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27100" y="1465319"/>
            <a:ext cx="8763000" cy="3524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5999"/>
              </a:lnSpc>
              <a:spcBef>
                <a:spcPts val="95"/>
              </a:spcBef>
            </a:pP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Present</a:t>
            </a:r>
            <a:r>
              <a:rPr dirty="0" sz="9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(P):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indica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9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física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asociada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9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páginas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presente</a:t>
            </a:r>
            <a:r>
              <a:rPr dirty="0" sz="9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física.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establecido</a:t>
            </a:r>
            <a:r>
              <a:rPr dirty="0" sz="9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595959"/>
                </a:solidFill>
                <a:latin typeface="Tahoma"/>
                <a:cs typeface="Tahoma"/>
              </a:rPr>
              <a:t>(1),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página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9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presente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acceder.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desactivado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60">
                <a:solidFill>
                  <a:srgbClr val="595959"/>
                </a:solidFill>
                <a:latin typeface="Tahoma"/>
                <a:cs typeface="Tahoma"/>
              </a:rPr>
              <a:t>(0),</a:t>
            </a:r>
            <a:r>
              <a:rPr dirty="0" sz="9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cualquier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intento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acceso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causará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fallo</a:t>
            </a:r>
            <a:r>
              <a:rPr dirty="0" sz="9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página.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Read/Write</a:t>
            </a:r>
            <a:r>
              <a:rPr dirty="0" sz="9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595959"/>
                </a:solidFill>
                <a:latin typeface="Tahoma"/>
                <a:cs typeface="Tahoma"/>
              </a:rPr>
              <a:t>(R/W):</a:t>
            </a:r>
            <a:r>
              <a:rPr dirty="0" sz="9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9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9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controla</a:t>
            </a:r>
            <a:r>
              <a:rPr dirty="0" sz="9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9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9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9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9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mapeada</a:t>
            </a:r>
            <a:r>
              <a:rPr dirty="0" sz="9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9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9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9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9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9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9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lectura</a:t>
            </a:r>
            <a:r>
              <a:rPr dirty="0" sz="9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595959"/>
                </a:solidFill>
                <a:latin typeface="Tahoma"/>
                <a:cs typeface="Tahoma"/>
              </a:rPr>
              <a:t>(0)</a:t>
            </a:r>
            <a:r>
              <a:rPr dirty="0" sz="9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9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lectura/escritura</a:t>
            </a:r>
            <a:r>
              <a:rPr dirty="0" sz="9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(1).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Tahoma"/>
              <a:cs typeface="Tahoma"/>
            </a:endParaRPr>
          </a:p>
          <a:p>
            <a:pPr marL="12700" marR="7620">
              <a:lnSpc>
                <a:spcPct val="115999"/>
              </a:lnSpc>
            </a:pP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User/Supervisor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595959"/>
                </a:solidFill>
                <a:latin typeface="Tahoma"/>
                <a:cs typeface="Tahoma"/>
              </a:rPr>
              <a:t>(U/S):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900" spc="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determina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privilegios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acceso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mapeada.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configurado,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accesible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usuario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9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modo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supervisor.</a:t>
            </a:r>
            <a:r>
              <a:rPr dirty="0" sz="9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desactivado,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9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accesible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supervisor.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Tahoma"/>
              <a:cs typeface="Tahoma"/>
            </a:endParaRPr>
          </a:p>
          <a:p>
            <a:pPr marL="12700" marR="17780">
              <a:lnSpc>
                <a:spcPct val="115999"/>
              </a:lnSpc>
            </a:pP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Write-through</a:t>
            </a:r>
            <a:r>
              <a:rPr dirty="0" sz="9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40">
                <a:solidFill>
                  <a:srgbClr val="595959"/>
                </a:solidFill>
                <a:latin typeface="Tahoma"/>
                <a:cs typeface="Tahoma"/>
              </a:rPr>
              <a:t>(W/T):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controla</a:t>
            </a:r>
            <a:r>
              <a:rPr dirty="0" sz="9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política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escritura</a:t>
            </a:r>
            <a:r>
              <a:rPr dirty="0" sz="9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caché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595959"/>
                </a:solidFill>
                <a:latin typeface="Tahoma"/>
                <a:cs typeface="Tahoma"/>
              </a:rPr>
              <a:t>mapeada.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9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establecido,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escrituras</a:t>
            </a:r>
            <a:r>
              <a:rPr dirty="0" sz="9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realizan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través</a:t>
            </a:r>
            <a:r>
              <a:rPr dirty="0" sz="9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caché.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595959"/>
                </a:solidFill>
                <a:latin typeface="Tahoma"/>
                <a:cs typeface="Tahoma"/>
              </a:rPr>
              <a:t>Si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9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desactivado,</a:t>
            </a:r>
            <a:r>
              <a:rPr dirty="0" sz="9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9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escrituras</a:t>
            </a:r>
            <a:r>
              <a:rPr dirty="0" sz="9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9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pueden</a:t>
            </a:r>
            <a:r>
              <a:rPr dirty="0" sz="9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realizar</a:t>
            </a:r>
            <a:r>
              <a:rPr dirty="0" sz="9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directamente</a:t>
            </a:r>
            <a:r>
              <a:rPr dirty="0" sz="9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9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9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principal.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Tahoma"/>
              <a:cs typeface="Tahoma"/>
            </a:endParaRPr>
          </a:p>
          <a:p>
            <a:pPr marL="12700" marR="11430">
              <a:lnSpc>
                <a:spcPct val="115999"/>
              </a:lnSpc>
            </a:pP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Cache</a:t>
            </a:r>
            <a:r>
              <a:rPr dirty="0" sz="900" spc="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Disable</a:t>
            </a:r>
            <a:r>
              <a:rPr dirty="0" sz="900" spc="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595959"/>
                </a:solidFill>
                <a:latin typeface="Tahoma"/>
                <a:cs typeface="Tahoma"/>
              </a:rPr>
              <a:t>(C):</a:t>
            </a:r>
            <a:r>
              <a:rPr dirty="0" sz="9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900" spc="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900" spc="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9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900" spc="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900" spc="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desactivar</a:t>
            </a:r>
            <a:r>
              <a:rPr dirty="0" sz="900" spc="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caché</a:t>
            </a:r>
            <a:r>
              <a:rPr dirty="0" sz="900" spc="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900" spc="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900" spc="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900" spc="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9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mapeada.</a:t>
            </a:r>
            <a:r>
              <a:rPr dirty="0" sz="900" spc="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900" spc="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9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establecido,</a:t>
            </a:r>
            <a:r>
              <a:rPr dirty="0" sz="900" spc="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caché</a:t>
            </a:r>
            <a:r>
              <a:rPr dirty="0" sz="9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900" spc="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desactivada</a:t>
            </a:r>
            <a:r>
              <a:rPr dirty="0" sz="900" spc="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9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página.</a:t>
            </a:r>
            <a:r>
              <a:rPr dirty="0" sz="900" spc="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9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está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desactivado,</a:t>
            </a:r>
            <a:r>
              <a:rPr dirty="0" sz="9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caché</a:t>
            </a:r>
            <a:r>
              <a:rPr dirty="0" sz="9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9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utilizarse.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Tahoma"/>
              <a:cs typeface="Tahoma"/>
            </a:endParaRPr>
          </a:p>
          <a:p>
            <a:pPr marL="12700" marR="5080">
              <a:lnSpc>
                <a:spcPct val="115999"/>
              </a:lnSpc>
            </a:pP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Accessed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(A):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establece</a:t>
            </a:r>
            <a:r>
              <a:rPr dirty="0" sz="9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hardware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9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accede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9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595959"/>
                </a:solidFill>
                <a:latin typeface="Tahoma"/>
                <a:cs typeface="Tahoma"/>
              </a:rPr>
              <a:t>mapeada.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útil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gestión</a:t>
            </a:r>
            <a:r>
              <a:rPr dirty="0" sz="9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optimización</a:t>
            </a:r>
            <a:r>
              <a:rPr dirty="0" sz="9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9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algoritmos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9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reemplazo</a:t>
            </a:r>
            <a:r>
              <a:rPr dirty="0" sz="9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páginas.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Tahoma"/>
              <a:cs typeface="Tahoma"/>
            </a:endParaRPr>
          </a:p>
          <a:p>
            <a:pPr marL="12700" marR="8255">
              <a:lnSpc>
                <a:spcPct val="115999"/>
              </a:lnSpc>
              <a:spcBef>
                <a:spcPts val="5"/>
              </a:spcBef>
            </a:pP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Dirty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595959"/>
                </a:solidFill>
                <a:latin typeface="Tahoma"/>
                <a:cs typeface="Tahoma"/>
              </a:rPr>
              <a:t>(D):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establece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hardware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9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escribe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mapeada.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Indica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ha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sido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modificada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desde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última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595959"/>
                </a:solidFill>
                <a:latin typeface="Tahoma"/>
                <a:cs typeface="Tahoma"/>
              </a:rPr>
              <a:t>se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limpió.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900">
              <a:latin typeface="Tahoma"/>
              <a:cs typeface="Tahoma"/>
            </a:endParaRPr>
          </a:p>
          <a:p>
            <a:pPr marL="12700" marR="11430">
              <a:lnSpc>
                <a:spcPct val="115999"/>
              </a:lnSpc>
              <a:spcBef>
                <a:spcPts val="5"/>
              </a:spcBef>
            </a:pP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Global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60">
                <a:solidFill>
                  <a:srgbClr val="595959"/>
                </a:solidFill>
                <a:latin typeface="Tahoma"/>
                <a:cs typeface="Tahoma"/>
              </a:rPr>
              <a:t>(G):</a:t>
            </a:r>
            <a:r>
              <a:rPr dirty="0" sz="9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9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9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9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9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páginas</a:t>
            </a:r>
            <a:r>
              <a:rPr dirty="0" sz="9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globales.</a:t>
            </a:r>
            <a:r>
              <a:rPr dirty="0" sz="9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9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establecido,</a:t>
            </a:r>
            <a:r>
              <a:rPr dirty="0" sz="9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9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9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9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elimina</a:t>
            </a:r>
            <a:r>
              <a:rPr dirty="0" sz="9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9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caché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9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traducción</a:t>
            </a:r>
            <a:r>
              <a:rPr dirty="0" sz="9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9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9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(TLB)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9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9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cambia</a:t>
            </a:r>
            <a:r>
              <a:rPr dirty="0" sz="9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9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595959"/>
                </a:solidFill>
                <a:latin typeface="Tahoma"/>
                <a:cs typeface="Tahoma"/>
              </a:rPr>
              <a:t>contexto</a:t>
            </a:r>
            <a:r>
              <a:rPr dirty="0" sz="9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595959"/>
                </a:solidFill>
                <a:latin typeface="Tahoma"/>
                <a:cs typeface="Tahoma"/>
              </a:rPr>
              <a:t>del </a:t>
            </a:r>
            <a:r>
              <a:rPr dirty="0" sz="900" spc="-10">
                <a:solidFill>
                  <a:srgbClr val="595959"/>
                </a:solidFill>
                <a:latin typeface="Tahoma"/>
                <a:cs typeface="Tahoma"/>
              </a:rPr>
              <a:t>proceso.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748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110"/>
              <a:t> </a:t>
            </a:r>
            <a:r>
              <a:rPr dirty="0" spc="100"/>
              <a:t>Paginada</a:t>
            </a:r>
            <a:r>
              <a:rPr dirty="0" spc="-105"/>
              <a:t> </a:t>
            </a:r>
            <a:r>
              <a:rPr dirty="0" spc="50"/>
              <a:t>en</a:t>
            </a:r>
            <a:r>
              <a:rPr dirty="0" spc="-110"/>
              <a:t> </a:t>
            </a:r>
            <a:r>
              <a:rPr dirty="0"/>
              <a:t>x86</a:t>
            </a:r>
            <a:r>
              <a:rPr dirty="0" spc="-105"/>
              <a:t> </a:t>
            </a:r>
            <a:r>
              <a:rPr dirty="0" spc="-285"/>
              <a:t>:</a:t>
            </a:r>
            <a:r>
              <a:rPr dirty="0" spc="-105"/>
              <a:t> </a:t>
            </a:r>
            <a:r>
              <a:rPr dirty="0" spc="75"/>
              <a:t>Registros</a:t>
            </a:r>
            <a:r>
              <a:rPr dirty="0" spc="-110"/>
              <a:t> </a:t>
            </a:r>
            <a:r>
              <a:rPr dirty="0" spc="75"/>
              <a:t>especiales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62975" y="1330412"/>
            <a:ext cx="3848735" cy="322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302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Los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registros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importantes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paginación </a:t>
            </a:r>
            <a:r>
              <a:rPr dirty="0" sz="1400">
                <a:latin typeface="Arial MT"/>
                <a:cs typeface="Arial MT"/>
              </a:rPr>
              <a:t>son: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CR0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y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CR3.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latin typeface="Arial MT"/>
                <a:cs typeface="Arial MT"/>
              </a:rPr>
              <a:t>El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bit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más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izquierda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registro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CR0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25">
                <a:latin typeface="Arial MT"/>
                <a:cs typeface="Arial MT"/>
              </a:rPr>
              <a:t>si </a:t>
            </a:r>
            <a:r>
              <a:rPr dirty="0" sz="1400">
                <a:latin typeface="Arial MT"/>
                <a:cs typeface="Arial MT"/>
              </a:rPr>
              <a:t>está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0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determina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que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lineal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address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se </a:t>
            </a:r>
            <a:r>
              <a:rPr dirty="0" sz="1400">
                <a:latin typeface="Arial MT"/>
                <a:cs typeface="Arial MT"/>
              </a:rPr>
              <a:t>convierte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directamente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physical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address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para </a:t>
            </a:r>
            <a:r>
              <a:rPr dirty="0" sz="1400">
                <a:latin typeface="Arial MT"/>
                <a:cs typeface="Arial MT"/>
              </a:rPr>
              <a:t>acceder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memoria.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Si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PG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está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1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lineal </a:t>
            </a:r>
            <a:r>
              <a:rPr dirty="0" sz="1400">
                <a:latin typeface="Arial MT"/>
                <a:cs typeface="Arial MT"/>
              </a:rPr>
              <a:t>address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debe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ser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convertida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physical</a:t>
            </a:r>
            <a:r>
              <a:rPr dirty="0" sz="1400" spc="50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address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través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del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mecanismo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10">
                <a:latin typeface="Arial MT"/>
                <a:cs typeface="Arial MT"/>
              </a:rPr>
              <a:t> paginación.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Arial MT"/>
              <a:cs typeface="Arial MT"/>
            </a:endParaRPr>
          </a:p>
          <a:p>
            <a:pPr marL="12700" marR="7366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CR3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contiene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page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directory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base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que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contiene </a:t>
            </a:r>
            <a:r>
              <a:rPr dirty="0" sz="1400">
                <a:latin typeface="Arial MT"/>
                <a:cs typeface="Arial MT"/>
              </a:rPr>
              <a:t>1024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entradas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4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bytes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cada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una,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cada </a:t>
            </a:r>
            <a:r>
              <a:rPr dirty="0" sz="1400">
                <a:latin typeface="Arial MT"/>
                <a:cs typeface="Arial MT"/>
              </a:rPr>
              <a:t>entrada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el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page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directory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ocupa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4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bytes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0">
                <a:latin typeface="Arial MT"/>
                <a:cs typeface="Arial MT"/>
              </a:rPr>
              <a:t>y </a:t>
            </a:r>
            <a:r>
              <a:rPr dirty="0" sz="1400">
                <a:latin typeface="Arial MT"/>
                <a:cs typeface="Arial MT"/>
              </a:rPr>
              <a:t>direcciona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una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page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table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que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contiene</a:t>
            </a:r>
            <a:r>
              <a:rPr dirty="0" sz="1400" spc="-20">
                <a:latin typeface="Arial MT"/>
                <a:cs typeface="Arial MT"/>
              </a:rPr>
              <a:t> 1024 </a:t>
            </a:r>
            <a:r>
              <a:rPr dirty="0" sz="1400" spc="-10">
                <a:latin typeface="Arial MT"/>
                <a:cs typeface="Arial MT"/>
              </a:rPr>
              <a:t>entradas.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351779" y="1220007"/>
            <a:ext cx="4461510" cy="3677285"/>
            <a:chOff x="4351779" y="1220007"/>
            <a:chExt cx="4461510" cy="367728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51779" y="1220007"/>
              <a:ext cx="4460900" cy="3677235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4406549" y="2279699"/>
              <a:ext cx="3897629" cy="2355215"/>
            </a:xfrm>
            <a:custGeom>
              <a:avLst/>
              <a:gdLst/>
              <a:ahLst/>
              <a:cxnLst/>
              <a:rect l="l" t="t" r="r" b="b"/>
              <a:pathLst>
                <a:path w="3897629" h="2355215">
                  <a:moveTo>
                    <a:pt x="0" y="1891324"/>
                  </a:moveTo>
                  <a:lnTo>
                    <a:pt x="113999" y="1891324"/>
                  </a:lnTo>
                  <a:lnTo>
                    <a:pt x="113999" y="2354824"/>
                  </a:lnTo>
                  <a:lnTo>
                    <a:pt x="0" y="2354824"/>
                  </a:lnTo>
                  <a:lnTo>
                    <a:pt x="0" y="1891324"/>
                  </a:lnTo>
                  <a:close/>
                </a:path>
                <a:path w="3897629" h="2355215">
                  <a:moveTo>
                    <a:pt x="0" y="0"/>
                  </a:moveTo>
                  <a:lnTo>
                    <a:pt x="3897599" y="0"/>
                  </a:lnTo>
                  <a:lnTo>
                    <a:pt x="3897599" y="463499"/>
                  </a:lnTo>
                  <a:lnTo>
                    <a:pt x="0" y="463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85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105"/>
              <a:t> </a:t>
            </a:r>
            <a:r>
              <a:rPr dirty="0" spc="65"/>
              <a:t>Paginada:</a:t>
            </a:r>
            <a:r>
              <a:rPr dirty="0" spc="-105"/>
              <a:t> </a:t>
            </a:r>
            <a:r>
              <a:rPr dirty="0" spc="70"/>
              <a:t>CR3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68424" y="1379062"/>
            <a:ext cx="8218170" cy="293306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1780"/>
              </a:lnSpc>
              <a:spcBef>
                <a:spcPts val="235"/>
              </a:spcBef>
            </a:pPr>
            <a:r>
              <a:rPr dirty="0" sz="155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5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595959"/>
                </a:solidFill>
                <a:latin typeface="Tahoma"/>
                <a:cs typeface="Tahoma"/>
              </a:rPr>
              <a:t>registro</a:t>
            </a:r>
            <a:r>
              <a:rPr dirty="0" sz="155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595959"/>
                </a:solidFill>
                <a:latin typeface="Tahoma"/>
                <a:cs typeface="Tahoma"/>
              </a:rPr>
              <a:t>CR3</a:t>
            </a:r>
            <a:r>
              <a:rPr dirty="0" sz="155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55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595959"/>
                </a:solidFill>
                <a:latin typeface="Tahoma"/>
                <a:cs typeface="Tahoma"/>
              </a:rPr>
              <a:t>uno</a:t>
            </a:r>
            <a:r>
              <a:rPr dirty="0" sz="155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5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55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595959"/>
                </a:solidFill>
                <a:latin typeface="Tahoma"/>
                <a:cs typeface="Tahoma"/>
              </a:rPr>
              <a:t>registros</a:t>
            </a:r>
            <a:r>
              <a:rPr dirty="0" sz="155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5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595959"/>
                </a:solidFill>
                <a:latin typeface="Tahoma"/>
                <a:cs typeface="Tahoma"/>
              </a:rPr>
              <a:t>control</a:t>
            </a:r>
            <a:r>
              <a:rPr dirty="0" sz="155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55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55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595959"/>
                </a:solidFill>
                <a:latin typeface="Tahoma"/>
                <a:cs typeface="Tahoma"/>
              </a:rPr>
              <a:t>fundamental</a:t>
            </a:r>
            <a:r>
              <a:rPr dirty="0" sz="155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55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5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595959"/>
                </a:solidFill>
                <a:latin typeface="Tahoma"/>
                <a:cs typeface="Tahoma"/>
              </a:rPr>
              <a:t>administración</a:t>
            </a:r>
            <a:r>
              <a:rPr dirty="0" sz="155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5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55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5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595959"/>
                </a:solidFill>
                <a:latin typeface="Tahoma"/>
                <a:cs typeface="Tahoma"/>
              </a:rPr>
              <a:t>virtual.</a:t>
            </a:r>
            <a:endParaRPr sz="1550">
              <a:latin typeface="Tahoma"/>
              <a:cs typeface="Tahoma"/>
            </a:endParaRPr>
          </a:p>
          <a:p>
            <a:pPr marL="469900" marR="140335" indent="-339090">
              <a:lnSpc>
                <a:spcPts val="1639"/>
              </a:lnSpc>
              <a:spcBef>
                <a:spcPts val="1205"/>
              </a:spcBef>
              <a:buFont typeface="Arial MT"/>
              <a:buChar char="●"/>
              <a:tabLst>
                <a:tab pos="469900" algn="l"/>
              </a:tabLst>
            </a:pPr>
            <a:r>
              <a:rPr dirty="0" sz="1400" b="1">
                <a:latin typeface="Arial"/>
                <a:cs typeface="Arial"/>
              </a:rPr>
              <a:t>Función</a:t>
            </a:r>
            <a:r>
              <a:rPr dirty="0" sz="1400" spc="7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Principal</a:t>
            </a:r>
            <a:r>
              <a:rPr dirty="0" sz="1400">
                <a:latin typeface="Arial MT"/>
                <a:cs typeface="Arial MT"/>
              </a:rPr>
              <a:t>: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El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registro</a:t>
            </a:r>
            <a:r>
              <a:rPr dirty="0" sz="1400" spc="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CR3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utiliza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apuntar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tabla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directorios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8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páginas </a:t>
            </a:r>
            <a:r>
              <a:rPr dirty="0" sz="1400">
                <a:latin typeface="Arial MT"/>
                <a:cs typeface="Arial MT"/>
              </a:rPr>
              <a:t>en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memoria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física.</a:t>
            </a:r>
            <a:r>
              <a:rPr dirty="0" sz="1400" spc="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tabla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directorios</a:t>
            </a:r>
            <a:r>
              <a:rPr dirty="0" sz="1400" spc="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páginas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estructura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datos</a:t>
            </a:r>
            <a:r>
              <a:rPr dirty="0" sz="1400" spc="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nivel </a:t>
            </a:r>
            <a:r>
              <a:rPr dirty="0" sz="1400">
                <a:latin typeface="Arial MT"/>
                <a:cs typeface="Arial MT"/>
              </a:rPr>
              <a:t>superior</a:t>
            </a:r>
            <a:r>
              <a:rPr dirty="0" sz="1400" spc="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el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mecanismo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paginación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x86,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que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su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vez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apunta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tablas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páginas individuales.</a:t>
            </a:r>
            <a:endParaRPr sz="1400">
              <a:latin typeface="Arial MT"/>
              <a:cs typeface="Arial MT"/>
            </a:endParaRPr>
          </a:p>
          <a:p>
            <a:pPr marL="469265" indent="-338455">
              <a:lnSpc>
                <a:spcPts val="157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400" b="1">
                <a:latin typeface="Arial"/>
                <a:cs typeface="Arial"/>
              </a:rPr>
              <a:t>Papel</a:t>
            </a:r>
            <a:r>
              <a:rPr dirty="0" sz="1400" spc="7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en</a:t>
            </a:r>
            <a:r>
              <a:rPr dirty="0" sz="1400" spc="7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la</a:t>
            </a:r>
            <a:r>
              <a:rPr dirty="0" sz="1400" spc="7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Paginación</a:t>
            </a:r>
            <a:r>
              <a:rPr dirty="0" sz="1400">
                <a:latin typeface="Arial MT"/>
                <a:cs typeface="Arial MT"/>
              </a:rPr>
              <a:t>: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Cuando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paginación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está</a:t>
            </a:r>
            <a:r>
              <a:rPr dirty="0" sz="1400" spc="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habilitada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(es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decir,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el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bit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PG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</a:t>
            </a:r>
            <a:r>
              <a:rPr dirty="0" sz="1400" spc="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CR0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está</a:t>
            </a:r>
            <a:endParaRPr sz="1400">
              <a:latin typeface="Arial MT"/>
              <a:cs typeface="Arial MT"/>
            </a:endParaRPr>
          </a:p>
          <a:p>
            <a:pPr algn="just" marL="469900" marR="59690">
              <a:lnSpc>
                <a:spcPts val="1639"/>
              </a:lnSpc>
              <a:spcBef>
                <a:spcPts val="65"/>
              </a:spcBef>
            </a:pPr>
            <a:r>
              <a:rPr dirty="0" sz="1400">
                <a:latin typeface="Arial MT"/>
                <a:cs typeface="Arial MT"/>
              </a:rPr>
              <a:t>establecido),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cada</a:t>
            </a:r>
            <a:r>
              <a:rPr dirty="0" sz="1400" spc="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vez</a:t>
            </a:r>
            <a:r>
              <a:rPr dirty="0" sz="1400" spc="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que</a:t>
            </a:r>
            <a:r>
              <a:rPr dirty="0" sz="1400" spc="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el</a:t>
            </a:r>
            <a:r>
              <a:rPr dirty="0" sz="1400" spc="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procesador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necesita</a:t>
            </a:r>
            <a:r>
              <a:rPr dirty="0" sz="1400" spc="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traducir</a:t>
            </a:r>
            <a:r>
              <a:rPr dirty="0" sz="1400" spc="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una</a:t>
            </a:r>
            <a:r>
              <a:rPr dirty="0" sz="1400" spc="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dirección</a:t>
            </a:r>
            <a:r>
              <a:rPr dirty="0" sz="1400" spc="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virtual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una</a:t>
            </a:r>
            <a:r>
              <a:rPr dirty="0" sz="1400" spc="9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dirección </a:t>
            </a:r>
            <a:r>
              <a:rPr dirty="0" sz="1400">
                <a:latin typeface="Arial MT"/>
                <a:cs typeface="Arial MT"/>
              </a:rPr>
              <a:t>física,</a:t>
            </a:r>
            <a:r>
              <a:rPr dirty="0" sz="1400" spc="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consulta</a:t>
            </a:r>
            <a:r>
              <a:rPr dirty="0" sz="1400" spc="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estructura</a:t>
            </a:r>
            <a:r>
              <a:rPr dirty="0" sz="1400" spc="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paginación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que</a:t>
            </a:r>
            <a:r>
              <a:rPr dirty="0" sz="1400" spc="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comienza</a:t>
            </a:r>
            <a:r>
              <a:rPr dirty="0" sz="1400" spc="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</a:t>
            </a:r>
            <a:r>
              <a:rPr dirty="0" sz="1400" spc="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dirección</a:t>
            </a:r>
            <a:r>
              <a:rPr dirty="0" sz="1400" spc="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física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especificada</a:t>
            </a:r>
            <a:r>
              <a:rPr dirty="0" sz="1400" spc="8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en </a:t>
            </a:r>
            <a:r>
              <a:rPr dirty="0" sz="1400" spc="-20">
                <a:latin typeface="Arial MT"/>
                <a:cs typeface="Arial MT"/>
              </a:rPr>
              <a:t>CR3.</a:t>
            </a:r>
            <a:endParaRPr sz="1400">
              <a:latin typeface="Arial MT"/>
              <a:cs typeface="Arial MT"/>
            </a:endParaRPr>
          </a:p>
          <a:p>
            <a:pPr marL="469265" indent="-338455">
              <a:lnSpc>
                <a:spcPts val="157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400" b="1">
                <a:latin typeface="Arial"/>
                <a:cs typeface="Arial"/>
              </a:rPr>
              <a:t>Cambios</a:t>
            </a:r>
            <a:r>
              <a:rPr dirty="0" sz="1400" spc="7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en</a:t>
            </a:r>
            <a:r>
              <a:rPr dirty="0" sz="1400" spc="7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CR3</a:t>
            </a:r>
            <a:r>
              <a:rPr dirty="0" sz="1400">
                <a:latin typeface="Arial MT"/>
                <a:cs typeface="Arial MT"/>
              </a:rPr>
              <a:t>: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Al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cambiar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el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valor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CR3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(por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ejemplo,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al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cambiar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contexto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al</a:t>
            </a:r>
            <a:endParaRPr sz="1400">
              <a:latin typeface="Arial MT"/>
              <a:cs typeface="Arial MT"/>
            </a:endParaRPr>
          </a:p>
          <a:p>
            <a:pPr marL="469900" marR="242570">
              <a:lnSpc>
                <a:spcPts val="1639"/>
              </a:lnSpc>
              <a:spcBef>
                <a:spcPts val="70"/>
              </a:spcBef>
            </a:pPr>
            <a:r>
              <a:rPr dirty="0" sz="1400">
                <a:latin typeface="Arial MT"/>
                <a:cs typeface="Arial MT"/>
              </a:rPr>
              <a:t>cambiar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un</a:t>
            </a:r>
            <a:r>
              <a:rPr dirty="0" sz="1400" spc="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proceso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diferente),</a:t>
            </a:r>
            <a:r>
              <a:rPr dirty="0" sz="1400" spc="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efectivamente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</a:t>
            </a:r>
            <a:r>
              <a:rPr dirty="0" sz="1400" spc="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está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cambiando</a:t>
            </a:r>
            <a:r>
              <a:rPr dirty="0" sz="1400" spc="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el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espacio</a:t>
            </a:r>
            <a:r>
              <a:rPr dirty="0" sz="1400" spc="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direcciones </a:t>
            </a:r>
            <a:r>
              <a:rPr dirty="0" sz="1400">
                <a:latin typeface="Arial MT"/>
                <a:cs typeface="Arial MT"/>
              </a:rPr>
              <a:t>virtual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activo,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ya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que</a:t>
            </a:r>
            <a:r>
              <a:rPr dirty="0" sz="1400" spc="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está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apuntando</a:t>
            </a:r>
            <a:r>
              <a:rPr dirty="0" sz="1400" spc="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una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tabla</a:t>
            </a:r>
            <a:r>
              <a:rPr dirty="0" sz="1400" spc="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directorios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páginas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diferente.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5262" y="1510987"/>
            <a:ext cx="4784524" cy="64702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21444" y="2400505"/>
            <a:ext cx="8079740" cy="236601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343535" marR="55880" indent="-331470">
              <a:lnSpc>
                <a:spcPts val="1670"/>
              </a:lnSpc>
              <a:spcBef>
                <a:spcPts val="225"/>
              </a:spcBef>
              <a:buClr>
                <a:srgbClr val="000000"/>
              </a:buClr>
              <a:buSzPct val="89655"/>
              <a:buFont typeface="Arial MT"/>
              <a:buChar char="●"/>
              <a:tabLst>
                <a:tab pos="343535" algn="l"/>
              </a:tabLst>
            </a:pPr>
            <a:r>
              <a:rPr dirty="0" sz="1450" spc="-70" b="1">
                <a:solidFill>
                  <a:srgbClr val="595959"/>
                </a:solidFill>
                <a:latin typeface="Tahoma"/>
                <a:cs typeface="Tahoma"/>
              </a:rPr>
              <a:t>Bits</a:t>
            </a:r>
            <a:r>
              <a:rPr dirty="0" sz="145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9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65" b="1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45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9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80" b="1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5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0" b="1">
                <a:solidFill>
                  <a:srgbClr val="595959"/>
                </a:solidFill>
                <a:latin typeface="Tahoma"/>
                <a:cs typeface="Tahoma"/>
              </a:rPr>
              <a:t>Base</a:t>
            </a:r>
            <a:r>
              <a:rPr dirty="0" sz="145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9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80" b="1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50" spc="-114" b="1">
                <a:solidFill>
                  <a:srgbClr val="595959"/>
                </a:solidFill>
                <a:latin typeface="Tahoma"/>
                <a:cs typeface="Tahoma"/>
              </a:rPr>
              <a:t> Tabla</a:t>
            </a:r>
            <a:r>
              <a:rPr dirty="0" sz="145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9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65" b="1">
                <a:solidFill>
                  <a:srgbClr val="595959"/>
                </a:solidFill>
                <a:latin typeface="Tahoma"/>
                <a:cs typeface="Tahoma"/>
              </a:rPr>
              <a:t>Directorios</a:t>
            </a:r>
            <a:r>
              <a:rPr dirty="0" sz="145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9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5" b="1">
                <a:solidFill>
                  <a:srgbClr val="595959"/>
                </a:solidFill>
                <a:latin typeface="Tahoma"/>
                <a:cs typeface="Tahoma"/>
              </a:rPr>
              <a:t>Páginas</a:t>
            </a:r>
            <a:r>
              <a:rPr dirty="0" sz="145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20" b="1">
                <a:solidFill>
                  <a:srgbClr val="595959"/>
                </a:solidFill>
                <a:latin typeface="Tahoma"/>
                <a:cs typeface="Tahoma"/>
              </a:rPr>
              <a:t>(PDBR)</a:t>
            </a:r>
            <a:r>
              <a:rPr dirty="0" sz="1450" spc="-12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45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45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bits</a:t>
            </a:r>
            <a:r>
              <a:rPr dirty="0" sz="145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contienen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4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base</a:t>
            </a:r>
            <a:r>
              <a:rPr dirty="0" sz="14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14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directorios</a:t>
            </a:r>
            <a:r>
              <a:rPr dirty="0" sz="14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35">
                <a:solidFill>
                  <a:srgbClr val="595959"/>
                </a:solidFill>
                <a:latin typeface="Tahoma"/>
                <a:cs typeface="Tahoma"/>
              </a:rPr>
              <a:t>páginas.</a:t>
            </a:r>
            <a:r>
              <a:rPr dirty="0" sz="14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4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sistemas</a:t>
            </a:r>
            <a:r>
              <a:rPr dirty="0" sz="14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x86</a:t>
            </a:r>
            <a:r>
              <a:rPr dirty="0" sz="14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sin</a:t>
            </a:r>
            <a:r>
              <a:rPr dirty="0" sz="14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PAE,</a:t>
            </a:r>
            <a:r>
              <a:rPr dirty="0" sz="14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4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bits</a:t>
            </a:r>
            <a:r>
              <a:rPr dirty="0" sz="14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31-12</a:t>
            </a:r>
            <a:r>
              <a:rPr dirty="0" sz="145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450" spc="65">
                <a:solidFill>
                  <a:srgbClr val="595959"/>
                </a:solidFill>
                <a:latin typeface="Tahoma"/>
                <a:cs typeface="Tahoma"/>
              </a:rPr>
              <a:t>CR3</a:t>
            </a:r>
            <a:r>
              <a:rPr dirty="0" sz="145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apuntan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3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base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5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directorios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20">
                <a:solidFill>
                  <a:srgbClr val="595959"/>
                </a:solidFill>
                <a:latin typeface="Tahoma"/>
                <a:cs typeface="Tahoma"/>
              </a:rPr>
              <a:t>páginas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45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bits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11-0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ignorados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25">
                <a:solidFill>
                  <a:srgbClr val="595959"/>
                </a:solidFill>
                <a:latin typeface="Tahoma"/>
                <a:cs typeface="Tahoma"/>
              </a:rPr>
              <a:t>(y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generalmente</a:t>
            </a:r>
            <a:r>
              <a:rPr dirty="0" sz="145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establecen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25">
                <a:solidFill>
                  <a:srgbClr val="595959"/>
                </a:solidFill>
                <a:latin typeface="Tahoma"/>
                <a:cs typeface="Tahoma"/>
              </a:rPr>
              <a:t>0),</a:t>
            </a:r>
            <a:endParaRPr sz="1450">
              <a:latin typeface="Tahoma"/>
              <a:cs typeface="Tahoma"/>
            </a:endParaRPr>
          </a:p>
          <a:p>
            <a:pPr marL="343535" indent="-330835">
              <a:lnSpc>
                <a:spcPts val="1580"/>
              </a:lnSpc>
              <a:buClr>
                <a:srgbClr val="000000"/>
              </a:buClr>
              <a:buSzPct val="89655"/>
              <a:buFont typeface="Arial MT"/>
              <a:buChar char="●"/>
              <a:tabLst>
                <a:tab pos="343535" algn="l"/>
              </a:tabLst>
            </a:pPr>
            <a:r>
              <a:rPr dirty="0" sz="1450" spc="-20" b="1">
                <a:solidFill>
                  <a:srgbClr val="595959"/>
                </a:solidFill>
                <a:latin typeface="Tahoma"/>
                <a:cs typeface="Tahoma"/>
              </a:rPr>
              <a:t>PCD</a:t>
            </a:r>
            <a:r>
              <a:rPr dirty="0" sz="145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30" b="1">
                <a:solidFill>
                  <a:srgbClr val="595959"/>
                </a:solidFill>
                <a:latin typeface="Tahoma"/>
                <a:cs typeface="Tahoma"/>
              </a:rPr>
              <a:t>(Page-</a:t>
            </a:r>
            <a:r>
              <a:rPr dirty="0" sz="1450" spc="-100" b="1">
                <a:solidFill>
                  <a:srgbClr val="595959"/>
                </a:solidFill>
                <a:latin typeface="Tahoma"/>
                <a:cs typeface="Tahoma"/>
              </a:rPr>
              <a:t>Level</a:t>
            </a:r>
            <a:r>
              <a:rPr dirty="0" sz="145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80" b="1">
                <a:solidFill>
                  <a:srgbClr val="595959"/>
                </a:solidFill>
                <a:latin typeface="Tahoma"/>
                <a:cs typeface="Tahoma"/>
              </a:rPr>
              <a:t>Cache</a:t>
            </a:r>
            <a:r>
              <a:rPr dirty="0" sz="145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80" b="1">
                <a:solidFill>
                  <a:srgbClr val="595959"/>
                </a:solidFill>
                <a:latin typeface="Tahoma"/>
                <a:cs typeface="Tahoma"/>
              </a:rPr>
              <a:t>Disable,</a:t>
            </a:r>
            <a:r>
              <a:rPr dirty="0" sz="145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55" b="1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145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60" b="1">
                <a:solidFill>
                  <a:srgbClr val="595959"/>
                </a:solidFill>
                <a:latin typeface="Tahoma"/>
                <a:cs typeface="Tahoma"/>
              </a:rPr>
              <a:t>4)</a:t>
            </a:r>
            <a:r>
              <a:rPr dirty="0" sz="1450" spc="-16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45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establece,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paginación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35">
                <a:solidFill>
                  <a:srgbClr val="595959"/>
                </a:solidFill>
                <a:latin typeface="Tahoma"/>
                <a:cs typeface="Tahoma"/>
              </a:rPr>
              <a:t>cachea.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Sin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embargo,</a:t>
            </a:r>
            <a:endParaRPr sz="1450">
              <a:latin typeface="Tahoma"/>
              <a:cs typeface="Tahoma"/>
            </a:endParaRPr>
          </a:p>
          <a:p>
            <a:pPr marL="343535" marR="158750">
              <a:lnSpc>
                <a:spcPts val="1670"/>
              </a:lnSpc>
              <a:spcBef>
                <a:spcPts val="80"/>
              </a:spcBef>
            </a:pP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45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145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45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3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45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menudo</a:t>
            </a:r>
            <a:r>
              <a:rPr dirty="0" sz="145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ignorado,</a:t>
            </a:r>
            <a:r>
              <a:rPr dirty="0" sz="145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45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45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características</a:t>
            </a:r>
            <a:r>
              <a:rPr dirty="0" sz="145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cacheo</a:t>
            </a:r>
            <a:r>
              <a:rPr dirty="0" sz="145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determinadas</a:t>
            </a:r>
            <a:r>
              <a:rPr dirty="0" sz="145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45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45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entradas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individuales</a:t>
            </a:r>
            <a:r>
              <a:rPr dirty="0" sz="145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5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145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páginas.</a:t>
            </a:r>
            <a:endParaRPr sz="1450">
              <a:latin typeface="Tahoma"/>
              <a:cs typeface="Tahoma"/>
            </a:endParaRPr>
          </a:p>
          <a:p>
            <a:pPr marL="343535" indent="-330835">
              <a:lnSpc>
                <a:spcPts val="1585"/>
              </a:lnSpc>
              <a:buClr>
                <a:srgbClr val="000000"/>
              </a:buClr>
              <a:buSzPct val="89655"/>
              <a:buFont typeface="Arial MT"/>
              <a:buChar char="●"/>
              <a:tabLst>
                <a:tab pos="343535" algn="l"/>
              </a:tabLst>
            </a:pPr>
            <a:r>
              <a:rPr dirty="0" sz="1450" spc="-20" b="1">
                <a:solidFill>
                  <a:srgbClr val="595959"/>
                </a:solidFill>
                <a:latin typeface="Tahoma"/>
                <a:cs typeface="Tahoma"/>
              </a:rPr>
              <a:t>PWT</a:t>
            </a:r>
            <a:r>
              <a:rPr dirty="0" sz="1450" spc="-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30" b="1">
                <a:solidFill>
                  <a:srgbClr val="595959"/>
                </a:solidFill>
                <a:latin typeface="Tahoma"/>
                <a:cs typeface="Tahoma"/>
              </a:rPr>
              <a:t>(Page-</a:t>
            </a:r>
            <a:r>
              <a:rPr dirty="0" sz="1450" spc="-100" b="1">
                <a:solidFill>
                  <a:srgbClr val="595959"/>
                </a:solidFill>
                <a:latin typeface="Tahoma"/>
                <a:cs typeface="Tahoma"/>
              </a:rPr>
              <a:t>Level</a:t>
            </a:r>
            <a:r>
              <a:rPr dirty="0" sz="1450" spc="-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75" b="1">
                <a:solidFill>
                  <a:srgbClr val="595959"/>
                </a:solidFill>
                <a:latin typeface="Tahoma"/>
                <a:cs typeface="Tahoma"/>
              </a:rPr>
              <a:t>Write-</a:t>
            </a:r>
            <a:r>
              <a:rPr dirty="0" sz="1450" spc="-95" b="1">
                <a:solidFill>
                  <a:srgbClr val="595959"/>
                </a:solidFill>
                <a:latin typeface="Tahoma"/>
                <a:cs typeface="Tahoma"/>
              </a:rPr>
              <a:t>Through,</a:t>
            </a:r>
            <a:r>
              <a:rPr dirty="0" sz="1450" spc="-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55" b="1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1450" spc="-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55" b="1">
                <a:solidFill>
                  <a:srgbClr val="595959"/>
                </a:solidFill>
                <a:latin typeface="Tahoma"/>
                <a:cs typeface="Tahoma"/>
              </a:rPr>
              <a:t>3):</a:t>
            </a:r>
            <a:r>
              <a:rPr dirty="0" sz="1450" spc="-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Controla</a:t>
            </a:r>
            <a:r>
              <a:rPr dirty="0" sz="145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4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características</a:t>
            </a:r>
            <a:r>
              <a:rPr dirty="0" sz="145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caching</a:t>
            </a:r>
            <a:r>
              <a:rPr dirty="0" sz="145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45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45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tablas</a:t>
            </a:r>
            <a:endParaRPr sz="1450">
              <a:latin typeface="Tahoma"/>
              <a:cs typeface="Tahoma"/>
            </a:endParaRPr>
          </a:p>
          <a:p>
            <a:pPr marL="343535" marR="5080">
              <a:lnSpc>
                <a:spcPts val="1670"/>
              </a:lnSpc>
              <a:spcBef>
                <a:spcPts val="75"/>
              </a:spcBef>
            </a:pP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35">
                <a:solidFill>
                  <a:srgbClr val="595959"/>
                </a:solidFill>
                <a:latin typeface="Tahoma"/>
                <a:cs typeface="Tahoma"/>
              </a:rPr>
              <a:t>páginas.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establece,</a:t>
            </a:r>
            <a:r>
              <a:rPr dirty="0" sz="145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política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cacheo</a:t>
            </a:r>
            <a:r>
              <a:rPr dirty="0" sz="145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Write-</a:t>
            </a:r>
            <a:r>
              <a:rPr dirty="0" sz="1450" spc="-25">
                <a:solidFill>
                  <a:srgbClr val="595959"/>
                </a:solidFill>
                <a:latin typeface="Tahoma"/>
                <a:cs typeface="Tahoma"/>
              </a:rPr>
              <a:t>Through;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borra,</a:t>
            </a:r>
            <a:r>
              <a:rPr dirty="0" sz="145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45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utiliza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Write-Back.</a:t>
            </a:r>
            <a:r>
              <a:rPr dirty="0" sz="145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4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políticas</a:t>
            </a:r>
            <a:r>
              <a:rPr dirty="0" sz="145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caché</a:t>
            </a:r>
            <a:r>
              <a:rPr dirty="0" sz="145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utilizadas</a:t>
            </a:r>
            <a:r>
              <a:rPr dirty="0" sz="14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4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sistemas</a:t>
            </a:r>
            <a:r>
              <a:rPr dirty="0" sz="145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informáticos,</a:t>
            </a:r>
            <a:r>
              <a:rPr dirty="0" sz="145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especialmente</a:t>
            </a:r>
            <a:r>
              <a:rPr dirty="0" sz="145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25">
                <a:solidFill>
                  <a:srgbClr val="595959"/>
                </a:solidFill>
                <a:latin typeface="Tahoma"/>
                <a:cs typeface="Tahoma"/>
              </a:rPr>
              <a:t>en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relación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caché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105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45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20">
                <a:solidFill>
                  <a:srgbClr val="595959"/>
                </a:solidFill>
                <a:latin typeface="Tahoma"/>
                <a:cs typeface="Tahoma"/>
              </a:rPr>
              <a:t>algunas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veces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sistemas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almacenamiento.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748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110"/>
              <a:t> </a:t>
            </a:r>
            <a:r>
              <a:rPr dirty="0" spc="100"/>
              <a:t>Paginada</a:t>
            </a:r>
            <a:r>
              <a:rPr dirty="0" spc="-110"/>
              <a:t> </a:t>
            </a:r>
            <a:r>
              <a:rPr dirty="0" spc="50"/>
              <a:t>en</a:t>
            </a:r>
            <a:r>
              <a:rPr dirty="0" spc="-105"/>
              <a:t> </a:t>
            </a:r>
            <a:r>
              <a:rPr dirty="0"/>
              <a:t>x86</a:t>
            </a:r>
            <a:r>
              <a:rPr dirty="0" spc="-110"/>
              <a:t> </a:t>
            </a:r>
            <a:r>
              <a:rPr dirty="0" spc="-285"/>
              <a:t>:</a:t>
            </a:r>
            <a:r>
              <a:rPr dirty="0" spc="-110"/>
              <a:t> </a:t>
            </a:r>
            <a:r>
              <a:rPr dirty="0" spc="70"/>
              <a:t>CR3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85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105"/>
              <a:t> </a:t>
            </a:r>
            <a:r>
              <a:rPr dirty="0" spc="65"/>
              <a:t>Paginada:</a:t>
            </a:r>
            <a:r>
              <a:rPr dirty="0" spc="-105"/>
              <a:t> </a:t>
            </a:r>
            <a:r>
              <a:rPr dirty="0" spc="70"/>
              <a:t>CR3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5637" y="1679699"/>
            <a:ext cx="4784524" cy="64702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28794" y="2687242"/>
            <a:ext cx="8086090" cy="193548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366395" marR="320040" indent="-354330">
              <a:lnSpc>
                <a:spcPts val="1870"/>
              </a:lnSpc>
              <a:spcBef>
                <a:spcPts val="240"/>
              </a:spcBef>
              <a:buFont typeface="Arial MT"/>
              <a:buChar char="●"/>
              <a:tabLst>
                <a:tab pos="366395" algn="l"/>
              </a:tabLst>
            </a:pPr>
            <a:r>
              <a:rPr dirty="0" sz="1600" b="1">
                <a:latin typeface="Arial"/>
                <a:cs typeface="Arial"/>
              </a:rPr>
              <a:t>Invalidación</a:t>
            </a:r>
            <a:r>
              <a:rPr dirty="0" sz="1600" spc="5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de</a:t>
            </a:r>
            <a:r>
              <a:rPr dirty="0" sz="1600" spc="5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TLB</a:t>
            </a:r>
            <a:r>
              <a:rPr dirty="0" sz="1600">
                <a:latin typeface="Arial MT"/>
                <a:cs typeface="Arial MT"/>
              </a:rPr>
              <a:t>:</a:t>
            </a:r>
            <a:r>
              <a:rPr dirty="0" sz="1600" spc="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Cada</a:t>
            </a:r>
            <a:r>
              <a:rPr dirty="0" sz="1600" spc="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vez</a:t>
            </a:r>
            <a:r>
              <a:rPr dirty="0" sz="1600" spc="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que</a:t>
            </a:r>
            <a:r>
              <a:rPr dirty="0" sz="1600" spc="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se</a:t>
            </a:r>
            <a:r>
              <a:rPr dirty="0" sz="1600" spc="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escribe</a:t>
            </a:r>
            <a:r>
              <a:rPr dirty="0" sz="1600" spc="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en</a:t>
            </a:r>
            <a:r>
              <a:rPr dirty="0" sz="1600" spc="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CR3,</a:t>
            </a:r>
            <a:r>
              <a:rPr dirty="0" sz="1600" spc="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la</a:t>
            </a:r>
            <a:r>
              <a:rPr dirty="0" sz="1600" spc="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caché</a:t>
            </a:r>
            <a:r>
              <a:rPr dirty="0" sz="1600" spc="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la</a:t>
            </a:r>
            <a:r>
              <a:rPr dirty="0" sz="1600" spc="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tabla</a:t>
            </a:r>
            <a:r>
              <a:rPr dirty="0" sz="1600" spc="5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de </a:t>
            </a:r>
            <a:r>
              <a:rPr dirty="0" sz="1600">
                <a:latin typeface="Arial MT"/>
                <a:cs typeface="Arial MT"/>
              </a:rPr>
              <a:t>búsqueda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(TLB)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se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invalida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automáticamente.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Esto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se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debe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que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la</a:t>
            </a:r>
            <a:r>
              <a:rPr dirty="0" sz="1600" spc="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TLB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podría </a:t>
            </a:r>
            <a:r>
              <a:rPr dirty="0" sz="1600">
                <a:latin typeface="Arial MT"/>
                <a:cs typeface="Arial MT"/>
              </a:rPr>
              <a:t>contener</a:t>
            </a:r>
            <a:r>
              <a:rPr dirty="0" sz="1600" spc="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entradas</a:t>
            </a:r>
            <a:r>
              <a:rPr dirty="0" sz="1600" spc="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antiguas</a:t>
            </a:r>
            <a:r>
              <a:rPr dirty="0" sz="1600" spc="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basadas</a:t>
            </a:r>
            <a:r>
              <a:rPr dirty="0" sz="1600" spc="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en</a:t>
            </a:r>
            <a:r>
              <a:rPr dirty="0" sz="1600" spc="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la</a:t>
            </a:r>
            <a:r>
              <a:rPr dirty="0" sz="1600" spc="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antigua</a:t>
            </a:r>
            <a:r>
              <a:rPr dirty="0" sz="1600" spc="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estructura</a:t>
            </a:r>
            <a:r>
              <a:rPr dirty="0" sz="1600" spc="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paginación,</a:t>
            </a:r>
            <a:r>
              <a:rPr dirty="0" sz="1600" spc="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y</a:t>
            </a:r>
            <a:r>
              <a:rPr dirty="0" sz="1600" spc="9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al </a:t>
            </a:r>
            <a:r>
              <a:rPr dirty="0" sz="1600">
                <a:latin typeface="Arial MT"/>
                <a:cs typeface="Arial MT"/>
              </a:rPr>
              <a:t>cambiar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CR3,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estas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entradas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ya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no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serían</a:t>
            </a:r>
            <a:r>
              <a:rPr dirty="0" sz="1600" spc="8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válidas.</a:t>
            </a:r>
            <a:endParaRPr sz="1600">
              <a:latin typeface="Arial MT"/>
              <a:cs typeface="Arial MT"/>
            </a:endParaRPr>
          </a:p>
          <a:p>
            <a:pPr marL="366395" indent="-353695">
              <a:lnSpc>
                <a:spcPts val="1780"/>
              </a:lnSpc>
              <a:buFont typeface="Arial MT"/>
              <a:buChar char="●"/>
              <a:tabLst>
                <a:tab pos="366395" algn="l"/>
              </a:tabLst>
            </a:pPr>
            <a:r>
              <a:rPr dirty="0" sz="1600" b="1">
                <a:latin typeface="Arial"/>
                <a:cs typeface="Arial"/>
              </a:rPr>
              <a:t>Formato</a:t>
            </a:r>
            <a:r>
              <a:rPr dirty="0" sz="1600">
                <a:latin typeface="Arial MT"/>
                <a:cs typeface="Arial MT"/>
              </a:rPr>
              <a:t>: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La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dirección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almacenada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en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CR3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debe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estar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alineada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una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página,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lo</a:t>
            </a:r>
            <a:endParaRPr sz="1600">
              <a:latin typeface="Arial MT"/>
              <a:cs typeface="Arial MT"/>
            </a:endParaRPr>
          </a:p>
          <a:p>
            <a:pPr marL="366395" marR="5080">
              <a:lnSpc>
                <a:spcPts val="1870"/>
              </a:lnSpc>
              <a:spcBef>
                <a:spcPts val="80"/>
              </a:spcBef>
            </a:pPr>
            <a:r>
              <a:rPr dirty="0" sz="1600">
                <a:latin typeface="Arial MT"/>
                <a:cs typeface="Arial MT"/>
              </a:rPr>
              <a:t>que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significa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que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los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bits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inferiores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CR3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(que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especificarían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un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desplazamiento </a:t>
            </a:r>
            <a:r>
              <a:rPr dirty="0" sz="1600">
                <a:latin typeface="Arial MT"/>
                <a:cs typeface="Arial MT"/>
              </a:rPr>
              <a:t>dentro</a:t>
            </a:r>
            <a:r>
              <a:rPr dirty="0" sz="1600" spc="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una</a:t>
            </a:r>
            <a:r>
              <a:rPr dirty="0" sz="1600" spc="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página)</a:t>
            </a:r>
            <a:r>
              <a:rPr dirty="0" sz="1600" spc="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son</a:t>
            </a:r>
            <a:r>
              <a:rPr dirty="0" sz="1600" spc="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cero</a:t>
            </a:r>
            <a:r>
              <a:rPr dirty="0" sz="1600" spc="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y</a:t>
            </a:r>
            <a:r>
              <a:rPr dirty="0" sz="1600" spc="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no</a:t>
            </a:r>
            <a:r>
              <a:rPr dirty="0" sz="1600" spc="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se</a:t>
            </a:r>
            <a:r>
              <a:rPr dirty="0" sz="1600" spc="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utilizan</a:t>
            </a:r>
            <a:r>
              <a:rPr dirty="0" sz="1600" spc="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en</a:t>
            </a:r>
            <a:r>
              <a:rPr dirty="0" sz="1600" spc="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la</a:t>
            </a:r>
            <a:r>
              <a:rPr dirty="0" sz="1600" spc="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dirección.</a:t>
            </a:r>
            <a:r>
              <a:rPr dirty="0" sz="1600" spc="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Estos</a:t>
            </a:r>
            <a:r>
              <a:rPr dirty="0" sz="1600" spc="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bits</a:t>
            </a:r>
            <a:r>
              <a:rPr dirty="0" sz="1600" spc="5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inferiores, </a:t>
            </a:r>
            <a:r>
              <a:rPr dirty="0" sz="1600">
                <a:latin typeface="Arial MT"/>
                <a:cs typeface="Arial MT"/>
              </a:rPr>
              <a:t>sin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embargo,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tienen</a:t>
            </a:r>
            <a:r>
              <a:rPr dirty="0" sz="1600" spc="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otros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usos</a:t>
            </a:r>
            <a:r>
              <a:rPr dirty="0" sz="1600" spc="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en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versiones</a:t>
            </a:r>
            <a:r>
              <a:rPr dirty="0" sz="1600" spc="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más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recientes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la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arquitectura</a:t>
            </a:r>
            <a:r>
              <a:rPr dirty="0" sz="1600" spc="8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x86.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 marR="5080" indent="457200">
              <a:lnSpc>
                <a:spcPts val="1870"/>
              </a:lnSpc>
              <a:spcBef>
                <a:spcPts val="240"/>
              </a:spcBef>
            </a:pPr>
            <a:r>
              <a:rPr dirty="0" sz="1600" b="1">
                <a:solidFill>
                  <a:srgbClr val="000000"/>
                </a:solidFill>
                <a:latin typeface="Arial"/>
                <a:cs typeface="Arial"/>
              </a:rPr>
              <a:t>Función</a:t>
            </a:r>
            <a:r>
              <a:rPr dirty="0" sz="1600" spc="8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0000"/>
                </a:solidFill>
                <a:latin typeface="Arial"/>
                <a:cs typeface="Arial"/>
              </a:rPr>
              <a:t>Principal:</a:t>
            </a:r>
            <a:r>
              <a:rPr dirty="0" sz="1600" spc="8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El</a:t>
            </a:r>
            <a:r>
              <a:rPr dirty="0" sz="1600" spc="8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registro</a:t>
            </a:r>
            <a:r>
              <a:rPr dirty="0" sz="1600" spc="8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CR0</a:t>
            </a:r>
            <a:r>
              <a:rPr dirty="0" sz="1600" spc="8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alberga</a:t>
            </a:r>
            <a:r>
              <a:rPr dirty="0" sz="1600" spc="8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varios</a:t>
            </a:r>
            <a:r>
              <a:rPr dirty="0" sz="1600" spc="8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flags</a:t>
            </a:r>
            <a:r>
              <a:rPr dirty="0" sz="1600" spc="8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que</a:t>
            </a:r>
            <a:r>
              <a:rPr dirty="0" sz="1600" spc="8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controlan</a:t>
            </a:r>
            <a:r>
              <a:rPr dirty="0" sz="1600" spc="8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cómo</a:t>
            </a:r>
            <a:r>
              <a:rPr dirty="0" sz="1600" spc="8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000000"/>
                </a:solidFill>
                <a:latin typeface="Arial MT"/>
                <a:cs typeface="Arial MT"/>
              </a:rPr>
              <a:t>opera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el</a:t>
            </a:r>
            <a:r>
              <a:rPr dirty="0" sz="1600" spc="9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procesador</a:t>
            </a:r>
            <a:r>
              <a:rPr dirty="0" sz="1600" spc="9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en</a:t>
            </a:r>
            <a:r>
              <a:rPr dirty="0" sz="1600" spc="9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varios</a:t>
            </a:r>
            <a:r>
              <a:rPr dirty="0" sz="1600" spc="9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aspectos.</a:t>
            </a:r>
            <a:r>
              <a:rPr dirty="0" sz="1600" spc="9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Es</a:t>
            </a:r>
            <a:r>
              <a:rPr dirty="0" sz="1600" spc="9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especialmente</a:t>
            </a:r>
            <a:r>
              <a:rPr dirty="0" sz="1600" spc="9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importante</a:t>
            </a:r>
            <a:r>
              <a:rPr dirty="0" sz="1600" spc="9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para</a:t>
            </a:r>
            <a:r>
              <a:rPr dirty="0" sz="1600" spc="9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habilitar</a:t>
            </a:r>
            <a:r>
              <a:rPr dirty="0" sz="1600" spc="9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 spc="-50">
                <a:solidFill>
                  <a:srgbClr val="000000"/>
                </a:solidFill>
                <a:latin typeface="Arial MT"/>
                <a:cs typeface="Arial MT"/>
              </a:rPr>
              <a:t>o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deshabilitar</a:t>
            </a:r>
            <a:r>
              <a:rPr dirty="0" sz="1600" spc="7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la</a:t>
            </a:r>
            <a:r>
              <a:rPr dirty="0" sz="1600" spc="7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paginación</a:t>
            </a:r>
            <a:r>
              <a:rPr dirty="0" sz="1600" spc="7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y</a:t>
            </a:r>
            <a:r>
              <a:rPr dirty="0" sz="1600" spc="7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el</a:t>
            </a:r>
            <a:r>
              <a:rPr dirty="0" sz="1600" spc="7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00000"/>
                </a:solidFill>
                <a:latin typeface="Arial MT"/>
                <a:cs typeface="Arial MT"/>
              </a:rPr>
              <a:t>modo</a:t>
            </a:r>
            <a:r>
              <a:rPr dirty="0" sz="1600" spc="7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000000"/>
                </a:solidFill>
                <a:latin typeface="Arial MT"/>
                <a:cs typeface="Arial MT"/>
              </a:rPr>
              <a:t>protegido.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2950" y="1671100"/>
            <a:ext cx="5181599" cy="7429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110"/>
              <a:t> </a:t>
            </a:r>
            <a:r>
              <a:rPr dirty="0" spc="100"/>
              <a:t>Paginada</a:t>
            </a:r>
            <a:r>
              <a:rPr dirty="0" spc="-110"/>
              <a:t> </a:t>
            </a:r>
            <a:r>
              <a:rPr dirty="0" spc="50"/>
              <a:t>en</a:t>
            </a:r>
            <a:r>
              <a:rPr dirty="0" spc="-105"/>
              <a:t> </a:t>
            </a:r>
            <a:r>
              <a:rPr dirty="0"/>
              <a:t>x86</a:t>
            </a:r>
            <a:r>
              <a:rPr dirty="0" spc="-110"/>
              <a:t> </a:t>
            </a:r>
            <a:r>
              <a:rPr dirty="0" spc="-285"/>
              <a:t>:</a:t>
            </a:r>
            <a:r>
              <a:rPr dirty="0" spc="-110"/>
              <a:t> </a:t>
            </a:r>
            <a:r>
              <a:rPr dirty="0" spc="110"/>
              <a:t>CR0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2600" y="2273799"/>
            <a:ext cx="8199755" cy="2532380"/>
          </a:xfrm>
          <a:prstGeom prst="rect">
            <a:avLst/>
          </a:prstGeom>
        </p:spPr>
        <p:txBody>
          <a:bodyPr wrap="square" lIns="0" tIns="157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600">
                <a:latin typeface="Arial MT"/>
                <a:cs typeface="Arial MT"/>
              </a:rPr>
              <a:t>Bits</a:t>
            </a:r>
            <a:r>
              <a:rPr dirty="0" sz="1600" spc="5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Principales:</a:t>
            </a:r>
            <a:endParaRPr sz="1600">
              <a:latin typeface="Arial MT"/>
              <a:cs typeface="Arial MT"/>
            </a:endParaRPr>
          </a:p>
          <a:p>
            <a:pPr marL="12700" marR="5080" indent="457200">
              <a:lnSpc>
                <a:spcPts val="1870"/>
              </a:lnSpc>
              <a:spcBef>
                <a:spcPts val="1250"/>
              </a:spcBef>
            </a:pPr>
            <a:r>
              <a:rPr dirty="0" sz="1600" b="1">
                <a:latin typeface="Arial"/>
                <a:cs typeface="Arial"/>
              </a:rPr>
              <a:t>PE</a:t>
            </a:r>
            <a:r>
              <a:rPr dirty="0" sz="1600" spc="7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(Bit</a:t>
            </a:r>
            <a:r>
              <a:rPr dirty="0" sz="1600" spc="7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0,</a:t>
            </a:r>
            <a:r>
              <a:rPr dirty="0" sz="1600" spc="7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Modo</a:t>
            </a:r>
            <a:r>
              <a:rPr dirty="0" sz="1600" spc="8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Protegido)</a:t>
            </a:r>
            <a:r>
              <a:rPr dirty="0" sz="1600">
                <a:latin typeface="Arial MT"/>
                <a:cs typeface="Arial MT"/>
              </a:rPr>
              <a:t>: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Cuando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este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bit</a:t>
            </a:r>
            <a:r>
              <a:rPr dirty="0" sz="1600" spc="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está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establecido,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el</a:t>
            </a:r>
            <a:r>
              <a:rPr dirty="0" sz="1600" spc="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procesador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opera </a:t>
            </a:r>
            <a:r>
              <a:rPr dirty="0" sz="1600">
                <a:latin typeface="Arial MT"/>
                <a:cs typeface="Arial MT"/>
              </a:rPr>
              <a:t>en</a:t>
            </a:r>
            <a:r>
              <a:rPr dirty="0" sz="1600" spc="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modo</a:t>
            </a:r>
            <a:r>
              <a:rPr dirty="0" sz="1600" spc="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protegido.</a:t>
            </a:r>
            <a:r>
              <a:rPr dirty="0" sz="1600" spc="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lo</a:t>
            </a:r>
            <a:r>
              <a:rPr dirty="0" sz="1600" spc="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contrario,</a:t>
            </a:r>
            <a:r>
              <a:rPr dirty="0" sz="1600" spc="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opera</a:t>
            </a:r>
            <a:r>
              <a:rPr dirty="0" sz="1600" spc="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en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modo</a:t>
            </a:r>
            <a:r>
              <a:rPr dirty="0" sz="1600" spc="6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real.</a:t>
            </a:r>
            <a:endParaRPr sz="1600">
              <a:latin typeface="Arial MT"/>
              <a:cs typeface="Arial MT"/>
            </a:endParaRPr>
          </a:p>
          <a:p>
            <a:pPr marL="12700" marR="516255" indent="457200">
              <a:lnSpc>
                <a:spcPts val="1870"/>
              </a:lnSpc>
              <a:spcBef>
                <a:spcPts val="1195"/>
              </a:spcBef>
            </a:pPr>
            <a:r>
              <a:rPr dirty="0" sz="1600" b="1">
                <a:latin typeface="Arial"/>
                <a:cs typeface="Arial"/>
              </a:rPr>
              <a:t>WP</a:t>
            </a:r>
            <a:r>
              <a:rPr dirty="0" sz="1600" spc="5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(Bit</a:t>
            </a:r>
            <a:r>
              <a:rPr dirty="0" sz="1600" spc="8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16,</a:t>
            </a:r>
            <a:r>
              <a:rPr dirty="0" sz="1600" spc="8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Protección</a:t>
            </a:r>
            <a:r>
              <a:rPr dirty="0" sz="1600" spc="8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de</a:t>
            </a:r>
            <a:r>
              <a:rPr dirty="0" sz="1600" spc="8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Escritura)</a:t>
            </a:r>
            <a:r>
              <a:rPr dirty="0" sz="1600">
                <a:latin typeface="Arial MT"/>
                <a:cs typeface="Arial MT"/>
              </a:rPr>
              <a:t>:</a:t>
            </a:r>
            <a:r>
              <a:rPr dirty="0" sz="1600" spc="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Cuando</a:t>
            </a:r>
            <a:r>
              <a:rPr dirty="0" sz="1600" spc="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está</a:t>
            </a:r>
            <a:r>
              <a:rPr dirty="0" sz="1600" spc="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establecido,</a:t>
            </a:r>
            <a:r>
              <a:rPr dirty="0" sz="1600" spc="9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determina</a:t>
            </a:r>
            <a:r>
              <a:rPr dirty="0" sz="1600" spc="8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el </a:t>
            </a:r>
            <a:r>
              <a:rPr dirty="0" sz="1600">
                <a:latin typeface="Arial MT"/>
                <a:cs typeface="Arial MT"/>
              </a:rPr>
              <a:t>comportamiento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las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páginas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solo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lectura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en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modo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supervisor.</a:t>
            </a:r>
            <a:endParaRPr sz="1600">
              <a:latin typeface="Arial MT"/>
              <a:cs typeface="Arial MT"/>
            </a:endParaRPr>
          </a:p>
          <a:p>
            <a:pPr marL="12700" marR="287655" indent="457200">
              <a:lnSpc>
                <a:spcPts val="1870"/>
              </a:lnSpc>
              <a:spcBef>
                <a:spcPts val="1195"/>
              </a:spcBef>
            </a:pPr>
            <a:r>
              <a:rPr dirty="0" sz="1600" b="1">
                <a:latin typeface="Arial"/>
                <a:cs typeface="Arial"/>
              </a:rPr>
              <a:t>PG</a:t>
            </a:r>
            <a:r>
              <a:rPr dirty="0" sz="1600" spc="7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(Bit</a:t>
            </a:r>
            <a:r>
              <a:rPr dirty="0" sz="1600" spc="7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31,</a:t>
            </a:r>
            <a:r>
              <a:rPr dirty="0" sz="1600" spc="7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Paginación)</a:t>
            </a:r>
            <a:r>
              <a:rPr dirty="0" sz="1600">
                <a:latin typeface="Arial MT"/>
                <a:cs typeface="Arial MT"/>
              </a:rPr>
              <a:t>: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Cuando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este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bit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está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establecido,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la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paginación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está </a:t>
            </a:r>
            <a:r>
              <a:rPr dirty="0" sz="1600">
                <a:latin typeface="Arial MT"/>
                <a:cs typeface="Arial MT"/>
              </a:rPr>
              <a:t>habilitada.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Si</a:t>
            </a:r>
            <a:r>
              <a:rPr dirty="0" sz="1600" spc="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está</a:t>
            </a:r>
            <a:r>
              <a:rPr dirty="0" sz="1600" spc="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desactivado,</a:t>
            </a:r>
            <a:r>
              <a:rPr dirty="0" sz="1600" spc="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el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procesador</a:t>
            </a:r>
            <a:r>
              <a:rPr dirty="0" sz="1600" spc="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usa</a:t>
            </a:r>
            <a:r>
              <a:rPr dirty="0" sz="1600" spc="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una</a:t>
            </a:r>
            <a:r>
              <a:rPr dirty="0" sz="1600" spc="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traducción</a:t>
            </a:r>
            <a:r>
              <a:rPr dirty="0" sz="1600" spc="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dirección</a:t>
            </a:r>
            <a:r>
              <a:rPr dirty="0" sz="1600" spc="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lineal</a:t>
            </a:r>
            <a:r>
              <a:rPr dirty="0" sz="1600" spc="80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a </a:t>
            </a:r>
            <a:r>
              <a:rPr dirty="0" sz="1600">
                <a:latin typeface="Arial MT"/>
                <a:cs typeface="Arial MT"/>
              </a:rPr>
              <a:t>física</a:t>
            </a:r>
            <a:r>
              <a:rPr dirty="0" sz="1600" spc="5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directa.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5350" y="1481525"/>
            <a:ext cx="5181599" cy="7429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748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110"/>
              <a:t> </a:t>
            </a:r>
            <a:r>
              <a:rPr dirty="0" spc="100"/>
              <a:t>Paginada</a:t>
            </a:r>
            <a:r>
              <a:rPr dirty="0" spc="-110"/>
              <a:t> </a:t>
            </a:r>
            <a:r>
              <a:rPr dirty="0" spc="50"/>
              <a:t>en</a:t>
            </a:r>
            <a:r>
              <a:rPr dirty="0" spc="-105"/>
              <a:t> </a:t>
            </a:r>
            <a:r>
              <a:rPr dirty="0"/>
              <a:t>x86</a:t>
            </a:r>
            <a:r>
              <a:rPr dirty="0" spc="-110"/>
              <a:t> </a:t>
            </a:r>
            <a:r>
              <a:rPr dirty="0" spc="-285"/>
              <a:t>:</a:t>
            </a:r>
            <a:r>
              <a:rPr dirty="0" spc="-110"/>
              <a:t> </a:t>
            </a:r>
            <a:r>
              <a:rPr dirty="0" spc="110"/>
              <a:t>CR0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213474" y="3213877"/>
            <a:ext cx="2710180" cy="1168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922145">
              <a:lnSpc>
                <a:spcPct val="113599"/>
              </a:lnSpc>
              <a:spcBef>
                <a:spcPts val="100"/>
              </a:spcBef>
            </a:pPr>
            <a:r>
              <a:rPr dirty="0" sz="1100" b="1">
                <a:solidFill>
                  <a:srgbClr val="1A1A1A"/>
                </a:solidFill>
                <a:latin typeface="Consolas"/>
                <a:cs typeface="Consolas"/>
              </a:rPr>
              <a:t>.p2align</a:t>
            </a:r>
            <a:r>
              <a:rPr dirty="0" sz="1100" spc="-40" b="1">
                <a:solidFill>
                  <a:srgbClr val="1A1A1A"/>
                </a:solidFill>
                <a:latin typeface="Consolas"/>
                <a:cs typeface="Consolas"/>
              </a:rPr>
              <a:t> </a:t>
            </a:r>
            <a:r>
              <a:rPr dirty="0" sz="1100" spc="-50" b="1">
                <a:solidFill>
                  <a:srgbClr val="1A1A1A"/>
                </a:solidFill>
                <a:latin typeface="Consolas"/>
                <a:cs typeface="Consolas"/>
              </a:rPr>
              <a:t>2 </a:t>
            </a:r>
            <a:r>
              <a:rPr dirty="0" sz="1100" spc="-20" b="1">
                <a:solidFill>
                  <a:srgbClr val="1A1A1A"/>
                </a:solidFill>
                <a:latin typeface="Consolas"/>
                <a:cs typeface="Consolas"/>
              </a:rPr>
              <a:t>gdt:</a:t>
            </a:r>
            <a:endParaRPr sz="1100">
              <a:latin typeface="Consolas"/>
              <a:cs typeface="Consolas"/>
            </a:endParaRPr>
          </a:p>
          <a:p>
            <a:pPr marL="165735">
              <a:lnSpc>
                <a:spcPct val="100000"/>
              </a:lnSpc>
              <a:spcBef>
                <a:spcPts val="180"/>
              </a:spcBef>
            </a:pPr>
            <a:r>
              <a:rPr dirty="0" sz="1100" spc="-10" b="1">
                <a:solidFill>
                  <a:srgbClr val="1A1A1A"/>
                </a:solidFill>
                <a:latin typeface="Consolas"/>
                <a:cs typeface="Consolas"/>
              </a:rPr>
              <a:t>SEG_NULL</a:t>
            </a:r>
            <a:endParaRPr sz="1100">
              <a:latin typeface="Consolas"/>
              <a:cs typeface="Consolas"/>
            </a:endParaRPr>
          </a:p>
          <a:p>
            <a:pPr marL="165735" marR="5080">
              <a:lnSpc>
                <a:spcPct val="113599"/>
              </a:lnSpc>
            </a:pPr>
            <a:r>
              <a:rPr dirty="0" sz="1100" b="1">
                <a:solidFill>
                  <a:srgbClr val="1A1A1A"/>
                </a:solidFill>
                <a:latin typeface="Consolas"/>
                <a:cs typeface="Consolas"/>
              </a:rPr>
              <a:t>SEG(STA_X|STA_R,</a:t>
            </a:r>
            <a:r>
              <a:rPr dirty="0" sz="1100" spc="-50" b="1">
                <a:solidFill>
                  <a:srgbClr val="1A1A1A"/>
                </a:solidFill>
                <a:latin typeface="Consolas"/>
                <a:cs typeface="Consolas"/>
              </a:rPr>
              <a:t> </a:t>
            </a:r>
            <a:r>
              <a:rPr dirty="0" sz="1100" b="1">
                <a:solidFill>
                  <a:srgbClr val="1A1A1A"/>
                </a:solidFill>
                <a:latin typeface="Consolas"/>
                <a:cs typeface="Consolas"/>
              </a:rPr>
              <a:t>0x0,</a:t>
            </a:r>
            <a:r>
              <a:rPr dirty="0" sz="1100" spc="-50" b="1">
                <a:solidFill>
                  <a:srgbClr val="1A1A1A"/>
                </a:solidFill>
                <a:latin typeface="Consolas"/>
                <a:cs typeface="Consolas"/>
              </a:rPr>
              <a:t> </a:t>
            </a:r>
            <a:r>
              <a:rPr dirty="0" sz="1100" spc="-10" b="1">
                <a:solidFill>
                  <a:srgbClr val="1A1A1A"/>
                </a:solidFill>
                <a:latin typeface="Consolas"/>
                <a:cs typeface="Consolas"/>
              </a:rPr>
              <a:t>0xffffffff) </a:t>
            </a:r>
            <a:r>
              <a:rPr dirty="0" sz="1100" b="1">
                <a:solidFill>
                  <a:srgbClr val="1A1A1A"/>
                </a:solidFill>
                <a:latin typeface="Consolas"/>
                <a:cs typeface="Consolas"/>
              </a:rPr>
              <a:t>SEG(STA_W,</a:t>
            </a:r>
            <a:r>
              <a:rPr dirty="0" sz="1100" spc="-35" b="1">
                <a:solidFill>
                  <a:srgbClr val="1A1A1A"/>
                </a:solidFill>
                <a:latin typeface="Consolas"/>
                <a:cs typeface="Consolas"/>
              </a:rPr>
              <a:t> </a:t>
            </a:r>
            <a:r>
              <a:rPr dirty="0" sz="1100" b="1">
                <a:solidFill>
                  <a:srgbClr val="1A1A1A"/>
                </a:solidFill>
                <a:latin typeface="Consolas"/>
                <a:cs typeface="Consolas"/>
              </a:rPr>
              <a:t>0x0,</a:t>
            </a:r>
            <a:r>
              <a:rPr dirty="0" sz="1100" spc="-35" b="1">
                <a:solidFill>
                  <a:srgbClr val="1A1A1A"/>
                </a:solidFill>
                <a:latin typeface="Consolas"/>
                <a:cs typeface="Consolas"/>
              </a:rPr>
              <a:t> </a:t>
            </a:r>
            <a:r>
              <a:rPr dirty="0" sz="1100" spc="-10" b="1">
                <a:solidFill>
                  <a:srgbClr val="1A1A1A"/>
                </a:solidFill>
                <a:latin typeface="Consolas"/>
                <a:cs typeface="Consolas"/>
              </a:rPr>
              <a:t>0xffffffff)</a:t>
            </a:r>
            <a:endParaRPr sz="11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100" spc="-10" b="1">
                <a:solidFill>
                  <a:srgbClr val="1A1A1A"/>
                </a:solidFill>
                <a:latin typeface="Consolas"/>
                <a:cs typeface="Consolas"/>
              </a:rPr>
              <a:t>gdtdesc: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13875" y="3236737"/>
            <a:ext cx="1866264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A1A1A"/>
                </a:solidFill>
                <a:latin typeface="Consolas"/>
                <a:cs typeface="Consolas"/>
              </a:rPr>
              <a:t>#</a:t>
            </a:r>
            <a:r>
              <a:rPr dirty="0" sz="1100" spc="-15" b="1">
                <a:solidFill>
                  <a:srgbClr val="1A1A1A"/>
                </a:solidFill>
                <a:latin typeface="Consolas"/>
                <a:cs typeface="Consolas"/>
              </a:rPr>
              <a:t> </a:t>
            </a:r>
            <a:r>
              <a:rPr dirty="0" sz="1100" b="1">
                <a:solidFill>
                  <a:srgbClr val="1A1A1A"/>
                </a:solidFill>
                <a:latin typeface="Consolas"/>
                <a:cs typeface="Consolas"/>
              </a:rPr>
              <a:t>force</a:t>
            </a:r>
            <a:r>
              <a:rPr dirty="0" sz="1100" spc="-15" b="1">
                <a:solidFill>
                  <a:srgbClr val="1A1A1A"/>
                </a:solidFill>
                <a:latin typeface="Consolas"/>
                <a:cs typeface="Consolas"/>
              </a:rPr>
              <a:t> </a:t>
            </a:r>
            <a:r>
              <a:rPr dirty="0" sz="1100" b="1">
                <a:solidFill>
                  <a:srgbClr val="1A1A1A"/>
                </a:solidFill>
                <a:latin typeface="Consolas"/>
                <a:cs typeface="Consolas"/>
              </a:rPr>
              <a:t>4</a:t>
            </a:r>
            <a:r>
              <a:rPr dirty="0" sz="1100" spc="-15" b="1">
                <a:solidFill>
                  <a:srgbClr val="1A1A1A"/>
                </a:solidFill>
                <a:latin typeface="Consolas"/>
                <a:cs typeface="Consolas"/>
              </a:rPr>
              <a:t> </a:t>
            </a:r>
            <a:r>
              <a:rPr dirty="0" sz="1100" b="1">
                <a:solidFill>
                  <a:srgbClr val="1A1A1A"/>
                </a:solidFill>
                <a:latin typeface="Consolas"/>
                <a:cs typeface="Consolas"/>
              </a:rPr>
              <a:t>byte</a:t>
            </a:r>
            <a:r>
              <a:rPr dirty="0" sz="1100" spc="-10" b="1">
                <a:solidFill>
                  <a:srgbClr val="1A1A1A"/>
                </a:solidFill>
                <a:latin typeface="Consolas"/>
                <a:cs typeface="Consolas"/>
              </a:rPr>
              <a:t> alignment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204591" y="3594877"/>
            <a:ext cx="1078865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5565" indent="214629">
              <a:lnSpc>
                <a:spcPct val="113599"/>
              </a:lnSpc>
              <a:spcBef>
                <a:spcPts val="100"/>
              </a:spcBef>
            </a:pPr>
            <a:r>
              <a:rPr dirty="0" sz="1100" b="1">
                <a:solidFill>
                  <a:srgbClr val="1A1A1A"/>
                </a:solidFill>
                <a:latin typeface="Consolas"/>
                <a:cs typeface="Consolas"/>
              </a:rPr>
              <a:t>#</a:t>
            </a:r>
            <a:r>
              <a:rPr dirty="0" sz="1100" spc="-15" b="1">
                <a:solidFill>
                  <a:srgbClr val="1A1A1A"/>
                </a:solidFill>
                <a:latin typeface="Consolas"/>
                <a:cs typeface="Consolas"/>
              </a:rPr>
              <a:t> </a:t>
            </a:r>
            <a:r>
              <a:rPr dirty="0" sz="1100" b="1">
                <a:solidFill>
                  <a:srgbClr val="1A1A1A"/>
                </a:solidFill>
                <a:latin typeface="Consolas"/>
                <a:cs typeface="Consolas"/>
              </a:rPr>
              <a:t>null</a:t>
            </a:r>
            <a:r>
              <a:rPr dirty="0" sz="1100" spc="-10" b="1">
                <a:solidFill>
                  <a:srgbClr val="1A1A1A"/>
                </a:solidFill>
                <a:latin typeface="Consolas"/>
                <a:cs typeface="Consolas"/>
              </a:rPr>
              <a:t> </a:t>
            </a:r>
            <a:r>
              <a:rPr dirty="0" sz="1100" spc="-25" b="1">
                <a:solidFill>
                  <a:srgbClr val="1A1A1A"/>
                </a:solidFill>
                <a:latin typeface="Consolas"/>
                <a:cs typeface="Consolas"/>
              </a:rPr>
              <a:t>seg </a:t>
            </a:r>
            <a:r>
              <a:rPr dirty="0" sz="1100" b="1">
                <a:solidFill>
                  <a:srgbClr val="1A1A1A"/>
                </a:solidFill>
                <a:latin typeface="Consolas"/>
                <a:cs typeface="Consolas"/>
              </a:rPr>
              <a:t>#</a:t>
            </a:r>
            <a:r>
              <a:rPr dirty="0" sz="1100" spc="-15" b="1">
                <a:solidFill>
                  <a:srgbClr val="1A1A1A"/>
                </a:solidFill>
                <a:latin typeface="Consolas"/>
                <a:cs typeface="Consolas"/>
              </a:rPr>
              <a:t> </a:t>
            </a:r>
            <a:r>
              <a:rPr dirty="0" sz="1100" b="1">
                <a:solidFill>
                  <a:srgbClr val="1A1A1A"/>
                </a:solidFill>
                <a:latin typeface="Consolas"/>
                <a:cs typeface="Consolas"/>
              </a:rPr>
              <a:t>code</a:t>
            </a:r>
            <a:r>
              <a:rPr dirty="0" sz="1100" spc="-10" b="1">
                <a:solidFill>
                  <a:srgbClr val="1A1A1A"/>
                </a:solidFill>
                <a:latin typeface="Consolas"/>
                <a:cs typeface="Consolas"/>
              </a:rPr>
              <a:t> </a:t>
            </a:r>
            <a:r>
              <a:rPr dirty="0" sz="1100" spc="-25" b="1">
                <a:solidFill>
                  <a:srgbClr val="1A1A1A"/>
                </a:solidFill>
                <a:latin typeface="Consolas"/>
                <a:cs typeface="Consolas"/>
              </a:rPr>
              <a:t>seg</a:t>
            </a:r>
            <a:endParaRPr sz="1100">
              <a:latin typeface="Consolas"/>
              <a:cs typeface="Consolas"/>
            </a:endParaRPr>
          </a:p>
          <a:p>
            <a:pPr marL="298450">
              <a:lnSpc>
                <a:spcPct val="100000"/>
              </a:lnSpc>
              <a:spcBef>
                <a:spcPts val="180"/>
              </a:spcBef>
            </a:pPr>
            <a:r>
              <a:rPr dirty="0" sz="1100" b="1">
                <a:solidFill>
                  <a:srgbClr val="1A1A1A"/>
                </a:solidFill>
                <a:latin typeface="Consolas"/>
                <a:cs typeface="Consolas"/>
              </a:rPr>
              <a:t>#</a:t>
            </a:r>
            <a:r>
              <a:rPr dirty="0" sz="1100" spc="-15" b="1">
                <a:solidFill>
                  <a:srgbClr val="1A1A1A"/>
                </a:solidFill>
                <a:latin typeface="Consolas"/>
                <a:cs typeface="Consolas"/>
              </a:rPr>
              <a:t> </a:t>
            </a:r>
            <a:r>
              <a:rPr dirty="0" sz="1100" b="1">
                <a:solidFill>
                  <a:srgbClr val="1A1A1A"/>
                </a:solidFill>
                <a:latin typeface="Consolas"/>
                <a:cs typeface="Consolas"/>
              </a:rPr>
              <a:t>data</a:t>
            </a:r>
            <a:r>
              <a:rPr dirty="0" sz="1100" spc="-10" b="1">
                <a:solidFill>
                  <a:srgbClr val="1A1A1A"/>
                </a:solidFill>
                <a:latin typeface="Consolas"/>
                <a:cs typeface="Consolas"/>
              </a:rPr>
              <a:t> </a:t>
            </a:r>
            <a:r>
              <a:rPr dirty="0" sz="1100" spc="-25" b="1">
                <a:solidFill>
                  <a:srgbClr val="1A1A1A"/>
                </a:solidFill>
                <a:latin typeface="Consolas"/>
                <a:cs typeface="Consolas"/>
              </a:rPr>
              <a:t>seg</a:t>
            </a:r>
            <a:endParaRPr sz="1100">
              <a:latin typeface="Consolas"/>
              <a:cs typeface="Consolas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3347815" y="4428385"/>
          <a:ext cx="2901315" cy="330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0225"/>
                <a:gridCol w="690244"/>
                <a:gridCol w="1457325"/>
                <a:gridCol w="146685"/>
              </a:tblGrid>
              <a:tr h="165100">
                <a:tc>
                  <a:txBody>
                    <a:bodyPr/>
                    <a:lstStyle/>
                    <a:p>
                      <a:pPr algn="ctr" marR="75565">
                        <a:lnSpc>
                          <a:spcPts val="1035"/>
                        </a:lnSpc>
                      </a:pPr>
                      <a:r>
                        <a:rPr dirty="0" sz="1100" spc="-10" b="1">
                          <a:solidFill>
                            <a:srgbClr val="1A1A1A"/>
                          </a:solidFill>
                          <a:latin typeface="Consolas"/>
                          <a:cs typeface="Consolas"/>
                        </a:rPr>
                        <a:t>.word</a:t>
                      </a:r>
                      <a:endParaRPr sz="11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1035"/>
                        </a:lnSpc>
                      </a:pPr>
                      <a:r>
                        <a:rPr dirty="0" sz="1100" spc="-20" b="1">
                          <a:solidFill>
                            <a:srgbClr val="1A1A1A"/>
                          </a:solidFill>
                          <a:latin typeface="Consolas"/>
                          <a:cs typeface="Consolas"/>
                        </a:rPr>
                        <a:t>0x17</a:t>
                      </a:r>
                      <a:endParaRPr sz="11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ts val="1035"/>
                        </a:lnSpc>
                      </a:pPr>
                      <a:r>
                        <a:rPr dirty="0" sz="1100" b="1">
                          <a:solidFill>
                            <a:srgbClr val="1A1A1A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dirty="0" sz="1100" spc="-30" b="1">
                          <a:solidFill>
                            <a:srgbClr val="1A1A1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100" b="1">
                          <a:solidFill>
                            <a:srgbClr val="1A1A1A"/>
                          </a:solidFill>
                          <a:latin typeface="Consolas"/>
                          <a:cs typeface="Consolas"/>
                        </a:rPr>
                        <a:t>sizeof(gdt)</a:t>
                      </a:r>
                      <a:r>
                        <a:rPr dirty="0" sz="1100" spc="-30" b="1">
                          <a:solidFill>
                            <a:srgbClr val="1A1A1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100" spc="-50" b="1">
                          <a:solidFill>
                            <a:srgbClr val="1A1A1A"/>
                          </a:solidFill>
                          <a:latin typeface="Consolas"/>
                          <a:cs typeface="Consolas"/>
                        </a:rPr>
                        <a:t>-</a:t>
                      </a:r>
                      <a:endParaRPr sz="11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035"/>
                        </a:lnSpc>
                      </a:pPr>
                      <a:r>
                        <a:rPr dirty="0" sz="1100" spc="-50" b="1">
                          <a:solidFill>
                            <a:srgbClr val="1A1A1A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1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165100">
                <a:tc>
                  <a:txBody>
                    <a:bodyPr/>
                    <a:lstStyle/>
                    <a:p>
                      <a:pPr algn="ctr" marR="75565">
                        <a:lnSpc>
                          <a:spcPts val="1200"/>
                        </a:lnSpc>
                      </a:pPr>
                      <a:r>
                        <a:rPr dirty="0" sz="1100" spc="-10" b="1">
                          <a:solidFill>
                            <a:srgbClr val="1A1A1A"/>
                          </a:solidFill>
                          <a:latin typeface="Consolas"/>
                          <a:cs typeface="Consolas"/>
                        </a:rPr>
                        <a:t>.long</a:t>
                      </a:r>
                      <a:endParaRPr sz="11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1200"/>
                        </a:lnSpc>
                      </a:pPr>
                      <a:r>
                        <a:rPr dirty="0" sz="1100" spc="-25" b="1">
                          <a:solidFill>
                            <a:srgbClr val="1A1A1A"/>
                          </a:solidFill>
                          <a:latin typeface="Consolas"/>
                          <a:cs typeface="Consolas"/>
                        </a:rPr>
                        <a:t>gdt</a:t>
                      </a:r>
                      <a:endParaRPr sz="11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85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105"/>
              <a:t> </a:t>
            </a:r>
            <a:r>
              <a:rPr dirty="0" spc="65"/>
              <a:t>Paginada:</a:t>
            </a:r>
            <a:r>
              <a:rPr dirty="0" spc="-105"/>
              <a:t> </a:t>
            </a:r>
            <a:r>
              <a:rPr dirty="0" spc="110"/>
              <a:t>CR0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459875" y="1308735"/>
            <a:ext cx="8120380" cy="1748789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220979">
              <a:lnSpc>
                <a:spcPts val="1750"/>
              </a:lnSpc>
              <a:spcBef>
                <a:spcPts val="235"/>
              </a:spcBef>
            </a:pPr>
            <a:r>
              <a:rPr dirty="0" sz="1500">
                <a:latin typeface="Arial MT"/>
                <a:cs typeface="Arial MT"/>
              </a:rPr>
              <a:t>Cada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uno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estos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bits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tiene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un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propósito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específico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y,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en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conjunto,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determinan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cómo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 spc="-25">
                <a:latin typeface="Arial MT"/>
                <a:cs typeface="Arial MT"/>
              </a:rPr>
              <a:t>el </a:t>
            </a:r>
            <a:r>
              <a:rPr dirty="0" sz="1500">
                <a:latin typeface="Arial MT"/>
                <a:cs typeface="Arial MT"/>
              </a:rPr>
              <a:t>procesador</a:t>
            </a:r>
            <a:r>
              <a:rPr dirty="0" sz="1500" spc="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x86</a:t>
            </a:r>
            <a:r>
              <a:rPr dirty="0" sz="1500" spc="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interactúa</a:t>
            </a:r>
            <a:r>
              <a:rPr dirty="0" sz="1500" spc="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</a:t>
            </a:r>
            <a:r>
              <a:rPr dirty="0" sz="1500" spc="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la</a:t>
            </a:r>
            <a:r>
              <a:rPr dirty="0" sz="1500" spc="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memoria,</a:t>
            </a:r>
            <a:r>
              <a:rPr dirty="0" sz="1500" spc="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cómo</a:t>
            </a:r>
            <a:r>
              <a:rPr dirty="0" sz="1500" spc="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maneja</a:t>
            </a:r>
            <a:r>
              <a:rPr dirty="0" sz="1500" spc="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las</a:t>
            </a:r>
            <a:r>
              <a:rPr dirty="0" sz="1500" spc="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excepciones</a:t>
            </a:r>
            <a:r>
              <a:rPr dirty="0" sz="1500" spc="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y</a:t>
            </a:r>
            <a:r>
              <a:rPr dirty="0" sz="1500" spc="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cómo</a:t>
            </a:r>
            <a:r>
              <a:rPr dirty="0" sz="1500" spc="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opera</a:t>
            </a:r>
            <a:r>
              <a:rPr dirty="0" sz="1500" spc="75">
                <a:latin typeface="Arial MT"/>
                <a:cs typeface="Arial MT"/>
              </a:rPr>
              <a:t> </a:t>
            </a:r>
            <a:r>
              <a:rPr dirty="0" sz="1500" spc="-25">
                <a:latin typeface="Arial MT"/>
                <a:cs typeface="Arial MT"/>
              </a:rPr>
              <a:t>en </a:t>
            </a:r>
            <a:r>
              <a:rPr dirty="0" sz="1500" spc="-10">
                <a:latin typeface="Arial MT"/>
                <a:cs typeface="Arial MT"/>
              </a:rPr>
              <a:t>general.</a:t>
            </a:r>
            <a:endParaRPr sz="1500">
              <a:latin typeface="Arial MT"/>
              <a:cs typeface="Arial MT"/>
            </a:endParaRPr>
          </a:p>
          <a:p>
            <a:pPr marL="12700" marR="5080">
              <a:lnSpc>
                <a:spcPts val="1750"/>
              </a:lnSpc>
              <a:spcBef>
                <a:spcPts val="1210"/>
              </a:spcBef>
            </a:pPr>
            <a:r>
              <a:rPr dirty="0" sz="1500">
                <a:latin typeface="Arial MT"/>
                <a:cs typeface="Arial MT"/>
              </a:rPr>
              <a:t>El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registro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CR0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es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esencial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para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inicializar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el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procesador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al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arrancar.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Por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ejemplo,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al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pasar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 spc="-25">
                <a:latin typeface="Arial MT"/>
                <a:cs typeface="Arial MT"/>
              </a:rPr>
              <a:t>de </a:t>
            </a:r>
            <a:r>
              <a:rPr dirty="0" sz="1500">
                <a:latin typeface="Arial MT"/>
                <a:cs typeface="Arial MT"/>
              </a:rPr>
              <a:t>modo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real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modo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protegido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(una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etapa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crucial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durante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el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arranque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muchos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sistemas </a:t>
            </a:r>
            <a:r>
              <a:rPr dirty="0" sz="1500">
                <a:latin typeface="Arial MT"/>
                <a:cs typeface="Arial MT"/>
              </a:rPr>
              <a:t>operativos),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el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bit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PE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CR0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se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establece.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Además,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el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bit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PG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es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fundamental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para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habilitar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 spc="-50">
                <a:latin typeface="Arial MT"/>
                <a:cs typeface="Arial MT"/>
              </a:rPr>
              <a:t>o </a:t>
            </a:r>
            <a:r>
              <a:rPr dirty="0" sz="1500">
                <a:latin typeface="Arial MT"/>
                <a:cs typeface="Arial MT"/>
              </a:rPr>
              <a:t>deshabilitar</a:t>
            </a:r>
            <a:r>
              <a:rPr dirty="0" sz="1500" spc="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la</a:t>
            </a:r>
            <a:r>
              <a:rPr dirty="0" sz="1500" spc="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paginación,</a:t>
            </a:r>
            <a:r>
              <a:rPr dirty="0" sz="1500" spc="9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una</a:t>
            </a:r>
            <a:r>
              <a:rPr dirty="0" sz="1500" spc="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característica</a:t>
            </a:r>
            <a:r>
              <a:rPr dirty="0" sz="1500" spc="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vital</a:t>
            </a:r>
            <a:r>
              <a:rPr dirty="0" sz="1500" spc="9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en</a:t>
            </a:r>
            <a:r>
              <a:rPr dirty="0" sz="1500" spc="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sistemas</a:t>
            </a:r>
            <a:r>
              <a:rPr dirty="0" sz="1500" spc="9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operativos</a:t>
            </a:r>
            <a:r>
              <a:rPr dirty="0" sz="1500" spc="8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modernos.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7725" y="540425"/>
            <a:ext cx="4335580" cy="62164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00400" y="3213877"/>
            <a:ext cx="485775" cy="97790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1100" spc="-10">
                <a:solidFill>
                  <a:srgbClr val="CCCCCC"/>
                </a:solidFill>
                <a:latin typeface="Consolas"/>
                <a:cs typeface="Consolas"/>
              </a:rPr>
              <a:t>start:</a:t>
            </a:r>
            <a:endParaRPr sz="1100">
              <a:latin typeface="Consolas"/>
              <a:cs typeface="Consolas"/>
            </a:endParaRPr>
          </a:p>
          <a:p>
            <a:pPr marL="165735" marR="5080">
              <a:lnSpc>
                <a:spcPct val="113599"/>
              </a:lnSpc>
            </a:pPr>
            <a:r>
              <a:rPr dirty="0" sz="1100" spc="-20" b="1">
                <a:solidFill>
                  <a:srgbClr val="1A1A1A"/>
                </a:solidFill>
                <a:latin typeface="Consolas"/>
                <a:cs typeface="Consolas"/>
              </a:rPr>
              <a:t>lgdt movl </a:t>
            </a:r>
            <a:r>
              <a:rPr dirty="0" sz="1100" spc="-25" b="1">
                <a:solidFill>
                  <a:srgbClr val="1A1A1A"/>
                </a:solidFill>
                <a:latin typeface="Consolas"/>
                <a:cs typeface="Consolas"/>
              </a:rPr>
              <a:t>orl </a:t>
            </a:r>
            <a:r>
              <a:rPr dirty="0" sz="1100" spc="-20" b="1">
                <a:solidFill>
                  <a:srgbClr val="1A1A1A"/>
                </a:solidFill>
                <a:latin typeface="Consolas"/>
                <a:cs typeface="Consolas"/>
              </a:rPr>
              <a:t>movl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14800" y="3404377"/>
            <a:ext cx="1252855" cy="78740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1100" spc="-10" b="1">
                <a:solidFill>
                  <a:srgbClr val="1A1A1A"/>
                </a:solidFill>
                <a:latin typeface="Consolas"/>
                <a:cs typeface="Consolas"/>
              </a:rPr>
              <a:t>gdtdesc</a:t>
            </a:r>
            <a:endParaRPr sz="11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100" b="1">
                <a:solidFill>
                  <a:srgbClr val="1A1A1A"/>
                </a:solidFill>
                <a:latin typeface="Consolas"/>
                <a:cs typeface="Consolas"/>
              </a:rPr>
              <a:t>%cr0,</a:t>
            </a:r>
            <a:r>
              <a:rPr dirty="0" sz="1100" spc="-25" b="1">
                <a:solidFill>
                  <a:srgbClr val="1A1A1A"/>
                </a:solidFill>
                <a:latin typeface="Consolas"/>
                <a:cs typeface="Consolas"/>
              </a:rPr>
              <a:t> </a:t>
            </a:r>
            <a:r>
              <a:rPr dirty="0" sz="1100" spc="-20" b="1">
                <a:solidFill>
                  <a:srgbClr val="1A1A1A"/>
                </a:solidFill>
                <a:latin typeface="Consolas"/>
                <a:cs typeface="Consolas"/>
              </a:rPr>
              <a:t>%eax</a:t>
            </a:r>
            <a:endParaRPr sz="11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100" b="1">
                <a:solidFill>
                  <a:srgbClr val="1A1A1A"/>
                </a:solidFill>
                <a:latin typeface="Consolas"/>
                <a:cs typeface="Consolas"/>
              </a:rPr>
              <a:t>$CR0_PE_ON,</a:t>
            </a:r>
            <a:r>
              <a:rPr dirty="0" sz="1100" spc="-55" b="1">
                <a:solidFill>
                  <a:srgbClr val="1A1A1A"/>
                </a:solidFill>
                <a:latin typeface="Consolas"/>
                <a:cs typeface="Consolas"/>
              </a:rPr>
              <a:t> </a:t>
            </a:r>
            <a:r>
              <a:rPr dirty="0" sz="1100" spc="-20" b="1">
                <a:solidFill>
                  <a:srgbClr val="1A1A1A"/>
                </a:solidFill>
                <a:latin typeface="Consolas"/>
                <a:cs typeface="Consolas"/>
              </a:rPr>
              <a:t>%eax</a:t>
            </a:r>
            <a:endParaRPr sz="11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100" b="1">
                <a:solidFill>
                  <a:srgbClr val="1A1A1A"/>
                </a:solidFill>
                <a:latin typeface="Consolas"/>
                <a:cs typeface="Consolas"/>
              </a:rPr>
              <a:t>%eax,</a:t>
            </a:r>
            <a:r>
              <a:rPr dirty="0" sz="1100" spc="-25" b="1">
                <a:solidFill>
                  <a:srgbClr val="1A1A1A"/>
                </a:solidFill>
                <a:latin typeface="Consolas"/>
                <a:cs typeface="Consolas"/>
              </a:rPr>
              <a:t> </a:t>
            </a:r>
            <a:r>
              <a:rPr dirty="0" sz="1100" spc="-20" b="1">
                <a:solidFill>
                  <a:srgbClr val="1A1A1A"/>
                </a:solidFill>
                <a:latin typeface="Consolas"/>
                <a:cs typeface="Consolas"/>
              </a:rPr>
              <a:t>%cr0</a:t>
            </a:r>
            <a:endParaRPr sz="11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0675" y="1434253"/>
            <a:ext cx="7345680" cy="1242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Considere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x86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virtual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paginada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dos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niveles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espacio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32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bits,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donde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tamaño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4096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bytes.</a:t>
            </a:r>
            <a:endParaRPr sz="1300">
              <a:latin typeface="Tahoma"/>
              <a:cs typeface="Tahoma"/>
            </a:endParaRPr>
          </a:p>
          <a:p>
            <a:pPr marL="12700" marR="4001770">
              <a:lnSpc>
                <a:spcPct val="191900"/>
              </a:lnSpc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realiza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traducción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0x01FBD000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300" spc="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virtual: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159949" y="3212252"/>
            <a:ext cx="48260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ourier New"/>
                <a:cs typeface="Courier New"/>
              </a:rPr>
              <a:t>0x01FBD000</a:t>
            </a:r>
            <a:r>
              <a:rPr dirty="0" sz="1400" spc="-3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=</a:t>
            </a:r>
            <a:r>
              <a:rPr dirty="0" sz="1400" spc="-25" b="1">
                <a:latin typeface="Courier New"/>
                <a:cs typeface="Courier New"/>
              </a:rPr>
              <a:t> </a:t>
            </a:r>
            <a:r>
              <a:rPr dirty="0" sz="1400" spc="-10" b="1">
                <a:solidFill>
                  <a:srgbClr val="1A1A1A"/>
                </a:solidFill>
                <a:latin typeface="Courier New"/>
                <a:cs typeface="Courier New"/>
              </a:rPr>
              <a:t>00000001111110111101000000000000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85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60"/>
              <a:t>Ejemplo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0"/>
              <a:t> </a:t>
            </a:r>
            <a:r>
              <a:rPr dirty="0" spc="45"/>
              <a:t>traducción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118873" y="1367900"/>
            <a:ext cx="48247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ourier New"/>
                <a:cs typeface="Courier New"/>
              </a:rPr>
              <a:t>0x01FBD000</a:t>
            </a:r>
            <a:r>
              <a:rPr dirty="0" sz="1400" spc="-3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=</a:t>
            </a:r>
            <a:r>
              <a:rPr dirty="0" sz="1400" spc="-25" b="1">
                <a:latin typeface="Courier New"/>
                <a:cs typeface="Courier New"/>
              </a:rPr>
              <a:t> </a:t>
            </a:r>
            <a:r>
              <a:rPr dirty="0" sz="1400" spc="-10" b="1">
                <a:solidFill>
                  <a:srgbClr val="0000FF"/>
                </a:solidFill>
                <a:latin typeface="Courier New"/>
                <a:cs typeface="Courier New"/>
              </a:rPr>
              <a:t>0000000111</a:t>
            </a:r>
            <a:r>
              <a:rPr dirty="0" sz="1400" spc="-10" b="1">
                <a:solidFill>
                  <a:srgbClr val="37761C"/>
                </a:solidFill>
                <a:latin typeface="Courier New"/>
                <a:cs typeface="Courier New"/>
              </a:rPr>
              <a:t>1110111101</a:t>
            </a:r>
            <a:r>
              <a:rPr dirty="0" sz="1400" spc="-10" b="1">
                <a:solidFill>
                  <a:srgbClr val="9900FF"/>
                </a:solidFill>
                <a:latin typeface="Courier New"/>
                <a:cs typeface="Courier New"/>
              </a:rPr>
              <a:t>000000000000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85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60"/>
              <a:t>Ejemplo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0"/>
              <a:t> </a:t>
            </a:r>
            <a:r>
              <a:rPr dirty="0" spc="45"/>
              <a:t>traducción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3611290" y="1760471"/>
            <a:ext cx="4947285" cy="3326129"/>
            <a:chOff x="3611290" y="1760471"/>
            <a:chExt cx="4947285" cy="3326129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1290" y="1760471"/>
              <a:ext cx="4947251" cy="3325865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4337525" y="3971524"/>
              <a:ext cx="267335" cy="318770"/>
            </a:xfrm>
            <a:custGeom>
              <a:avLst/>
              <a:gdLst/>
              <a:ahLst/>
              <a:cxnLst/>
              <a:rect l="l" t="t" r="r" b="b"/>
              <a:pathLst>
                <a:path w="267335" h="318770">
                  <a:moveTo>
                    <a:pt x="266999" y="318299"/>
                  </a:moveTo>
                  <a:lnTo>
                    <a:pt x="0" y="318299"/>
                  </a:lnTo>
                  <a:lnTo>
                    <a:pt x="0" y="0"/>
                  </a:lnTo>
                  <a:lnTo>
                    <a:pt x="266999" y="0"/>
                  </a:lnTo>
                  <a:lnTo>
                    <a:pt x="266999" y="318299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337525" y="3971524"/>
              <a:ext cx="267335" cy="318770"/>
            </a:xfrm>
            <a:custGeom>
              <a:avLst/>
              <a:gdLst/>
              <a:ahLst/>
              <a:cxnLst/>
              <a:rect l="l" t="t" r="r" b="b"/>
              <a:pathLst>
                <a:path w="267335" h="318770">
                  <a:moveTo>
                    <a:pt x="0" y="0"/>
                  </a:moveTo>
                  <a:lnTo>
                    <a:pt x="266999" y="0"/>
                  </a:lnTo>
                  <a:lnTo>
                    <a:pt x="266999" y="318299"/>
                  </a:lnTo>
                  <a:lnTo>
                    <a:pt x="0" y="318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509624" y="2590447"/>
            <a:ext cx="17468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600" spc="-20">
                <a:latin typeface="Arial MT"/>
                <a:cs typeface="Arial MT"/>
              </a:rPr>
              <a:t>0000000111</a:t>
            </a:r>
            <a:r>
              <a:rPr dirty="0" baseline="-31746" sz="1575" spc="-30">
                <a:latin typeface="Arial MT"/>
                <a:cs typeface="Arial MT"/>
              </a:rPr>
              <a:t>2</a:t>
            </a:r>
            <a:r>
              <a:rPr dirty="0" baseline="-31746" sz="1575" spc="157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=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7</a:t>
            </a:r>
            <a:r>
              <a:rPr dirty="0" baseline="-31746" sz="1575" spc="-37">
                <a:latin typeface="Arial MT"/>
                <a:cs typeface="Arial MT"/>
              </a:rPr>
              <a:t>10</a:t>
            </a:r>
            <a:endParaRPr baseline="-31746" sz="1575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09624" y="3150172"/>
            <a:ext cx="192722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600" spc="-50">
                <a:latin typeface="Arial MT"/>
                <a:cs typeface="Arial MT"/>
              </a:rPr>
              <a:t>1110111101</a:t>
            </a:r>
            <a:r>
              <a:rPr dirty="0" baseline="-31746" sz="1575" spc="-75">
                <a:latin typeface="Arial MT"/>
                <a:cs typeface="Arial MT"/>
              </a:rPr>
              <a:t>2</a:t>
            </a:r>
            <a:r>
              <a:rPr dirty="0" baseline="-31746" sz="1575" spc="142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=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957</a:t>
            </a:r>
            <a:r>
              <a:rPr dirty="0" baseline="-31746" sz="1575" spc="-15">
                <a:latin typeface="Arial MT"/>
                <a:cs typeface="Arial MT"/>
              </a:rPr>
              <a:t>10</a:t>
            </a:r>
            <a:endParaRPr baseline="-31746" sz="1575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09624" y="3709896"/>
            <a:ext cx="200278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 MT"/>
                <a:cs typeface="Arial MT"/>
              </a:rPr>
              <a:t>000000000000</a:t>
            </a:r>
            <a:r>
              <a:rPr dirty="0" baseline="-31746" sz="1575">
                <a:latin typeface="Arial MT"/>
                <a:cs typeface="Arial MT"/>
              </a:rPr>
              <a:t>2</a:t>
            </a:r>
            <a:r>
              <a:rPr dirty="0" baseline="-31746" sz="1575" spc="157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=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0</a:t>
            </a:r>
            <a:r>
              <a:rPr dirty="0" baseline="-31746" sz="1575" spc="-37">
                <a:latin typeface="Arial MT"/>
                <a:cs typeface="Arial MT"/>
              </a:rPr>
              <a:t>10</a:t>
            </a:r>
            <a:endParaRPr baseline="-31746" sz="1575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414129" y="4021391"/>
            <a:ext cx="114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Tahoma"/>
                <a:cs typeface="Tahoma"/>
              </a:rPr>
              <a:t>7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441174" y="3571125"/>
            <a:ext cx="450850" cy="318770"/>
          </a:xfrm>
          <a:prstGeom prst="rect">
            <a:avLst/>
          </a:prstGeom>
          <a:solidFill>
            <a:srgbClr val="E9EDEE"/>
          </a:solidFill>
          <a:ln w="9524">
            <a:solidFill>
              <a:srgbClr val="1A1A1A"/>
            </a:solidFill>
          </a:ln>
        </p:spPr>
        <p:txBody>
          <a:bodyPr wrap="square" lIns="0" tIns="6223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490"/>
              </a:spcBef>
            </a:pPr>
            <a:r>
              <a:rPr dirty="0" sz="1200" spc="-25">
                <a:latin typeface="Tahoma"/>
                <a:cs typeface="Tahoma"/>
              </a:rPr>
              <a:t>957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706487" y="2702387"/>
            <a:ext cx="276860" cy="328295"/>
            <a:chOff x="6706487" y="2702387"/>
            <a:chExt cx="276860" cy="328295"/>
          </a:xfrm>
        </p:grpSpPr>
        <p:sp>
          <p:nvSpPr>
            <p:cNvPr id="14" name="object 14" descr=""/>
            <p:cNvSpPr/>
            <p:nvPr/>
          </p:nvSpPr>
          <p:spPr>
            <a:xfrm>
              <a:off x="6711250" y="2707150"/>
              <a:ext cx="267335" cy="318770"/>
            </a:xfrm>
            <a:custGeom>
              <a:avLst/>
              <a:gdLst/>
              <a:ahLst/>
              <a:cxnLst/>
              <a:rect l="l" t="t" r="r" b="b"/>
              <a:pathLst>
                <a:path w="267334" h="318769">
                  <a:moveTo>
                    <a:pt x="266999" y="318299"/>
                  </a:moveTo>
                  <a:lnTo>
                    <a:pt x="0" y="318299"/>
                  </a:lnTo>
                  <a:lnTo>
                    <a:pt x="0" y="0"/>
                  </a:lnTo>
                  <a:lnTo>
                    <a:pt x="266999" y="0"/>
                  </a:lnTo>
                  <a:lnTo>
                    <a:pt x="266999" y="318299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711250" y="2707150"/>
              <a:ext cx="267335" cy="318770"/>
            </a:xfrm>
            <a:custGeom>
              <a:avLst/>
              <a:gdLst/>
              <a:ahLst/>
              <a:cxnLst/>
              <a:rect l="l" t="t" r="r" b="b"/>
              <a:pathLst>
                <a:path w="267334" h="318769">
                  <a:moveTo>
                    <a:pt x="0" y="0"/>
                  </a:moveTo>
                  <a:lnTo>
                    <a:pt x="266999" y="0"/>
                  </a:lnTo>
                  <a:lnTo>
                    <a:pt x="266999" y="318299"/>
                  </a:lnTo>
                  <a:lnTo>
                    <a:pt x="0" y="318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787854" y="2757016"/>
            <a:ext cx="114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Tahoma"/>
                <a:cs typeface="Tahoma"/>
              </a:rPr>
              <a:t>0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3890974" y="2063575"/>
            <a:ext cx="1160145" cy="205740"/>
          </a:xfrm>
          <a:custGeom>
            <a:avLst/>
            <a:gdLst/>
            <a:ahLst/>
            <a:cxnLst/>
            <a:rect l="l" t="t" r="r" b="b"/>
            <a:pathLst>
              <a:path w="1160145" h="205739">
                <a:moveTo>
                  <a:pt x="0" y="0"/>
                </a:moveTo>
                <a:lnTo>
                  <a:pt x="1160099" y="0"/>
                </a:lnTo>
                <a:lnTo>
                  <a:pt x="1160099" y="205199"/>
                </a:lnTo>
                <a:lnTo>
                  <a:pt x="0" y="205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1A1A1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3890974" y="2063575"/>
            <a:ext cx="1160145" cy="205740"/>
          </a:xfrm>
          <a:prstGeom prst="rect">
            <a:avLst/>
          </a:prstGeom>
          <a:solidFill>
            <a:srgbClr val="E9EDEE"/>
          </a:solidFill>
        </p:spPr>
        <p:txBody>
          <a:bodyPr wrap="square" lIns="0" tIns="1270" rIns="0" bIns="0" rtlCol="0" vert="horz">
            <a:spAutoFit/>
          </a:bodyPr>
          <a:lstStyle/>
          <a:p>
            <a:pPr marL="160655">
              <a:lnSpc>
                <a:spcPct val="100000"/>
              </a:lnSpc>
              <a:spcBef>
                <a:spcPts val="10"/>
              </a:spcBef>
            </a:pPr>
            <a:r>
              <a:rPr dirty="0" sz="1100" spc="-10" b="1">
                <a:solidFill>
                  <a:srgbClr val="0000FF"/>
                </a:solidFill>
                <a:latin typeface="Courier New"/>
                <a:cs typeface="Courier New"/>
              </a:rPr>
              <a:t>0000000111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5086274" y="2063575"/>
            <a:ext cx="1160145" cy="205740"/>
          </a:xfrm>
          <a:custGeom>
            <a:avLst/>
            <a:gdLst/>
            <a:ahLst/>
            <a:cxnLst/>
            <a:rect l="l" t="t" r="r" b="b"/>
            <a:pathLst>
              <a:path w="1160145" h="205739">
                <a:moveTo>
                  <a:pt x="0" y="0"/>
                </a:moveTo>
                <a:lnTo>
                  <a:pt x="1160099" y="0"/>
                </a:lnTo>
                <a:lnTo>
                  <a:pt x="1160099" y="205199"/>
                </a:lnTo>
                <a:lnTo>
                  <a:pt x="0" y="205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1A1A1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5086274" y="2063575"/>
            <a:ext cx="1160145" cy="205740"/>
          </a:xfrm>
          <a:prstGeom prst="rect">
            <a:avLst/>
          </a:prstGeom>
          <a:solidFill>
            <a:srgbClr val="E9EDEE"/>
          </a:solidFill>
        </p:spPr>
        <p:txBody>
          <a:bodyPr wrap="square" lIns="0" tIns="1270" rIns="0" bIns="0" rtlCol="0" vert="horz">
            <a:spAutoFit/>
          </a:bodyPr>
          <a:lstStyle/>
          <a:p>
            <a:pPr marL="160655">
              <a:lnSpc>
                <a:spcPct val="100000"/>
              </a:lnSpc>
              <a:spcBef>
                <a:spcPts val="10"/>
              </a:spcBef>
            </a:pPr>
            <a:r>
              <a:rPr dirty="0" sz="1100" spc="-10" b="1">
                <a:solidFill>
                  <a:srgbClr val="37761C"/>
                </a:solidFill>
                <a:latin typeface="Courier New"/>
                <a:cs typeface="Courier New"/>
              </a:rPr>
              <a:t>1110111101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6281575" y="2063575"/>
            <a:ext cx="1160145" cy="205740"/>
          </a:xfrm>
          <a:custGeom>
            <a:avLst/>
            <a:gdLst/>
            <a:ahLst/>
            <a:cxnLst/>
            <a:rect l="l" t="t" r="r" b="b"/>
            <a:pathLst>
              <a:path w="1160145" h="205739">
                <a:moveTo>
                  <a:pt x="0" y="0"/>
                </a:moveTo>
                <a:lnTo>
                  <a:pt x="1160099" y="0"/>
                </a:lnTo>
                <a:lnTo>
                  <a:pt x="1160099" y="205199"/>
                </a:lnTo>
                <a:lnTo>
                  <a:pt x="0" y="205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1A1A1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6281575" y="2063575"/>
            <a:ext cx="1160145" cy="205740"/>
          </a:xfrm>
          <a:prstGeom prst="rect">
            <a:avLst/>
          </a:prstGeom>
          <a:solidFill>
            <a:srgbClr val="E9EDEE"/>
          </a:solidFill>
        </p:spPr>
        <p:txBody>
          <a:bodyPr wrap="square" lIns="0" tIns="11430" rIns="0" bIns="0" rtlCol="0" vert="horz">
            <a:spAutoFit/>
          </a:bodyPr>
          <a:lstStyle/>
          <a:p>
            <a:pPr marL="122555">
              <a:lnSpc>
                <a:spcPct val="100000"/>
              </a:lnSpc>
              <a:spcBef>
                <a:spcPts val="90"/>
              </a:spcBef>
            </a:pPr>
            <a:r>
              <a:rPr dirty="0" sz="1000" spc="-10" b="1">
                <a:solidFill>
                  <a:srgbClr val="9900FF"/>
                </a:solidFill>
                <a:latin typeface="Courier New"/>
                <a:cs typeface="Courier New"/>
              </a:rPr>
              <a:t>000000000000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918774" y="4423695"/>
            <a:ext cx="4222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75" b="1">
                <a:solidFill>
                  <a:srgbClr val="1A1A1A"/>
                </a:solidFill>
                <a:latin typeface="Tahoma"/>
                <a:cs typeface="Tahoma"/>
              </a:rPr>
              <a:t>PDE[7]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055275" y="4029270"/>
            <a:ext cx="5695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70" b="1">
                <a:solidFill>
                  <a:srgbClr val="1A1A1A"/>
                </a:solidFill>
                <a:latin typeface="Tahoma"/>
                <a:cs typeface="Tahoma"/>
              </a:rPr>
              <a:t>PDE[957]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604850" y="3199420"/>
            <a:ext cx="44323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75" b="1">
                <a:solidFill>
                  <a:srgbClr val="1A1A1A"/>
                </a:solidFill>
                <a:latin typeface="Tahoma"/>
                <a:cs typeface="Tahoma"/>
              </a:rPr>
              <a:t>Byte[0]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1594" marR="139700">
              <a:lnSpc>
                <a:spcPct val="114999"/>
              </a:lnSpc>
              <a:spcBef>
                <a:spcPts val="100"/>
              </a:spcBef>
            </a:pPr>
            <a:r>
              <a:rPr dirty="0"/>
              <a:t>Considere</a:t>
            </a:r>
            <a:r>
              <a:rPr dirty="0" spc="-120"/>
              <a:t> </a:t>
            </a:r>
            <a:r>
              <a:rPr dirty="0" spc="-10"/>
              <a:t>un</a:t>
            </a:r>
            <a:r>
              <a:rPr dirty="0" spc="-120"/>
              <a:t> </a:t>
            </a:r>
            <a:r>
              <a:rPr dirty="0"/>
              <a:t>sistema</a:t>
            </a:r>
            <a:r>
              <a:rPr dirty="0" spc="-120"/>
              <a:t> </a:t>
            </a:r>
            <a:r>
              <a:rPr dirty="0"/>
              <a:t>x86</a:t>
            </a:r>
            <a:r>
              <a:rPr dirty="0" spc="-120"/>
              <a:t> </a:t>
            </a:r>
            <a:r>
              <a:rPr dirty="0"/>
              <a:t>de</a:t>
            </a:r>
            <a:r>
              <a:rPr dirty="0" spc="-120"/>
              <a:t> </a:t>
            </a:r>
            <a:r>
              <a:rPr dirty="0"/>
              <a:t>memoria</a:t>
            </a:r>
            <a:r>
              <a:rPr dirty="0" spc="-120"/>
              <a:t> </a:t>
            </a:r>
            <a:r>
              <a:rPr dirty="0"/>
              <a:t>virtual</a:t>
            </a:r>
            <a:r>
              <a:rPr dirty="0" spc="-120"/>
              <a:t> </a:t>
            </a:r>
            <a:r>
              <a:rPr dirty="0" spc="-20"/>
              <a:t>paginada</a:t>
            </a:r>
            <a:r>
              <a:rPr dirty="0" spc="-120"/>
              <a:t> </a:t>
            </a:r>
            <a:r>
              <a:rPr dirty="0"/>
              <a:t>de</a:t>
            </a:r>
            <a:r>
              <a:rPr dirty="0" spc="-120"/>
              <a:t> </a:t>
            </a:r>
            <a:r>
              <a:rPr dirty="0"/>
              <a:t>dos</a:t>
            </a:r>
            <a:r>
              <a:rPr dirty="0" spc="-120"/>
              <a:t> </a:t>
            </a:r>
            <a:r>
              <a:rPr dirty="0"/>
              <a:t>niveles</a:t>
            </a:r>
            <a:r>
              <a:rPr dirty="0" spc="-120"/>
              <a:t> </a:t>
            </a:r>
            <a:r>
              <a:rPr dirty="0"/>
              <a:t>con</a:t>
            </a:r>
            <a:r>
              <a:rPr dirty="0" spc="-120"/>
              <a:t> </a:t>
            </a:r>
            <a:r>
              <a:rPr dirty="0" spc="-10"/>
              <a:t>un</a:t>
            </a:r>
            <a:r>
              <a:rPr dirty="0" spc="-120"/>
              <a:t> </a:t>
            </a:r>
            <a:r>
              <a:rPr dirty="0"/>
              <a:t>espacio</a:t>
            </a:r>
            <a:r>
              <a:rPr dirty="0" spc="-120"/>
              <a:t> </a:t>
            </a:r>
            <a:r>
              <a:rPr dirty="0"/>
              <a:t>de</a:t>
            </a:r>
            <a:r>
              <a:rPr dirty="0" spc="-120"/>
              <a:t> </a:t>
            </a:r>
            <a:r>
              <a:rPr dirty="0"/>
              <a:t>direcciones</a:t>
            </a:r>
            <a:r>
              <a:rPr dirty="0" spc="-120"/>
              <a:t> </a:t>
            </a:r>
            <a:r>
              <a:rPr dirty="0" spc="-25"/>
              <a:t>de </a:t>
            </a:r>
            <a:r>
              <a:rPr dirty="0"/>
              <a:t>32</a:t>
            </a:r>
            <a:r>
              <a:rPr dirty="0" spc="-120"/>
              <a:t> </a:t>
            </a:r>
            <a:r>
              <a:rPr dirty="0" spc="-10"/>
              <a:t>bits,</a:t>
            </a:r>
            <a:r>
              <a:rPr dirty="0" spc="-125"/>
              <a:t> </a:t>
            </a:r>
            <a:r>
              <a:rPr dirty="0"/>
              <a:t>donde</a:t>
            </a:r>
            <a:r>
              <a:rPr dirty="0" spc="-120"/>
              <a:t> </a:t>
            </a:r>
            <a:r>
              <a:rPr dirty="0" spc="-20"/>
              <a:t>cada</a:t>
            </a:r>
            <a:r>
              <a:rPr dirty="0" spc="-120"/>
              <a:t> </a:t>
            </a:r>
            <a:r>
              <a:rPr dirty="0" spc="-20"/>
              <a:t>página</a:t>
            </a:r>
            <a:r>
              <a:rPr dirty="0" spc="-120"/>
              <a:t> </a:t>
            </a:r>
            <a:r>
              <a:rPr dirty="0"/>
              <a:t>tiene</a:t>
            </a:r>
            <a:r>
              <a:rPr dirty="0" spc="-120"/>
              <a:t> </a:t>
            </a:r>
            <a:r>
              <a:rPr dirty="0" spc="-10"/>
              <a:t>un</a:t>
            </a:r>
            <a:r>
              <a:rPr dirty="0" spc="-120"/>
              <a:t> </a:t>
            </a:r>
            <a:r>
              <a:rPr dirty="0" spc="-10"/>
              <a:t>tamaño</a:t>
            </a:r>
            <a:r>
              <a:rPr dirty="0" spc="-120"/>
              <a:t> </a:t>
            </a:r>
            <a:r>
              <a:rPr dirty="0"/>
              <a:t>de</a:t>
            </a:r>
            <a:r>
              <a:rPr dirty="0" spc="-120"/>
              <a:t> </a:t>
            </a:r>
            <a:r>
              <a:rPr dirty="0"/>
              <a:t>4096</a:t>
            </a:r>
            <a:r>
              <a:rPr dirty="0" spc="-120"/>
              <a:t> </a:t>
            </a:r>
            <a:r>
              <a:rPr dirty="0" spc="-10"/>
              <a:t>bytes.</a:t>
            </a:r>
          </a:p>
          <a:p>
            <a:pPr marL="61594" marR="439420">
              <a:lnSpc>
                <a:spcPct val="114999"/>
              </a:lnSpc>
              <a:spcBef>
                <a:spcPts val="1200"/>
              </a:spcBef>
            </a:pPr>
            <a:r>
              <a:rPr dirty="0"/>
              <a:t>Un</a:t>
            </a:r>
            <a:r>
              <a:rPr dirty="0" spc="-125"/>
              <a:t> </a:t>
            </a:r>
            <a:r>
              <a:rPr dirty="0"/>
              <a:t>entero</a:t>
            </a:r>
            <a:r>
              <a:rPr dirty="0" spc="-125"/>
              <a:t> </a:t>
            </a:r>
            <a:r>
              <a:rPr dirty="0"/>
              <a:t>ocupa</a:t>
            </a:r>
            <a:r>
              <a:rPr dirty="0" spc="-120"/>
              <a:t> </a:t>
            </a:r>
            <a:r>
              <a:rPr dirty="0"/>
              <a:t>4</a:t>
            </a:r>
            <a:r>
              <a:rPr dirty="0" spc="-125"/>
              <a:t> </a:t>
            </a:r>
            <a:r>
              <a:rPr dirty="0"/>
              <a:t>bytes</a:t>
            </a:r>
            <a:r>
              <a:rPr dirty="0" spc="-120"/>
              <a:t> </a:t>
            </a:r>
            <a:r>
              <a:rPr dirty="0"/>
              <a:t>y</a:t>
            </a:r>
            <a:r>
              <a:rPr dirty="0" spc="-125"/>
              <a:t> </a:t>
            </a:r>
            <a:r>
              <a:rPr dirty="0" spc="-20"/>
              <a:t>se</a:t>
            </a:r>
            <a:r>
              <a:rPr dirty="0" spc="-120"/>
              <a:t> </a:t>
            </a:r>
            <a:r>
              <a:rPr dirty="0"/>
              <a:t>tiene</a:t>
            </a:r>
            <a:r>
              <a:rPr dirty="0" spc="-125"/>
              <a:t> </a:t>
            </a:r>
            <a:r>
              <a:rPr dirty="0" spc="-10"/>
              <a:t>un</a:t>
            </a:r>
            <a:r>
              <a:rPr dirty="0" spc="-120"/>
              <a:t> </a:t>
            </a:r>
            <a:r>
              <a:rPr dirty="0"/>
              <a:t>array</a:t>
            </a:r>
            <a:r>
              <a:rPr dirty="0" spc="-125"/>
              <a:t> </a:t>
            </a:r>
            <a:r>
              <a:rPr dirty="0"/>
              <a:t>de</a:t>
            </a:r>
            <a:r>
              <a:rPr dirty="0" spc="-120"/>
              <a:t> </a:t>
            </a:r>
            <a:r>
              <a:rPr dirty="0"/>
              <a:t>50.000</a:t>
            </a:r>
            <a:r>
              <a:rPr dirty="0" spc="-125"/>
              <a:t> </a:t>
            </a:r>
            <a:r>
              <a:rPr dirty="0"/>
              <a:t>enteros</a:t>
            </a:r>
            <a:r>
              <a:rPr dirty="0" spc="-120"/>
              <a:t> </a:t>
            </a:r>
            <a:r>
              <a:rPr dirty="0"/>
              <a:t>que</a:t>
            </a:r>
            <a:r>
              <a:rPr dirty="0" spc="-125"/>
              <a:t> </a:t>
            </a:r>
            <a:r>
              <a:rPr dirty="0"/>
              <a:t>comienza</a:t>
            </a:r>
            <a:r>
              <a:rPr dirty="0" spc="-120"/>
              <a:t> </a:t>
            </a:r>
            <a:r>
              <a:rPr dirty="0" spc="-10"/>
              <a:t>en</a:t>
            </a:r>
            <a:r>
              <a:rPr dirty="0" spc="-125"/>
              <a:t> </a:t>
            </a:r>
            <a:r>
              <a:rPr dirty="0"/>
              <a:t>la</a:t>
            </a:r>
            <a:r>
              <a:rPr dirty="0" spc="-120"/>
              <a:t> </a:t>
            </a:r>
            <a:r>
              <a:rPr dirty="0"/>
              <a:t>dirección</a:t>
            </a:r>
            <a:r>
              <a:rPr dirty="0" spc="-125"/>
              <a:t> </a:t>
            </a:r>
            <a:r>
              <a:rPr dirty="0" spc="-10"/>
              <a:t>virtual 0x01FBD000</a:t>
            </a:r>
          </a:p>
          <a:p>
            <a:pPr marL="61594" marR="5080">
              <a:lnSpc>
                <a:spcPct val="114999"/>
              </a:lnSpc>
              <a:spcBef>
                <a:spcPts val="1200"/>
              </a:spcBef>
            </a:pPr>
            <a:r>
              <a:rPr dirty="0"/>
              <a:t>El</a:t>
            </a:r>
            <a:r>
              <a:rPr dirty="0" spc="-125"/>
              <a:t> </a:t>
            </a:r>
            <a:r>
              <a:rPr dirty="0"/>
              <a:t>arreglo</a:t>
            </a:r>
            <a:r>
              <a:rPr dirty="0" spc="-120"/>
              <a:t> </a:t>
            </a:r>
            <a:r>
              <a:rPr dirty="0" spc="-20"/>
              <a:t>se</a:t>
            </a:r>
            <a:r>
              <a:rPr dirty="0" spc="-125"/>
              <a:t> </a:t>
            </a:r>
            <a:r>
              <a:rPr dirty="0"/>
              <a:t>recorre</a:t>
            </a:r>
            <a:r>
              <a:rPr dirty="0" spc="-120"/>
              <a:t> </a:t>
            </a:r>
            <a:r>
              <a:rPr dirty="0" spc="-10"/>
              <a:t>completamente,</a:t>
            </a:r>
            <a:r>
              <a:rPr dirty="0" spc="-120"/>
              <a:t> </a:t>
            </a:r>
            <a:r>
              <a:rPr dirty="0"/>
              <a:t>accediendo</a:t>
            </a:r>
            <a:r>
              <a:rPr dirty="0" spc="-125"/>
              <a:t> </a:t>
            </a:r>
            <a:r>
              <a:rPr dirty="0" spc="-40"/>
              <a:t>a</a:t>
            </a:r>
            <a:r>
              <a:rPr dirty="0" spc="-120"/>
              <a:t> </a:t>
            </a:r>
            <a:r>
              <a:rPr dirty="0" spc="-20"/>
              <a:t>cada</a:t>
            </a:r>
            <a:r>
              <a:rPr dirty="0" spc="-120"/>
              <a:t> </a:t>
            </a:r>
            <a:r>
              <a:rPr dirty="0"/>
              <a:t>elemento</a:t>
            </a:r>
            <a:r>
              <a:rPr dirty="0" spc="-125"/>
              <a:t> </a:t>
            </a:r>
            <a:r>
              <a:rPr dirty="0" spc="-20"/>
              <a:t>una</a:t>
            </a:r>
            <a:r>
              <a:rPr dirty="0" spc="-120"/>
              <a:t> </a:t>
            </a:r>
            <a:r>
              <a:rPr dirty="0" spc="-35"/>
              <a:t>vez.</a:t>
            </a:r>
            <a:r>
              <a:rPr dirty="0" spc="-120"/>
              <a:t> </a:t>
            </a:r>
            <a:r>
              <a:rPr dirty="0"/>
              <a:t>En</a:t>
            </a:r>
            <a:r>
              <a:rPr dirty="0" spc="-125"/>
              <a:t> </a:t>
            </a:r>
            <a:r>
              <a:rPr dirty="0"/>
              <a:t>este</a:t>
            </a:r>
            <a:r>
              <a:rPr dirty="0" spc="-120"/>
              <a:t> </a:t>
            </a:r>
            <a:r>
              <a:rPr dirty="0" spc="-10"/>
              <a:t>proceso,</a:t>
            </a:r>
            <a:r>
              <a:rPr dirty="0" spc="-125"/>
              <a:t> </a:t>
            </a:r>
            <a:r>
              <a:rPr dirty="0" spc="-65"/>
              <a:t>¿a</a:t>
            </a:r>
            <a:r>
              <a:rPr dirty="0" spc="-120"/>
              <a:t> </a:t>
            </a:r>
            <a:r>
              <a:rPr dirty="0" spc="-10"/>
              <a:t>cuántos frames</a:t>
            </a:r>
            <a:r>
              <a:rPr dirty="0" spc="-130"/>
              <a:t> </a:t>
            </a:r>
            <a:r>
              <a:rPr dirty="0"/>
              <a:t>de</a:t>
            </a:r>
            <a:r>
              <a:rPr dirty="0" spc="-125"/>
              <a:t> </a:t>
            </a:r>
            <a:r>
              <a:rPr dirty="0"/>
              <a:t>memoria</a:t>
            </a:r>
            <a:r>
              <a:rPr dirty="0" spc="-125"/>
              <a:t> </a:t>
            </a:r>
            <a:r>
              <a:rPr dirty="0"/>
              <a:t>física</a:t>
            </a:r>
            <a:r>
              <a:rPr dirty="0" spc="-125"/>
              <a:t> </a:t>
            </a:r>
            <a:r>
              <a:rPr dirty="0"/>
              <a:t>distintos</a:t>
            </a:r>
            <a:r>
              <a:rPr dirty="0" spc="-125"/>
              <a:t> </a:t>
            </a:r>
            <a:r>
              <a:rPr dirty="0" spc="-40"/>
              <a:t>(no</a:t>
            </a:r>
            <a:r>
              <a:rPr dirty="0" spc="-125"/>
              <a:t> </a:t>
            </a:r>
            <a:r>
              <a:rPr dirty="0"/>
              <a:t>la</a:t>
            </a:r>
            <a:r>
              <a:rPr dirty="0" spc="-125"/>
              <a:t> </a:t>
            </a:r>
            <a:r>
              <a:rPr dirty="0"/>
              <a:t>cantidad</a:t>
            </a:r>
            <a:r>
              <a:rPr dirty="0" spc="-130"/>
              <a:t> </a:t>
            </a:r>
            <a:r>
              <a:rPr dirty="0"/>
              <a:t>total</a:t>
            </a:r>
            <a:r>
              <a:rPr dirty="0" spc="-125"/>
              <a:t> </a:t>
            </a:r>
            <a:r>
              <a:rPr dirty="0"/>
              <a:t>de</a:t>
            </a:r>
            <a:r>
              <a:rPr dirty="0" spc="-125"/>
              <a:t> </a:t>
            </a:r>
            <a:r>
              <a:rPr dirty="0" spc="-25"/>
              <a:t>accesos)</a:t>
            </a:r>
            <a:r>
              <a:rPr dirty="0" spc="-125"/>
              <a:t> </a:t>
            </a:r>
            <a:r>
              <a:rPr dirty="0"/>
              <a:t>necesita</a:t>
            </a:r>
            <a:r>
              <a:rPr dirty="0" spc="-125"/>
              <a:t> </a:t>
            </a:r>
            <a:r>
              <a:rPr dirty="0"/>
              <a:t>acceder</a:t>
            </a:r>
            <a:r>
              <a:rPr dirty="0" spc="-125"/>
              <a:t> </a:t>
            </a:r>
            <a:r>
              <a:rPr dirty="0"/>
              <a:t>el</a:t>
            </a:r>
            <a:r>
              <a:rPr dirty="0" spc="-125"/>
              <a:t> </a:t>
            </a:r>
            <a:r>
              <a:rPr dirty="0"/>
              <a:t>sistema</a:t>
            </a:r>
            <a:r>
              <a:rPr dirty="0" spc="-130"/>
              <a:t> </a:t>
            </a:r>
            <a:r>
              <a:rPr dirty="0" spc="-10"/>
              <a:t>operativo para</a:t>
            </a:r>
            <a:r>
              <a:rPr dirty="0" spc="-155"/>
              <a:t> </a:t>
            </a:r>
            <a:r>
              <a:rPr dirty="0"/>
              <a:t>conseguir</a:t>
            </a:r>
            <a:r>
              <a:rPr dirty="0" spc="-150"/>
              <a:t> </a:t>
            </a:r>
            <a:r>
              <a:rPr dirty="0" spc="-10"/>
              <a:t>esto?</a:t>
            </a:r>
          </a:p>
          <a:p>
            <a:pPr marL="61594">
              <a:lnSpc>
                <a:spcPct val="100000"/>
              </a:lnSpc>
              <a:spcBef>
                <a:spcPts val="1430"/>
              </a:spcBef>
            </a:pPr>
            <a:r>
              <a:rPr dirty="0" spc="-75" i="1">
                <a:latin typeface="Trebuchet MS"/>
                <a:cs typeface="Trebuchet MS"/>
              </a:rPr>
              <a:t>Recuerde</a:t>
            </a:r>
            <a:r>
              <a:rPr dirty="0" spc="-110" i="1">
                <a:latin typeface="Trebuchet MS"/>
                <a:cs typeface="Trebuchet MS"/>
              </a:rPr>
              <a:t> </a:t>
            </a:r>
            <a:r>
              <a:rPr dirty="0" spc="-65" i="1">
                <a:latin typeface="Trebuchet MS"/>
                <a:cs typeface="Trebuchet MS"/>
              </a:rPr>
              <a:t>contar</a:t>
            </a:r>
            <a:r>
              <a:rPr dirty="0" spc="-105" i="1">
                <a:latin typeface="Trebuchet MS"/>
                <a:cs typeface="Trebuchet MS"/>
              </a:rPr>
              <a:t> </a:t>
            </a:r>
            <a:r>
              <a:rPr dirty="0" spc="-60" i="1">
                <a:latin typeface="Trebuchet MS"/>
                <a:cs typeface="Trebuchet MS"/>
              </a:rPr>
              <a:t>las</a:t>
            </a:r>
            <a:r>
              <a:rPr dirty="0" spc="-105" i="1">
                <a:latin typeface="Trebuchet MS"/>
                <a:cs typeface="Trebuchet MS"/>
              </a:rPr>
              <a:t> </a:t>
            </a:r>
            <a:r>
              <a:rPr dirty="0" spc="-65" i="1">
                <a:latin typeface="Trebuchet MS"/>
                <a:cs typeface="Trebuchet MS"/>
              </a:rPr>
              <a:t>tablas</a:t>
            </a:r>
            <a:r>
              <a:rPr dirty="0" spc="-110" i="1">
                <a:latin typeface="Trebuchet MS"/>
                <a:cs typeface="Trebuchet MS"/>
              </a:rPr>
              <a:t> </a:t>
            </a:r>
            <a:r>
              <a:rPr dirty="0" spc="-80" i="1">
                <a:latin typeface="Trebuchet MS"/>
                <a:cs typeface="Trebuchet MS"/>
              </a:rPr>
              <a:t>de</a:t>
            </a:r>
            <a:r>
              <a:rPr dirty="0" spc="-105" i="1">
                <a:latin typeface="Trebuchet MS"/>
                <a:cs typeface="Trebuchet MS"/>
              </a:rPr>
              <a:t> </a:t>
            </a:r>
            <a:r>
              <a:rPr dirty="0" spc="-50" i="1">
                <a:latin typeface="Trebuchet MS"/>
                <a:cs typeface="Trebuchet MS"/>
              </a:rPr>
              <a:t>páginas</a:t>
            </a:r>
            <a:r>
              <a:rPr dirty="0" spc="-105" i="1">
                <a:latin typeface="Trebuchet MS"/>
                <a:cs typeface="Trebuchet MS"/>
              </a:rPr>
              <a:t> </a:t>
            </a:r>
            <a:r>
              <a:rPr dirty="0" spc="-95" i="1">
                <a:latin typeface="Trebuchet MS"/>
                <a:cs typeface="Trebuchet MS"/>
              </a:rPr>
              <a:t>intermedias,</a:t>
            </a:r>
            <a:r>
              <a:rPr dirty="0" spc="-105" i="1">
                <a:latin typeface="Trebuchet MS"/>
                <a:cs typeface="Trebuchet MS"/>
              </a:rPr>
              <a:t> </a:t>
            </a:r>
            <a:r>
              <a:rPr dirty="0" spc="-50" i="1">
                <a:latin typeface="Trebuchet MS"/>
                <a:cs typeface="Trebuchet MS"/>
              </a:rPr>
              <a:t>no</a:t>
            </a:r>
            <a:r>
              <a:rPr dirty="0" spc="-110" i="1">
                <a:latin typeface="Trebuchet MS"/>
                <a:cs typeface="Trebuchet MS"/>
              </a:rPr>
              <a:t> </a:t>
            </a:r>
            <a:r>
              <a:rPr dirty="0" spc="-70" i="1">
                <a:latin typeface="Trebuchet MS"/>
                <a:cs typeface="Trebuchet MS"/>
              </a:rPr>
              <a:t>solo</a:t>
            </a:r>
            <a:r>
              <a:rPr dirty="0" spc="-105" i="1">
                <a:latin typeface="Trebuchet MS"/>
                <a:cs typeface="Trebuchet MS"/>
              </a:rPr>
              <a:t> </a:t>
            </a:r>
            <a:r>
              <a:rPr dirty="0" spc="-60" i="1">
                <a:latin typeface="Trebuchet MS"/>
                <a:cs typeface="Trebuchet MS"/>
              </a:rPr>
              <a:t>las</a:t>
            </a:r>
            <a:r>
              <a:rPr dirty="0" spc="-105" i="1">
                <a:latin typeface="Trebuchet MS"/>
                <a:cs typeface="Trebuchet MS"/>
              </a:rPr>
              <a:t> </a:t>
            </a:r>
            <a:r>
              <a:rPr dirty="0" spc="-50" i="1">
                <a:latin typeface="Trebuchet MS"/>
                <a:cs typeface="Trebuchet MS"/>
              </a:rPr>
              <a:t>páginas</a:t>
            </a:r>
            <a:r>
              <a:rPr dirty="0" spc="-110" i="1">
                <a:latin typeface="Trebuchet MS"/>
                <a:cs typeface="Trebuchet MS"/>
              </a:rPr>
              <a:t> </a:t>
            </a:r>
            <a:r>
              <a:rPr dirty="0" spc="-80" i="1">
                <a:latin typeface="Trebuchet MS"/>
                <a:cs typeface="Trebuchet MS"/>
              </a:rPr>
              <a:t>que</a:t>
            </a:r>
            <a:r>
              <a:rPr dirty="0" spc="-105" i="1">
                <a:latin typeface="Trebuchet MS"/>
                <a:cs typeface="Trebuchet MS"/>
              </a:rPr>
              <a:t> </a:t>
            </a:r>
            <a:r>
              <a:rPr dirty="0" spc="-70" i="1">
                <a:latin typeface="Trebuchet MS"/>
                <a:cs typeface="Trebuchet MS"/>
              </a:rPr>
              <a:t>contienen</a:t>
            </a:r>
            <a:r>
              <a:rPr dirty="0" spc="-105" i="1">
                <a:latin typeface="Trebuchet MS"/>
                <a:cs typeface="Trebuchet MS"/>
              </a:rPr>
              <a:t> </a:t>
            </a:r>
            <a:r>
              <a:rPr dirty="0" spc="-70" i="1">
                <a:latin typeface="Trebuchet MS"/>
                <a:cs typeface="Trebuchet MS"/>
              </a:rPr>
              <a:t>los</a:t>
            </a:r>
            <a:r>
              <a:rPr dirty="0" spc="-105" i="1">
                <a:latin typeface="Trebuchet MS"/>
                <a:cs typeface="Trebuchet MS"/>
              </a:rPr>
              <a:t> </a:t>
            </a:r>
            <a:r>
              <a:rPr dirty="0" spc="-80" i="1">
                <a:latin typeface="Trebuchet MS"/>
                <a:cs typeface="Trebuchet MS"/>
              </a:rPr>
              <a:t>elementos</a:t>
            </a:r>
            <a:r>
              <a:rPr dirty="0" spc="-110" i="1">
                <a:latin typeface="Trebuchet MS"/>
                <a:cs typeface="Trebuchet MS"/>
              </a:rPr>
              <a:t> </a:t>
            </a:r>
            <a:r>
              <a:rPr dirty="0" spc="-95" i="1">
                <a:latin typeface="Trebuchet MS"/>
                <a:cs typeface="Trebuchet MS"/>
              </a:rPr>
              <a:t>del</a:t>
            </a:r>
            <a:r>
              <a:rPr dirty="0" spc="-105" i="1">
                <a:latin typeface="Trebuchet MS"/>
                <a:cs typeface="Trebuchet MS"/>
              </a:rPr>
              <a:t> </a:t>
            </a:r>
            <a:r>
              <a:rPr dirty="0" spc="-10" i="1">
                <a:latin typeface="Trebuchet MS"/>
                <a:cs typeface="Trebuchet MS"/>
              </a:rPr>
              <a:t>array.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85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60"/>
              <a:t>Ejemplo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0"/>
              <a:t> </a:t>
            </a:r>
            <a:r>
              <a:rPr dirty="0" spc="45"/>
              <a:t>parcial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50100" y="1506096"/>
            <a:ext cx="6329680" cy="1135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Cantidad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total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bytes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ocupa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array: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50,000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x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4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200,000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77500"/>
              </a:lnSpc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Posición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primer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byte: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0x01FBD000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(definido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enunciado)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Posición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último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byte: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0x01FBD000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+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(50000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x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4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1)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40">
                <a:solidFill>
                  <a:srgbClr val="595959"/>
                </a:solidFill>
                <a:latin typeface="Tahoma"/>
                <a:cs typeface="Tahoma"/>
              </a:rPr>
              <a:t>0x01FEDD3F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50100" y="3237360"/>
            <a:ext cx="6595109" cy="702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rango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operativo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1600" spc="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recorrer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entonces:</a:t>
            </a:r>
            <a:endParaRPr sz="1600">
              <a:latin typeface="Tahoma"/>
              <a:cs typeface="Tahoma"/>
            </a:endParaRPr>
          </a:p>
          <a:p>
            <a:pPr marL="2445385">
              <a:lnSpc>
                <a:spcPct val="100000"/>
              </a:lnSpc>
              <a:spcBef>
                <a:spcPts val="1485"/>
              </a:spcBef>
            </a:pP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[0x01FBD000,</a:t>
            </a:r>
            <a:r>
              <a:rPr dirty="0" sz="1600" spc="-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595959"/>
                </a:solidFill>
                <a:latin typeface="Tahoma"/>
                <a:cs typeface="Tahoma"/>
              </a:rPr>
              <a:t>0x01FEDD3F]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85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60"/>
              <a:t>Ejemplo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0"/>
              <a:t> </a:t>
            </a:r>
            <a:r>
              <a:rPr dirty="0" spc="45"/>
              <a:t>parcial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0675" y="1525528"/>
            <a:ext cx="5138420" cy="146939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469265" indent="-327660">
              <a:lnSpc>
                <a:spcPct val="100000"/>
              </a:lnSpc>
              <a:spcBef>
                <a:spcPts val="33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300">
                <a:solidFill>
                  <a:srgbClr val="595959"/>
                </a:solidFill>
                <a:latin typeface="Courier New"/>
                <a:cs typeface="Courier New"/>
              </a:rPr>
              <a:t>0x01FBD000</a:t>
            </a:r>
            <a:r>
              <a:rPr dirty="0" sz="1300" spc="-4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1300" spc="-4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595959"/>
                </a:solidFill>
                <a:latin typeface="Courier New"/>
                <a:cs typeface="Courier New"/>
              </a:rPr>
              <a:t>0000000111</a:t>
            </a:r>
            <a:r>
              <a:rPr dirty="0" sz="1300" spc="-4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595959"/>
                </a:solidFill>
                <a:latin typeface="Courier New"/>
                <a:cs typeface="Courier New"/>
              </a:rPr>
              <a:t>1110111101</a:t>
            </a:r>
            <a:r>
              <a:rPr dirty="0" sz="1300" spc="-3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Courier New"/>
                <a:cs typeface="Courier New"/>
              </a:rPr>
              <a:t>000000000000</a:t>
            </a:r>
            <a:endParaRPr sz="1300">
              <a:latin typeface="Courier New"/>
              <a:cs typeface="Courier New"/>
            </a:endParaRPr>
          </a:p>
          <a:p>
            <a:pPr marL="469265" indent="-327660">
              <a:lnSpc>
                <a:spcPct val="100000"/>
              </a:lnSpc>
              <a:spcBef>
                <a:spcPts val="23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300">
                <a:solidFill>
                  <a:srgbClr val="595959"/>
                </a:solidFill>
                <a:latin typeface="Courier New"/>
                <a:cs typeface="Courier New"/>
              </a:rPr>
              <a:t>0x01FEDD3F</a:t>
            </a:r>
            <a:r>
              <a:rPr dirty="0" sz="1300" spc="-4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1300" spc="-4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595959"/>
                </a:solidFill>
                <a:latin typeface="Courier New"/>
                <a:cs typeface="Courier New"/>
              </a:rPr>
              <a:t>0000000111</a:t>
            </a:r>
            <a:r>
              <a:rPr dirty="0" sz="1300" spc="-4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595959"/>
                </a:solidFill>
                <a:latin typeface="Courier New"/>
                <a:cs typeface="Courier New"/>
              </a:rPr>
              <a:t>1111101101</a:t>
            </a:r>
            <a:r>
              <a:rPr dirty="0" sz="1300" spc="-3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Courier New"/>
                <a:cs typeface="Courier New"/>
              </a:rPr>
              <a:t>110100111111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Expresados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decimal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mayor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claridad</a:t>
            </a:r>
            <a:endParaRPr sz="1300">
              <a:latin typeface="Tahoma"/>
              <a:cs typeface="Tahoma"/>
            </a:endParaRPr>
          </a:p>
          <a:p>
            <a:pPr marL="469265" indent="-327660">
              <a:lnSpc>
                <a:spcPct val="100000"/>
              </a:lnSpc>
              <a:spcBef>
                <a:spcPts val="143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300">
                <a:solidFill>
                  <a:srgbClr val="595959"/>
                </a:solidFill>
                <a:latin typeface="Courier New"/>
                <a:cs typeface="Courier New"/>
              </a:rPr>
              <a:t>0x01FBD000</a:t>
            </a:r>
            <a:r>
              <a:rPr dirty="0" sz="1300" spc="-2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1300" spc="-2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595959"/>
                </a:solidFill>
                <a:latin typeface="Courier New"/>
                <a:cs typeface="Courier New"/>
              </a:rPr>
              <a:t>[7]</a:t>
            </a:r>
            <a:r>
              <a:rPr dirty="0" sz="1300" spc="-2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595959"/>
                </a:solidFill>
                <a:latin typeface="Courier New"/>
                <a:cs typeface="Courier New"/>
              </a:rPr>
              <a:t>[957]</a:t>
            </a:r>
            <a:r>
              <a:rPr dirty="0" sz="1300" spc="-2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Courier New"/>
                <a:cs typeface="Courier New"/>
              </a:rPr>
              <a:t>[0]</a:t>
            </a:r>
            <a:endParaRPr sz="1300">
              <a:latin typeface="Courier New"/>
              <a:cs typeface="Courier New"/>
            </a:endParaRPr>
          </a:p>
          <a:p>
            <a:pPr marL="469265" indent="-327660">
              <a:lnSpc>
                <a:spcPct val="100000"/>
              </a:lnSpc>
              <a:spcBef>
                <a:spcPts val="234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300">
                <a:solidFill>
                  <a:srgbClr val="595959"/>
                </a:solidFill>
                <a:latin typeface="Courier New"/>
                <a:cs typeface="Courier New"/>
              </a:rPr>
              <a:t>0x01FEDD3F</a:t>
            </a:r>
            <a:r>
              <a:rPr dirty="0" sz="1300" spc="-2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1300" spc="-2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595959"/>
                </a:solidFill>
                <a:latin typeface="Courier New"/>
                <a:cs typeface="Courier New"/>
              </a:rPr>
              <a:t>[7]</a:t>
            </a:r>
            <a:r>
              <a:rPr dirty="0" sz="1300" spc="-2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595959"/>
                </a:solidFill>
                <a:latin typeface="Courier New"/>
                <a:cs typeface="Courier New"/>
              </a:rPr>
              <a:t>[1005]</a:t>
            </a:r>
            <a:r>
              <a:rPr dirty="0" sz="1300" spc="-2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Courier New"/>
                <a:cs typeface="Courier New"/>
              </a:rPr>
              <a:t>[3391]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85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60"/>
              <a:t>Ejemplo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0"/>
              <a:t> </a:t>
            </a:r>
            <a:r>
              <a:rPr dirty="0" spc="45"/>
              <a:t>parcial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00675" y="3528441"/>
            <a:ext cx="7529830" cy="796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primer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nivel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(el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directorio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páginas),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solo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registro,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índice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7.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Este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contiene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dirección</a:t>
            </a:r>
            <a:r>
              <a:rPr dirty="0" sz="1100" spc="-25">
                <a:latin typeface="Arial MT"/>
                <a:cs typeface="Arial MT"/>
              </a:rPr>
              <a:t> (y</a:t>
            </a:r>
            <a:r>
              <a:rPr dirty="0" sz="1100" spc="500">
                <a:latin typeface="Arial MT"/>
                <a:cs typeface="Arial MT"/>
              </a:rPr>
              <a:t>  </a:t>
            </a:r>
            <a:r>
              <a:rPr dirty="0" sz="1100">
                <a:latin typeface="Arial MT"/>
                <a:cs typeface="Arial MT"/>
              </a:rPr>
              <a:t>metadata)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b="1">
                <a:latin typeface="Arial"/>
                <a:cs typeface="Arial"/>
              </a:rPr>
              <a:t>única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tabla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de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páginas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que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será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necesaria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segundo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nivel.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Si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requirieran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más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tablas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páginas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segundo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nivel,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este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índice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cambiaría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para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algunas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direcciones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involucradas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rango.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Esto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ocurre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para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rango </a:t>
            </a:r>
            <a:r>
              <a:rPr dirty="0" sz="1100">
                <a:latin typeface="Arial MT"/>
                <a:cs typeface="Arial MT"/>
              </a:rPr>
              <a:t>propuesto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este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ejercicio.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85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60"/>
              <a:t>Ejemplo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0"/>
              <a:t> </a:t>
            </a:r>
            <a:r>
              <a:rPr dirty="0" spc="45"/>
              <a:t>parcial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9956" y="1507984"/>
            <a:ext cx="7322640" cy="222648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00675" y="4033266"/>
            <a:ext cx="7459980" cy="603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segundo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nivel,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utilizan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varios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registros,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cada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contiene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dirección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páginas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donde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están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datos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del </a:t>
            </a:r>
            <a:r>
              <a:rPr dirty="0" sz="1100" spc="-10">
                <a:latin typeface="Arial MT"/>
                <a:cs typeface="Arial MT"/>
              </a:rPr>
              <a:t>array.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Concretamente,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usan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registros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desde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957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hasta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1005,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decir,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49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registros,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implica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49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páginas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datos.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85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60"/>
              <a:t>Ejemplo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0"/>
              <a:t> </a:t>
            </a:r>
            <a:r>
              <a:rPr dirty="0" spc="45"/>
              <a:t>parcial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9956" y="1507984"/>
            <a:ext cx="7322640" cy="222648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00675" y="4033266"/>
            <a:ext cx="7492365" cy="60388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tercer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nivel,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cada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página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contiene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4096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bytes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datos.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Si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queremos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guardar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200,000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bytes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entonces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necesitamos</a:t>
            </a:r>
            <a:endParaRPr sz="1100">
              <a:latin typeface="Arial MT"/>
              <a:cs typeface="Arial MT"/>
            </a:endParaRPr>
          </a:p>
          <a:p>
            <a:pPr marL="12700" marR="83820">
              <a:lnSpc>
                <a:spcPct val="114999"/>
              </a:lnSpc>
            </a:pPr>
            <a:r>
              <a:rPr dirty="0" sz="1100">
                <a:latin typeface="Arial MT"/>
                <a:cs typeface="Arial MT"/>
              </a:rPr>
              <a:t>48.8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páginas,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decir,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necesitamos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utilizar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49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páginas.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Esto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consistente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cálculo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hicimos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antes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partir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de </a:t>
            </a:r>
            <a:r>
              <a:rPr dirty="0" sz="1100">
                <a:latin typeface="Arial MT"/>
                <a:cs typeface="Arial MT"/>
              </a:rPr>
              <a:t>las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direcciones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extremos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rango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bytes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array.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85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60"/>
              <a:t>Ejemplo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0"/>
              <a:t> </a:t>
            </a:r>
            <a:r>
              <a:rPr dirty="0" spc="45"/>
              <a:t>parcial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9956" y="1507984"/>
            <a:ext cx="7322640" cy="222648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00675" y="3672495"/>
            <a:ext cx="7169784" cy="964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40815">
              <a:lnSpc>
                <a:spcPct val="100000"/>
              </a:lnSpc>
              <a:spcBef>
                <a:spcPts val="100"/>
              </a:spcBef>
              <a:tabLst>
                <a:tab pos="4012565" algn="l"/>
                <a:tab pos="6424295" algn="l"/>
              </a:tabLst>
            </a:pP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1</a:t>
            </a:r>
            <a:r>
              <a:rPr dirty="0" sz="13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frame</a:t>
            </a:r>
            <a:r>
              <a:rPr dirty="0" sz="1300" b="1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1</a:t>
            </a:r>
            <a:r>
              <a:rPr dirty="0" sz="13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 b="1">
                <a:solidFill>
                  <a:srgbClr val="595959"/>
                </a:solidFill>
                <a:latin typeface="Tahoma"/>
                <a:cs typeface="Tahoma"/>
              </a:rPr>
              <a:t>frame</a:t>
            </a:r>
            <a:r>
              <a:rPr dirty="0" sz="1300" b="1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49</a:t>
            </a:r>
            <a:r>
              <a:rPr dirty="0" sz="13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frames</a:t>
            </a:r>
            <a:endParaRPr sz="1300">
              <a:latin typeface="Tahoma"/>
              <a:cs typeface="Tahoma"/>
            </a:endParaRPr>
          </a:p>
          <a:p>
            <a:pPr algn="just" marL="12700" marR="145415">
              <a:lnSpc>
                <a:spcPct val="114999"/>
              </a:lnSpc>
              <a:spcBef>
                <a:spcPts val="1280"/>
              </a:spcBef>
            </a:pPr>
            <a:r>
              <a:rPr dirty="0" sz="1100" b="1">
                <a:latin typeface="Arial"/>
                <a:cs typeface="Arial"/>
              </a:rPr>
              <a:t>Resultado: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1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page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directory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(por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definición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arquitectura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x86)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+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1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page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table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(justificado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anteriormente)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+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49 </a:t>
            </a:r>
            <a:r>
              <a:rPr dirty="0" sz="1100">
                <a:latin typeface="Arial MT"/>
                <a:cs typeface="Arial MT"/>
              </a:rPr>
              <a:t>páginas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datos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(justificado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anteriormente)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=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b="1">
                <a:latin typeface="Arial"/>
                <a:cs typeface="Arial"/>
              </a:rPr>
              <a:t>51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páginas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en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total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que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sistema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operativo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necesita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utilizar</a:t>
            </a:r>
            <a:r>
              <a:rPr dirty="0" sz="1100" spc="-20">
                <a:latin typeface="Arial MT"/>
                <a:cs typeface="Arial MT"/>
              </a:rPr>
              <a:t> para </a:t>
            </a:r>
            <a:r>
              <a:rPr dirty="0" sz="1100">
                <a:latin typeface="Arial MT"/>
                <a:cs typeface="Arial MT"/>
              </a:rPr>
              <a:t>guardar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acceder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este</a:t>
            </a:r>
            <a:r>
              <a:rPr dirty="0" sz="1100" spc="-10">
                <a:latin typeface="Arial MT"/>
                <a:cs typeface="Arial MT"/>
              </a:rPr>
              <a:t> array.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85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Memoria</a:t>
            </a:r>
            <a:r>
              <a:rPr dirty="0" spc="-114"/>
              <a:t> </a:t>
            </a:r>
            <a:r>
              <a:rPr dirty="0" spc="100"/>
              <a:t>Paginada</a:t>
            </a:r>
            <a:r>
              <a:rPr dirty="0" spc="-114"/>
              <a:t> </a:t>
            </a:r>
            <a:r>
              <a:rPr dirty="0" spc="-10"/>
              <a:t>extendida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5525" y="1448522"/>
            <a:ext cx="6857398" cy="3335783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488315"/>
          </a:xfrm>
          <a:custGeom>
            <a:avLst/>
            <a:gdLst/>
            <a:ahLst/>
            <a:cxnLst/>
            <a:rect l="l" t="t" r="r" b="b"/>
            <a:pathLst>
              <a:path w="9144000" h="488315">
                <a:moveTo>
                  <a:pt x="9143999" y="487799"/>
                </a:moveTo>
                <a:lnTo>
                  <a:pt x="0" y="48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487799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830391" y="1191255"/>
            <a:ext cx="746125" cy="46355"/>
            <a:chOff x="830391" y="1191255"/>
            <a:chExt cx="746125" cy="46355"/>
          </a:xfrm>
        </p:grpSpPr>
        <p:sp>
          <p:nvSpPr>
            <p:cNvPr id="4" name="object 4" descr=""/>
            <p:cNvSpPr/>
            <p:nvPr/>
          </p:nvSpPr>
          <p:spPr>
            <a:xfrm>
              <a:off x="1203295" y="1191255"/>
              <a:ext cx="373380" cy="46355"/>
            </a:xfrm>
            <a:custGeom>
              <a:avLst/>
              <a:gdLst/>
              <a:ahLst/>
              <a:cxnLst/>
              <a:rect l="l" t="t" r="r" b="b"/>
              <a:pathLst>
                <a:path w="373380" h="46355">
                  <a:moveTo>
                    <a:pt x="372859" y="45826"/>
                  </a:moveTo>
                  <a:lnTo>
                    <a:pt x="0" y="45826"/>
                  </a:lnTo>
                  <a:lnTo>
                    <a:pt x="0" y="0"/>
                  </a:lnTo>
                  <a:lnTo>
                    <a:pt x="372859" y="0"/>
                  </a:lnTo>
                  <a:lnTo>
                    <a:pt x="372859" y="45826"/>
                  </a:lnTo>
                  <a:close/>
                </a:path>
              </a:pathLst>
            </a:custGeom>
            <a:solidFill>
              <a:srgbClr val="EB5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0391" y="1191255"/>
              <a:ext cx="376555" cy="46355"/>
            </a:xfrm>
            <a:custGeom>
              <a:avLst/>
              <a:gdLst/>
              <a:ahLst/>
              <a:cxnLst/>
              <a:rect l="l" t="t" r="r" b="b"/>
              <a:pathLst>
                <a:path w="376555" h="46355">
                  <a:moveTo>
                    <a:pt x="376012" y="45826"/>
                  </a:moveTo>
                  <a:lnTo>
                    <a:pt x="0" y="45826"/>
                  </a:lnTo>
                  <a:lnTo>
                    <a:pt x="0" y="0"/>
                  </a:lnTo>
                  <a:lnTo>
                    <a:pt x="376012" y="0"/>
                  </a:lnTo>
                  <a:lnTo>
                    <a:pt x="376012" y="45826"/>
                  </a:lnTo>
                  <a:close/>
                </a:path>
              </a:pathLst>
            </a:custGeom>
            <a:solidFill>
              <a:srgbClr val="1A99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800675" y="601562"/>
            <a:ext cx="543560" cy="3822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300" spc="-25" b="1">
                <a:solidFill>
                  <a:srgbClr val="1A1A1A"/>
                </a:solidFill>
                <a:latin typeface="Trebuchet MS"/>
                <a:cs typeface="Trebuchet MS"/>
              </a:rPr>
              <a:t>x86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1625" y="332024"/>
            <a:ext cx="6189071" cy="4811474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233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/>
              <a:t>Listo</a:t>
            </a:r>
            <a:r>
              <a:rPr dirty="0" spc="-25"/>
              <a:t> </a:t>
            </a:r>
            <a:r>
              <a:rPr dirty="0" spc="114"/>
              <a:t>se</a:t>
            </a:r>
            <a:r>
              <a:rPr dirty="0" spc="-20"/>
              <a:t> </a:t>
            </a:r>
            <a:r>
              <a:rPr dirty="0" spc="-10"/>
              <a:t>termino?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549175" y="4350396"/>
            <a:ext cx="102552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Leer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Dahlin!!!</a:t>
            </a:r>
            <a:endParaRPr sz="13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2362" y="955116"/>
            <a:ext cx="3303843" cy="312279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4133" y="2016681"/>
            <a:ext cx="2971679" cy="2808844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30389" y="1191259"/>
            <a:ext cx="746125" cy="46355"/>
          </a:xfrm>
          <a:custGeom>
            <a:avLst/>
            <a:gdLst/>
            <a:ahLst/>
            <a:cxnLst/>
            <a:rect l="l" t="t" r="r" b="b"/>
            <a:pathLst>
              <a:path w="746125" h="46355">
                <a:moveTo>
                  <a:pt x="745756" y="0"/>
                </a:moveTo>
                <a:lnTo>
                  <a:pt x="376008" y="0"/>
                </a:lnTo>
                <a:lnTo>
                  <a:pt x="372897" y="0"/>
                </a:lnTo>
                <a:lnTo>
                  <a:pt x="0" y="0"/>
                </a:lnTo>
                <a:lnTo>
                  <a:pt x="0" y="45834"/>
                </a:lnTo>
                <a:lnTo>
                  <a:pt x="372897" y="45834"/>
                </a:lnTo>
                <a:lnTo>
                  <a:pt x="376008" y="45834"/>
                </a:lnTo>
                <a:lnTo>
                  <a:pt x="745756" y="45834"/>
                </a:lnTo>
                <a:lnTo>
                  <a:pt x="745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62776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</a:rPr>
              <a:t>Translation</a:t>
            </a:r>
            <a:r>
              <a:rPr dirty="0" sz="3600" spc="-114">
                <a:solidFill>
                  <a:srgbClr val="FFFFFF"/>
                </a:solidFill>
              </a:rPr>
              <a:t> </a:t>
            </a:r>
            <a:r>
              <a:rPr dirty="0" sz="3600" spc="95">
                <a:solidFill>
                  <a:srgbClr val="FFFFFF"/>
                </a:solidFill>
              </a:rPr>
              <a:t>Lookaside</a:t>
            </a:r>
            <a:r>
              <a:rPr dirty="0" sz="3600" spc="-110">
                <a:solidFill>
                  <a:srgbClr val="FFFFFF"/>
                </a:solidFill>
              </a:rPr>
              <a:t> </a:t>
            </a:r>
            <a:r>
              <a:rPr dirty="0" sz="3600" spc="-10">
                <a:solidFill>
                  <a:srgbClr val="FFFFFF"/>
                </a:solidFill>
              </a:rPr>
              <a:t>Buffer</a:t>
            </a:r>
            <a:endParaRPr sz="3600"/>
          </a:p>
        </p:txBody>
      </p:sp>
      <p:sp>
        <p:nvSpPr>
          <p:cNvPr id="5" name="object 5" descr=""/>
          <p:cNvSpPr txBox="1"/>
          <p:nvPr/>
        </p:nvSpPr>
        <p:spPr>
          <a:xfrm>
            <a:off x="913550" y="3201581"/>
            <a:ext cx="190373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FFFFFF"/>
                </a:solidFill>
                <a:latin typeface="Trebuchet MS"/>
                <a:cs typeface="Trebuchet MS"/>
              </a:rPr>
              <a:t>Conceptos</a:t>
            </a:r>
            <a:r>
              <a:rPr dirty="0" sz="18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clave: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80">
                <a:solidFill>
                  <a:srgbClr val="FFFFFF"/>
                </a:solidFill>
                <a:latin typeface="Trebuchet MS"/>
                <a:cs typeface="Trebuchet MS"/>
              </a:rPr>
              <a:t>Caches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90">
                <a:solidFill>
                  <a:srgbClr val="FFFFFF"/>
                </a:solidFill>
                <a:latin typeface="Trebuchet MS"/>
                <a:cs typeface="Trebuchet MS"/>
              </a:rPr>
              <a:t>TLB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855" rIns="0" bIns="0" rtlCol="0" vert="horz">
            <a:spAutoFit/>
          </a:bodyPr>
          <a:lstStyle/>
          <a:p>
            <a:pPr marL="34226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Hacia</a:t>
            </a:r>
            <a:r>
              <a:rPr dirty="0" spc="-105"/>
              <a:t> </a:t>
            </a:r>
            <a:r>
              <a:rPr dirty="0" spc="75"/>
              <a:t>una</a:t>
            </a:r>
            <a:r>
              <a:rPr dirty="0" spc="-100"/>
              <a:t> </a:t>
            </a:r>
            <a:r>
              <a:rPr dirty="0"/>
              <a:t>Eficiente</a:t>
            </a:r>
            <a:r>
              <a:rPr dirty="0" spc="-180"/>
              <a:t> </a:t>
            </a:r>
            <a:r>
              <a:rPr dirty="0" spc="90"/>
              <a:t>Address</a:t>
            </a:r>
            <a:r>
              <a:rPr dirty="0" spc="-170"/>
              <a:t> </a:t>
            </a:r>
            <a:r>
              <a:rPr dirty="0" spc="-10"/>
              <a:t>Translation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384977"/>
            <a:ext cx="7520940" cy="2416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39420">
              <a:lnSpc>
                <a:spcPct val="114999"/>
              </a:lnSpc>
              <a:spcBef>
                <a:spcPts val="1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Hasta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aquí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ya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uno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estar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poco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cansado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mecanismos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hardware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realizar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traducción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memoria.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tema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muchos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métodos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tienen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varios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niveles,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hasta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4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en algunos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45">
                <a:solidFill>
                  <a:srgbClr val="595959"/>
                </a:solidFill>
                <a:latin typeface="Tahoma"/>
                <a:cs typeface="Tahoma"/>
              </a:rPr>
              <a:t>casos,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alcanzar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física,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entonces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eso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hace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realmente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poco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práctico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procesador.</a:t>
            </a:r>
            <a:endParaRPr sz="1700">
              <a:latin typeface="Tahoma"/>
              <a:cs typeface="Tahoma"/>
            </a:endParaRPr>
          </a:p>
          <a:p>
            <a:pPr marL="12700" marR="474345">
              <a:lnSpc>
                <a:spcPct val="114999"/>
              </a:lnSpc>
              <a:spcBef>
                <a:spcPts val="1200"/>
              </a:spcBef>
            </a:pPr>
            <a:r>
              <a:rPr dirty="0" sz="1700" spc="12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continuación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mostrarán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mecanismos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mejorar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rendimiento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traducción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direcciones.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233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Hacia</a:t>
            </a:r>
            <a:r>
              <a:rPr dirty="0" spc="-105"/>
              <a:t> </a:t>
            </a:r>
            <a:r>
              <a:rPr dirty="0" spc="75"/>
              <a:t>una</a:t>
            </a:r>
            <a:r>
              <a:rPr dirty="0" spc="-100"/>
              <a:t> </a:t>
            </a:r>
            <a:r>
              <a:rPr dirty="0"/>
              <a:t>Eficiente</a:t>
            </a:r>
            <a:r>
              <a:rPr dirty="0" spc="-180"/>
              <a:t> </a:t>
            </a:r>
            <a:r>
              <a:rPr dirty="0" spc="90"/>
              <a:t>Address</a:t>
            </a:r>
            <a:r>
              <a:rPr dirty="0" spc="-170"/>
              <a:t> </a:t>
            </a:r>
            <a:r>
              <a:rPr dirty="0" spc="-10"/>
              <a:t>Translation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455902"/>
            <a:ext cx="4897120" cy="2561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6350">
              <a:lnSpc>
                <a:spcPct val="114999"/>
              </a:lnSpc>
              <a:spcBef>
                <a:spcPts val="1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700" spc="32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nuevo</a:t>
            </a:r>
            <a:r>
              <a:rPr dirty="0" sz="1700" spc="32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mecanismo</a:t>
            </a:r>
            <a:r>
              <a:rPr dirty="0" sz="1700" spc="32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usará</a:t>
            </a:r>
            <a:r>
              <a:rPr dirty="0" sz="1700" spc="32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32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caché</a:t>
            </a:r>
            <a:r>
              <a:rPr dirty="0" sz="1700" spc="32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 spc="-45">
                <a:solidFill>
                  <a:srgbClr val="595959"/>
                </a:solidFill>
                <a:latin typeface="Tahoma"/>
                <a:cs typeface="Tahoma"/>
              </a:rPr>
              <a:t>(o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escondrijo),</a:t>
            </a:r>
            <a:r>
              <a:rPr dirty="0" sz="1700" spc="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consiste</a:t>
            </a:r>
            <a:r>
              <a:rPr dirty="0" sz="1700" spc="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copia</a:t>
            </a:r>
            <a:r>
              <a:rPr dirty="0" sz="1700" spc="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ciertos datos</a:t>
            </a:r>
            <a:r>
              <a:rPr dirty="0" sz="17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45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pueden</a:t>
            </a:r>
            <a:r>
              <a:rPr dirty="0" sz="17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7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accedidos</a:t>
            </a:r>
            <a:r>
              <a:rPr dirty="0" sz="17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8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7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6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6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7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más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rápidamente.</a:t>
            </a:r>
            <a:endParaRPr sz="1700">
              <a:latin typeface="Tahoma"/>
              <a:cs typeface="Tahoma"/>
            </a:endParaRPr>
          </a:p>
          <a:p>
            <a:pPr algn="just"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concepto</a:t>
            </a:r>
            <a:r>
              <a:rPr dirty="0" sz="1700" spc="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Cache</a:t>
            </a:r>
            <a:r>
              <a:rPr dirty="0" sz="1700" spc="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ampliamente</a:t>
            </a:r>
            <a:r>
              <a:rPr dirty="0" sz="1700" spc="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utilizado</a:t>
            </a:r>
            <a:r>
              <a:rPr dirty="0" sz="17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en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muchas</a:t>
            </a:r>
            <a:r>
              <a:rPr dirty="0" sz="1700" spc="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ramas</a:t>
            </a:r>
            <a:r>
              <a:rPr dirty="0" sz="1700" spc="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700" spc="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ciencias</a:t>
            </a:r>
            <a:r>
              <a:rPr dirty="0" sz="1700" spc="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computación: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arquitectura</a:t>
            </a:r>
            <a:r>
              <a:rPr dirty="0" sz="17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computadoras,</a:t>
            </a:r>
            <a:r>
              <a:rPr dirty="0" sz="17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sistemas</a:t>
            </a:r>
            <a:r>
              <a:rPr dirty="0" sz="17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operativos, sistemas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distribuidos.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3625" y="1853850"/>
            <a:ext cx="2763674" cy="3017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46376" y="4456448"/>
            <a:ext cx="6054725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70" b="1">
                <a:solidFill>
                  <a:srgbClr val="1A1A1A"/>
                </a:solidFill>
                <a:latin typeface="Trebuchet MS"/>
                <a:cs typeface="Trebuchet MS"/>
              </a:rPr>
              <a:t>Hacia</a:t>
            </a:r>
            <a:r>
              <a:rPr dirty="0" sz="2500" spc="-13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500" spc="70" b="1">
                <a:solidFill>
                  <a:srgbClr val="1A1A1A"/>
                </a:solidFill>
                <a:latin typeface="Trebuchet MS"/>
                <a:cs typeface="Trebuchet MS"/>
              </a:rPr>
              <a:t>una</a:t>
            </a:r>
            <a:r>
              <a:rPr dirty="0" sz="2500" spc="-130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500" spc="-10" b="1">
                <a:solidFill>
                  <a:srgbClr val="1A1A1A"/>
                </a:solidFill>
                <a:latin typeface="Trebuchet MS"/>
                <a:cs typeface="Trebuchet MS"/>
              </a:rPr>
              <a:t>Eficiente</a:t>
            </a:r>
            <a:r>
              <a:rPr dirty="0" sz="2500" spc="-21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500" spc="95" b="1">
                <a:solidFill>
                  <a:srgbClr val="1A1A1A"/>
                </a:solidFill>
                <a:latin typeface="Trebuchet MS"/>
                <a:cs typeface="Trebuchet MS"/>
              </a:rPr>
              <a:t>Address</a:t>
            </a:r>
            <a:r>
              <a:rPr dirty="0" sz="2500" spc="-204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500" spc="-10" b="1">
                <a:solidFill>
                  <a:srgbClr val="1A1A1A"/>
                </a:solidFill>
                <a:latin typeface="Trebuchet MS"/>
                <a:cs typeface="Trebuchet MS"/>
              </a:rPr>
              <a:t>Translation</a:t>
            </a:r>
            <a:endParaRPr sz="2500">
              <a:latin typeface="Trebuchet MS"/>
              <a:cs typeface="Trebuchet MS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3812" y="304800"/>
            <a:ext cx="6396364" cy="4091424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10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Hacia</a:t>
            </a:r>
            <a:r>
              <a:rPr dirty="0" spc="-100"/>
              <a:t> </a:t>
            </a:r>
            <a:r>
              <a:rPr dirty="0" spc="75"/>
              <a:t>una</a:t>
            </a:r>
            <a:r>
              <a:rPr dirty="0" spc="-100"/>
              <a:t> </a:t>
            </a:r>
            <a:r>
              <a:rPr dirty="0"/>
              <a:t>Eficiente</a:t>
            </a:r>
            <a:r>
              <a:rPr dirty="0" spc="-175"/>
              <a:t> </a:t>
            </a:r>
            <a:r>
              <a:rPr dirty="0" spc="90"/>
              <a:t>Address</a:t>
            </a:r>
            <a:r>
              <a:rPr dirty="0" spc="-170"/>
              <a:t> </a:t>
            </a:r>
            <a:r>
              <a:rPr dirty="0"/>
              <a:t>Translation:</a:t>
            </a:r>
            <a:r>
              <a:rPr dirty="0" spc="-170"/>
              <a:t> </a:t>
            </a:r>
            <a:r>
              <a:rPr dirty="0" spc="80"/>
              <a:t>TLB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10795">
              <a:lnSpc>
                <a:spcPct val="114999"/>
              </a:lnSpc>
              <a:spcBef>
                <a:spcPts val="100"/>
              </a:spcBef>
            </a:pPr>
            <a:r>
              <a:rPr dirty="0"/>
              <a:t>Uno</a:t>
            </a:r>
            <a:r>
              <a:rPr dirty="0" spc="-50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/>
              <a:t>los</a:t>
            </a:r>
            <a:r>
              <a:rPr dirty="0" spc="-50"/>
              <a:t> </a:t>
            </a:r>
            <a:r>
              <a:rPr dirty="0"/>
              <a:t>problemas</a:t>
            </a:r>
            <a:r>
              <a:rPr dirty="0" spc="-45"/>
              <a:t> </a:t>
            </a:r>
            <a:r>
              <a:rPr dirty="0"/>
              <a:t>del</a:t>
            </a:r>
            <a:r>
              <a:rPr dirty="0" spc="-45"/>
              <a:t> </a:t>
            </a:r>
            <a:r>
              <a:rPr dirty="0"/>
              <a:t>address</a:t>
            </a:r>
            <a:r>
              <a:rPr dirty="0" spc="-50"/>
              <a:t> </a:t>
            </a:r>
            <a:r>
              <a:rPr dirty="0"/>
              <a:t>translation</a:t>
            </a:r>
            <a:r>
              <a:rPr dirty="0" spc="-45"/>
              <a:t> </a:t>
            </a:r>
            <a:r>
              <a:rPr dirty="0"/>
              <a:t>reside</a:t>
            </a:r>
            <a:r>
              <a:rPr dirty="0" spc="-50"/>
              <a:t> </a:t>
            </a:r>
            <a:r>
              <a:rPr dirty="0" spc="-10"/>
              <a:t>en</a:t>
            </a:r>
            <a:r>
              <a:rPr dirty="0" spc="-45"/>
              <a:t> </a:t>
            </a:r>
            <a:r>
              <a:rPr dirty="0"/>
              <a:t>la</a:t>
            </a:r>
            <a:r>
              <a:rPr dirty="0" spc="-45"/>
              <a:t> </a:t>
            </a:r>
            <a:r>
              <a:rPr dirty="0"/>
              <a:t>velocidad</a:t>
            </a:r>
            <a:r>
              <a:rPr dirty="0" spc="-50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/>
              <a:t>la</a:t>
            </a:r>
            <a:r>
              <a:rPr dirty="0" spc="-45"/>
              <a:t> </a:t>
            </a:r>
            <a:r>
              <a:rPr dirty="0"/>
              <a:t>traducción</a:t>
            </a:r>
            <a:r>
              <a:rPr dirty="0" spc="-50"/>
              <a:t> </a:t>
            </a:r>
            <a:r>
              <a:rPr dirty="0" spc="-10"/>
              <a:t>para</a:t>
            </a:r>
            <a:r>
              <a:rPr dirty="0" spc="-45"/>
              <a:t> </a:t>
            </a:r>
            <a:r>
              <a:rPr dirty="0"/>
              <a:t>ello</a:t>
            </a:r>
            <a:r>
              <a:rPr dirty="0" spc="-50"/>
              <a:t> </a:t>
            </a:r>
            <a:r>
              <a:rPr dirty="0" spc="-20"/>
              <a:t>se</a:t>
            </a:r>
            <a:r>
              <a:rPr dirty="0" spc="-45"/>
              <a:t> </a:t>
            </a:r>
            <a:r>
              <a:rPr dirty="0" spc="-10"/>
              <a:t>utilizan </a:t>
            </a:r>
            <a:r>
              <a:rPr dirty="0"/>
              <a:t>técnicas</a:t>
            </a:r>
            <a:r>
              <a:rPr dirty="0" spc="-150"/>
              <a:t> </a:t>
            </a:r>
            <a:r>
              <a:rPr dirty="0"/>
              <a:t>que</a:t>
            </a:r>
            <a:r>
              <a:rPr dirty="0" spc="-145"/>
              <a:t> </a:t>
            </a:r>
            <a:r>
              <a:rPr dirty="0" spc="-10"/>
              <a:t>mejoran</a:t>
            </a:r>
            <a:r>
              <a:rPr dirty="0" spc="-150"/>
              <a:t> </a:t>
            </a:r>
            <a:r>
              <a:rPr dirty="0"/>
              <a:t>la</a:t>
            </a:r>
            <a:r>
              <a:rPr dirty="0" spc="-145"/>
              <a:t> </a:t>
            </a:r>
            <a:r>
              <a:rPr dirty="0"/>
              <a:t>velocidad</a:t>
            </a:r>
            <a:r>
              <a:rPr dirty="0" spc="-150"/>
              <a:t> </a:t>
            </a:r>
            <a:r>
              <a:rPr dirty="0"/>
              <a:t>de</a:t>
            </a:r>
            <a:r>
              <a:rPr dirty="0" spc="-145"/>
              <a:t> </a:t>
            </a:r>
            <a:r>
              <a:rPr dirty="0"/>
              <a:t>esta</a:t>
            </a:r>
            <a:r>
              <a:rPr dirty="0" spc="-150"/>
              <a:t> </a:t>
            </a:r>
            <a:r>
              <a:rPr dirty="0" spc="-10"/>
              <a:t>traducción.</a:t>
            </a:r>
          </a:p>
          <a:p>
            <a:pPr algn="just" marL="12700" marR="36195">
              <a:lnSpc>
                <a:spcPct val="114999"/>
              </a:lnSpc>
              <a:spcBef>
                <a:spcPts val="1200"/>
              </a:spcBef>
            </a:pPr>
            <a:r>
              <a:rPr dirty="0" spc="-10"/>
              <a:t>Para</a:t>
            </a:r>
            <a:r>
              <a:rPr dirty="0" spc="-45"/>
              <a:t> </a:t>
            </a:r>
            <a:r>
              <a:rPr dirty="0" spc="-10"/>
              <a:t>mejorar</a:t>
            </a:r>
            <a:r>
              <a:rPr dirty="0" spc="-40"/>
              <a:t> </a:t>
            </a:r>
            <a:r>
              <a:rPr dirty="0" spc="-10"/>
              <a:t>el</a:t>
            </a:r>
            <a:r>
              <a:rPr dirty="0" spc="-40"/>
              <a:t> </a:t>
            </a:r>
            <a:r>
              <a:rPr dirty="0" spc="-10"/>
              <a:t>address</a:t>
            </a:r>
            <a:r>
              <a:rPr dirty="0" spc="-45"/>
              <a:t> </a:t>
            </a:r>
            <a:r>
              <a:rPr dirty="0"/>
              <a:t>translation</a:t>
            </a:r>
            <a:r>
              <a:rPr dirty="0" spc="-40"/>
              <a:t> </a:t>
            </a:r>
            <a:r>
              <a:rPr dirty="0" spc="-55"/>
              <a:t>se</a:t>
            </a:r>
            <a:r>
              <a:rPr dirty="0" spc="-40"/>
              <a:t> </a:t>
            </a:r>
            <a:r>
              <a:rPr dirty="0"/>
              <a:t>utiliza</a:t>
            </a:r>
            <a:r>
              <a:rPr dirty="0" spc="-40"/>
              <a:t> </a:t>
            </a:r>
            <a:r>
              <a:rPr dirty="0" spc="-50"/>
              <a:t>un</a:t>
            </a:r>
            <a:r>
              <a:rPr dirty="0" spc="-45"/>
              <a:t> </a:t>
            </a:r>
            <a:r>
              <a:rPr dirty="0" spc="-20"/>
              <a:t>mecanismo</a:t>
            </a:r>
            <a:r>
              <a:rPr dirty="0" spc="-40"/>
              <a:t> </a:t>
            </a:r>
            <a:r>
              <a:rPr dirty="0" spc="-30"/>
              <a:t>de</a:t>
            </a:r>
            <a:r>
              <a:rPr dirty="0" spc="-40"/>
              <a:t> </a:t>
            </a:r>
            <a:r>
              <a:rPr dirty="0"/>
              <a:t>hardware</a:t>
            </a:r>
            <a:r>
              <a:rPr dirty="0" spc="-45"/>
              <a:t> </a:t>
            </a:r>
            <a:r>
              <a:rPr dirty="0" spc="-10"/>
              <a:t>llamado</a:t>
            </a:r>
            <a:r>
              <a:rPr dirty="0" spc="-45"/>
              <a:t> </a:t>
            </a:r>
            <a:r>
              <a:rPr dirty="0" spc="-90" b="1">
                <a:latin typeface="Tahoma"/>
                <a:cs typeface="Tahoma"/>
              </a:rPr>
              <a:t>Translation-</a:t>
            </a:r>
            <a:r>
              <a:rPr dirty="0" spc="-55" b="1">
                <a:latin typeface="Tahoma"/>
                <a:cs typeface="Tahoma"/>
              </a:rPr>
              <a:t>Lookaside </a:t>
            </a:r>
            <a:r>
              <a:rPr dirty="0" spc="-85" b="1">
                <a:latin typeface="Tahoma"/>
                <a:cs typeface="Tahoma"/>
              </a:rPr>
              <a:t>Buffer</a:t>
            </a:r>
            <a:r>
              <a:rPr dirty="0" spc="-85"/>
              <a:t>;</a:t>
            </a:r>
            <a:r>
              <a:rPr dirty="0" spc="-120"/>
              <a:t> </a:t>
            </a:r>
            <a:r>
              <a:rPr dirty="0"/>
              <a:t>o</a:t>
            </a:r>
            <a:r>
              <a:rPr dirty="0" spc="-114"/>
              <a:t> </a:t>
            </a:r>
            <a:r>
              <a:rPr dirty="0"/>
              <a:t>también</a:t>
            </a:r>
            <a:r>
              <a:rPr dirty="0" spc="-114"/>
              <a:t> </a:t>
            </a:r>
            <a:r>
              <a:rPr dirty="0"/>
              <a:t>conocido</a:t>
            </a:r>
            <a:r>
              <a:rPr dirty="0" spc="-120"/>
              <a:t> </a:t>
            </a:r>
            <a:r>
              <a:rPr dirty="0"/>
              <a:t>como</a:t>
            </a:r>
            <a:r>
              <a:rPr dirty="0" spc="-114"/>
              <a:t> </a:t>
            </a:r>
            <a:r>
              <a:rPr dirty="0" spc="-20"/>
              <a:t>TLB.</a:t>
            </a:r>
          </a:p>
          <a:p>
            <a:pPr algn="just" marL="12700" marR="5080">
              <a:lnSpc>
                <a:spcPct val="114999"/>
              </a:lnSpc>
              <a:spcBef>
                <a:spcPts val="1200"/>
              </a:spcBef>
            </a:pPr>
            <a:r>
              <a:rPr dirty="0" spc="-10"/>
              <a:t>La</a:t>
            </a:r>
            <a:r>
              <a:rPr dirty="0" spc="-70"/>
              <a:t> </a:t>
            </a:r>
            <a:r>
              <a:rPr dirty="0"/>
              <a:t>TLB</a:t>
            </a:r>
            <a:r>
              <a:rPr dirty="0" spc="-70"/>
              <a:t> </a:t>
            </a:r>
            <a:r>
              <a:rPr dirty="0" spc="-20"/>
              <a:t>es</a:t>
            </a:r>
            <a:r>
              <a:rPr dirty="0" spc="-70"/>
              <a:t> </a:t>
            </a:r>
            <a:r>
              <a:rPr dirty="0"/>
              <a:t>parte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70"/>
              <a:t> </a:t>
            </a:r>
            <a:r>
              <a:rPr dirty="0"/>
              <a:t>la</a:t>
            </a:r>
            <a:r>
              <a:rPr dirty="0" spc="-65"/>
              <a:t> </a:t>
            </a:r>
            <a:r>
              <a:rPr dirty="0" spc="160"/>
              <a:t>MMU</a:t>
            </a:r>
            <a:r>
              <a:rPr dirty="0" spc="-70"/>
              <a:t> </a:t>
            </a:r>
            <a:r>
              <a:rPr dirty="0"/>
              <a:t>y</a:t>
            </a:r>
            <a:r>
              <a:rPr dirty="0" spc="-70"/>
              <a:t> </a:t>
            </a:r>
            <a:r>
              <a:rPr dirty="0" spc="-20"/>
              <a:t>es</a:t>
            </a:r>
            <a:r>
              <a:rPr dirty="0" spc="-70"/>
              <a:t> </a:t>
            </a:r>
            <a:r>
              <a:rPr dirty="0"/>
              <a:t>simplemente</a:t>
            </a:r>
            <a:r>
              <a:rPr dirty="0" spc="-65"/>
              <a:t> </a:t>
            </a:r>
            <a:r>
              <a:rPr dirty="0" spc="-10"/>
              <a:t>un</a:t>
            </a:r>
            <a:r>
              <a:rPr dirty="0" spc="-70"/>
              <a:t> </a:t>
            </a:r>
            <a:r>
              <a:rPr dirty="0" spc="-10"/>
              <a:t>mecanismo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70"/>
              <a:t> </a:t>
            </a:r>
            <a:r>
              <a:rPr dirty="0" spc="-10"/>
              <a:t>cache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70"/>
              <a:t> </a:t>
            </a:r>
            <a:r>
              <a:rPr dirty="0" spc="-10"/>
              <a:t>las</a:t>
            </a:r>
            <a:r>
              <a:rPr dirty="0" spc="-70"/>
              <a:t> </a:t>
            </a:r>
            <a:r>
              <a:rPr dirty="0"/>
              <a:t>traducciones</a:t>
            </a:r>
            <a:r>
              <a:rPr dirty="0" spc="-70"/>
              <a:t> </a:t>
            </a:r>
            <a:r>
              <a:rPr dirty="0" spc="-35"/>
              <a:t>más</a:t>
            </a:r>
            <a:r>
              <a:rPr dirty="0" spc="-65"/>
              <a:t> </a:t>
            </a:r>
            <a:r>
              <a:rPr dirty="0" spc="-10"/>
              <a:t>utilizadas </a:t>
            </a:r>
            <a:r>
              <a:rPr dirty="0"/>
              <a:t>entre</a:t>
            </a:r>
            <a:r>
              <a:rPr dirty="0" spc="5"/>
              <a:t> </a:t>
            </a:r>
            <a:r>
              <a:rPr dirty="0"/>
              <a:t>los</a:t>
            </a:r>
            <a:r>
              <a:rPr dirty="0" spc="5"/>
              <a:t> </a:t>
            </a:r>
            <a:r>
              <a:rPr dirty="0"/>
              <a:t>pares</a:t>
            </a:r>
            <a:r>
              <a:rPr dirty="0" spc="10"/>
              <a:t> </a:t>
            </a:r>
            <a:r>
              <a:rPr dirty="0"/>
              <a:t>virtual</a:t>
            </a:r>
            <a:r>
              <a:rPr dirty="0" spc="5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/>
              <a:t>physical</a:t>
            </a:r>
            <a:r>
              <a:rPr dirty="0" spc="5"/>
              <a:t> </a:t>
            </a:r>
            <a:r>
              <a:rPr dirty="0" spc="-10"/>
              <a:t>address.</a:t>
            </a:r>
            <a:r>
              <a:rPr dirty="0" spc="5"/>
              <a:t> </a:t>
            </a:r>
            <a:r>
              <a:rPr dirty="0"/>
              <a:t>Por</a:t>
            </a:r>
            <a:r>
              <a:rPr dirty="0" spc="10"/>
              <a:t> </a:t>
            </a:r>
            <a:r>
              <a:rPr dirty="0"/>
              <a:t>ende</a:t>
            </a:r>
            <a:r>
              <a:rPr dirty="0" spc="5"/>
              <a:t> </a:t>
            </a:r>
            <a:r>
              <a:rPr dirty="0"/>
              <a:t>un</a:t>
            </a:r>
            <a:r>
              <a:rPr dirty="0" spc="10"/>
              <a:t> </a:t>
            </a:r>
            <a:r>
              <a:rPr dirty="0"/>
              <a:t>mejor</a:t>
            </a:r>
            <a:r>
              <a:rPr dirty="0" spc="5"/>
              <a:t> </a:t>
            </a:r>
            <a:r>
              <a:rPr dirty="0"/>
              <a:t>nombre</a:t>
            </a:r>
            <a:r>
              <a:rPr dirty="0" spc="5"/>
              <a:t> </a:t>
            </a:r>
            <a:r>
              <a:rPr dirty="0"/>
              <a:t>para</a:t>
            </a:r>
            <a:r>
              <a:rPr dirty="0" spc="10"/>
              <a:t> </a:t>
            </a:r>
            <a:r>
              <a:rPr dirty="0"/>
              <a:t>este</a:t>
            </a:r>
            <a:r>
              <a:rPr dirty="0" spc="5"/>
              <a:t> </a:t>
            </a:r>
            <a:r>
              <a:rPr dirty="0"/>
              <a:t>mecanismo</a:t>
            </a:r>
            <a:r>
              <a:rPr dirty="0" spc="10"/>
              <a:t> </a:t>
            </a:r>
            <a:r>
              <a:rPr dirty="0"/>
              <a:t>podría</a:t>
            </a:r>
            <a:r>
              <a:rPr dirty="0" spc="5"/>
              <a:t> </a:t>
            </a:r>
            <a:r>
              <a:rPr dirty="0" spc="-25"/>
              <a:t>ser </a:t>
            </a:r>
            <a:r>
              <a:rPr dirty="0"/>
              <a:t>address</a:t>
            </a:r>
            <a:r>
              <a:rPr dirty="0" spc="-95"/>
              <a:t> </a:t>
            </a:r>
            <a:r>
              <a:rPr dirty="0"/>
              <a:t>translation</a:t>
            </a:r>
            <a:r>
              <a:rPr dirty="0" spc="-95"/>
              <a:t> </a:t>
            </a:r>
            <a:r>
              <a:rPr dirty="0" spc="-10"/>
              <a:t>cache.</a:t>
            </a:r>
          </a:p>
          <a:p>
            <a:pPr algn="just" marL="12700" marR="7620">
              <a:lnSpc>
                <a:spcPct val="114999"/>
              </a:lnSpc>
              <a:spcBef>
                <a:spcPts val="1200"/>
              </a:spcBef>
            </a:pPr>
            <a:r>
              <a:rPr dirty="0" spc="45"/>
              <a:t>Por</a:t>
            </a:r>
            <a:r>
              <a:rPr dirty="0" spc="-90"/>
              <a:t> </a:t>
            </a:r>
            <a:r>
              <a:rPr dirty="0" spc="-15"/>
              <a:t>cada</a:t>
            </a:r>
            <a:r>
              <a:rPr dirty="0" spc="-90"/>
              <a:t> </a:t>
            </a:r>
            <a:r>
              <a:rPr dirty="0" spc="10"/>
              <a:t>referencia</a:t>
            </a:r>
            <a:r>
              <a:rPr dirty="0" spc="-90"/>
              <a:t> </a:t>
            </a:r>
            <a:r>
              <a:rPr dirty="0" spc="-35"/>
              <a:t>a</a:t>
            </a:r>
            <a:r>
              <a:rPr dirty="0" spc="-90"/>
              <a:t> </a:t>
            </a:r>
            <a:r>
              <a:rPr dirty="0"/>
              <a:t>la</a:t>
            </a:r>
            <a:r>
              <a:rPr dirty="0" spc="-90"/>
              <a:t> </a:t>
            </a:r>
            <a:r>
              <a:rPr dirty="0"/>
              <a:t>memoria</a:t>
            </a:r>
            <a:r>
              <a:rPr dirty="0" spc="-90"/>
              <a:t> </a:t>
            </a:r>
            <a:r>
              <a:rPr dirty="0"/>
              <a:t>virtual,</a:t>
            </a:r>
            <a:r>
              <a:rPr dirty="0" spc="-90"/>
              <a:t> </a:t>
            </a:r>
            <a:r>
              <a:rPr dirty="0" spc="5"/>
              <a:t>el</a:t>
            </a:r>
            <a:r>
              <a:rPr dirty="0" spc="-90"/>
              <a:t> </a:t>
            </a:r>
            <a:r>
              <a:rPr dirty="0" spc="5"/>
              <a:t>hardware</a:t>
            </a:r>
            <a:r>
              <a:rPr dirty="0" spc="-90"/>
              <a:t> </a:t>
            </a:r>
            <a:r>
              <a:rPr dirty="0" spc="15"/>
              <a:t>primero</a:t>
            </a:r>
            <a:r>
              <a:rPr dirty="0" spc="-90"/>
              <a:t> </a:t>
            </a:r>
            <a:r>
              <a:rPr dirty="0" spc="-10"/>
              <a:t>chequea</a:t>
            </a:r>
            <a:r>
              <a:rPr dirty="0" spc="-90"/>
              <a:t> </a:t>
            </a:r>
            <a:r>
              <a:rPr dirty="0"/>
              <a:t>la</a:t>
            </a:r>
            <a:r>
              <a:rPr dirty="0" spc="-90"/>
              <a:t> </a:t>
            </a:r>
            <a:r>
              <a:rPr dirty="0" spc="25"/>
              <a:t>TLB</a:t>
            </a:r>
            <a:r>
              <a:rPr dirty="0" spc="-90"/>
              <a:t> </a:t>
            </a:r>
            <a:r>
              <a:rPr dirty="0" spc="-10"/>
              <a:t>para</a:t>
            </a:r>
            <a:r>
              <a:rPr dirty="0" spc="-90"/>
              <a:t> </a:t>
            </a:r>
            <a:r>
              <a:rPr dirty="0" spc="10"/>
              <a:t>ver</a:t>
            </a:r>
            <a:r>
              <a:rPr dirty="0" spc="-90"/>
              <a:t> </a:t>
            </a:r>
            <a:r>
              <a:rPr dirty="0" spc="5"/>
              <a:t>si</a:t>
            </a:r>
            <a:r>
              <a:rPr dirty="0" spc="-90"/>
              <a:t> </a:t>
            </a:r>
            <a:r>
              <a:rPr dirty="0" spc="-20"/>
              <a:t>esa</a:t>
            </a:r>
            <a:r>
              <a:rPr dirty="0" spc="-90"/>
              <a:t> </a:t>
            </a:r>
            <a:r>
              <a:rPr dirty="0" spc="10"/>
              <a:t>traducción</a:t>
            </a:r>
            <a:r>
              <a:rPr dirty="0"/>
              <a:t> esta</a:t>
            </a:r>
            <a:r>
              <a:rPr dirty="0" spc="-60"/>
              <a:t> </a:t>
            </a:r>
            <a:r>
              <a:rPr dirty="0" spc="-10"/>
              <a:t>guardada</a:t>
            </a:r>
            <a:r>
              <a:rPr dirty="0" spc="-60"/>
              <a:t> </a:t>
            </a:r>
            <a:r>
              <a:rPr dirty="0" spc="-40"/>
              <a:t>ahí;</a:t>
            </a:r>
            <a:r>
              <a:rPr dirty="0" spc="-60"/>
              <a:t> </a:t>
            </a:r>
            <a:r>
              <a:rPr dirty="0" spc="5"/>
              <a:t>si</a:t>
            </a:r>
            <a:r>
              <a:rPr dirty="0" spc="-60"/>
              <a:t> </a:t>
            </a:r>
            <a:r>
              <a:rPr dirty="0" spc="-15"/>
              <a:t>es</a:t>
            </a:r>
            <a:r>
              <a:rPr dirty="0" spc="-60"/>
              <a:t> </a:t>
            </a:r>
            <a:r>
              <a:rPr dirty="0" spc="-10"/>
              <a:t>así</a:t>
            </a:r>
            <a:r>
              <a:rPr dirty="0" spc="-60"/>
              <a:t> </a:t>
            </a:r>
            <a:r>
              <a:rPr dirty="0"/>
              <a:t>la</a:t>
            </a:r>
            <a:r>
              <a:rPr dirty="0" spc="-60"/>
              <a:t> </a:t>
            </a:r>
            <a:r>
              <a:rPr dirty="0" spc="10"/>
              <a:t>traducción</a:t>
            </a:r>
            <a:r>
              <a:rPr dirty="0" spc="-60"/>
              <a:t> </a:t>
            </a:r>
            <a:r>
              <a:rPr dirty="0" spc="-15"/>
              <a:t>se</a:t>
            </a:r>
            <a:r>
              <a:rPr dirty="0" spc="-60"/>
              <a:t> </a:t>
            </a:r>
            <a:r>
              <a:rPr dirty="0" spc="-15"/>
              <a:t>hace</a:t>
            </a:r>
            <a:r>
              <a:rPr dirty="0" spc="-60"/>
              <a:t> </a:t>
            </a:r>
            <a:r>
              <a:rPr dirty="0"/>
              <a:t>rápidamente</a:t>
            </a:r>
            <a:r>
              <a:rPr dirty="0" spc="-60"/>
              <a:t> </a:t>
            </a:r>
            <a:r>
              <a:rPr dirty="0" spc="5"/>
              <a:t>sin</a:t>
            </a:r>
            <a:r>
              <a:rPr dirty="0" spc="-60"/>
              <a:t> </a:t>
            </a:r>
            <a:r>
              <a:rPr dirty="0" spc="15"/>
              <a:t>tener</a:t>
            </a:r>
            <a:r>
              <a:rPr dirty="0" spc="-60"/>
              <a:t> </a:t>
            </a:r>
            <a:r>
              <a:rPr dirty="0"/>
              <a:t>que</a:t>
            </a:r>
            <a:r>
              <a:rPr dirty="0" spc="-60"/>
              <a:t> </a:t>
            </a:r>
            <a:r>
              <a:rPr dirty="0" spc="10"/>
              <a:t>consultar</a:t>
            </a:r>
            <a:r>
              <a:rPr dirty="0" spc="-60"/>
              <a:t> </a:t>
            </a:r>
            <a:r>
              <a:rPr dirty="0" spc="-35"/>
              <a:t>a</a:t>
            </a:r>
            <a:r>
              <a:rPr dirty="0" spc="-60"/>
              <a:t> </a:t>
            </a:r>
            <a:r>
              <a:rPr dirty="0"/>
              <a:t>la</a:t>
            </a:r>
            <a:r>
              <a:rPr dirty="0" spc="-60"/>
              <a:t> </a:t>
            </a:r>
            <a:r>
              <a:rPr dirty="0" spc="-25"/>
              <a:t>page</a:t>
            </a:r>
            <a:r>
              <a:rPr dirty="0" spc="-60"/>
              <a:t> </a:t>
            </a:r>
            <a:r>
              <a:rPr dirty="0" spc="10"/>
              <a:t>table</a:t>
            </a:r>
            <a:r>
              <a:rPr dirty="0" spc="-60"/>
              <a:t> </a:t>
            </a:r>
            <a:r>
              <a:rPr dirty="0" spc="-80"/>
              <a:t>(la</a:t>
            </a:r>
            <a:r>
              <a:rPr dirty="0" spc="-35"/>
              <a:t> </a:t>
            </a:r>
            <a:r>
              <a:rPr dirty="0"/>
              <a:t>cual</a:t>
            </a:r>
            <a:r>
              <a:rPr dirty="0" spc="-160"/>
              <a:t> </a:t>
            </a:r>
            <a:r>
              <a:rPr dirty="0" spc="10"/>
              <a:t>tiene</a:t>
            </a:r>
            <a:r>
              <a:rPr dirty="0" spc="-160"/>
              <a:t> </a:t>
            </a:r>
            <a:r>
              <a:rPr dirty="0" spc="5"/>
              <a:t>todas</a:t>
            </a:r>
            <a:r>
              <a:rPr dirty="0" spc="-160"/>
              <a:t> </a:t>
            </a:r>
            <a:r>
              <a:rPr dirty="0" spc="-10"/>
              <a:t>las</a:t>
            </a:r>
            <a:r>
              <a:rPr dirty="0" spc="-160"/>
              <a:t> </a:t>
            </a:r>
            <a:r>
              <a:rPr dirty="0" spc="-10"/>
              <a:t>traducciones).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675" y="493487"/>
            <a:ext cx="414147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Translation-</a:t>
            </a:r>
            <a:r>
              <a:rPr dirty="0" spc="75"/>
              <a:t>Lookaside</a:t>
            </a:r>
            <a:r>
              <a:rPr dirty="0" spc="375"/>
              <a:t> </a:t>
            </a:r>
            <a:r>
              <a:rPr dirty="0" spc="-10"/>
              <a:t>Buffer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21583" y="2295104"/>
            <a:ext cx="7424420" cy="22739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48615" indent="-335915">
              <a:lnSpc>
                <a:spcPct val="100000"/>
              </a:lnSpc>
              <a:spcBef>
                <a:spcPts val="105"/>
              </a:spcBef>
              <a:buFont typeface="Arial MT"/>
              <a:buChar char="●"/>
              <a:tabLst>
                <a:tab pos="348615" algn="l"/>
              </a:tabLst>
            </a:pP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Secuencia</a:t>
            </a:r>
            <a:r>
              <a:rPr dirty="0" sz="14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4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localización</a:t>
            </a:r>
            <a:endParaRPr sz="1400">
              <a:latin typeface="Tahoma"/>
              <a:cs typeface="Tahoma"/>
            </a:endParaRPr>
          </a:p>
          <a:p>
            <a:pPr algn="just" marL="346710" marR="5080" indent="-334645">
              <a:lnSpc>
                <a:spcPts val="1600"/>
              </a:lnSpc>
              <a:spcBef>
                <a:spcPts val="1639"/>
              </a:spcBef>
              <a:buFont typeface="Arial MT"/>
              <a:buChar char="●"/>
              <a:tabLst>
                <a:tab pos="348615" algn="l"/>
              </a:tabLst>
            </a:pPr>
            <a:r>
              <a:rPr dirty="0" sz="1400" spc="25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4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hardware</a:t>
            </a:r>
            <a:r>
              <a:rPr dirty="0" sz="1400" spc="15">
                <a:solidFill>
                  <a:srgbClr val="595959"/>
                </a:solidFill>
                <a:latin typeface="Tahoma"/>
                <a:cs typeface="Tahoma"/>
              </a:rPr>
              <a:t> tiene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4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5">
                <a:solidFill>
                  <a:srgbClr val="595959"/>
                </a:solidFill>
                <a:latin typeface="Tahoma"/>
                <a:cs typeface="Tahoma"/>
              </a:rPr>
              <a:t>hacer</a:t>
            </a:r>
            <a:r>
              <a:rPr dirty="0" sz="1400" spc="15">
                <a:solidFill>
                  <a:srgbClr val="595959"/>
                </a:solidFill>
                <a:latin typeface="Tahoma"/>
                <a:cs typeface="Tahoma"/>
              </a:rPr>
              <a:t> el fetch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00" spc="15">
                <a:solidFill>
                  <a:srgbClr val="595959"/>
                </a:solidFill>
                <a:latin typeface="Tahoma"/>
                <a:cs typeface="Tahoma"/>
              </a:rPr>
              <a:t> instrucción </a:t>
            </a:r>
            <a:r>
              <a:rPr dirty="0" sz="1400" spc="-35">
                <a:solidFill>
                  <a:srgbClr val="595959"/>
                </a:solidFill>
                <a:latin typeface="Tahoma"/>
                <a:cs typeface="Tahoma"/>
              </a:rPr>
              <a:t>add,</a:t>
            </a:r>
            <a:r>
              <a:rPr dirty="0" sz="14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después</a:t>
            </a:r>
            <a:r>
              <a:rPr dirty="0" sz="14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pasear</a:t>
            </a:r>
            <a:r>
              <a:rPr dirty="0" sz="14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4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4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4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5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multiniveles</a:t>
            </a:r>
            <a:r>
              <a:rPr dirty="0" sz="14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4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5">
                <a:solidFill>
                  <a:srgbClr val="595959"/>
                </a:solidFill>
                <a:latin typeface="Tahoma"/>
                <a:cs typeface="Tahoma"/>
              </a:rPr>
              <a:t>tablas</a:t>
            </a:r>
            <a:r>
              <a:rPr dirty="0" sz="14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15">
                <a:solidFill>
                  <a:srgbClr val="595959"/>
                </a:solidFill>
                <a:latin typeface="Tahoma"/>
                <a:cs typeface="Tahoma"/>
              </a:rPr>
              <a:t>traducción</a:t>
            </a:r>
            <a:r>
              <a:rPr dirty="0" sz="14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4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15">
                <a:solidFill>
                  <a:srgbClr val="595959"/>
                </a:solidFill>
                <a:latin typeface="Tahoma"/>
                <a:cs typeface="Tahoma"/>
              </a:rPr>
              <a:t>encontrar</a:t>
            </a:r>
            <a:r>
              <a:rPr dirty="0" sz="14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15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4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5">
                <a:solidFill>
                  <a:srgbClr val="595959"/>
                </a:solidFill>
                <a:latin typeface="Tahoma"/>
                <a:cs typeface="Tahoma"/>
              </a:rPr>
              <a:t>física</a:t>
            </a:r>
            <a:r>
              <a:rPr dirty="0" sz="14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15">
                <a:solidFill>
                  <a:srgbClr val="595959"/>
                </a:solidFill>
                <a:latin typeface="Tahoma"/>
                <a:cs typeface="Tahoma"/>
              </a:rPr>
              <a:t>instrucción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400" spc="-45">
                <a:solidFill>
                  <a:srgbClr val="595959"/>
                </a:solidFill>
                <a:latin typeface="Tahoma"/>
                <a:cs typeface="Tahoma"/>
              </a:rPr>
              <a:t>add;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5">
                <a:solidFill>
                  <a:srgbClr val="595959"/>
                </a:solidFill>
                <a:latin typeface="Tahoma"/>
                <a:cs typeface="Tahoma"/>
              </a:rPr>
              <a:t>ejecutar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15">
                <a:solidFill>
                  <a:srgbClr val="595959"/>
                </a:solidFill>
                <a:latin typeface="Tahoma"/>
                <a:cs typeface="Tahoma"/>
              </a:rPr>
              <a:t>instrucción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,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 incrementar </a:t>
            </a:r>
            <a:r>
              <a:rPr dirty="0" sz="1400" spc="15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 contador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 y </a:t>
            </a:r>
            <a:r>
              <a:rPr dirty="0" sz="1400" spc="15">
                <a:solidFill>
                  <a:srgbClr val="595959"/>
                </a:solidFill>
                <a:latin typeface="Tahoma"/>
                <a:cs typeface="Tahoma"/>
              </a:rPr>
              <a:t>volver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5">
                <a:solidFill>
                  <a:srgbClr val="595959"/>
                </a:solidFill>
                <a:latin typeface="Tahoma"/>
                <a:cs typeface="Tahoma"/>
              </a:rPr>
              <a:t>hacer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20">
                <a:solidFill>
                  <a:srgbClr val="595959"/>
                </a:solidFill>
                <a:latin typeface="Tahoma"/>
                <a:cs typeface="Tahoma"/>
              </a:rPr>
              <a:t>todo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 	esto</a:t>
            </a:r>
            <a:r>
              <a:rPr dirty="0" sz="1400" spc="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15">
                <a:solidFill>
                  <a:srgbClr val="595959"/>
                </a:solidFill>
                <a:latin typeface="Tahoma"/>
                <a:cs typeface="Tahoma"/>
              </a:rPr>
              <a:t>otra</a:t>
            </a:r>
            <a:r>
              <a:rPr dirty="0" sz="1400" spc="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400" spc="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400" spc="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00" spc="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5">
                <a:solidFill>
                  <a:srgbClr val="595959"/>
                </a:solidFill>
                <a:latin typeface="Tahoma"/>
                <a:cs typeface="Tahoma"/>
              </a:rPr>
              <a:t>próxima</a:t>
            </a:r>
            <a:r>
              <a:rPr dirty="0" sz="1400" spc="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15">
                <a:solidFill>
                  <a:srgbClr val="595959"/>
                </a:solidFill>
                <a:latin typeface="Tahoma"/>
                <a:cs typeface="Tahoma"/>
              </a:rPr>
              <a:t>instrucción</a:t>
            </a:r>
            <a:r>
              <a:rPr dirty="0" sz="1400" spc="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400" spc="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Tahoma"/>
                <a:cs typeface="Tahoma"/>
              </a:rPr>
              <a:t>además</a:t>
            </a:r>
            <a:r>
              <a:rPr dirty="0" sz="1400" spc="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400" spc="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5">
                <a:solidFill>
                  <a:srgbClr val="595959"/>
                </a:solidFill>
                <a:latin typeface="Tahoma"/>
                <a:cs typeface="Tahoma"/>
              </a:rPr>
              <a:t>sus</a:t>
            </a:r>
            <a:r>
              <a:rPr dirty="0" sz="1400" spc="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5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400" spc="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20">
                <a:solidFill>
                  <a:srgbClr val="595959"/>
                </a:solidFill>
                <a:latin typeface="Tahoma"/>
                <a:cs typeface="Tahoma"/>
              </a:rPr>
              <a:t>pero</a:t>
            </a:r>
            <a:r>
              <a:rPr dirty="0" sz="1400" spc="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400" spc="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400" spc="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muy 	ineficiente.</a:t>
            </a:r>
            <a:endParaRPr sz="1400">
              <a:latin typeface="Tahoma"/>
              <a:cs typeface="Tahoma"/>
            </a:endParaRPr>
          </a:p>
          <a:p>
            <a:pPr algn="just" marL="346710" marR="10160" indent="-334645">
              <a:lnSpc>
                <a:spcPts val="1600"/>
              </a:lnSpc>
              <a:spcBef>
                <a:spcPts val="1610"/>
              </a:spcBef>
              <a:buFont typeface="Arial MT"/>
              <a:buChar char="●"/>
              <a:tabLst>
                <a:tab pos="348615" algn="l"/>
              </a:tabLst>
            </a:pP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Tahoma"/>
                <a:cs typeface="Tahoma"/>
              </a:rPr>
              <a:t>Translation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5">
                <a:solidFill>
                  <a:srgbClr val="595959"/>
                </a:solidFill>
                <a:latin typeface="Tahoma"/>
                <a:cs typeface="Tahoma"/>
              </a:rPr>
              <a:t>Lookaside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595959"/>
                </a:solidFill>
                <a:latin typeface="Tahoma"/>
                <a:cs typeface="Tahoma"/>
              </a:rPr>
              <a:t>Buffer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595959"/>
                </a:solidFill>
                <a:latin typeface="Tahoma"/>
                <a:cs typeface="Tahoma"/>
              </a:rPr>
              <a:t>(TLB)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pequeña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5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nivel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hardware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contiene</a:t>
            </a:r>
            <a:r>
              <a:rPr dirty="0" sz="14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5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4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resultados</a:t>
            </a:r>
            <a:r>
              <a:rPr dirty="0" sz="14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recientes</a:t>
            </a:r>
            <a:r>
              <a:rPr dirty="0" sz="14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5">
                <a:solidFill>
                  <a:srgbClr val="595959"/>
                </a:solidFill>
                <a:latin typeface="Tahoma"/>
                <a:cs typeface="Tahoma"/>
              </a:rPr>
              <a:t>traducciones</a:t>
            </a:r>
            <a:r>
              <a:rPr dirty="0" sz="14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memorias</a:t>
            </a:r>
            <a:r>
              <a:rPr dirty="0" sz="14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realizadas.</a:t>
            </a:r>
            <a:r>
              <a:rPr dirty="0" sz="14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15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4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5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4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400" spc="5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14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Tahoma"/>
                <a:cs typeface="Tahoma"/>
              </a:rPr>
              <a:t>mapea</a:t>
            </a:r>
            <a:r>
              <a:rPr dirty="0" sz="14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4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595959"/>
                </a:solidFill>
                <a:latin typeface="Tahoma"/>
                <a:cs typeface="Tahoma"/>
              </a:rPr>
              <a:t>virtual</a:t>
            </a:r>
            <a:r>
              <a:rPr dirty="0" sz="14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595959"/>
                </a:solidFill>
                <a:latin typeface="Tahoma"/>
                <a:cs typeface="Tahoma"/>
              </a:rPr>
              <a:t>page</a:t>
            </a:r>
            <a:r>
              <a:rPr dirty="0" sz="14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4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4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physical</a:t>
            </a:r>
            <a:r>
              <a:rPr dirty="0" sz="14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595959"/>
                </a:solidFill>
                <a:latin typeface="Tahoma"/>
                <a:cs typeface="Tahoma"/>
              </a:rPr>
              <a:t>page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412900" y="1091738"/>
            <a:ext cx="2676525" cy="1092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ahoma"/>
                <a:cs typeface="Tahoma"/>
              </a:rPr>
              <a:t>TLB</a:t>
            </a:r>
            <a:r>
              <a:rPr dirty="0" sz="1400" spc="-9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entry</a:t>
            </a:r>
            <a:r>
              <a:rPr dirty="0" sz="1400" spc="-95">
                <a:latin typeface="Tahoma"/>
                <a:cs typeface="Tahoma"/>
              </a:rPr>
              <a:t> </a:t>
            </a:r>
            <a:r>
              <a:rPr dirty="0" sz="1400" spc="-210">
                <a:latin typeface="Tahoma"/>
                <a:cs typeface="Tahoma"/>
              </a:rPr>
              <a:t>=</a:t>
            </a:r>
            <a:r>
              <a:rPr dirty="0" sz="1400" spc="-95">
                <a:latin typeface="Tahoma"/>
                <a:cs typeface="Tahoma"/>
              </a:rPr>
              <a:t> </a:t>
            </a:r>
            <a:r>
              <a:rPr dirty="0" sz="1400" spc="-310">
                <a:latin typeface="Tahoma"/>
                <a:cs typeface="Tahoma"/>
              </a:rPr>
              <a:t>{</a:t>
            </a:r>
            <a:endParaRPr sz="1400">
              <a:latin typeface="Tahoma"/>
              <a:cs typeface="Tahoma"/>
            </a:endParaRPr>
          </a:p>
          <a:p>
            <a:pPr marL="469900" marR="5080">
              <a:lnSpc>
                <a:spcPct val="100000"/>
              </a:lnSpc>
            </a:pPr>
            <a:r>
              <a:rPr dirty="0" sz="1400">
                <a:latin typeface="Tahoma"/>
                <a:cs typeface="Tahoma"/>
              </a:rPr>
              <a:t>virtual</a:t>
            </a:r>
            <a:r>
              <a:rPr dirty="0" sz="1400" spc="-75">
                <a:latin typeface="Tahoma"/>
                <a:cs typeface="Tahoma"/>
              </a:rPr>
              <a:t> </a:t>
            </a:r>
            <a:r>
              <a:rPr dirty="0" sz="1400" spc="-40">
                <a:latin typeface="Tahoma"/>
                <a:cs typeface="Tahoma"/>
              </a:rPr>
              <a:t>page</a:t>
            </a:r>
            <a:r>
              <a:rPr dirty="0" sz="1400" spc="-7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number, </a:t>
            </a:r>
            <a:r>
              <a:rPr dirty="0" sz="1400">
                <a:latin typeface="Tahoma"/>
                <a:cs typeface="Tahoma"/>
              </a:rPr>
              <a:t>physical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 spc="-40">
                <a:latin typeface="Tahoma"/>
                <a:cs typeface="Tahoma"/>
              </a:rPr>
              <a:t>page</a:t>
            </a:r>
            <a:r>
              <a:rPr dirty="0" sz="1400" spc="-14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frame</a:t>
            </a:r>
            <a:r>
              <a:rPr dirty="0" sz="1400" spc="-145">
                <a:latin typeface="Tahoma"/>
                <a:cs typeface="Tahoma"/>
              </a:rPr>
              <a:t> </a:t>
            </a:r>
            <a:r>
              <a:rPr dirty="0" sz="1400" spc="-25">
                <a:latin typeface="Tahoma"/>
                <a:cs typeface="Tahoma"/>
              </a:rPr>
              <a:t>number, </a:t>
            </a:r>
            <a:r>
              <a:rPr dirty="0" sz="1400" spc="-20">
                <a:latin typeface="Tahoma"/>
                <a:cs typeface="Tahoma"/>
              </a:rPr>
              <a:t>access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permissions</a:t>
            </a:r>
            <a:endParaRPr sz="1400">
              <a:latin typeface="Tahoma"/>
              <a:cs typeface="Tahoma"/>
            </a:endParaRPr>
          </a:p>
          <a:p>
            <a:pPr marL="46990">
              <a:lnSpc>
                <a:spcPct val="100000"/>
              </a:lnSpc>
            </a:pPr>
            <a:r>
              <a:rPr dirty="0" sz="1400" spc="-310">
                <a:latin typeface="Tahoma"/>
                <a:cs typeface="Tahoma"/>
              </a:rPr>
              <a:t>}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85600" y="1241315"/>
            <a:ext cx="751205" cy="791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525"/>
              </a:lnSpc>
              <a:spcBef>
                <a:spcPts val="105"/>
              </a:spcBef>
            </a:pP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...</a:t>
            </a:r>
            <a:endParaRPr sz="1300">
              <a:latin typeface="Tahoma"/>
              <a:cs typeface="Tahoma"/>
            </a:endParaRPr>
          </a:p>
          <a:p>
            <a:pPr marL="12700" marR="5080">
              <a:lnSpc>
                <a:spcPts val="1490"/>
              </a:lnSpc>
              <a:spcBef>
                <a:spcPts val="70"/>
              </a:spcBef>
            </a:pP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mov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r1,r2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mult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r1,r2</a:t>
            </a:r>
            <a:endParaRPr sz="1300">
              <a:latin typeface="Tahoma"/>
              <a:cs typeface="Tahoma"/>
            </a:endParaRPr>
          </a:p>
          <a:p>
            <a:pPr marL="12700">
              <a:lnSpc>
                <a:spcPts val="1445"/>
              </a:lnSpc>
            </a:pP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...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526748" y="4584248"/>
            <a:ext cx="4458970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b="1">
                <a:solidFill>
                  <a:srgbClr val="1A1A1A"/>
                </a:solidFill>
                <a:latin typeface="Trebuchet MS"/>
                <a:cs typeface="Trebuchet MS"/>
              </a:rPr>
              <a:t>Translation-</a:t>
            </a:r>
            <a:r>
              <a:rPr dirty="0" sz="2500" spc="70" b="1">
                <a:solidFill>
                  <a:srgbClr val="1A1A1A"/>
                </a:solidFill>
                <a:latin typeface="Trebuchet MS"/>
                <a:cs typeface="Trebuchet MS"/>
              </a:rPr>
              <a:t>Lookaside</a:t>
            </a:r>
            <a:r>
              <a:rPr dirty="0" sz="2500" spc="280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500" spc="-10" b="1">
                <a:solidFill>
                  <a:srgbClr val="1A1A1A"/>
                </a:solidFill>
                <a:latin typeface="Trebuchet MS"/>
                <a:cs typeface="Trebuchet MS"/>
              </a:rPr>
              <a:t>Buffer</a:t>
            </a:r>
            <a:endParaRPr sz="2500">
              <a:latin typeface="Trebuchet MS"/>
              <a:cs typeface="Trebuchet MS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5962" y="647350"/>
            <a:ext cx="5257799" cy="3705224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7480" rIns="0" bIns="0" rtlCol="0" vert="horz">
            <a:spAutoFit/>
          </a:bodyPr>
          <a:lstStyle/>
          <a:p>
            <a:pPr marL="191135">
              <a:lnSpc>
                <a:spcPct val="100000"/>
              </a:lnSpc>
              <a:spcBef>
                <a:spcPts val="140"/>
              </a:spcBef>
            </a:pPr>
            <a:r>
              <a:rPr dirty="0"/>
              <a:t>Translation-</a:t>
            </a:r>
            <a:r>
              <a:rPr dirty="0" spc="75"/>
              <a:t>Lookaside</a:t>
            </a:r>
            <a:r>
              <a:rPr dirty="0" spc="375"/>
              <a:t> </a:t>
            </a:r>
            <a:r>
              <a:rPr dirty="0" spc="-10"/>
              <a:t>Buffer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51150" y="1515387"/>
            <a:ext cx="4340225" cy="2361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algn="just" marL="12700" marR="5080">
              <a:lnSpc>
                <a:spcPts val="1830"/>
              </a:lnSpc>
              <a:spcBef>
                <a:spcPts val="24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Normalmente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chequean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todas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entradas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TLB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contra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virtual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page,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existe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matcheo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procesador</a:t>
            </a:r>
            <a:r>
              <a:rPr dirty="0" sz="16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1600" spc="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ese</a:t>
            </a:r>
            <a:r>
              <a:rPr dirty="0" sz="1600" spc="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matcheo</a:t>
            </a:r>
            <a:r>
              <a:rPr dirty="0" sz="1600" spc="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formar</a:t>
            </a:r>
            <a:r>
              <a:rPr dirty="0" sz="1600" spc="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physical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address,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ahorrándose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pasos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traducción.</a:t>
            </a:r>
            <a:endParaRPr sz="1600">
              <a:latin typeface="Tahoma"/>
              <a:cs typeface="Tahoma"/>
            </a:endParaRPr>
          </a:p>
          <a:p>
            <a:pPr algn="just" marL="12700">
              <a:lnSpc>
                <a:spcPct val="100000"/>
              </a:lnSpc>
              <a:spcBef>
                <a:spcPts val="1689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llama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TLB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hit</a:t>
            </a:r>
            <a:endParaRPr sz="1600">
              <a:latin typeface="Tahoma"/>
              <a:cs typeface="Tahoma"/>
            </a:endParaRPr>
          </a:p>
          <a:p>
            <a:pPr algn="just" marL="12700" marR="7620">
              <a:lnSpc>
                <a:spcPts val="1830"/>
              </a:lnSpc>
              <a:spcBef>
                <a:spcPts val="1875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6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anterior</a:t>
            </a:r>
            <a:r>
              <a:rPr dirty="0" sz="160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6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existe</a:t>
            </a:r>
            <a:r>
              <a:rPr dirty="0" sz="16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matcheo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TLB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,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dice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TLB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miss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6201" y="2347587"/>
            <a:ext cx="3084310" cy="2173537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425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/>
              <a:t>Translation-</a:t>
            </a:r>
            <a:r>
              <a:rPr dirty="0" spc="75"/>
              <a:t>Lookaside</a:t>
            </a:r>
            <a:r>
              <a:rPr dirty="0" spc="375"/>
              <a:t> </a:t>
            </a:r>
            <a:r>
              <a:rPr dirty="0" spc="-10"/>
              <a:t>Buffer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385662"/>
            <a:ext cx="7969884" cy="2361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algn="just" marL="12700" marR="10795">
              <a:lnSpc>
                <a:spcPts val="1830"/>
              </a:lnSpc>
              <a:spcBef>
                <a:spcPts val="24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sea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útil,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búsqueda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TLB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necesita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mucho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rápido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realizar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una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traducción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completa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memoria.</a:t>
            </a:r>
            <a:endParaRPr sz="1600">
              <a:latin typeface="Tahoma"/>
              <a:cs typeface="Tahoma"/>
            </a:endParaRPr>
          </a:p>
          <a:p>
            <a:pPr algn="just" marL="12700" marR="5080">
              <a:lnSpc>
                <a:spcPts val="1830"/>
              </a:lnSpc>
              <a:spcBef>
                <a:spcPts val="1830"/>
              </a:spcBef>
            </a:pP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ende,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entradas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TLB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implementadas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muy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rápida,</a:t>
            </a:r>
            <a:r>
              <a:rPr dirty="0" sz="1600" spc="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600" spc="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estática</a:t>
            </a:r>
            <a:r>
              <a:rPr dirty="0" sz="1600" spc="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on-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chip,</a:t>
            </a:r>
            <a:r>
              <a:rPr dirty="0" sz="1600" spc="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situada</a:t>
            </a:r>
            <a:r>
              <a:rPr dirty="0" sz="1600" spc="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muy</a:t>
            </a:r>
            <a:r>
              <a:rPr dirty="0" sz="1600" spc="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cerca</a:t>
            </a:r>
            <a:r>
              <a:rPr dirty="0" sz="1600" spc="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procesador.</a:t>
            </a:r>
            <a:r>
              <a:rPr dirty="0" sz="1600" spc="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hecho,</a:t>
            </a:r>
            <a:r>
              <a:rPr dirty="0" sz="1600" spc="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mantener</a:t>
            </a:r>
            <a:r>
              <a:rPr dirty="0" sz="1600" spc="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600" spc="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búsqueda</a:t>
            </a:r>
            <a:r>
              <a:rPr dirty="0" sz="1600" spc="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rápida,</a:t>
            </a:r>
            <a:r>
              <a:rPr dirty="0" sz="1600" spc="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muchos</a:t>
            </a:r>
            <a:r>
              <a:rPr dirty="0" sz="1600" spc="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sistemas</a:t>
            </a:r>
            <a:r>
              <a:rPr dirty="0" sz="1600" spc="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actualidad</a:t>
            </a:r>
            <a:r>
              <a:rPr dirty="0" sz="1600" spc="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incluyen</a:t>
            </a:r>
            <a:r>
              <a:rPr dirty="0" sz="1600" spc="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múltiples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niveles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TLB.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general,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cuanto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pequeña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memoria,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rápida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búsqueda.</a:t>
            </a:r>
            <a:endParaRPr sz="1600">
              <a:latin typeface="Tahoma"/>
              <a:cs typeface="Tahoma"/>
            </a:endParaRPr>
          </a:p>
          <a:p>
            <a:pPr algn="just" marL="12700" marR="8890">
              <a:lnSpc>
                <a:spcPts val="1830"/>
              </a:lnSpc>
              <a:spcBef>
                <a:spcPts val="1825"/>
              </a:spcBef>
            </a:pP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primer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nivel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TLB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produce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TLB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miss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existe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otro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nivel,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guarda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más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datos,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y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consultado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traducción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realiza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falla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ambos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niveles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350" y="505648"/>
            <a:ext cx="1066800" cy="40957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95"/>
              <a:t>La</a:t>
            </a:r>
            <a:r>
              <a:rPr dirty="0" sz="2500" spc="-220"/>
              <a:t> </a:t>
            </a:r>
            <a:r>
              <a:rPr dirty="0" sz="2500" spc="75"/>
              <a:t>TLB</a:t>
            </a:r>
            <a:endParaRPr sz="25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8806" y="66798"/>
            <a:ext cx="5477493" cy="507670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0500" y="1185445"/>
            <a:ext cx="267716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55">
                <a:solidFill>
                  <a:srgbClr val="595959"/>
                </a:solidFill>
                <a:latin typeface="Tahoma"/>
                <a:cs typeface="Tahoma"/>
              </a:rPr>
              <a:t>page</a:t>
            </a:r>
            <a:r>
              <a:rPr dirty="0" sz="13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number</a:t>
            </a:r>
            <a:r>
              <a:rPr dirty="0" sz="13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busca</a:t>
            </a:r>
            <a:r>
              <a:rPr dirty="0" sz="13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paralelo 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todas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3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entradas</a:t>
            </a:r>
            <a:r>
              <a:rPr dirty="0" sz="13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3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50">
                <a:solidFill>
                  <a:srgbClr val="595959"/>
                </a:solidFill>
                <a:latin typeface="Tahoma"/>
                <a:cs typeface="Tahoma"/>
              </a:rPr>
              <a:t>cache.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Este esquema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full-associative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cache.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0543" y="258019"/>
            <a:ext cx="4383214" cy="464726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2350" y="505648"/>
            <a:ext cx="1066800" cy="40957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95"/>
              <a:t>La</a:t>
            </a:r>
            <a:r>
              <a:rPr dirty="0" sz="2500" spc="-220"/>
              <a:t> </a:t>
            </a:r>
            <a:r>
              <a:rPr dirty="0" sz="2500" spc="75"/>
              <a:t>TLB</a:t>
            </a:r>
            <a:endParaRPr sz="2500"/>
          </a:p>
        </p:txBody>
      </p:sp>
      <p:sp>
        <p:nvSpPr>
          <p:cNvPr id="4" name="object 4" descr=""/>
          <p:cNvSpPr txBox="1"/>
          <p:nvPr/>
        </p:nvSpPr>
        <p:spPr>
          <a:xfrm>
            <a:off x="400500" y="1185445"/>
            <a:ext cx="2617470" cy="1610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set-associative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cache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cada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page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number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guarda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una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posición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específica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definida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los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bits</a:t>
            </a:r>
            <a:r>
              <a:rPr dirty="0" sz="13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optimizar</a:t>
            </a:r>
            <a:r>
              <a:rPr dirty="0" sz="13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acceso.</a:t>
            </a:r>
            <a:endParaRPr sz="1300">
              <a:latin typeface="Tahoma"/>
              <a:cs typeface="Tahoma"/>
            </a:endParaRPr>
          </a:p>
          <a:p>
            <a:pPr algn="just" marL="12700" marR="45085">
              <a:lnSpc>
                <a:spcPct val="100000"/>
              </a:lnSpc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595959"/>
                </a:solidFill>
                <a:latin typeface="Tahoma"/>
                <a:cs typeface="Tahoma"/>
              </a:rPr>
              <a:t>reducir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5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595959"/>
                </a:solidFill>
                <a:latin typeface="Tahoma"/>
                <a:cs typeface="Tahoma"/>
              </a:rPr>
              <a:t>efecto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colisiones, </a:t>
            </a:r>
            <a:r>
              <a:rPr dirty="0" sz="1300" spc="-1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595959"/>
                </a:solidFill>
                <a:latin typeface="Tahoma"/>
                <a:cs typeface="Tahoma"/>
              </a:rPr>
              <a:t>replican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bancos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cache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 buscan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5">
                <a:solidFill>
                  <a:srgbClr val="595959"/>
                </a:solidFill>
                <a:latin typeface="Tahoma"/>
                <a:cs typeface="Tahoma"/>
              </a:rPr>
              <a:t>paralelo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5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5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acceso.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46376" y="4456448"/>
            <a:ext cx="6054725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70" b="1">
                <a:solidFill>
                  <a:srgbClr val="1A1A1A"/>
                </a:solidFill>
                <a:latin typeface="Trebuchet MS"/>
                <a:cs typeface="Trebuchet MS"/>
              </a:rPr>
              <a:t>Hacia</a:t>
            </a:r>
            <a:r>
              <a:rPr dirty="0" sz="2500" spc="-13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500" spc="70" b="1">
                <a:solidFill>
                  <a:srgbClr val="1A1A1A"/>
                </a:solidFill>
                <a:latin typeface="Trebuchet MS"/>
                <a:cs typeface="Trebuchet MS"/>
              </a:rPr>
              <a:t>una</a:t>
            </a:r>
            <a:r>
              <a:rPr dirty="0" sz="2500" spc="-130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500" spc="-10" b="1">
                <a:solidFill>
                  <a:srgbClr val="1A1A1A"/>
                </a:solidFill>
                <a:latin typeface="Trebuchet MS"/>
                <a:cs typeface="Trebuchet MS"/>
              </a:rPr>
              <a:t>Eficiente</a:t>
            </a:r>
            <a:r>
              <a:rPr dirty="0" sz="2500" spc="-21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500" spc="95" b="1">
                <a:solidFill>
                  <a:srgbClr val="1A1A1A"/>
                </a:solidFill>
                <a:latin typeface="Trebuchet MS"/>
                <a:cs typeface="Trebuchet MS"/>
              </a:rPr>
              <a:t>Address</a:t>
            </a:r>
            <a:r>
              <a:rPr dirty="0" sz="2500" spc="-204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500" spc="-10" b="1">
                <a:solidFill>
                  <a:srgbClr val="1A1A1A"/>
                </a:solidFill>
                <a:latin typeface="Trebuchet MS"/>
                <a:cs typeface="Trebuchet MS"/>
              </a:rPr>
              <a:t>Translation</a:t>
            </a:r>
            <a:endParaRPr sz="2500">
              <a:latin typeface="Trebuchet MS"/>
              <a:cs typeface="Trebuchet MS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6741" y="97025"/>
            <a:ext cx="5424007" cy="4396225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350" y="505648"/>
            <a:ext cx="1506220" cy="7937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5"/>
              </a:spcBef>
            </a:pPr>
            <a:r>
              <a:rPr dirty="0" sz="2500" spc="-20"/>
              <a:t>Todo </a:t>
            </a:r>
            <a:r>
              <a:rPr dirty="0" sz="2500" spc="80"/>
              <a:t>completo</a:t>
            </a:r>
            <a:endParaRPr sz="25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7939" y="222718"/>
            <a:ext cx="6601719" cy="479017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233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Consistencia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 spc="85"/>
              <a:t>la</a:t>
            </a:r>
            <a:r>
              <a:rPr dirty="0" spc="-190"/>
              <a:t> </a:t>
            </a:r>
            <a:r>
              <a:rPr dirty="0" spc="80"/>
              <a:t>TLB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480667"/>
            <a:ext cx="7972425" cy="236347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algn="just" marL="12700" marR="5080">
              <a:lnSpc>
                <a:spcPts val="2290"/>
              </a:lnSpc>
              <a:spcBef>
                <a:spcPts val="270"/>
              </a:spcBef>
            </a:pP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20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35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20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45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0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20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introduce</a:t>
            </a:r>
            <a:r>
              <a:rPr dirty="0" sz="20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9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0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35">
                <a:solidFill>
                  <a:srgbClr val="595959"/>
                </a:solidFill>
                <a:latin typeface="Tahoma"/>
                <a:cs typeface="Tahoma"/>
              </a:rPr>
              <a:t>cache</a:t>
            </a:r>
            <a:r>
              <a:rPr dirty="0" sz="20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9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20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45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0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45">
                <a:solidFill>
                  <a:srgbClr val="595959"/>
                </a:solidFill>
                <a:latin typeface="Tahoma"/>
                <a:cs typeface="Tahoma"/>
              </a:rPr>
              <a:t>sistema,</a:t>
            </a:r>
            <a:r>
              <a:rPr dirty="0" sz="20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20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necesita</a:t>
            </a:r>
            <a:r>
              <a:rPr dirty="0" sz="20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considerar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20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forma</a:t>
            </a:r>
            <a:r>
              <a:rPr dirty="0" sz="20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asegurar</a:t>
            </a:r>
            <a:r>
              <a:rPr dirty="0" sz="20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20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consistencia</a:t>
            </a:r>
            <a:r>
              <a:rPr dirty="0" sz="20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20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cache</a:t>
            </a:r>
            <a:r>
              <a:rPr dirty="0" sz="20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20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20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20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originales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2000" spc="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2000" spc="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entradas</a:t>
            </a:r>
            <a:r>
              <a:rPr dirty="0" sz="2000" spc="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2000" spc="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000" spc="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mismo</a:t>
            </a:r>
            <a:r>
              <a:rPr dirty="0" sz="2000" spc="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2000" spc="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modificadas.</a:t>
            </a:r>
            <a:r>
              <a:rPr dirty="0" sz="2000" spc="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2000" spc="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55">
                <a:solidFill>
                  <a:srgbClr val="595959"/>
                </a:solidFill>
                <a:latin typeface="Tahoma"/>
                <a:cs typeface="Tahoma"/>
              </a:rPr>
              <a:t>TLB</a:t>
            </a:r>
            <a:r>
              <a:rPr dirty="0" sz="2000" spc="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2000" spc="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2000" spc="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excepción.</a:t>
            </a:r>
            <a:endParaRPr sz="2000">
              <a:latin typeface="Tahoma"/>
              <a:cs typeface="Tahoma"/>
            </a:endParaRPr>
          </a:p>
          <a:p>
            <a:pPr algn="just" marL="12700" marR="22860">
              <a:lnSpc>
                <a:spcPts val="2290"/>
              </a:lnSpc>
              <a:spcBef>
                <a:spcPts val="2270"/>
              </a:spcBef>
            </a:pP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2000" spc="4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2000" spc="45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2000" spc="45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correcta</a:t>
            </a:r>
            <a:r>
              <a:rPr dirty="0" sz="2000" spc="4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2000" spc="45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segura</a:t>
            </a:r>
            <a:r>
              <a:rPr dirty="0" sz="2000" spc="45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4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000" spc="45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programa,</a:t>
            </a:r>
            <a:r>
              <a:rPr dirty="0" sz="2000" spc="45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000" spc="4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sistema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operativo</a:t>
            </a:r>
            <a:r>
              <a:rPr dirty="0" sz="2000" spc="-1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2000" spc="-1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000" spc="-1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asegurarse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000" spc="-1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2000" spc="-1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ve</a:t>
            </a:r>
            <a:r>
              <a:rPr dirty="0" sz="2000" spc="-1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2000" spc="-1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propia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2000" spc="-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2000" spc="-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20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nadie</a:t>
            </a:r>
            <a:r>
              <a:rPr dirty="0" sz="20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más.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10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Consistencia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 spc="85"/>
              <a:t>la</a:t>
            </a:r>
            <a:r>
              <a:rPr dirty="0" spc="-190"/>
              <a:t> </a:t>
            </a:r>
            <a:r>
              <a:rPr dirty="0" spc="80"/>
              <a:t>TLB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450537"/>
            <a:ext cx="7975600" cy="282638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algn="just" marL="12700" marR="25400">
              <a:lnSpc>
                <a:spcPts val="1830"/>
              </a:lnSpc>
              <a:spcBef>
                <a:spcPts val="240"/>
              </a:spcBef>
            </a:pPr>
            <a:r>
              <a:rPr dirty="0" sz="1600" spc="-70" b="1">
                <a:solidFill>
                  <a:srgbClr val="595959"/>
                </a:solidFill>
                <a:latin typeface="Tahoma"/>
                <a:cs typeface="Tahoma"/>
              </a:rPr>
              <a:t>Context</a:t>
            </a:r>
            <a:r>
              <a:rPr dirty="0" sz="1600" spc="6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switch:</a:t>
            </a:r>
            <a:r>
              <a:rPr dirty="0" sz="1600" spc="6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160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virtuales</a:t>
            </a:r>
            <a:r>
              <a:rPr dirty="0" sz="160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viejo</a:t>
            </a:r>
            <a:r>
              <a:rPr dirty="0" sz="160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ya</a:t>
            </a:r>
            <a:r>
              <a:rPr dirty="0" sz="160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60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60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válidas,</a:t>
            </a:r>
            <a:r>
              <a:rPr dirty="0" sz="160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no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deben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válidas,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nuevo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proceso.</a:t>
            </a:r>
            <a:endParaRPr sz="1600">
              <a:latin typeface="Tahoma"/>
              <a:cs typeface="Tahoma"/>
            </a:endParaRPr>
          </a:p>
          <a:p>
            <a:pPr algn="just" marL="12700" marR="13335">
              <a:lnSpc>
                <a:spcPts val="1830"/>
              </a:lnSpc>
              <a:spcBef>
                <a:spcPts val="1830"/>
              </a:spcBef>
            </a:pP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otra</a:t>
            </a:r>
            <a:r>
              <a:rPr dirty="0" sz="1600" spc="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forma,</a:t>
            </a:r>
            <a:r>
              <a:rPr dirty="0" sz="1600" spc="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nuevo</a:t>
            </a:r>
            <a:r>
              <a:rPr dirty="0" sz="1600" spc="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sería</a:t>
            </a:r>
            <a:r>
              <a:rPr dirty="0" sz="1600" spc="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capaz</a:t>
            </a:r>
            <a:r>
              <a:rPr dirty="0" sz="1600" spc="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leer</a:t>
            </a:r>
            <a:r>
              <a:rPr dirty="0" sz="1600" spc="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1600" spc="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viejo</a:t>
            </a:r>
            <a:r>
              <a:rPr dirty="0" sz="1600" spc="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proceso.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Frente</a:t>
            </a:r>
            <a:r>
              <a:rPr dirty="0" sz="1600" spc="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context</a:t>
            </a:r>
            <a:r>
              <a:rPr dirty="0" sz="1600" spc="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switch,</a:t>
            </a:r>
            <a:r>
              <a:rPr dirty="0" sz="1600" spc="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necesita</a:t>
            </a:r>
            <a:r>
              <a:rPr dirty="0" sz="1600" spc="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descartar</a:t>
            </a:r>
            <a:r>
              <a:rPr dirty="0" sz="1600" spc="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contenido</a:t>
            </a:r>
            <a:r>
              <a:rPr dirty="0" sz="1600" spc="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TLB</a:t>
            </a:r>
            <a:r>
              <a:rPr dirty="0" sz="1600" spc="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600" spc="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context switch.</a:t>
            </a:r>
            <a:endParaRPr sz="1600">
              <a:latin typeface="Tahoma"/>
              <a:cs typeface="Tahoma"/>
            </a:endParaRPr>
          </a:p>
          <a:p>
            <a:pPr algn="just" marL="12700" marR="5080">
              <a:lnSpc>
                <a:spcPts val="1830"/>
              </a:lnSpc>
              <a:spcBef>
                <a:spcPts val="1825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6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approach</a:t>
            </a:r>
            <a:r>
              <a:rPr dirty="0" sz="16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denomina</a:t>
            </a:r>
            <a:r>
              <a:rPr dirty="0" sz="16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flush</a:t>
            </a:r>
            <a:r>
              <a:rPr dirty="0" sz="16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TLB.</a:t>
            </a:r>
            <a:r>
              <a:rPr dirty="0" sz="16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Debido</a:t>
            </a:r>
            <a:r>
              <a:rPr dirty="0" sz="16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6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acarrearía</a:t>
            </a:r>
            <a:r>
              <a:rPr dirty="0" sz="16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una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penalidad,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procesadores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taguean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TLB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forma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tal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misma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contenga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id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 del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produce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transacción.</a:t>
            </a:r>
            <a:endParaRPr sz="1600">
              <a:latin typeface="Tahoma"/>
              <a:cs typeface="Tahoma"/>
            </a:endParaRPr>
          </a:p>
          <a:p>
            <a:pPr algn="just" marL="12700">
              <a:lnSpc>
                <a:spcPct val="100000"/>
              </a:lnSpc>
              <a:spcBef>
                <a:spcPts val="1695"/>
              </a:spcBef>
            </a:pP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Ver:</a:t>
            </a:r>
            <a:r>
              <a:rPr dirty="0" sz="1600" spc="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u="heavy" sz="1600" spc="-30">
                <a:solidFill>
                  <a:srgbClr val="1B3678"/>
                </a:solidFill>
                <a:uFill>
                  <a:solidFill>
                    <a:srgbClr val="1B3678"/>
                  </a:solidFill>
                </a:uFill>
                <a:latin typeface="Tahoma"/>
                <a:cs typeface="Tahoma"/>
                <a:hlinkClick r:id="rId2"/>
              </a:rPr>
              <a:t>https://github.com/mit-</a:t>
            </a:r>
            <a:r>
              <a:rPr dirty="0" u="heavy" sz="1600">
                <a:solidFill>
                  <a:srgbClr val="1B3678"/>
                </a:solidFill>
                <a:uFill>
                  <a:solidFill>
                    <a:srgbClr val="1B3678"/>
                  </a:solidFill>
                </a:uFill>
                <a:latin typeface="Tahoma"/>
                <a:cs typeface="Tahoma"/>
                <a:hlinkClick r:id="rId2"/>
              </a:rPr>
              <a:t>pdos/xv6-riscv/blob/riscv/kernel/trampoline.S#L91-</a:t>
            </a:r>
            <a:r>
              <a:rPr dirty="0" u="heavy" sz="1600" spc="-25">
                <a:solidFill>
                  <a:srgbClr val="1B3678"/>
                </a:solidFill>
                <a:uFill>
                  <a:solidFill>
                    <a:srgbClr val="1B3678"/>
                  </a:solidFill>
                </a:uFill>
                <a:latin typeface="Tahoma"/>
                <a:cs typeface="Tahoma"/>
                <a:hlinkClick r:id="rId2"/>
              </a:rPr>
              <a:t>L95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04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Consistencia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 spc="85"/>
              <a:t>la</a:t>
            </a:r>
            <a:r>
              <a:rPr dirty="0" spc="-190"/>
              <a:t> </a:t>
            </a:r>
            <a:r>
              <a:rPr dirty="0" spc="80"/>
              <a:t>TLB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407287"/>
            <a:ext cx="7966709" cy="73533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algn="just" marL="12700" marR="5080">
              <a:lnSpc>
                <a:spcPts val="1830"/>
              </a:lnSpc>
              <a:spcBef>
                <a:spcPts val="240"/>
              </a:spcBef>
            </a:pP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Reducción</a:t>
            </a:r>
            <a:r>
              <a:rPr dirty="0" sz="1600" spc="-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75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Permiso:</a:t>
            </a:r>
            <a:r>
              <a:rPr dirty="0" sz="1600" spc="-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Qué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sucede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operativo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modifica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en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3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page</a:t>
            </a:r>
            <a:r>
              <a:rPr dirty="0" sz="1600" spc="3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table?Normalmente</a:t>
            </a:r>
            <a:r>
              <a:rPr dirty="0" sz="1600" spc="3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600" spc="3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3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provee</a:t>
            </a:r>
            <a:r>
              <a:rPr dirty="0" sz="1600" spc="3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consistencia</a:t>
            </a:r>
            <a:r>
              <a:rPr dirty="0" sz="1600" spc="3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3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hardware</a:t>
            </a:r>
            <a:r>
              <a:rPr dirty="0" sz="1600" spc="3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3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3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TLB;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mantener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TLB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consistente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page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table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responsabilidad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operativo.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10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Consistencia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 spc="85"/>
              <a:t>la</a:t>
            </a:r>
            <a:r>
              <a:rPr dirty="0" spc="-190"/>
              <a:t> </a:t>
            </a:r>
            <a:r>
              <a:rPr dirty="0" spc="80"/>
              <a:t>TLB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407287"/>
            <a:ext cx="7972425" cy="282638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algn="just" marL="12700" marR="5715">
              <a:lnSpc>
                <a:spcPts val="1830"/>
              </a:lnSpc>
              <a:spcBef>
                <a:spcPts val="240"/>
              </a:spcBef>
            </a:pPr>
            <a:r>
              <a:rPr dirty="0" sz="1600" spc="-90" b="1">
                <a:solidFill>
                  <a:srgbClr val="595959"/>
                </a:solidFill>
                <a:latin typeface="Tahoma"/>
                <a:cs typeface="Tahoma"/>
              </a:rPr>
              <a:t>TLB</a:t>
            </a:r>
            <a:r>
              <a:rPr dirty="0" sz="1600" spc="-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40" b="1">
                <a:solidFill>
                  <a:srgbClr val="595959"/>
                </a:solidFill>
                <a:latin typeface="Tahoma"/>
                <a:cs typeface="Tahoma"/>
              </a:rPr>
              <a:t>shutdown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multiprocesador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uno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tener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cacheada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copia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transacción</a:t>
            </a:r>
            <a:r>
              <a:rPr dirty="0" sz="16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6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TLB.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ende,</a:t>
            </a:r>
            <a:r>
              <a:rPr dirty="0" sz="16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seguridad</a:t>
            </a:r>
            <a:r>
              <a:rPr dirty="0" sz="16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correctitud,</a:t>
            </a:r>
            <a:r>
              <a:rPr dirty="0" sz="16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una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page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table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modificada,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correspondiente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todas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TLB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los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procesadores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descartada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antes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cambios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tomen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efecto.</a:t>
            </a:r>
            <a:endParaRPr sz="1600">
              <a:latin typeface="Tahoma"/>
              <a:cs typeface="Tahoma"/>
            </a:endParaRPr>
          </a:p>
          <a:p>
            <a:pPr algn="just" marL="12700" marR="5080">
              <a:lnSpc>
                <a:spcPts val="1830"/>
              </a:lnSpc>
              <a:spcBef>
                <a:spcPts val="1830"/>
              </a:spcBef>
            </a:pP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Típicamente</a:t>
            </a:r>
            <a:r>
              <a:rPr dirty="0" sz="1600" spc="2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sólo</a:t>
            </a:r>
            <a:r>
              <a:rPr dirty="0" sz="1600" spc="2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2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procesador</a:t>
            </a:r>
            <a:r>
              <a:rPr dirty="0" sz="1600" spc="2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actual</a:t>
            </a:r>
            <a:r>
              <a:rPr dirty="0" sz="1600" spc="2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600" spc="2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invalidar</a:t>
            </a:r>
            <a:r>
              <a:rPr dirty="0" sz="1600" spc="2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600" spc="2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propia</a:t>
            </a:r>
            <a:r>
              <a:rPr dirty="0" sz="1600" spc="2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TLB,</a:t>
            </a:r>
            <a:r>
              <a:rPr dirty="0" sz="1600" spc="2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2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5">
                <a:solidFill>
                  <a:srgbClr val="595959"/>
                </a:solidFill>
                <a:latin typeface="Tahoma"/>
                <a:cs typeface="Tahoma"/>
              </a:rPr>
              <a:t>ello,</a:t>
            </a:r>
            <a:r>
              <a:rPr dirty="0" sz="1600" spc="2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eliminar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procesadores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sistema,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requiere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sistema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operativo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mande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interrupción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procesador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pida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esa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40">
                <a:solidFill>
                  <a:srgbClr val="595959"/>
                </a:solidFill>
                <a:latin typeface="Tahoma"/>
                <a:cs typeface="Tahoma"/>
              </a:rPr>
              <a:t>TLB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sea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 eliminada.</a:t>
            </a:r>
            <a:endParaRPr sz="1600">
              <a:latin typeface="Tahoma"/>
              <a:cs typeface="Tahoma"/>
            </a:endParaRPr>
          </a:p>
          <a:p>
            <a:pPr algn="just" marL="12700" marR="5080">
              <a:lnSpc>
                <a:spcPts val="1830"/>
              </a:lnSpc>
              <a:spcBef>
                <a:spcPts val="1825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operación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muy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costosa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ende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propio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nombre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denomina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TLB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shutdown.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B367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6 - Memoria I</dc:title>
  <dcterms:created xsi:type="dcterms:W3CDTF">2026-03-16T16:07:30Z</dcterms:created>
  <dcterms:modified xsi:type="dcterms:W3CDTF">2026-03-16T16:07:30Z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2026-03-16T00:00:00Z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2026-03-16T00:00:00Z</vt:filetime>
  </property>
</Properties>
</file>